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369" r:id="rId2"/>
    <p:sldId id="371" r:id="rId3"/>
    <p:sldId id="306" r:id="rId4"/>
    <p:sldId id="383" r:id="rId5"/>
    <p:sldId id="261" r:id="rId6"/>
    <p:sldId id="372" r:id="rId7"/>
    <p:sldId id="316" r:id="rId8"/>
    <p:sldId id="262" r:id="rId9"/>
    <p:sldId id="296" r:id="rId10"/>
    <p:sldId id="327" r:id="rId11"/>
    <p:sldId id="328" r:id="rId12"/>
    <p:sldId id="330" r:id="rId13"/>
    <p:sldId id="329" r:id="rId14"/>
    <p:sldId id="331" r:id="rId15"/>
    <p:sldId id="335" r:id="rId16"/>
    <p:sldId id="336" r:id="rId17"/>
    <p:sldId id="341" r:id="rId18"/>
    <p:sldId id="342" r:id="rId19"/>
    <p:sldId id="343" r:id="rId20"/>
    <p:sldId id="290" r:id="rId21"/>
    <p:sldId id="375" r:id="rId22"/>
    <p:sldId id="289" r:id="rId23"/>
    <p:sldId id="376" r:id="rId24"/>
    <p:sldId id="291" r:id="rId25"/>
    <p:sldId id="346" r:id="rId26"/>
    <p:sldId id="347" r:id="rId27"/>
    <p:sldId id="307" r:id="rId28"/>
    <p:sldId id="298" r:id="rId29"/>
    <p:sldId id="355" r:id="rId30"/>
    <p:sldId id="294" r:id="rId31"/>
    <p:sldId id="350" r:id="rId32"/>
    <p:sldId id="378" r:id="rId33"/>
    <p:sldId id="379" r:id="rId34"/>
    <p:sldId id="288" r:id="rId35"/>
    <p:sldId id="381" r:id="rId36"/>
    <p:sldId id="293" r:id="rId37"/>
    <p:sldId id="380" r:id="rId38"/>
    <p:sldId id="265" r:id="rId39"/>
    <p:sldId id="264" r:id="rId40"/>
    <p:sldId id="259" r:id="rId41"/>
    <p:sldId id="304" r:id="rId42"/>
    <p:sldId id="267" r:id="rId43"/>
    <p:sldId id="303" r:id="rId44"/>
    <p:sldId id="268" r:id="rId45"/>
    <p:sldId id="269" r:id="rId46"/>
    <p:sldId id="317" r:id="rId47"/>
    <p:sldId id="270" r:id="rId48"/>
    <p:sldId id="272" r:id="rId49"/>
    <p:sldId id="274" r:id="rId50"/>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9"/>
    <p:restoredTop sz="94552"/>
  </p:normalViewPr>
  <p:slideViewPr>
    <p:cSldViewPr snapToGrid="0">
      <p:cViewPr>
        <p:scale>
          <a:sx n="89" d="100"/>
          <a:sy n="89" d="100"/>
        </p:scale>
        <p:origin x="1336"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8AD4FC-0E07-0D4A-BD39-EC5CAE5B2633}" type="datetimeFigureOut">
              <a:t>18/12/25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6DD357-430A-5740-9DBA-81B4A13A8F73}" type="slidenum">
              <a:t>‹#›</a:t>
            </a:fld>
            <a:endParaRPr lang="en-VN"/>
          </a:p>
        </p:txBody>
      </p:sp>
    </p:spTree>
    <p:extLst>
      <p:ext uri="{BB962C8B-B14F-4D97-AF65-F5344CB8AC3E}">
        <p14:creationId xmlns:p14="http://schemas.microsoft.com/office/powerpoint/2010/main" val="3625648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5</a:t>
            </a:fld>
            <a:endParaRPr lang="en-VN"/>
          </a:p>
        </p:txBody>
      </p:sp>
    </p:spTree>
    <p:extLst>
      <p:ext uri="{BB962C8B-B14F-4D97-AF65-F5344CB8AC3E}">
        <p14:creationId xmlns:p14="http://schemas.microsoft.com/office/powerpoint/2010/main" val="1361461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Các cấu trúc graph – based, ring, nearest neighboor, all-to-all. B</a:t>
            </a:r>
            <a:r>
              <a:rPr lang="en-US"/>
              <a:t>i</a:t>
            </a:r>
            <a:r>
              <a:rPr lang="en-VN"/>
              <a:t>ến đổi một chút =&gt; các cấu trúc W</a:t>
            </a:r>
          </a:p>
        </p:txBody>
      </p:sp>
      <p:sp>
        <p:nvSpPr>
          <p:cNvPr id="4" name="Slide Number Placeholder 3"/>
          <p:cNvSpPr>
            <a:spLocks noGrp="1"/>
          </p:cNvSpPr>
          <p:nvPr>
            <p:ph type="sldNum" sz="quarter" idx="5"/>
          </p:nvPr>
        </p:nvSpPr>
        <p:spPr/>
        <p:txBody>
          <a:bodyPr/>
          <a:lstStyle/>
          <a:p>
            <a:fld id="{F02A4BF2-330F-0041-B456-2AF550CE6FFE}" type="slidenum">
              <a:rPr lang="en-VN"/>
              <a:t>6</a:t>
            </a:fld>
            <a:endParaRPr lang="en-VN"/>
          </a:p>
        </p:txBody>
      </p:sp>
    </p:spTree>
    <p:extLst>
      <p:ext uri="{BB962C8B-B14F-4D97-AF65-F5344CB8AC3E}">
        <p14:creationId xmlns:p14="http://schemas.microsoft.com/office/powerpoint/2010/main" val="896333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a:t>
            </a:r>
            <a:r>
              <a:rPr lang="en-US"/>
              <a:t>h</a:t>
            </a:r>
            <a:r>
              <a:rPr lang="en-VN"/>
              <a:t>o C là loss/cost function, tính đạo hàm riêng </a:t>
            </a:r>
            <a:r>
              <a:rPr lang="en-US"/>
              <a:t>thứ i bằng phương pháp sai phân hữu hạn, tuy nhiên trong trường hợp này ta tính các hệ số cụ thể. Với các eigenvalues khác nhau, độ dời s và hệ số tự do r sẽ có giá trị khác nhau. </a:t>
            </a:r>
          </a:p>
          <a:p>
            <a:r>
              <a:rPr lang="en-US"/>
              <a:t>Cách tính cụ thể được trình bày trong paper.</a:t>
            </a:r>
            <a:endParaRPr lang="en-VN"/>
          </a:p>
        </p:txBody>
      </p:sp>
      <p:sp>
        <p:nvSpPr>
          <p:cNvPr id="4" name="Slide Number Placeholder 3"/>
          <p:cNvSpPr>
            <a:spLocks noGrp="1"/>
          </p:cNvSpPr>
          <p:nvPr>
            <p:ph type="sldNum" sz="quarter" idx="5"/>
          </p:nvPr>
        </p:nvSpPr>
        <p:spPr/>
        <p:txBody>
          <a:bodyPr/>
          <a:lstStyle/>
          <a:p>
            <a:fld id="{F02A4BF2-330F-0041-B456-2AF550CE6FFE}" type="slidenum">
              <a:rPr lang="en-VN"/>
              <a:t>9</a:t>
            </a:fld>
            <a:endParaRPr lang="en-VN"/>
          </a:p>
        </p:txBody>
      </p:sp>
    </p:spTree>
    <p:extLst>
      <p:ext uri="{BB962C8B-B14F-4D97-AF65-F5344CB8AC3E}">
        <p14:creationId xmlns:p14="http://schemas.microsoft.com/office/powerpoint/2010/main" val="2377449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Làm rõ một số định nghĩa trong QML:</a:t>
            </a:r>
          </a:p>
          <a:p>
            <a:r>
              <a:rPr lang="en-VN"/>
              <a:t>- QML: thuật toán machien learning có chạy trên quantum computer</a:t>
            </a:r>
          </a:p>
          <a:p>
            <a:r>
              <a:rPr lang="en-VN"/>
              <a:t>- Hybrid quantum – classical learning: tập con của QML, chạy trên cả quantum và classical computer. =&gt; Được chú ý hiện nay vì các quantum algorithm yêu cầu số qubit cao =&gt; chưa thích hợp chạy vì ko có tài nguyên</a:t>
            </a:r>
          </a:p>
        </p:txBody>
      </p:sp>
      <p:sp>
        <p:nvSpPr>
          <p:cNvPr id="4" name="Slide Number Placeholder 3"/>
          <p:cNvSpPr>
            <a:spLocks noGrp="1"/>
          </p:cNvSpPr>
          <p:nvPr>
            <p:ph type="sldNum" sz="quarter" idx="5"/>
          </p:nvPr>
        </p:nvSpPr>
        <p:spPr/>
        <p:txBody>
          <a:bodyPr/>
          <a:lstStyle/>
          <a:p>
            <a:fld id="{F02A4BF2-330F-0041-B456-2AF550CE6FFE}" type="slidenum">
              <a:rPr lang="en-VN"/>
              <a:t>20</a:t>
            </a:fld>
            <a:endParaRPr lang="en-VN"/>
          </a:p>
        </p:txBody>
      </p:sp>
    </p:spTree>
    <p:extLst>
      <p:ext uri="{BB962C8B-B14F-4D97-AF65-F5344CB8AC3E}">
        <p14:creationId xmlns:p14="http://schemas.microsoft.com/office/powerpoint/2010/main" val="1674705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Một số tiềm năng, đặc trưng của các mô hình QML đề xuất khi so sánh với mô hình ML cổ điển.</a:t>
            </a:r>
          </a:p>
          <a:p>
            <a:endParaRPr lang="en-VN"/>
          </a:p>
        </p:txBody>
      </p:sp>
      <p:sp>
        <p:nvSpPr>
          <p:cNvPr id="4" name="Slide Number Placeholder 3"/>
          <p:cNvSpPr>
            <a:spLocks noGrp="1"/>
          </p:cNvSpPr>
          <p:nvPr>
            <p:ph type="sldNum" sz="quarter" idx="5"/>
          </p:nvPr>
        </p:nvSpPr>
        <p:spPr/>
        <p:txBody>
          <a:bodyPr/>
          <a:lstStyle/>
          <a:p>
            <a:fld id="{F02A4BF2-330F-0041-B456-2AF550CE6FFE}" type="slidenum">
              <a:rPr lang="en-VN"/>
              <a:t>21</a:t>
            </a:fld>
            <a:endParaRPr lang="en-VN"/>
          </a:p>
        </p:txBody>
      </p:sp>
    </p:spTree>
    <p:extLst>
      <p:ext uri="{BB962C8B-B14F-4D97-AF65-F5344CB8AC3E}">
        <p14:creationId xmlns:p14="http://schemas.microsoft.com/office/powerpoint/2010/main" val="2988781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Phân chia tạm thời các lớp trong QML.</a:t>
            </a:r>
          </a:p>
          <a:p>
            <a:r>
              <a:rPr lang="en-VN"/>
              <a:t>- Liên quan đến ML cổ điển: phiên bản quantum của các thuật toán truyền thống như KNN, SVM, ..</a:t>
            </a:r>
          </a:p>
          <a:p>
            <a:r>
              <a:rPr lang="en-VN"/>
              <a:t>- Liên quan đến Neural network (nói đúng ra lớp này được gọi là quantum deep learninng): phiên bản quantum của các kiến ttrúc neural network khác nhau.</a:t>
            </a:r>
          </a:p>
          <a:p>
            <a:r>
              <a:rPr lang="en-VN"/>
              <a:t>- pure quantum learning: các thuật toán mới hoàn toàn và ko có phiên bản cổ điển tương ứng.</a:t>
            </a:r>
          </a:p>
        </p:txBody>
      </p:sp>
      <p:sp>
        <p:nvSpPr>
          <p:cNvPr id="4" name="Slide Number Placeholder 3"/>
          <p:cNvSpPr>
            <a:spLocks noGrp="1"/>
          </p:cNvSpPr>
          <p:nvPr>
            <p:ph type="sldNum" sz="quarter" idx="5"/>
          </p:nvPr>
        </p:nvSpPr>
        <p:spPr/>
        <p:txBody>
          <a:bodyPr/>
          <a:lstStyle/>
          <a:p>
            <a:fld id="{F02A4BF2-330F-0041-B456-2AF550CE6FFE}" type="slidenum">
              <a:rPr lang="en-VN"/>
              <a:t>22</a:t>
            </a:fld>
            <a:endParaRPr lang="en-VN"/>
          </a:p>
        </p:txBody>
      </p:sp>
    </p:spTree>
    <p:extLst>
      <p:ext uri="{BB962C8B-B14F-4D97-AF65-F5344CB8AC3E}">
        <p14:creationId xmlns:p14="http://schemas.microsoft.com/office/powerpoint/2010/main" val="4150507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Các nhà nghiên cứu nên theo dõi:</a:t>
            </a:r>
          </a:p>
          <a:p>
            <a:r>
              <a:rPr lang="en-VN"/>
              <a:t>- Maria schuld: đưa ra các định nghĩa, khái niệm, triết lý, phương pháp tính, … của các mô hình QML. Thiên về lý thuyết.</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 </a:t>
            </a:r>
            <a:r>
              <a:rPr lang="en-US" sz="1200" b="1"/>
              <a:t>Ryan Babbush</a:t>
            </a:r>
            <a:r>
              <a:rPr lang="en-VN" sz="1200" b="1"/>
              <a:t>: đề xuất các mô hình QML mới và thiên về thực nghiệm</a:t>
            </a:r>
            <a:endParaRPr lang="en-US" sz="1200" b="1"/>
          </a:p>
        </p:txBody>
      </p:sp>
      <p:sp>
        <p:nvSpPr>
          <p:cNvPr id="4" name="Slide Number Placeholder 3"/>
          <p:cNvSpPr>
            <a:spLocks noGrp="1"/>
          </p:cNvSpPr>
          <p:nvPr>
            <p:ph type="sldNum" sz="quarter" idx="5"/>
          </p:nvPr>
        </p:nvSpPr>
        <p:spPr/>
        <p:txBody>
          <a:bodyPr/>
          <a:lstStyle/>
          <a:p>
            <a:fld id="{F02A4BF2-330F-0041-B456-2AF550CE6FFE}" type="slidenum">
              <a:rPr lang="en-VN"/>
              <a:t>23</a:t>
            </a:fld>
            <a:endParaRPr lang="en-VN"/>
          </a:p>
        </p:txBody>
      </p:sp>
    </p:spTree>
    <p:extLst>
      <p:ext uri="{BB962C8B-B14F-4D97-AF65-F5344CB8AC3E}">
        <p14:creationId xmlns:p14="http://schemas.microsoft.com/office/powerpoint/2010/main" val="144648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Fig 2.1. mình hoạ quá trình xác định label của hình tròn màu trắng</a:t>
            </a:r>
          </a:p>
          <a:p>
            <a:endParaRPr lang="en-VN"/>
          </a:p>
          <a:p>
            <a:r>
              <a:rPr lang="en-VN"/>
              <a:t>Tóm tắt thuật toán KNN</a:t>
            </a:r>
          </a:p>
          <a:p>
            <a:endParaRPr lang="en-VN"/>
          </a:p>
          <a:p>
            <a:r>
              <a:rPr lang="en-VN"/>
              <a:t>Độ phức tạp</a:t>
            </a:r>
          </a:p>
        </p:txBody>
      </p:sp>
      <p:sp>
        <p:nvSpPr>
          <p:cNvPr id="4" name="Slide Number Placeholder 3"/>
          <p:cNvSpPr>
            <a:spLocks noGrp="1"/>
          </p:cNvSpPr>
          <p:nvPr>
            <p:ph type="sldNum" sz="quarter" idx="5"/>
          </p:nvPr>
        </p:nvSpPr>
        <p:spPr/>
        <p:txBody>
          <a:bodyPr/>
          <a:lstStyle/>
          <a:p>
            <a:fld id="{F02A4BF2-330F-0041-B456-2AF550CE6FFE}" type="slidenum">
              <a:rPr lang="en-VN"/>
              <a:t>24</a:t>
            </a:fld>
            <a:endParaRPr lang="en-VN"/>
          </a:p>
        </p:txBody>
      </p:sp>
    </p:spTree>
    <p:extLst>
      <p:ext uri="{BB962C8B-B14F-4D97-AF65-F5344CB8AC3E}">
        <p14:creationId xmlns:p14="http://schemas.microsoft.com/office/powerpoint/2010/main" val="2826856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Fig 2.1. mình hoạ quá trình xác định label của hình tròn màu trắng</a:t>
            </a:r>
          </a:p>
          <a:p>
            <a:endParaRPr lang="en-VN"/>
          </a:p>
          <a:p>
            <a:r>
              <a:rPr lang="en-VN"/>
              <a:t>Tóm tắt thuật toán KNN</a:t>
            </a:r>
          </a:p>
          <a:p>
            <a:endParaRPr lang="en-VN"/>
          </a:p>
          <a:p>
            <a:r>
              <a:rPr lang="en-VN"/>
              <a:t>Độ phức tạp</a:t>
            </a:r>
          </a:p>
        </p:txBody>
      </p:sp>
      <p:sp>
        <p:nvSpPr>
          <p:cNvPr id="4" name="Slide Number Placeholder 3"/>
          <p:cNvSpPr>
            <a:spLocks noGrp="1"/>
          </p:cNvSpPr>
          <p:nvPr>
            <p:ph type="sldNum" sz="quarter" idx="5"/>
          </p:nvPr>
        </p:nvSpPr>
        <p:spPr/>
        <p:txBody>
          <a:bodyPr/>
          <a:lstStyle/>
          <a:p>
            <a:fld id="{F02A4BF2-330F-0041-B456-2AF550CE6FFE}" type="slidenum">
              <a:rPr lang="en-VN"/>
              <a:t>25</a:t>
            </a:fld>
            <a:endParaRPr lang="en-VN"/>
          </a:p>
        </p:txBody>
      </p:sp>
    </p:spTree>
    <p:extLst>
      <p:ext uri="{BB962C8B-B14F-4D97-AF65-F5344CB8AC3E}">
        <p14:creationId xmlns:p14="http://schemas.microsoft.com/office/powerpoint/2010/main" val="414907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27</a:t>
            </a:fld>
            <a:endParaRPr lang="en-VN"/>
          </a:p>
        </p:txBody>
      </p:sp>
    </p:spTree>
    <p:extLst>
      <p:ext uri="{BB962C8B-B14F-4D97-AF65-F5344CB8AC3E}">
        <p14:creationId xmlns:p14="http://schemas.microsoft.com/office/powerpoint/2010/main" val="18604904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VN"/>
                  <a:t>Parameterized quantum circuit : mạch lượng tử có chứa tham số</a:t>
                </a:r>
              </a:p>
              <a:p>
                <a:r>
                  <a:rPr lang="en-VN"/>
                  <a:t>parameter-shift rule : phương pháp tính đạo hàm cho tham số thứ </a:t>
                </a:r>
                <a:r>
                  <a:rPr lang="en-US"/>
                  <a:t>I</a:t>
                </a:r>
                <a:endParaRPr lang="en-VN"/>
              </a:p>
              <a:p>
                <a:r>
                  <a:rPr lang="en-VN"/>
                  <a:t>Quantum Natural Gradient: đạo hàm có nhân với ma trận G được gọi là tensor metric, ma trận G tương đương phép biến đổi cơ sở.</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Expectation value </a:t>
                </a:r>
                <a14:m>
                  <m:oMath xmlns:m="http://schemas.openxmlformats.org/officeDocument/2006/math">
                    <m:r>
                      <a:rPr lang="vi-VN" b="0" i="1">
                        <a:latin typeface="Cambria Math" panose="02040503050406030204" pitchFamily="18" charset="0"/>
                      </a:rPr>
                      <m:t>⟨</m:t>
                    </m:r>
                    <m:r>
                      <a:rPr lang="vi-VN" b="0" i="1">
                        <a:latin typeface="Cambria Math" panose="02040503050406030204" pitchFamily="18" charset="0"/>
                      </a:rPr>
                      <m:t>𝜓</m:t>
                    </m:r>
                    <m:d>
                      <m:dPr>
                        <m:begChr m:val="|"/>
                        <m:endChr m:val="|"/>
                        <m:ctrlPr>
                          <a:rPr lang="vi-VN" b="0" i="1">
                            <a:latin typeface="Cambria Math" panose="02040503050406030204" pitchFamily="18" charset="0"/>
                          </a:rPr>
                        </m:ctrlPr>
                      </m:dPr>
                      <m:e>
                        <m:r>
                          <m:rPr>
                            <m:sty m:val="p"/>
                          </m:rPr>
                          <a:rPr lang="vi-VN" b="0" i="1">
                            <a:latin typeface="Cambria Math" panose="02040503050406030204" pitchFamily="18" charset="0"/>
                          </a:rPr>
                          <m:t>H</m:t>
                        </m:r>
                      </m:e>
                    </m:d>
                    <m:r>
                      <a:rPr lang="vi-VN" b="0" i="1">
                        <a:latin typeface="Cambria Math" panose="02040503050406030204" pitchFamily="18" charset="0"/>
                      </a:rPr>
                      <m:t>𝜓</m:t>
                    </m:r>
                    <m:r>
                      <a:rPr lang="vi-VN" b="0" i="1">
                        <a:latin typeface="Cambria Math" panose="02040503050406030204" pitchFamily="18" charset="0"/>
                      </a:rPr>
                      <m:t>⟩</m:t>
                    </m:r>
                  </m:oMath>
                </a14:m>
                <a:r>
                  <a:rPr lang="en-VN"/>
                  <a:t>: giá trị kì vọng của một Hamiltonian, H là bài toán đang giải quyết.</a:t>
                </a:r>
              </a:p>
              <a:p>
                <a:endParaRPr lang="en-VN"/>
              </a:p>
            </p:txBody>
          </p:sp>
        </mc:Choice>
        <mc:Fallback xmlns="">
          <p:sp>
            <p:nvSpPr>
              <p:cNvPr id="3" name="Notes Placeholder 2"/>
              <p:cNvSpPr>
                <a:spLocks noGrp="1"/>
              </p:cNvSpPr>
              <p:nvPr>
                <p:ph type="body" idx="1"/>
              </p:nvPr>
            </p:nvSpPr>
            <p:spPr/>
            <p:txBody>
              <a:bodyPr/>
              <a:lstStyle/>
              <a:p>
                <a:r>
                  <a:rPr lang="en-VN"/>
                  <a:t>Parameterized quantum circuit : mạch lượng tử có chứa tham số</a:t>
                </a:r>
              </a:p>
              <a:p>
                <a:r>
                  <a:rPr lang="en-VN"/>
                  <a:t>parameter-shift rule : phương pháp tính đạo hàm cho tham số thứ </a:t>
                </a:r>
                <a:r>
                  <a:rPr lang="en-US"/>
                  <a:t>I</a:t>
                </a:r>
                <a:endParaRPr lang="en-VN"/>
              </a:p>
              <a:p>
                <a:r>
                  <a:rPr lang="en-VN"/>
                  <a:t>Quantum Natural Gradient: đạo hàm có nhân với ma trận G được gọi là tensor metric, ma trận G tương đương phép biến đổi cơ sở.</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Expectation value </a:t>
                </a:r>
                <a:r>
                  <a:rPr lang="vi-VN" b="0" i="0">
                    <a:latin typeface="Cambria Math" panose="02040503050406030204" pitchFamily="18" charset="0"/>
                  </a:rPr>
                  <a:t>⟨𝜓|H|𝜓⟩</a:t>
                </a:r>
                <a:r>
                  <a:rPr lang="en-VN"/>
                  <a:t>: giá trị kì vọng của một Hamiltonian, H là bài toán đang giải quyết.</a:t>
                </a:r>
              </a:p>
              <a:p>
                <a:endParaRPr lang="en-VN"/>
              </a:p>
            </p:txBody>
          </p:sp>
        </mc:Fallback>
      </mc:AlternateContent>
      <p:sp>
        <p:nvSpPr>
          <p:cNvPr id="4" name="Slide Number Placeholder 3"/>
          <p:cNvSpPr>
            <a:spLocks noGrp="1"/>
          </p:cNvSpPr>
          <p:nvPr>
            <p:ph type="sldNum" sz="quarter" idx="5"/>
          </p:nvPr>
        </p:nvSpPr>
        <p:spPr/>
        <p:txBody>
          <a:bodyPr/>
          <a:lstStyle/>
          <a:p>
            <a:fld id="{F02A4BF2-330F-0041-B456-2AF550CE6FFE}" type="slidenum">
              <a:rPr lang="en-VN"/>
              <a:t>28</a:t>
            </a:fld>
            <a:endParaRPr lang="en-VN"/>
          </a:p>
        </p:txBody>
      </p:sp>
    </p:spTree>
    <p:extLst>
      <p:ext uri="{BB962C8B-B14F-4D97-AF65-F5344CB8AC3E}">
        <p14:creationId xmlns:p14="http://schemas.microsoft.com/office/powerpoint/2010/main" val="3024584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Mô hình QNN, trong đó lớp Convolutional được thay bằng lớp Quanvolutional (Quantum convolutional), lớp này ít tham số hơn, độ phức tạp tính toán thấp hơn và extract feature tốt hơn</a:t>
            </a:r>
          </a:p>
        </p:txBody>
      </p:sp>
      <p:sp>
        <p:nvSpPr>
          <p:cNvPr id="4" name="Slide Number Placeholder 3"/>
          <p:cNvSpPr>
            <a:spLocks noGrp="1"/>
          </p:cNvSpPr>
          <p:nvPr>
            <p:ph type="sldNum" sz="quarter" idx="5"/>
          </p:nvPr>
        </p:nvSpPr>
        <p:spPr/>
        <p:txBody>
          <a:bodyPr/>
          <a:lstStyle/>
          <a:p>
            <a:fld id="{F02A4BF2-330F-0041-B456-2AF550CE6FFE}" type="slidenum">
              <a:rPr lang="en-VN"/>
              <a:t>30</a:t>
            </a:fld>
            <a:endParaRPr lang="en-VN"/>
          </a:p>
        </p:txBody>
      </p:sp>
    </p:spTree>
    <p:extLst>
      <p:ext uri="{BB962C8B-B14F-4D97-AF65-F5344CB8AC3E}">
        <p14:creationId xmlns:p14="http://schemas.microsoft.com/office/powerpoint/2010/main" val="93388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Mô hình QNN, trong đó lớp Convolutional được thay bằng lớp Quanvolutional (Quantum convolutional), lớp này ít tham số hơn, độ phức tạp tính toán thấp hơn và extract feature tốt hơn</a:t>
            </a:r>
          </a:p>
        </p:txBody>
      </p:sp>
      <p:sp>
        <p:nvSpPr>
          <p:cNvPr id="4" name="Slide Number Placeholder 3"/>
          <p:cNvSpPr>
            <a:spLocks noGrp="1"/>
          </p:cNvSpPr>
          <p:nvPr>
            <p:ph type="sldNum" sz="quarter" idx="5"/>
          </p:nvPr>
        </p:nvSpPr>
        <p:spPr/>
        <p:txBody>
          <a:bodyPr/>
          <a:lstStyle/>
          <a:p>
            <a:fld id="{F02A4BF2-330F-0041-B456-2AF550CE6FFE}" type="slidenum">
              <a:rPr lang="en-VN"/>
              <a:t>31</a:t>
            </a:fld>
            <a:endParaRPr lang="en-VN"/>
          </a:p>
        </p:txBody>
      </p:sp>
    </p:spTree>
    <p:extLst>
      <p:ext uri="{BB962C8B-B14F-4D97-AF65-F5344CB8AC3E}">
        <p14:creationId xmlns:p14="http://schemas.microsoft.com/office/powerpoint/2010/main" val="2390829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Encoder: chuẩn hoá trước khi đưa vào mạch vì trạng thái lượng tử tuân theo born rule.</a:t>
            </a:r>
          </a:p>
          <a:p>
            <a:r>
              <a:rPr lang="en-VN"/>
              <a:t>Operator: ko biết rõ nên sắp xếp các cổng trong mạch ntn nên thường xuyên sử dụng các mạch có cấu trúc dạng graph.</a:t>
            </a:r>
          </a:p>
          <a:p>
            <a:r>
              <a:rPr lang="en-VN"/>
              <a:t>Measure: thường chỉ lấy được p_0000, nếu muốn lấy tất cả các p thì phải sử dụng quantum tomography</a:t>
            </a:r>
          </a:p>
        </p:txBody>
      </p:sp>
      <p:sp>
        <p:nvSpPr>
          <p:cNvPr id="4" name="Slide Number Placeholder 3"/>
          <p:cNvSpPr>
            <a:spLocks noGrp="1"/>
          </p:cNvSpPr>
          <p:nvPr>
            <p:ph type="sldNum" sz="quarter" idx="5"/>
          </p:nvPr>
        </p:nvSpPr>
        <p:spPr/>
        <p:txBody>
          <a:bodyPr/>
          <a:lstStyle/>
          <a:p>
            <a:fld id="{F02A4BF2-330F-0041-B456-2AF550CE6FFE}" type="slidenum">
              <a:rPr lang="en-VN"/>
              <a:t>32</a:t>
            </a:fld>
            <a:endParaRPr lang="en-VN"/>
          </a:p>
        </p:txBody>
      </p:sp>
    </p:spTree>
    <p:extLst>
      <p:ext uri="{BB962C8B-B14F-4D97-AF65-F5344CB8AC3E}">
        <p14:creationId xmlns:p14="http://schemas.microsoft.com/office/powerpoint/2010/main" val="3705600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Encoder: chuẩn hoá trước khi đưa vào mạch vì trạng thái lượng tử tuân theo born rule.</a:t>
            </a:r>
          </a:p>
          <a:p>
            <a:r>
              <a:rPr lang="en-VN"/>
              <a:t>Operator: ko biết rõ nên sắp xếp các cổng trong mạch ntn nên thường xuyên sử dụng các mạch có cấu trúc dạng graph.</a:t>
            </a:r>
          </a:p>
          <a:p>
            <a:r>
              <a:rPr lang="en-VN"/>
              <a:t>Measure: thường chỉ lấy được p_0000, nếu muốn lấy tất cả các p thì phải sử dụng quantum tomography</a:t>
            </a:r>
          </a:p>
        </p:txBody>
      </p:sp>
      <p:sp>
        <p:nvSpPr>
          <p:cNvPr id="4" name="Slide Number Placeholder 3"/>
          <p:cNvSpPr>
            <a:spLocks noGrp="1"/>
          </p:cNvSpPr>
          <p:nvPr>
            <p:ph type="sldNum" sz="quarter" idx="5"/>
          </p:nvPr>
        </p:nvSpPr>
        <p:spPr/>
        <p:txBody>
          <a:bodyPr/>
          <a:lstStyle/>
          <a:p>
            <a:fld id="{F02A4BF2-330F-0041-B456-2AF550CE6FFE}" type="slidenum">
              <a:rPr lang="en-VN"/>
              <a:t>33</a:t>
            </a:fld>
            <a:endParaRPr lang="en-VN"/>
          </a:p>
        </p:txBody>
      </p:sp>
    </p:spTree>
    <p:extLst>
      <p:ext uri="{BB962C8B-B14F-4D97-AF65-F5344CB8AC3E}">
        <p14:creationId xmlns:p14="http://schemas.microsoft.com/office/powerpoint/2010/main" val="3788733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DC6DD357-430A-5740-9DBA-81B4A13A8F73}" type="slidenum">
              <a:rPr lang="en-VN"/>
              <a:t>35</a:t>
            </a:fld>
            <a:endParaRPr lang="en-VN"/>
          </a:p>
        </p:txBody>
      </p:sp>
    </p:spTree>
    <p:extLst>
      <p:ext uri="{BB962C8B-B14F-4D97-AF65-F5344CB8AC3E}">
        <p14:creationId xmlns:p14="http://schemas.microsoft.com/office/powerpoint/2010/main" val="3636562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summarized my research’s contribution in this slides.</a:t>
            </a:r>
          </a:p>
          <a:p>
            <a:r>
              <a:rPr lang="en-US" dirty="0"/>
              <a:t>There are a five major simulation approaches but I only focus on state-vector and stabilizer formalism (the first three row).</a:t>
            </a:r>
          </a:p>
          <a:p>
            <a:r>
              <a:rPr lang="en-US" dirty="0"/>
              <a:t>Each approach have its advantage and disadvantage in different context and different usecase.</a:t>
            </a:r>
          </a:p>
          <a:p>
            <a:r>
              <a:rPr lang="en-US" dirty="0"/>
              <a:t>Currently, many works accelerate the processing on quantum simulation, almost from software side.</a:t>
            </a:r>
          </a:p>
          <a:p>
            <a:endParaRPr lang="en-US" dirty="0"/>
          </a:p>
          <a:p>
            <a:r>
              <a:rPr lang="en-US" dirty="0"/>
              <a:t>but none of them improve both theory, software and hardware design at the same time.</a:t>
            </a:r>
          </a:p>
          <a:p>
            <a:endParaRPr lang="en-US" dirty="0"/>
          </a:p>
          <a:p>
            <a:r>
              <a:rPr lang="en-US" dirty="0"/>
              <a:t>While my work has been improve all three aspects. The state-vector approach is implemented on FPGA ZCU102, stabilizer formalism is just done on rtx4060.</a:t>
            </a:r>
          </a:p>
        </p:txBody>
      </p:sp>
      <p:sp>
        <p:nvSpPr>
          <p:cNvPr id="4" name="Slide Number Placeholder 3"/>
          <p:cNvSpPr>
            <a:spLocks noGrp="1"/>
          </p:cNvSpPr>
          <p:nvPr>
            <p:ph type="sldNum" sz="quarter" idx="5"/>
          </p:nvPr>
        </p:nvSpPr>
        <p:spPr/>
        <p:txBody>
          <a:bodyPr/>
          <a:lstStyle/>
          <a:p>
            <a:fld id="{D5185723-9913-4F02-B630-868413D77CE4}" type="slidenum">
              <a:rPr lang="en-US" smtClean="0"/>
              <a:t>38</a:t>
            </a:fld>
            <a:endParaRPr lang="en-US"/>
          </a:p>
        </p:txBody>
      </p:sp>
    </p:spTree>
    <p:extLst>
      <p:ext uri="{BB962C8B-B14F-4D97-AF65-F5344CB8AC3E}">
        <p14:creationId xmlns:p14="http://schemas.microsoft.com/office/powerpoint/2010/main" val="122471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gate and operator presented in the last slide can be viewed as vector and matrix in the state-vector approach.</a:t>
            </a:r>
          </a:p>
          <a:p>
            <a:endParaRPr lang="en-US" dirty="0"/>
          </a:p>
          <a:p>
            <a:r>
              <a:rPr lang="en-US" dirty="0"/>
              <a:t>A state is simply a normalized vector which has dimensional two exponential of n where n is the number of qubits.</a:t>
            </a:r>
          </a:p>
          <a:p>
            <a:r>
              <a:rPr lang="en-US" dirty="0"/>
              <a:t>Because the length of state is only 1, so each element on state always has the norm less or equal 1.</a:t>
            </a:r>
          </a:p>
          <a:p>
            <a:endParaRPr lang="en-US" dirty="0"/>
          </a:p>
          <a:p>
            <a:r>
              <a:rPr lang="en-US" dirty="0"/>
              <a:t>The gate and operator is actually the matrix which has the element is the complex number.</a:t>
            </a:r>
          </a:p>
          <a:p>
            <a:r>
              <a:rPr lang="en-US" dirty="0"/>
              <a:t>A operator can be reconstructed by tensor multiplication between gates.</a:t>
            </a:r>
          </a:p>
          <a:p>
            <a:endParaRPr lang="en-US" dirty="0"/>
          </a:p>
          <a:p>
            <a:r>
              <a:rPr lang="en-US" dirty="0"/>
              <a:t>And when a operator acts on a state as Eq 1.2, it is equivalent to a matrix-vector multiplication.</a:t>
            </a:r>
          </a:p>
          <a:p>
            <a:r>
              <a:rPr lang="en-US" dirty="0"/>
              <a:t>But note that the dimensional of both state and operator increase exponentially based on the number of qubits.</a:t>
            </a:r>
          </a:p>
          <a:p>
            <a:r>
              <a:rPr lang="en-US" dirty="0"/>
              <a:t>Computing this term is a hard problem.</a:t>
            </a:r>
          </a:p>
        </p:txBody>
      </p:sp>
      <p:sp>
        <p:nvSpPr>
          <p:cNvPr id="4" name="Slide Number Placeholder 3"/>
          <p:cNvSpPr>
            <a:spLocks noGrp="1"/>
          </p:cNvSpPr>
          <p:nvPr>
            <p:ph type="sldNum" sz="quarter" idx="5"/>
          </p:nvPr>
        </p:nvSpPr>
        <p:spPr/>
        <p:txBody>
          <a:bodyPr/>
          <a:lstStyle/>
          <a:p>
            <a:fld id="{D5185723-9913-4F02-B630-868413D77CE4}" type="slidenum">
              <a:rPr lang="en-US" smtClean="0"/>
              <a:t>39</a:t>
            </a:fld>
            <a:endParaRPr lang="en-US"/>
          </a:p>
        </p:txBody>
      </p:sp>
    </p:spTree>
    <p:extLst>
      <p:ext uri="{BB962C8B-B14F-4D97-AF65-F5344CB8AC3E}">
        <p14:creationId xmlns:p14="http://schemas.microsoft.com/office/powerpoint/2010/main" val="4002790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 present how the equation 1.2 is emulated on ZCU102 following wave function variant. This emulator is called </a:t>
            </a:r>
            <a:r>
              <a:rPr lang="en-US" dirty="0" err="1"/>
              <a:t>FQsun</a:t>
            </a:r>
            <a:r>
              <a:rPr lang="en-US" dirty="0"/>
              <a:t>. </a:t>
            </a:r>
          </a:p>
          <a:p>
            <a:endParaRPr lang="en-US" dirty="0"/>
          </a:p>
          <a:p>
            <a:r>
              <a:rPr lang="en-US" dirty="0"/>
              <a:t>Challenge (a): Quantum emulation requires managing and processing large memory, especially as the #Qubits increases, which dramatically expands memory demands. Efficient data handling and minimized memory access times are crucial to achieving high processing speeds without excessive energy consumption. </a:t>
            </a:r>
          </a:p>
          <a:p>
            <a:endParaRPr lang="en-US" dirty="0"/>
          </a:p>
          <a:p>
            <a:r>
              <a:rPr lang="en-US" dirty="0"/>
              <a:t>Challenge (b): Different quantum algorithms rely on a variety of quantum gates, but many emulators are constrained by limited gate support. To effectively execute diverse algorithms, an adaptable gate configuration system is needed to facilitate a wide range of computations with minimal hardware reconfiguration. </a:t>
            </a:r>
          </a:p>
          <a:p>
            <a:endParaRPr lang="en-US" dirty="0"/>
          </a:p>
          <a:p>
            <a:r>
              <a:rPr lang="en-US" dirty="0"/>
              <a:t>Challenge (c): Quantum emulators must execute sequential calculations, where delays in one step can impact the entire system’s performance. To avoid bottlenecks, the emulator requires an optimized scheduling mechanism to ensure continuous processing without latency, thus maximizing resource utilization and computation speed. </a:t>
            </a:r>
          </a:p>
          <a:p>
            <a:endParaRPr lang="en-US" dirty="0"/>
          </a:p>
          <a:p>
            <a:r>
              <a:rPr lang="en-US" dirty="0"/>
              <a:t>Challenge (d) Quantum algorithms often demand different levels of numerical precision, from FX to FP, depending on application requirements. Supporting various precision levels allows the emulator to balance accuracy with resource usage, adapting performance to meet the specific needs of each quantum task while minimizing computational overhead.</a:t>
            </a:r>
          </a:p>
        </p:txBody>
      </p:sp>
      <p:sp>
        <p:nvSpPr>
          <p:cNvPr id="4" name="Slide Number Placeholder 3"/>
          <p:cNvSpPr>
            <a:spLocks noGrp="1"/>
          </p:cNvSpPr>
          <p:nvPr>
            <p:ph type="sldNum" sz="quarter" idx="5"/>
          </p:nvPr>
        </p:nvSpPr>
        <p:spPr/>
        <p:txBody>
          <a:bodyPr/>
          <a:lstStyle/>
          <a:p>
            <a:fld id="{D5185723-9913-4F02-B630-868413D77CE4}" type="slidenum">
              <a:rPr lang="en-US" smtClean="0"/>
              <a:t>40</a:t>
            </a:fld>
            <a:endParaRPr lang="en-US"/>
          </a:p>
        </p:txBody>
      </p:sp>
    </p:spTree>
    <p:extLst>
      <p:ext uri="{BB962C8B-B14F-4D97-AF65-F5344CB8AC3E}">
        <p14:creationId xmlns:p14="http://schemas.microsoft.com/office/powerpoint/2010/main" val="2966924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can easily see that applying a operator on a n-qubit state has the complexity 2^2n because of the matrix-vector multiplcation.</a:t>
            </a:r>
          </a:p>
          <a:p>
            <a:r>
              <a:rPr lang="en-VN"/>
              <a:t> Instead of that, we design an algorithm that only traverse on the state vector, the action will be design by quantum gate and the ooerator will not be constructed.</a:t>
            </a:r>
          </a:p>
          <a:p>
            <a:r>
              <a:rPr lang="en-VN"/>
              <a:t>That help reduce both time and space complexity from 2^2n to 2^n.</a:t>
            </a:r>
          </a:p>
        </p:txBody>
      </p:sp>
      <p:sp>
        <p:nvSpPr>
          <p:cNvPr id="4" name="Slide Number Placeholder 3"/>
          <p:cNvSpPr>
            <a:spLocks noGrp="1"/>
          </p:cNvSpPr>
          <p:nvPr>
            <p:ph type="sldNum" sz="quarter" idx="5"/>
          </p:nvPr>
        </p:nvSpPr>
        <p:spPr/>
        <p:txBody>
          <a:bodyPr/>
          <a:lstStyle/>
          <a:p>
            <a:fld id="{D5185723-9913-4F02-B630-868413D77CE4}" type="slidenum">
              <a:rPr lang="en-US" smtClean="0"/>
              <a:t>41</a:t>
            </a:fld>
            <a:endParaRPr lang="en-US"/>
          </a:p>
        </p:txBody>
      </p:sp>
    </p:spTree>
    <p:extLst>
      <p:ext uri="{BB962C8B-B14F-4D97-AF65-F5344CB8AC3E}">
        <p14:creationId xmlns:p14="http://schemas.microsoft.com/office/powerpoint/2010/main" val="2529745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2.1 details the proposed </a:t>
            </a:r>
            <a:r>
              <a:rPr lang="en-US" dirty="0" err="1"/>
              <a:t>FQsun</a:t>
            </a:r>
            <a:r>
              <a:rPr lang="en-US" dirty="0"/>
              <a:t> architecture on an FPGA at the </a:t>
            </a:r>
            <a:r>
              <a:rPr lang="en-US" dirty="0" err="1"/>
              <a:t>systemon</a:t>
            </a:r>
            <a:r>
              <a:rPr lang="en-US" dirty="0"/>
              <a:t>-chip (SoC) level. The system comprises four components: </a:t>
            </a:r>
            <a:r>
              <a:rPr lang="en-US" dirty="0" err="1"/>
              <a:t>Qsun</a:t>
            </a:r>
            <a:r>
              <a:rPr lang="en-US" dirty="0"/>
              <a:t> Framework, </a:t>
            </a:r>
            <a:r>
              <a:rPr lang="en-US" dirty="0" err="1"/>
              <a:t>FQsun</a:t>
            </a:r>
            <a:r>
              <a:rPr lang="en-US" dirty="0"/>
              <a:t> Software, Processing System (PS), and </a:t>
            </a:r>
            <a:r>
              <a:rPr lang="en-US" dirty="0" err="1"/>
              <a:t>FQsun</a:t>
            </a:r>
            <a:r>
              <a:rPr lang="en-US" dirty="0"/>
              <a:t> in Programmable Logic (PL). </a:t>
            </a:r>
          </a:p>
          <a:p>
            <a:endParaRPr lang="en-US" dirty="0"/>
          </a:p>
          <a:p>
            <a:r>
              <a:rPr lang="en-US" dirty="0"/>
              <a:t>The </a:t>
            </a:r>
            <a:r>
              <a:rPr lang="en-US" dirty="0" err="1"/>
              <a:t>Qsun</a:t>
            </a:r>
            <a:r>
              <a:rPr lang="en-US" dirty="0"/>
              <a:t> Framework, implemented in Python, includes libraries and programs for quantum simulation. </a:t>
            </a:r>
          </a:p>
          <a:p>
            <a:r>
              <a:rPr lang="en-US" dirty="0"/>
              <a:t>These programs can instruct the hardware to execute gates through the </a:t>
            </a:r>
            <a:r>
              <a:rPr lang="en-US" dirty="0" err="1"/>
              <a:t>FQsun</a:t>
            </a:r>
            <a:r>
              <a:rPr lang="en-US" dirty="0"/>
              <a:t> C library in </a:t>
            </a:r>
            <a:r>
              <a:rPr lang="en-US" dirty="0" err="1"/>
              <a:t>FQsun</a:t>
            </a:r>
            <a:r>
              <a:rPr lang="en-US" dirty="0"/>
              <a:t> Software. </a:t>
            </a:r>
          </a:p>
          <a:p>
            <a:r>
              <a:rPr lang="en-US" dirty="0"/>
              <a:t>Within the PS, the embedded CPU runs software such as the </a:t>
            </a:r>
            <a:r>
              <a:rPr lang="en-US" dirty="0" err="1"/>
              <a:t>Qsun</a:t>
            </a:r>
            <a:r>
              <a:rPr lang="en-US" dirty="0"/>
              <a:t> Framework and </a:t>
            </a:r>
            <a:r>
              <a:rPr lang="en-US" dirty="0" err="1"/>
              <a:t>FQsun</a:t>
            </a:r>
            <a:r>
              <a:rPr lang="en-US" dirty="0"/>
              <a:t> Software to control </a:t>
            </a:r>
            <a:r>
              <a:rPr lang="en-US" dirty="0" err="1"/>
              <a:t>FQsun</a:t>
            </a:r>
            <a:r>
              <a:rPr lang="en-US" dirty="0"/>
              <a:t> in PL for executing quantum simulation tasks. </a:t>
            </a:r>
          </a:p>
          <a:p>
            <a:r>
              <a:rPr lang="en-US" dirty="0"/>
              <a:t>In the PL, it consists of four modules: AXI Mapper, memory system, </a:t>
            </a:r>
            <a:r>
              <a:rPr lang="en-US" dirty="0" err="1"/>
              <a:t>FQsun</a:t>
            </a:r>
            <a:r>
              <a:rPr lang="en-US" dirty="0"/>
              <a:t> controller, and QGU. </a:t>
            </a:r>
          </a:p>
          <a:p>
            <a:r>
              <a:rPr lang="en-US" dirty="0"/>
              <a:t>The AXI Mapper manages and routes data exchanged between the PS and the </a:t>
            </a:r>
            <a:r>
              <a:rPr lang="en-US" dirty="0" err="1"/>
              <a:t>FQsun</a:t>
            </a:r>
            <a:r>
              <a:rPr lang="en-US" dirty="0"/>
              <a:t> memory system. </a:t>
            </a:r>
          </a:p>
          <a:p>
            <a:endParaRPr lang="en-US" dirty="0"/>
          </a:p>
          <a:p>
            <a:r>
              <a:rPr lang="en-US" dirty="0"/>
              <a:t>The </a:t>
            </a:r>
            <a:r>
              <a:rPr lang="en-US" dirty="0" err="1"/>
              <a:t>FQsun</a:t>
            </a:r>
            <a:r>
              <a:rPr lang="en-US" dirty="0"/>
              <a:t> memory system comprises Control Buffers, Context Memory, and a pair of Ping/Pong Amplitude Memory modules. </a:t>
            </a:r>
          </a:p>
          <a:p>
            <a:endParaRPr lang="en-US" dirty="0"/>
          </a:p>
          <a:p>
            <a:r>
              <a:rPr lang="en-US" dirty="0"/>
              <a:t>Control Buffers store control signals for the host </a:t>
            </a:r>
            <a:r>
              <a:rPr lang="en-US" dirty="0" err="1"/>
              <a:t>FQsun</a:t>
            </a:r>
            <a:r>
              <a:rPr lang="en-US" dirty="0"/>
              <a:t> Controller.</a:t>
            </a:r>
          </a:p>
          <a:p>
            <a:r>
              <a:rPr lang="en-US" dirty="0"/>
              <a:t>Context Memory holds configuration information such as gate type, gate location (cut, sin(θ/2), cos(θ/2), w0, w1), and gate parameters. </a:t>
            </a:r>
          </a:p>
          <a:p>
            <a:r>
              <a:rPr lang="en-US" dirty="0"/>
              <a:t>Notably, the Ping/Pong Amplitude 2 ×2048 (KB) Memory is the largest memory unit designed to store {α (t) j } for QGU. Finally, QGU serves as the main processing unit of </a:t>
            </a:r>
            <a:r>
              <a:rPr lang="en-US" dirty="0" err="1"/>
              <a:t>FQsun</a:t>
            </a:r>
            <a:r>
              <a:rPr lang="en-US" dirty="0"/>
              <a:t>. </a:t>
            </a:r>
          </a:p>
          <a:p>
            <a:endParaRPr lang="en-US" dirty="0"/>
          </a:p>
          <a:p>
            <a:r>
              <a:rPr lang="en-US" dirty="0"/>
              <a:t>QGU contains six fundamental gate units: {H, S, CX, Rx, Ry, Rz}. These basic gates can be combined to implement most other gates, ensuring high flexibility. </a:t>
            </a:r>
          </a:p>
          <a:p>
            <a:endParaRPr lang="en-US" dirty="0"/>
          </a:p>
          <a:p>
            <a:endParaRPr lang="en-US" dirty="0"/>
          </a:p>
          <a:p>
            <a:r>
              <a:rPr lang="en-US" dirty="0"/>
              <a:t>The hardware platforms such as FPGAs are limited by storage resources. To support large #Qubits, the memory organization of </a:t>
            </a:r>
            <a:r>
              <a:rPr lang="en-US" dirty="0" err="1"/>
              <a:t>FQsun</a:t>
            </a:r>
            <a:r>
              <a:rPr lang="en-US" dirty="0"/>
              <a:t> must be optimized. </a:t>
            </a:r>
          </a:p>
          <a:p>
            <a:r>
              <a:rPr lang="en-US" dirty="0"/>
              <a:t>Figure 2.2 illustrates the memory organization. There are three types of memory: Control Buffers, Context Memory, and Ping/Pong Amplitude Memory.</a:t>
            </a:r>
          </a:p>
          <a:p>
            <a:endParaRPr lang="en-US" dirty="0"/>
          </a:p>
          <a:p>
            <a:endParaRPr lang="en-US" dirty="0"/>
          </a:p>
        </p:txBody>
      </p:sp>
      <p:sp>
        <p:nvSpPr>
          <p:cNvPr id="4" name="Slide Number Placeholder 3"/>
          <p:cNvSpPr>
            <a:spLocks noGrp="1"/>
          </p:cNvSpPr>
          <p:nvPr>
            <p:ph type="sldNum" sz="quarter" idx="5"/>
          </p:nvPr>
        </p:nvSpPr>
        <p:spPr/>
        <p:txBody>
          <a:bodyPr/>
          <a:lstStyle/>
          <a:p>
            <a:fld id="{D5185723-9913-4F02-B630-868413D77CE4}" type="slidenum">
              <a:rPr lang="en-US" smtClean="0"/>
              <a:t>42</a:t>
            </a:fld>
            <a:endParaRPr lang="en-US"/>
          </a:p>
        </p:txBody>
      </p:sp>
    </p:spTree>
    <p:extLst>
      <p:ext uri="{BB962C8B-B14F-4D97-AF65-F5344CB8AC3E}">
        <p14:creationId xmlns:p14="http://schemas.microsoft.com/office/powerpoint/2010/main" val="2912157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342E4-5723-DBAC-5F9F-0580D8901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EF8F9-A89D-A76E-4D8C-A25E3E412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0FAC2-638D-84B7-DC14-2FA6163E1CD0}"/>
              </a:ext>
            </a:extLst>
          </p:cNvPr>
          <p:cNvSpPr>
            <a:spLocks noGrp="1"/>
          </p:cNvSpPr>
          <p:nvPr>
            <p:ph type="body" idx="1"/>
          </p:nvPr>
        </p:nvSpPr>
        <p:spPr/>
        <p:txBody>
          <a:bodyPr/>
          <a:lstStyle/>
          <a:p>
            <a:pPr marL="171450" indent="-171450">
              <a:buFontTx/>
              <a:buChar char="-"/>
            </a:pPr>
            <a:r>
              <a:rPr lang="en-US" dirty="0"/>
              <a:t>Control Buffers: These buffers store 1-bit control signals such as load, start, done, and stop. The load signal is used by the host to indicate the state where it writes context and amplitude data. Additionally, the host uses a 5-bit signal to indicate #Qubits, which </a:t>
            </a:r>
            <a:r>
              <a:rPr lang="en-US" dirty="0" err="1"/>
              <a:t>FQsun</a:t>
            </a:r>
            <a:r>
              <a:rPr lang="en-US" dirty="0"/>
              <a:t> is supporting. After completing the load state, the host triggers the start signal to begin the session. The done signal is continuously read by the host to track the completion time of each gate operation. Finally, the stop signal is used to end the session by resetting the address register of the Context Memory. </a:t>
            </a:r>
          </a:p>
          <a:p>
            <a:pPr marL="171450" indent="-171450">
              <a:buFontTx/>
              <a:buChar char="-"/>
            </a:pPr>
            <a:r>
              <a:rPr lang="en-US" dirty="0"/>
              <a:t>Context Memory (16 KB): This memory stores configuration </a:t>
            </a:r>
            <a:r>
              <a:rPr lang="en-US" dirty="0" err="1"/>
              <a:t>dataand</a:t>
            </a:r>
            <a:r>
              <a:rPr lang="en-US" dirty="0"/>
              <a:t> has d = 2048. The configuration data includes a 3-bit gate opcode indicating the type of gate to be executed. The values sin(θ/2) and cos(θ/2), with a bit width of 16/24/32 depending on the precision type, are parameters for Ri , pre-computed by </a:t>
            </a:r>
            <a:r>
              <a:rPr lang="en-US" dirty="0" err="1"/>
              <a:t>FQsun</a:t>
            </a:r>
            <a:r>
              <a:rPr lang="en-US" dirty="0"/>
              <a:t> software to reduce hardware complexity. Additionally, parameters such as the 5-bit cut and gate positions {w0, w1} must also be stored.</a:t>
            </a:r>
          </a:p>
          <a:p>
            <a:endParaRPr lang="en-US" dirty="0"/>
          </a:p>
          <a:p>
            <a:endParaRPr lang="en-US" dirty="0"/>
          </a:p>
          <a:p>
            <a:r>
              <a:rPr lang="en-US" dirty="0"/>
              <a:t>Ping/Pong Amplitude Memory (2 MB): used to store {α (t) j } for QGU. </a:t>
            </a:r>
          </a:p>
          <a:p>
            <a:r>
              <a:rPr lang="en-US" dirty="0"/>
              <a:t>This memory must have a d = 2^17 or d = 2^18 to support up to 17 or 18 qubits for 16-bit precision or 32-bit precision, calibrated to fit the maximum BRAM (block ram) capacity of the Xilinx ZCU102. (5.3 Mb)</a:t>
            </a:r>
          </a:p>
          <a:p>
            <a:endParaRPr lang="en-US" dirty="0"/>
          </a:p>
          <a:p>
            <a:r>
              <a:rPr lang="en-US" dirty="0"/>
              <a:t>In case Ping/Pong Amplitude Memory is applied to FPGAs with more BRAM resources, such as the Alveo or Versal series, </a:t>
            </a:r>
            <a:r>
              <a:rPr lang="en-US" dirty="0" err="1"/>
              <a:t>FQsun</a:t>
            </a:r>
            <a:r>
              <a:rPr lang="en-US" dirty="0"/>
              <a:t> could support a larger #Qubits. </a:t>
            </a:r>
          </a:p>
          <a:p>
            <a:endParaRPr lang="en-US" dirty="0"/>
          </a:p>
          <a:p>
            <a:r>
              <a:rPr lang="en-US" dirty="0"/>
              <a:t>To enable amplitude updates as described in Algorithms 2.1, a dual-port Ping/Pong memory design is applied. </a:t>
            </a:r>
          </a:p>
          <a:p>
            <a:r>
              <a:rPr lang="en-US" dirty="0"/>
              <a:t>Specifically, if the ping memory holds the current amplitude {α (t) j }, the pong memory will store the new amplitude {α (t+1) j }, and vice versa. This design is essential on the grounds that, during the calculation of {α (t+1) </a:t>
            </a:r>
            <a:r>
              <a:rPr lang="en-US" dirty="0" err="1"/>
              <a:t>i+cut</a:t>
            </a:r>
            <a:r>
              <a:rPr lang="en-US" dirty="0"/>
              <a:t>} and {α (t+1) </a:t>
            </a:r>
            <a:r>
              <a:rPr lang="en-US" dirty="0" err="1"/>
              <a:t>i</a:t>
            </a:r>
            <a:r>
              <a:rPr lang="en-US" dirty="0"/>
              <a:t>−cut}, both the current and new amplitudes are needed.</a:t>
            </a:r>
          </a:p>
          <a:p>
            <a:endParaRPr lang="en-US" dirty="0"/>
          </a:p>
          <a:p>
            <a:endParaRPr lang="en-US" dirty="0"/>
          </a:p>
        </p:txBody>
      </p:sp>
      <p:sp>
        <p:nvSpPr>
          <p:cNvPr id="4" name="Slide Number Placeholder 3">
            <a:extLst>
              <a:ext uri="{FF2B5EF4-FFF2-40B4-BE49-F238E27FC236}">
                <a16:creationId xmlns:a16="http://schemas.microsoft.com/office/drawing/2014/main" id="{7C6AE271-F32A-DB38-D970-B52ADA9B3A28}"/>
              </a:ext>
            </a:extLst>
          </p:cNvPr>
          <p:cNvSpPr>
            <a:spLocks noGrp="1"/>
          </p:cNvSpPr>
          <p:nvPr>
            <p:ph type="sldNum" sz="quarter" idx="5"/>
          </p:nvPr>
        </p:nvSpPr>
        <p:spPr/>
        <p:txBody>
          <a:bodyPr/>
          <a:lstStyle/>
          <a:p>
            <a:fld id="{D5185723-9913-4F02-B630-868413D77CE4}" type="slidenum">
              <a:rPr lang="en-US" smtClean="0"/>
              <a:t>43</a:t>
            </a:fld>
            <a:endParaRPr lang="en-US"/>
          </a:p>
        </p:txBody>
      </p:sp>
    </p:spTree>
    <p:extLst>
      <p:ext uri="{BB962C8B-B14F-4D97-AF65-F5344CB8AC3E}">
        <p14:creationId xmlns:p14="http://schemas.microsoft.com/office/powerpoint/2010/main" val="728034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micro-architecture of the QGU consists of five main modules designed to perform six fundamental gates following software design. </a:t>
            </a:r>
          </a:p>
          <a:p>
            <a:r>
              <a:rPr lang="en-US" dirty="0"/>
              <a:t>The computational data for the QGU includes {α (t) j }, {α (t+1) j }, {α (t+1) </a:t>
            </a:r>
            <a:r>
              <a:rPr lang="en-US" dirty="0" err="1"/>
              <a:t>j±cut</a:t>
            </a:r>
            <a:r>
              <a:rPr lang="en-US" dirty="0"/>
              <a:t>}, and parameters (sin(θ/2) and cos(θ/2)) used by Ri . </a:t>
            </a:r>
          </a:p>
          <a:p>
            <a:r>
              <a:rPr lang="en-US" dirty="0"/>
              <a:t>Essentially, the operations of Rx and Ry are relatively similar; hence, they are implemented using a Unified Rx &amp; Ry Gate unit to conserve hardware resources. </a:t>
            </a:r>
          </a:p>
          <a:p>
            <a:r>
              <a:rPr lang="en-US" dirty="0"/>
              <a:t>To ensure proper execution of the if-else logic, a 2-to-1 multiplexer system controlled by the state value is used to select the output value. </a:t>
            </a:r>
          </a:p>
          <a:p>
            <a:r>
              <a:rPr lang="en-US" dirty="0"/>
              <a:t>Finally, a multiplexer controlled by the gate operation input is employed</a:t>
            </a:r>
          </a:p>
        </p:txBody>
      </p:sp>
      <p:sp>
        <p:nvSpPr>
          <p:cNvPr id="4" name="Slide Number Placeholder 3"/>
          <p:cNvSpPr>
            <a:spLocks noGrp="1"/>
          </p:cNvSpPr>
          <p:nvPr>
            <p:ph type="sldNum" sz="quarter" idx="5"/>
          </p:nvPr>
        </p:nvSpPr>
        <p:spPr/>
        <p:txBody>
          <a:bodyPr/>
          <a:lstStyle/>
          <a:p>
            <a:fld id="{D5185723-9913-4F02-B630-868413D77CE4}" type="slidenum">
              <a:rPr lang="en-US" smtClean="0"/>
              <a:t>44</a:t>
            </a:fld>
            <a:endParaRPr lang="en-US"/>
          </a:p>
        </p:txBody>
      </p:sp>
    </p:spTree>
    <p:extLst>
      <p:ext uri="{BB962C8B-B14F-4D97-AF65-F5344CB8AC3E}">
        <p14:creationId xmlns:p14="http://schemas.microsoft.com/office/powerpoint/2010/main" val="2378580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Almost all related work on emulators has primarily focused on performance evaluation while lacking criteria for accuracy.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I realize that lower precision while affect on the fidelity heavily.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So I designed with five configurations, each corresponding to a different precision on slides.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r>
              <a:rPr lang="en-US" sz="1800">
                <a:effectLst/>
                <a:latin typeface="CMBX12"/>
              </a:rPr>
              <a:t>Pipeline and Complexity</a:t>
            </a:r>
            <a:r>
              <a:rPr lang="en-US" sz="1800">
                <a:effectLst/>
                <a:latin typeface="CMR12"/>
              </a:rPr>
              <a:t>: FP numbers utilize two pipeline stages for both the multiplier and the adder/subtractor units, while FX numbers require only two stages for the multiplier and one stage for the adder/subtractor. As a result, the latency of FX design is lower compared to FP design. </a:t>
            </a:r>
            <a:endParaRPr lang="en-US" sz="2800"/>
          </a:p>
          <a:p>
            <a:endParaRPr lang="en-US" sz="1800">
              <a:effectLst/>
              <a:latin typeface="CMBX12"/>
            </a:endParaRPr>
          </a:p>
          <a:p>
            <a:r>
              <a:rPr lang="en-US" sz="1800">
                <a:effectLst/>
                <a:latin typeface="CMBX12"/>
              </a:rPr>
              <a:t>Range and Precision</a:t>
            </a:r>
            <a:r>
              <a:rPr lang="en-US" sz="1800">
                <a:effectLst/>
                <a:latin typeface="CMR12"/>
              </a:rPr>
              <a:t>: following normalize condition, </a:t>
            </a:r>
            <a:r>
              <a:rPr lang="en-US" sz="1800">
                <a:effectLst/>
                <a:latin typeface="CMSY10"/>
              </a:rPr>
              <a:t>|</a:t>
            </a:r>
            <a:r>
              <a:rPr lang="el-GR" sz="1800">
                <a:effectLst/>
                <a:latin typeface="CMMI12"/>
              </a:rPr>
              <a:t>α</a:t>
            </a:r>
            <a:r>
              <a:rPr lang="vi-VN" sz="1800">
                <a:effectLst/>
                <a:latin typeface="CMMI12"/>
              </a:rPr>
              <a:t>_j</a:t>
            </a:r>
            <a:r>
              <a:rPr lang="en-US" sz="1800">
                <a:effectLst/>
                <a:latin typeface="CMSY10"/>
              </a:rPr>
              <a:t>| ∈ </a:t>
            </a:r>
            <a:r>
              <a:rPr lang="en-US" sz="1800">
                <a:effectLst/>
                <a:latin typeface="CMR12"/>
              </a:rPr>
              <a:t>[</a:t>
            </a:r>
            <a:r>
              <a:rPr lang="en-US" sz="1800">
                <a:effectLst/>
                <a:latin typeface="CMSY10"/>
              </a:rPr>
              <a:t>−</a:t>
            </a:r>
            <a:r>
              <a:rPr lang="en-US" sz="1800">
                <a:effectLst/>
                <a:latin typeface="CMR12"/>
              </a:rPr>
              <a:t>1</a:t>
            </a:r>
            <a:r>
              <a:rPr lang="en-US" sz="1800">
                <a:effectLst/>
                <a:latin typeface="CMMI12"/>
              </a:rPr>
              <a:t>, </a:t>
            </a:r>
            <a:r>
              <a:rPr lang="en-US" sz="1800">
                <a:effectLst/>
                <a:latin typeface="CMR12"/>
              </a:rPr>
              <a:t>1]; then, FX numbers used in FQsun are configured with 1 sign bit, 1 integer bit, and the remaining bits allocated to the fractional part</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Specifically, the PS consumes a maximum of 1</a:t>
            </a:r>
            <a:r>
              <a:rPr lang="en-US" sz="1800">
                <a:effectLst/>
                <a:latin typeface="CMMI12"/>
              </a:rPr>
              <a:t>.</a:t>
            </a:r>
            <a:r>
              <a:rPr lang="en-US" sz="1800">
                <a:effectLst/>
                <a:latin typeface="CMR12"/>
              </a:rPr>
              <a:t>84 (W) (with 0</a:t>
            </a:r>
            <a:r>
              <a:rPr lang="en-US" sz="1800">
                <a:effectLst/>
                <a:latin typeface="CMMI12"/>
              </a:rPr>
              <a:t>.</a:t>
            </a:r>
            <a:r>
              <a:rPr lang="en-US" sz="1800">
                <a:effectLst/>
                <a:latin typeface="CMR12"/>
              </a:rPr>
              <a:t>34 (W) dynamic power). The PL consumes a maximum of 0</a:t>
            </a:r>
            <a:r>
              <a:rPr lang="en-US" sz="1800">
                <a:effectLst/>
                <a:latin typeface="CMMI12"/>
              </a:rPr>
              <a:t>.</a:t>
            </a:r>
            <a:r>
              <a:rPr lang="en-US" sz="1800">
                <a:effectLst/>
                <a:latin typeface="CMR12"/>
              </a:rPr>
              <a:t>61 (W). The total power reaches a maximum of 2</a:t>
            </a:r>
            <a:r>
              <a:rPr lang="en-US" sz="1800">
                <a:effectLst/>
                <a:latin typeface="CMMI12"/>
              </a:rPr>
              <a:t>.</a:t>
            </a:r>
            <a:r>
              <a:rPr lang="en-US" sz="1800">
                <a:effectLst/>
                <a:latin typeface="CMR12"/>
              </a:rPr>
              <a:t>41 (W) (with 0</a:t>
            </a:r>
            <a:r>
              <a:rPr lang="en-US" sz="1800">
                <a:effectLst/>
                <a:latin typeface="CMMI12"/>
              </a:rPr>
              <a:t>.</a:t>
            </a:r>
            <a:r>
              <a:rPr lang="en-US" sz="1800">
                <a:effectLst/>
                <a:latin typeface="CMR12"/>
              </a:rPr>
              <a:t>23 (W) dynamic power). Accordingly, the power consumption for FQsun is determined by adding the total dynamic power to the maximum PL power, reaching 0</a:t>
            </a:r>
            <a:r>
              <a:rPr lang="en-US" sz="1800">
                <a:effectLst/>
                <a:latin typeface="CMMI12"/>
              </a:rPr>
              <a:t>.</a:t>
            </a:r>
            <a:r>
              <a:rPr lang="en-US" sz="1800">
                <a:effectLst/>
                <a:latin typeface="CMR12"/>
              </a:rPr>
              <a:t>81 (W). These power values are kept for all #Qubits. </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FFs: flip-flop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DSP: </a:t>
            </a:r>
            <a:r>
              <a:rPr lang="en-US" b="0" i="0">
                <a:solidFill>
                  <a:srgbClr val="474747"/>
                </a:solidFill>
                <a:effectLst/>
                <a:latin typeface="Arial" panose="020B0604020202020204" pitchFamily="34" charset="0"/>
              </a:rPr>
              <a:t>digital signal processor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474747"/>
                </a:solidFill>
                <a:effectLst/>
                <a:latin typeface="Arial" panose="020B0604020202020204" pitchFamily="34" charset="0"/>
              </a:rPr>
              <a:t>PS: processing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474747"/>
                </a:solidFill>
                <a:effectLst/>
                <a:latin typeface="Arial" panose="020B0604020202020204" pitchFamily="34" charset="0"/>
              </a:rPr>
              <a:t>PL: programmable logic</a:t>
            </a:r>
            <a:endParaRPr lang="en-US"/>
          </a:p>
          <a:p>
            <a:endParaRPr lang="en-VN"/>
          </a:p>
        </p:txBody>
      </p:sp>
      <p:sp>
        <p:nvSpPr>
          <p:cNvPr id="4" name="Slide Number Placeholder 3"/>
          <p:cNvSpPr>
            <a:spLocks noGrp="1"/>
          </p:cNvSpPr>
          <p:nvPr>
            <p:ph type="sldNum" sz="quarter" idx="5"/>
          </p:nvPr>
        </p:nvSpPr>
        <p:spPr/>
        <p:txBody>
          <a:bodyPr/>
          <a:lstStyle/>
          <a:p>
            <a:fld id="{D5185723-9913-4F02-B630-868413D77CE4}" type="slidenum">
              <a:rPr lang="en-US" smtClean="0"/>
              <a:t>45</a:t>
            </a:fld>
            <a:endParaRPr lang="en-US"/>
          </a:p>
        </p:txBody>
      </p:sp>
    </p:spTree>
    <p:extLst>
      <p:ext uri="{BB962C8B-B14F-4D97-AF65-F5344CB8AC3E}">
        <p14:creationId xmlns:p14="http://schemas.microsoft.com/office/powerpoint/2010/main" val="29713618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benchmark the F</a:t>
            </a:r>
            <a:r>
              <a:rPr lang="en-US"/>
              <a:t>q</a:t>
            </a:r>
            <a:r>
              <a:rPr lang="en-VN"/>
              <a:t>sun on three different quantum algorithms, each algorithms has the different gate organization and number of gates.</a:t>
            </a:r>
          </a:p>
        </p:txBody>
      </p:sp>
      <p:sp>
        <p:nvSpPr>
          <p:cNvPr id="4" name="Slide Number Placeholder 3"/>
          <p:cNvSpPr>
            <a:spLocks noGrp="1"/>
          </p:cNvSpPr>
          <p:nvPr>
            <p:ph type="sldNum" sz="quarter" idx="5"/>
          </p:nvPr>
        </p:nvSpPr>
        <p:spPr/>
        <p:txBody>
          <a:bodyPr/>
          <a:lstStyle/>
          <a:p>
            <a:fld id="{D5185723-9913-4F02-B630-868413D77CE4}" type="slidenum">
              <a:rPr lang="en-US" smtClean="0"/>
              <a:t>46</a:t>
            </a:fld>
            <a:endParaRPr lang="en-US"/>
          </a:p>
        </p:txBody>
      </p:sp>
    </p:spTree>
    <p:extLst>
      <p:ext uri="{BB962C8B-B14F-4D97-AF65-F5344CB8AC3E}">
        <p14:creationId xmlns:p14="http://schemas.microsoft.com/office/powerpoint/2010/main" val="498517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can see on all task, F</a:t>
            </a:r>
            <a:r>
              <a:rPr lang="en-US"/>
              <a:t>q</a:t>
            </a:r>
            <a:r>
              <a:rPr lang="en-VN"/>
              <a:t>sun nearly achieve the perfect MSE a</a:t>
            </a:r>
            <a:r>
              <a:rPr lang="en-US"/>
              <a:t>nd</a:t>
            </a:r>
            <a:r>
              <a:rPr lang="en-VN"/>
              <a:t> fidelity.</a:t>
            </a:r>
          </a:p>
          <a:p>
            <a:r>
              <a:rPr lang="en-VN"/>
              <a:t>Except the FP16 and FX16, it turn to be wrong on QFT because of not enough bit for fraction part.</a:t>
            </a:r>
          </a:p>
        </p:txBody>
      </p:sp>
      <p:sp>
        <p:nvSpPr>
          <p:cNvPr id="4" name="Slide Number Placeholder 3"/>
          <p:cNvSpPr>
            <a:spLocks noGrp="1"/>
          </p:cNvSpPr>
          <p:nvPr>
            <p:ph type="sldNum" sz="quarter" idx="5"/>
          </p:nvPr>
        </p:nvSpPr>
        <p:spPr/>
        <p:txBody>
          <a:bodyPr/>
          <a:lstStyle/>
          <a:p>
            <a:fld id="{D5185723-9913-4F02-B630-868413D77CE4}" type="slidenum">
              <a:rPr lang="en-US" smtClean="0"/>
              <a:t>47</a:t>
            </a:fld>
            <a:endParaRPr lang="en-US"/>
          </a:p>
        </p:txBody>
      </p:sp>
    </p:spTree>
    <p:extLst>
      <p:ext uri="{BB962C8B-B14F-4D97-AF65-F5344CB8AC3E}">
        <p14:creationId xmlns:p14="http://schemas.microsoft.com/office/powerpoint/2010/main" val="34842766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compare the execution time and pdp (power delay product) = time x power between Fqsun and CPU/GPU</a:t>
            </a:r>
          </a:p>
          <a:p>
            <a:r>
              <a:rPr lang="en-US" dirty="0"/>
              <a:t>In almost case, Fqsun achieve the better exe time and superior PDP compared to all related works. </a:t>
            </a:r>
          </a:p>
          <a:p>
            <a:r>
              <a:rPr lang="en-US" dirty="0"/>
              <a:t>an exception at subfigure 2.10 (d), pennylane and qiskit faster than Fqsun due to the stabilizer rank (will be explain in the next slide and section 3)</a:t>
            </a:r>
          </a:p>
        </p:txBody>
      </p:sp>
      <p:sp>
        <p:nvSpPr>
          <p:cNvPr id="4" name="Slide Number Placeholder 3"/>
          <p:cNvSpPr>
            <a:spLocks noGrp="1"/>
          </p:cNvSpPr>
          <p:nvPr>
            <p:ph type="sldNum" sz="quarter" idx="5"/>
          </p:nvPr>
        </p:nvSpPr>
        <p:spPr/>
        <p:txBody>
          <a:bodyPr/>
          <a:lstStyle/>
          <a:p>
            <a:fld id="{D5185723-9913-4F02-B630-868413D77CE4}" type="slidenum">
              <a:rPr lang="en-US" smtClean="0"/>
              <a:t>48</a:t>
            </a:fld>
            <a:endParaRPr lang="en-US"/>
          </a:p>
        </p:txBody>
      </p:sp>
    </p:spTree>
    <p:extLst>
      <p:ext uri="{BB962C8B-B14F-4D97-AF65-F5344CB8AC3E}">
        <p14:creationId xmlns:p14="http://schemas.microsoft.com/office/powerpoint/2010/main" val="1141759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CMR12"/>
              </a:rPr>
              <a:t>Compared to other emulators [56,57,60–62], our emulator support various applications. The work [59/64] achieve the best normalized gate speed however, these designs support only the QFT circuit and then have no use case because they provide a fixed output. </a:t>
            </a:r>
          </a:p>
          <a:p>
            <a:endParaRPr lang="en-US"/>
          </a:p>
          <a:p>
            <a:r>
              <a:rPr lang="en-US" sz="1800">
                <a:effectLst/>
                <a:latin typeface="CMR12"/>
              </a:rPr>
              <a:t>For a fair comparison, FQsun is comparable to other flexible emulators that support a wide range of algorithms, including Arria 10AX115N4F45E3SG [2] and AMD Xilinx Zynq-7000 FPGA [63]. </a:t>
            </a:r>
          </a:p>
          <a:p>
            <a:r>
              <a:rPr lang="en-US" sz="1800">
                <a:effectLst/>
                <a:latin typeface="CMR12"/>
              </a:rPr>
              <a:t>Regarding execution time, </a:t>
            </a:r>
            <a:r>
              <a:rPr lang="en-US" sz="1800">
                <a:effectLst/>
                <a:latin typeface="CMBX12"/>
              </a:rPr>
              <a:t>FX32 </a:t>
            </a:r>
            <a:r>
              <a:rPr lang="en-US" sz="1800">
                <a:effectLst/>
                <a:latin typeface="CMR12"/>
              </a:rPr>
              <a:t>achieves a computation speed-up of </a:t>
            </a:r>
            <a:r>
              <a:rPr lang="en-US" sz="1800">
                <a:effectLst/>
                <a:latin typeface="CMBX12"/>
              </a:rPr>
              <a:t>17.9 </a:t>
            </a:r>
            <a:r>
              <a:rPr lang="en-US" sz="1800">
                <a:effectLst/>
                <a:latin typeface="CMR12"/>
              </a:rPr>
              <a:t>times and </a:t>
            </a:r>
            <a:r>
              <a:rPr lang="en-US" sz="1800">
                <a:effectLst/>
                <a:latin typeface="CMBX12"/>
              </a:rPr>
              <a:t>6.1 </a:t>
            </a:r>
            <a:r>
              <a:rPr lang="en-US" sz="1800">
                <a:effectLst/>
                <a:latin typeface="CMR12"/>
              </a:rPr>
              <a:t>times compared to [2] and [63], respectively. </a:t>
            </a:r>
          </a:p>
          <a:p>
            <a:r>
              <a:rPr lang="en-US" sz="1800">
                <a:effectLst/>
                <a:latin typeface="CMR12"/>
              </a:rPr>
              <a:t>Furthermore, FQsun supports computations across five precision types and offers different performance and accuracy. </a:t>
            </a:r>
            <a:endParaRPr lang="en-US"/>
          </a:p>
          <a:p>
            <a:endParaRPr lang="en-VN"/>
          </a:p>
        </p:txBody>
      </p:sp>
      <p:sp>
        <p:nvSpPr>
          <p:cNvPr id="4" name="Slide Number Placeholder 3"/>
          <p:cNvSpPr>
            <a:spLocks noGrp="1"/>
          </p:cNvSpPr>
          <p:nvPr>
            <p:ph type="sldNum" sz="quarter" idx="5"/>
          </p:nvPr>
        </p:nvSpPr>
        <p:spPr/>
        <p:txBody>
          <a:bodyPr/>
          <a:lstStyle/>
          <a:p>
            <a:fld id="{D5185723-9913-4F02-B630-868413D77CE4}" type="slidenum">
              <a:rPr lang="en-US" smtClean="0"/>
              <a:t>49</a:t>
            </a:fld>
            <a:endParaRPr lang="en-US"/>
          </a:p>
        </p:txBody>
      </p:sp>
    </p:spTree>
    <p:extLst>
      <p:ext uri="{BB962C8B-B14F-4D97-AF65-F5344CB8AC3E}">
        <p14:creationId xmlns:p14="http://schemas.microsoft.com/office/powerpoint/2010/main" val="1526569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EB48-80D9-F7DE-DCDC-B437B1F15B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95F14411-5CCD-65B7-D27E-6EF27BC2B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B9A3B587-A7F3-C788-8B6E-2324C95A39EB}"/>
              </a:ext>
            </a:extLst>
          </p:cNvPr>
          <p:cNvSpPr>
            <a:spLocks noGrp="1"/>
          </p:cNvSpPr>
          <p:nvPr>
            <p:ph type="dt" sz="half" idx="10"/>
          </p:nvPr>
        </p:nvSpPr>
        <p:spPr/>
        <p:txBody>
          <a:bodyPr/>
          <a:lstStyle/>
          <a:p>
            <a:fld id="{1B99E77A-87B9-A044-9411-EAADE78A584D}" type="datetimeFigureOut">
              <a:t>18/12/25</a:t>
            </a:fld>
            <a:endParaRPr lang="en-VN"/>
          </a:p>
        </p:txBody>
      </p:sp>
      <p:sp>
        <p:nvSpPr>
          <p:cNvPr id="5" name="Footer Placeholder 4">
            <a:extLst>
              <a:ext uri="{FF2B5EF4-FFF2-40B4-BE49-F238E27FC236}">
                <a16:creationId xmlns:a16="http://schemas.microsoft.com/office/drawing/2014/main" id="{54F5AB71-9923-024C-5B92-F9E1F2D60645}"/>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392C652-7E37-C0BC-C3ED-0DCB5CACB80C}"/>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612136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9F6FE-36B5-0736-36F6-16EAFE949CDF}"/>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6D7344FF-AF37-EA2E-F091-2C3202198D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86517F0-60F3-4813-F787-B7DC54B01CBF}"/>
              </a:ext>
            </a:extLst>
          </p:cNvPr>
          <p:cNvSpPr>
            <a:spLocks noGrp="1"/>
          </p:cNvSpPr>
          <p:nvPr>
            <p:ph type="dt" sz="half" idx="10"/>
          </p:nvPr>
        </p:nvSpPr>
        <p:spPr/>
        <p:txBody>
          <a:bodyPr/>
          <a:lstStyle/>
          <a:p>
            <a:fld id="{1B99E77A-87B9-A044-9411-EAADE78A584D}" type="datetimeFigureOut">
              <a:t>18/12/25</a:t>
            </a:fld>
            <a:endParaRPr lang="en-VN"/>
          </a:p>
        </p:txBody>
      </p:sp>
      <p:sp>
        <p:nvSpPr>
          <p:cNvPr id="5" name="Footer Placeholder 4">
            <a:extLst>
              <a:ext uri="{FF2B5EF4-FFF2-40B4-BE49-F238E27FC236}">
                <a16:creationId xmlns:a16="http://schemas.microsoft.com/office/drawing/2014/main" id="{035D409E-D8F4-BE4D-7A62-7B392CFE37C4}"/>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6450536C-BF2A-4D87-8EDB-971A1AAB04E0}"/>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3300519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AB36E-8E2A-8D83-C6EE-52C95645BC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527D8B81-43DE-8190-8698-76FB0A45F3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68814F-5EA6-8AF9-934F-2CF24E6F2852}"/>
              </a:ext>
            </a:extLst>
          </p:cNvPr>
          <p:cNvSpPr>
            <a:spLocks noGrp="1"/>
          </p:cNvSpPr>
          <p:nvPr>
            <p:ph type="dt" sz="half" idx="10"/>
          </p:nvPr>
        </p:nvSpPr>
        <p:spPr/>
        <p:txBody>
          <a:bodyPr/>
          <a:lstStyle/>
          <a:p>
            <a:fld id="{1B99E77A-87B9-A044-9411-EAADE78A584D}" type="datetimeFigureOut">
              <a:t>18/12/25</a:t>
            </a:fld>
            <a:endParaRPr lang="en-VN"/>
          </a:p>
        </p:txBody>
      </p:sp>
      <p:sp>
        <p:nvSpPr>
          <p:cNvPr id="5" name="Footer Placeholder 4">
            <a:extLst>
              <a:ext uri="{FF2B5EF4-FFF2-40B4-BE49-F238E27FC236}">
                <a16:creationId xmlns:a16="http://schemas.microsoft.com/office/drawing/2014/main" id="{8979B886-196D-ABB7-771B-141F1388B0D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BB4B08F-41E5-EB44-5AC0-84100A2FD5BB}"/>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44319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9CDC-1CE6-78F5-94F4-427BBF6B568F}"/>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6D98F19B-0FED-6690-5378-949ABCDF68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AFF53676-6752-E35E-E2EE-0E25B6B99E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00377250-67FD-E68A-E6CC-5D4DDF9FBCF1}"/>
              </a:ext>
            </a:extLst>
          </p:cNvPr>
          <p:cNvSpPr>
            <a:spLocks noGrp="1"/>
          </p:cNvSpPr>
          <p:nvPr>
            <p:ph type="dt" sz="half" idx="10"/>
          </p:nvPr>
        </p:nvSpPr>
        <p:spPr/>
        <p:txBody>
          <a:bodyPr/>
          <a:lstStyle/>
          <a:p>
            <a:fld id="{1B99E77A-87B9-A044-9411-EAADE78A584D}" type="datetimeFigureOut">
              <a:t>18/12/25</a:t>
            </a:fld>
            <a:endParaRPr lang="en-VN"/>
          </a:p>
        </p:txBody>
      </p:sp>
      <p:sp>
        <p:nvSpPr>
          <p:cNvPr id="6" name="Footer Placeholder 5">
            <a:extLst>
              <a:ext uri="{FF2B5EF4-FFF2-40B4-BE49-F238E27FC236}">
                <a16:creationId xmlns:a16="http://schemas.microsoft.com/office/drawing/2014/main" id="{C744AE5B-4414-CA15-2BC0-5F0CCDDE2EAF}"/>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61D56972-F14B-7804-CA5C-7339441A9549}"/>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2841884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7914-F968-765F-B0D6-9A48AA706B91}"/>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D55244A8-1C72-9AA4-E8B6-9D9A2DDB75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349445-44A6-B3CD-CF45-6241111A92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57991978-B60E-D76C-FBBB-659F7259D4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734C16-2C49-33CA-4F3F-3718D79CBC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2E6A070C-6114-F024-3E4E-948EED5FBDCD}"/>
              </a:ext>
            </a:extLst>
          </p:cNvPr>
          <p:cNvSpPr>
            <a:spLocks noGrp="1"/>
          </p:cNvSpPr>
          <p:nvPr>
            <p:ph type="dt" sz="half" idx="10"/>
          </p:nvPr>
        </p:nvSpPr>
        <p:spPr/>
        <p:txBody>
          <a:bodyPr/>
          <a:lstStyle/>
          <a:p>
            <a:fld id="{1B99E77A-87B9-A044-9411-EAADE78A584D}" type="datetimeFigureOut">
              <a:t>18/12/25</a:t>
            </a:fld>
            <a:endParaRPr lang="en-VN"/>
          </a:p>
        </p:txBody>
      </p:sp>
      <p:sp>
        <p:nvSpPr>
          <p:cNvPr id="8" name="Footer Placeholder 7">
            <a:extLst>
              <a:ext uri="{FF2B5EF4-FFF2-40B4-BE49-F238E27FC236}">
                <a16:creationId xmlns:a16="http://schemas.microsoft.com/office/drawing/2014/main" id="{CEF24E6F-E76D-97DB-0B5D-525666495730}"/>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24075F35-99E6-35ED-4FA0-E9438879EC00}"/>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494674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48958-3074-FFC4-F0AF-276CCF58EF43}"/>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99EB9ED1-0F5B-DA25-58B1-7DEDA69F090C}"/>
              </a:ext>
            </a:extLst>
          </p:cNvPr>
          <p:cNvSpPr>
            <a:spLocks noGrp="1"/>
          </p:cNvSpPr>
          <p:nvPr>
            <p:ph type="dt" sz="half" idx="10"/>
          </p:nvPr>
        </p:nvSpPr>
        <p:spPr/>
        <p:txBody>
          <a:bodyPr/>
          <a:lstStyle/>
          <a:p>
            <a:fld id="{1B99E77A-87B9-A044-9411-EAADE78A584D}" type="datetimeFigureOut">
              <a:t>18/12/25</a:t>
            </a:fld>
            <a:endParaRPr lang="en-VN"/>
          </a:p>
        </p:txBody>
      </p:sp>
      <p:sp>
        <p:nvSpPr>
          <p:cNvPr id="4" name="Footer Placeholder 3">
            <a:extLst>
              <a:ext uri="{FF2B5EF4-FFF2-40B4-BE49-F238E27FC236}">
                <a16:creationId xmlns:a16="http://schemas.microsoft.com/office/drawing/2014/main" id="{EB0F2790-E832-EB92-735E-84301137854B}"/>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9C0FEDD6-05A5-64F8-F4C5-74C2B5103EED}"/>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720385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582B11-4023-9702-A37E-C9D41EEFF857}"/>
              </a:ext>
            </a:extLst>
          </p:cNvPr>
          <p:cNvSpPr>
            <a:spLocks noGrp="1"/>
          </p:cNvSpPr>
          <p:nvPr>
            <p:ph type="dt" sz="half" idx="10"/>
          </p:nvPr>
        </p:nvSpPr>
        <p:spPr/>
        <p:txBody>
          <a:bodyPr/>
          <a:lstStyle/>
          <a:p>
            <a:fld id="{1B99E77A-87B9-A044-9411-EAADE78A584D}" type="datetimeFigureOut">
              <a:t>18/12/25</a:t>
            </a:fld>
            <a:endParaRPr lang="en-VN"/>
          </a:p>
        </p:txBody>
      </p:sp>
      <p:sp>
        <p:nvSpPr>
          <p:cNvPr id="3" name="Footer Placeholder 2">
            <a:extLst>
              <a:ext uri="{FF2B5EF4-FFF2-40B4-BE49-F238E27FC236}">
                <a16:creationId xmlns:a16="http://schemas.microsoft.com/office/drawing/2014/main" id="{CA364DB2-8479-8931-3DAC-8925BE513F92}"/>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18A13B9A-9D4B-6C25-5826-9519F0F728FA}"/>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332785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9EEC-4A0A-477E-C805-6483A0C839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291E0690-E27B-70A2-E361-9FB1AE24C8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7CE628AE-ADCA-3876-1FF1-B37744A1C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885F97-CA7B-F020-4714-AAEE20902134}"/>
              </a:ext>
            </a:extLst>
          </p:cNvPr>
          <p:cNvSpPr>
            <a:spLocks noGrp="1"/>
          </p:cNvSpPr>
          <p:nvPr>
            <p:ph type="dt" sz="half" idx="10"/>
          </p:nvPr>
        </p:nvSpPr>
        <p:spPr/>
        <p:txBody>
          <a:bodyPr/>
          <a:lstStyle/>
          <a:p>
            <a:fld id="{1B99E77A-87B9-A044-9411-EAADE78A584D}" type="datetimeFigureOut">
              <a:t>18/12/25</a:t>
            </a:fld>
            <a:endParaRPr lang="en-VN"/>
          </a:p>
        </p:txBody>
      </p:sp>
      <p:sp>
        <p:nvSpPr>
          <p:cNvPr id="6" name="Footer Placeholder 5">
            <a:extLst>
              <a:ext uri="{FF2B5EF4-FFF2-40B4-BE49-F238E27FC236}">
                <a16:creationId xmlns:a16="http://schemas.microsoft.com/office/drawing/2014/main" id="{CEF11241-6CF5-D713-461C-DAA65A6E21BB}"/>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C135B709-E5CB-73C8-EE70-DD1502535F78}"/>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680055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4C8E5-10CF-A9CB-7916-EAC17741A0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30CA9C42-29CA-2505-075E-9D788176D5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E0037E1-67EC-42FF-8F72-E561DF00A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921D1B-467B-D936-A2B8-1BF94D2ADA70}"/>
              </a:ext>
            </a:extLst>
          </p:cNvPr>
          <p:cNvSpPr>
            <a:spLocks noGrp="1"/>
          </p:cNvSpPr>
          <p:nvPr>
            <p:ph type="dt" sz="half" idx="10"/>
          </p:nvPr>
        </p:nvSpPr>
        <p:spPr/>
        <p:txBody>
          <a:bodyPr/>
          <a:lstStyle/>
          <a:p>
            <a:fld id="{1B99E77A-87B9-A044-9411-EAADE78A584D}" type="datetimeFigureOut">
              <a:t>18/12/25</a:t>
            </a:fld>
            <a:endParaRPr lang="en-VN"/>
          </a:p>
        </p:txBody>
      </p:sp>
      <p:sp>
        <p:nvSpPr>
          <p:cNvPr id="6" name="Footer Placeholder 5">
            <a:extLst>
              <a:ext uri="{FF2B5EF4-FFF2-40B4-BE49-F238E27FC236}">
                <a16:creationId xmlns:a16="http://schemas.microsoft.com/office/drawing/2014/main" id="{786B7488-15B4-6F38-9B16-588B803DE1DC}"/>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67E77399-E7B2-F231-DB15-19BCBE6AC547}"/>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771189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EFFC5-0513-62D3-E241-11A50C8710D9}"/>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7615F34D-C6B0-5E37-F55C-8CBD0EBEA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789685E5-08C9-D2DC-2918-9E8D1AD4D5A7}"/>
              </a:ext>
            </a:extLst>
          </p:cNvPr>
          <p:cNvSpPr>
            <a:spLocks noGrp="1"/>
          </p:cNvSpPr>
          <p:nvPr>
            <p:ph type="dt" sz="half" idx="10"/>
          </p:nvPr>
        </p:nvSpPr>
        <p:spPr/>
        <p:txBody>
          <a:bodyPr/>
          <a:lstStyle/>
          <a:p>
            <a:fld id="{1B99E77A-87B9-A044-9411-EAADE78A584D}" type="datetimeFigureOut">
              <a:t>18/12/25</a:t>
            </a:fld>
            <a:endParaRPr lang="en-VN"/>
          </a:p>
        </p:txBody>
      </p:sp>
      <p:sp>
        <p:nvSpPr>
          <p:cNvPr id="5" name="Footer Placeholder 4">
            <a:extLst>
              <a:ext uri="{FF2B5EF4-FFF2-40B4-BE49-F238E27FC236}">
                <a16:creationId xmlns:a16="http://schemas.microsoft.com/office/drawing/2014/main" id="{397FB83A-D558-98F9-468A-AFAC54D4CFFC}"/>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422275D-B932-BFB9-12CB-9B27EB94FDC4}"/>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84843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F72500-35A2-0DBA-614F-1CD89723C4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C62A4BD5-CF47-F5BA-84A6-D51E5598BF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7BB2263-38EB-5D8A-116A-01E2AFE381A4}"/>
              </a:ext>
            </a:extLst>
          </p:cNvPr>
          <p:cNvSpPr>
            <a:spLocks noGrp="1"/>
          </p:cNvSpPr>
          <p:nvPr>
            <p:ph type="dt" sz="half" idx="10"/>
          </p:nvPr>
        </p:nvSpPr>
        <p:spPr/>
        <p:txBody>
          <a:bodyPr/>
          <a:lstStyle/>
          <a:p>
            <a:fld id="{1B99E77A-87B9-A044-9411-EAADE78A584D}" type="datetimeFigureOut">
              <a:t>18/12/25</a:t>
            </a:fld>
            <a:endParaRPr lang="en-VN"/>
          </a:p>
        </p:txBody>
      </p:sp>
      <p:sp>
        <p:nvSpPr>
          <p:cNvPr id="5" name="Footer Placeholder 4">
            <a:extLst>
              <a:ext uri="{FF2B5EF4-FFF2-40B4-BE49-F238E27FC236}">
                <a16:creationId xmlns:a16="http://schemas.microsoft.com/office/drawing/2014/main" id="{0B6C4019-E332-594F-A1F6-4BD725278675}"/>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9AA91815-1C2A-AADF-9D3F-6EE0868E13F3}"/>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3231429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508DC-72AA-791E-1876-BB499F351D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BCEDFA66-CBA2-9A7B-4666-E3132C2BE8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4BC8CFD7-3D21-550A-D9FD-FCB07C1173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99E77A-87B9-A044-9411-EAADE78A584D}" type="datetimeFigureOut">
              <a:t>18/12/25</a:t>
            </a:fld>
            <a:endParaRPr lang="en-VN"/>
          </a:p>
        </p:txBody>
      </p:sp>
      <p:sp>
        <p:nvSpPr>
          <p:cNvPr id="5" name="Footer Placeholder 4">
            <a:extLst>
              <a:ext uri="{FF2B5EF4-FFF2-40B4-BE49-F238E27FC236}">
                <a16:creationId xmlns:a16="http://schemas.microsoft.com/office/drawing/2014/main" id="{BBEF06A7-74AD-824B-1326-7B96409CFF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00897ABC-4B19-0248-340A-7C86AB6422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4BA02-2362-7A46-AF42-705C08376B0F}" type="slidenum">
              <a:t>‹#›</a:t>
            </a:fld>
            <a:endParaRPr lang="en-VN"/>
          </a:p>
        </p:txBody>
      </p:sp>
    </p:spTree>
    <p:extLst>
      <p:ext uri="{BB962C8B-B14F-4D97-AF65-F5344CB8AC3E}">
        <p14:creationId xmlns:p14="http://schemas.microsoft.com/office/powerpoint/2010/main" val="729623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gif"/><Relationship Id="rId13" Type="http://schemas.openxmlformats.org/officeDocument/2006/relationships/image" Target="../media/image11.png"/><Relationship Id="rId3" Type="http://schemas.openxmlformats.org/officeDocument/2006/relationships/image" Target="../media/image1.gif"/><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gif"/><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8.png"/><Relationship Id="rId3" Type="http://schemas.openxmlformats.org/officeDocument/2006/relationships/image" Target="../media/image15.png"/><Relationship Id="rId21" Type="http://schemas.openxmlformats.org/officeDocument/2006/relationships/image" Target="../media/image33.png"/><Relationship Id="rId34" Type="http://schemas.openxmlformats.org/officeDocument/2006/relationships/image" Target="../media/image46.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2" Type="http://schemas.openxmlformats.org/officeDocument/2006/relationships/notesSlide" Target="../notesSlides/notesSlide2.xml"/><Relationship Id="rId16" Type="http://schemas.openxmlformats.org/officeDocument/2006/relationships/image" Target="../media/image28.png"/><Relationship Id="rId20" Type="http://schemas.openxmlformats.org/officeDocument/2006/relationships/image" Target="../media/image32.png"/><Relationship Id="rId29"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10" Type="http://schemas.openxmlformats.org/officeDocument/2006/relationships/image" Target="../media/image22.png"/><Relationship Id="rId19" Type="http://schemas.openxmlformats.org/officeDocument/2006/relationships/image" Target="../media/image31.png"/><Relationship Id="rId31" Type="http://schemas.openxmlformats.org/officeDocument/2006/relationships/image" Target="../media/image43.pn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66.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18" Type="http://schemas.openxmlformats.org/officeDocument/2006/relationships/image" Target="../media/image83.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png"/><Relationship Id="rId17" Type="http://schemas.openxmlformats.org/officeDocument/2006/relationships/image" Target="../media/image82.png"/><Relationship Id="rId2" Type="http://schemas.openxmlformats.org/officeDocument/2006/relationships/image" Target="../media/image67.png"/><Relationship Id="rId16"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5" Type="http://schemas.openxmlformats.org/officeDocument/2006/relationships/image" Target="../media/image80.png"/><Relationship Id="rId10" Type="http://schemas.openxmlformats.org/officeDocument/2006/relationships/image" Target="../media/image75.png"/><Relationship Id="rId19" Type="http://schemas.openxmlformats.org/officeDocument/2006/relationships/image" Target="../media/image84.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png"/></Relationships>
</file>

<file path=ppt/slides/_rels/slide12.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100.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image" Target="../media/image187.png"/><Relationship Id="rId16" Type="http://schemas.openxmlformats.org/officeDocument/2006/relationships/image" Target="../media/image98.png"/><Relationship Id="rId20"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13.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s>
</file>

<file path=ppt/slides/_rels/slide14.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18" Type="http://schemas.openxmlformats.org/officeDocument/2006/relationships/image" Target="../media/image128.png"/><Relationship Id="rId26" Type="http://schemas.openxmlformats.org/officeDocument/2006/relationships/image" Target="../media/image136.png"/><Relationship Id="rId3" Type="http://schemas.openxmlformats.org/officeDocument/2006/relationships/image" Target="../media/image113.png"/><Relationship Id="rId21" Type="http://schemas.openxmlformats.org/officeDocument/2006/relationships/image" Target="../media/image131.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127.png"/><Relationship Id="rId25" Type="http://schemas.openxmlformats.org/officeDocument/2006/relationships/image" Target="../media/image135.png"/><Relationship Id="rId2" Type="http://schemas.openxmlformats.org/officeDocument/2006/relationships/image" Target="../media/image112.png"/><Relationship Id="rId16" Type="http://schemas.openxmlformats.org/officeDocument/2006/relationships/image" Target="../media/image126.png"/><Relationship Id="rId20"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21.png"/><Relationship Id="rId24" Type="http://schemas.openxmlformats.org/officeDocument/2006/relationships/image" Target="../media/image134.png"/><Relationship Id="rId5" Type="http://schemas.openxmlformats.org/officeDocument/2006/relationships/image" Target="../media/image115.png"/><Relationship Id="rId15" Type="http://schemas.openxmlformats.org/officeDocument/2006/relationships/image" Target="../media/image125.png"/><Relationship Id="rId23" Type="http://schemas.openxmlformats.org/officeDocument/2006/relationships/image" Target="../media/image133.png"/><Relationship Id="rId10" Type="http://schemas.openxmlformats.org/officeDocument/2006/relationships/image" Target="../media/image120.png"/><Relationship Id="rId19" Type="http://schemas.openxmlformats.org/officeDocument/2006/relationships/image" Target="../media/image129.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 Id="rId22" Type="http://schemas.openxmlformats.org/officeDocument/2006/relationships/image" Target="../media/image132.png"/><Relationship Id="rId27" Type="http://schemas.openxmlformats.org/officeDocument/2006/relationships/image" Target="../media/image137.png"/></Relationships>
</file>

<file path=ppt/slides/_rels/slide15.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4.png"/><Relationship Id="rId26" Type="http://schemas.openxmlformats.org/officeDocument/2006/relationships/image" Target="../media/image162.png"/><Relationship Id="rId3" Type="http://schemas.openxmlformats.org/officeDocument/2006/relationships/image" Target="../media/image139.png"/><Relationship Id="rId21" Type="http://schemas.openxmlformats.org/officeDocument/2006/relationships/image" Target="../media/image157.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3.png"/><Relationship Id="rId25" Type="http://schemas.openxmlformats.org/officeDocument/2006/relationships/image" Target="../media/image161.png"/><Relationship Id="rId2" Type="http://schemas.openxmlformats.org/officeDocument/2006/relationships/image" Target="../media/image138.png"/><Relationship Id="rId16" Type="http://schemas.openxmlformats.org/officeDocument/2006/relationships/image" Target="../media/image152.png"/><Relationship Id="rId20" Type="http://schemas.openxmlformats.org/officeDocument/2006/relationships/image" Target="../media/image156.png"/><Relationship Id="rId29" Type="http://schemas.openxmlformats.org/officeDocument/2006/relationships/image" Target="../media/image165.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24" Type="http://schemas.openxmlformats.org/officeDocument/2006/relationships/image" Target="../media/image160.png"/><Relationship Id="rId5" Type="http://schemas.openxmlformats.org/officeDocument/2006/relationships/image" Target="../media/image141.png"/><Relationship Id="rId15" Type="http://schemas.openxmlformats.org/officeDocument/2006/relationships/image" Target="../media/image151.png"/><Relationship Id="rId23" Type="http://schemas.openxmlformats.org/officeDocument/2006/relationships/image" Target="../media/image159.png"/><Relationship Id="rId28" Type="http://schemas.openxmlformats.org/officeDocument/2006/relationships/image" Target="../media/image164.png"/><Relationship Id="rId10" Type="http://schemas.openxmlformats.org/officeDocument/2006/relationships/image" Target="../media/image146.png"/><Relationship Id="rId19" Type="http://schemas.openxmlformats.org/officeDocument/2006/relationships/image" Target="../media/image155.png"/><Relationship Id="rId31" Type="http://schemas.openxmlformats.org/officeDocument/2006/relationships/image" Target="../media/image167.png"/><Relationship Id="rId4" Type="http://schemas.openxmlformats.org/officeDocument/2006/relationships/image" Target="../media/image140.png"/><Relationship Id="rId9" Type="http://schemas.openxmlformats.org/officeDocument/2006/relationships/image" Target="../media/image145.png"/><Relationship Id="rId14" Type="http://schemas.openxmlformats.org/officeDocument/2006/relationships/image" Target="../media/image150.png"/><Relationship Id="rId22" Type="http://schemas.openxmlformats.org/officeDocument/2006/relationships/image" Target="../media/image158.png"/><Relationship Id="rId27" Type="http://schemas.openxmlformats.org/officeDocument/2006/relationships/image" Target="../media/image163.png"/><Relationship Id="rId30" Type="http://schemas.openxmlformats.org/officeDocument/2006/relationships/image" Target="../media/image166.png"/></Relationships>
</file>

<file path=ppt/slides/_rels/slide16.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9.png"/><Relationship Id="rId3" Type="http://schemas.openxmlformats.org/officeDocument/2006/relationships/image" Target="../media/image169.png"/><Relationship Id="rId7" Type="http://schemas.openxmlformats.org/officeDocument/2006/relationships/image" Target="../media/image173.png"/><Relationship Id="rId12" Type="http://schemas.openxmlformats.org/officeDocument/2006/relationships/image" Target="../media/image178.png"/><Relationship Id="rId2" Type="http://schemas.openxmlformats.org/officeDocument/2006/relationships/image" Target="../media/image168.png"/><Relationship Id="rId1" Type="http://schemas.openxmlformats.org/officeDocument/2006/relationships/slideLayout" Target="../slideLayouts/slideLayout2.xml"/><Relationship Id="rId6" Type="http://schemas.openxmlformats.org/officeDocument/2006/relationships/image" Target="../media/image172.png"/><Relationship Id="rId11" Type="http://schemas.openxmlformats.org/officeDocument/2006/relationships/image" Target="../media/image177.png"/><Relationship Id="rId5" Type="http://schemas.openxmlformats.org/officeDocument/2006/relationships/image" Target="../media/image171.png"/><Relationship Id="rId15" Type="http://schemas.openxmlformats.org/officeDocument/2006/relationships/image" Target="../media/image181.png"/><Relationship Id="rId10" Type="http://schemas.openxmlformats.org/officeDocument/2006/relationships/image" Target="../media/image176.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80.png"/></Relationships>
</file>

<file path=ppt/slides/_rels/slide17.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18.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2.xml"/><Relationship Id="rId4" Type="http://schemas.openxmlformats.org/officeDocument/2006/relationships/image" Target="../media/image18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3.jpeg"/><Relationship Id="rId5" Type="http://schemas.openxmlformats.org/officeDocument/2006/relationships/image" Target="../media/image192.jpeg"/><Relationship Id="rId4" Type="http://schemas.openxmlformats.org/officeDocument/2006/relationships/image" Target="../media/image191.jpeg"/></Relationships>
</file>

<file path=ppt/slides/_rels/slide2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6.png"/><Relationship Id="rId4" Type="http://schemas.openxmlformats.org/officeDocument/2006/relationships/image" Target="../media/image195.png"/></Relationships>
</file>

<file path=ppt/slides/_rels/slide25.xml.rels><?xml version="1.0" encoding="UTF-8" standalone="yes"?>
<Relationships xmlns="http://schemas.openxmlformats.org/package/2006/relationships"><Relationship Id="rId3" Type="http://schemas.openxmlformats.org/officeDocument/2006/relationships/image" Target="../media/image33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8.gif"/><Relationship Id="rId4" Type="http://schemas.openxmlformats.org/officeDocument/2006/relationships/image" Target="../media/image197.png"/></Relationships>
</file>

<file path=ppt/slides/_rels/slide26.xml.rels><?xml version="1.0" encoding="UTF-8" standalone="yes"?>
<Relationships xmlns="http://schemas.openxmlformats.org/package/2006/relationships"><Relationship Id="rId8" Type="http://schemas.openxmlformats.org/officeDocument/2006/relationships/image" Target="../media/image205.png"/><Relationship Id="rId3" Type="http://schemas.openxmlformats.org/officeDocument/2006/relationships/image" Target="../media/image200.png"/><Relationship Id="rId7" Type="http://schemas.openxmlformats.org/officeDocument/2006/relationships/image" Target="../media/image204.png"/><Relationship Id="rId2" Type="http://schemas.openxmlformats.org/officeDocument/2006/relationships/image" Target="../media/image199.png"/><Relationship Id="rId1" Type="http://schemas.openxmlformats.org/officeDocument/2006/relationships/slideLayout" Target="../slideLayouts/slideLayout2.xml"/><Relationship Id="rId6" Type="http://schemas.openxmlformats.org/officeDocument/2006/relationships/image" Target="../media/image203.png"/><Relationship Id="rId5" Type="http://schemas.openxmlformats.org/officeDocument/2006/relationships/image" Target="../media/image202.png"/><Relationship Id="rId10" Type="http://schemas.openxmlformats.org/officeDocument/2006/relationships/image" Target="../media/image207.png"/><Relationship Id="rId4" Type="http://schemas.openxmlformats.org/officeDocument/2006/relationships/image" Target="../media/image201.png"/><Relationship Id="rId9" Type="http://schemas.openxmlformats.org/officeDocument/2006/relationships/image" Target="../media/image206.png"/></Relationships>
</file>

<file path=ppt/slides/_rels/slide27.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9.svg"/></Relationships>
</file>

<file path=ppt/slides/_rels/slide2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17.png"/><Relationship Id="rId13" Type="http://schemas.openxmlformats.org/officeDocument/2006/relationships/image" Target="../media/image222.png"/><Relationship Id="rId18" Type="http://schemas.openxmlformats.org/officeDocument/2006/relationships/image" Target="../media/image227.png"/><Relationship Id="rId3" Type="http://schemas.openxmlformats.org/officeDocument/2006/relationships/image" Target="../media/image212.png"/><Relationship Id="rId7" Type="http://schemas.openxmlformats.org/officeDocument/2006/relationships/image" Target="../media/image216.png"/><Relationship Id="rId12" Type="http://schemas.openxmlformats.org/officeDocument/2006/relationships/image" Target="../media/image221.png"/><Relationship Id="rId17" Type="http://schemas.openxmlformats.org/officeDocument/2006/relationships/image" Target="../media/image226.png"/><Relationship Id="rId2" Type="http://schemas.openxmlformats.org/officeDocument/2006/relationships/image" Target="../media/image211.png"/><Relationship Id="rId16" Type="http://schemas.openxmlformats.org/officeDocument/2006/relationships/image" Target="../media/image225.png"/><Relationship Id="rId20" Type="http://schemas.openxmlformats.org/officeDocument/2006/relationships/image" Target="../media/image229.png"/><Relationship Id="rId1" Type="http://schemas.openxmlformats.org/officeDocument/2006/relationships/slideLayout" Target="../slideLayouts/slideLayout2.xml"/><Relationship Id="rId6" Type="http://schemas.openxmlformats.org/officeDocument/2006/relationships/image" Target="../media/image215.png"/><Relationship Id="rId11" Type="http://schemas.openxmlformats.org/officeDocument/2006/relationships/image" Target="../media/image220.png"/><Relationship Id="rId5" Type="http://schemas.openxmlformats.org/officeDocument/2006/relationships/image" Target="../media/image214.png"/><Relationship Id="rId15" Type="http://schemas.openxmlformats.org/officeDocument/2006/relationships/image" Target="../media/image224.png"/><Relationship Id="rId10" Type="http://schemas.openxmlformats.org/officeDocument/2006/relationships/image" Target="../media/image219.png"/><Relationship Id="rId19" Type="http://schemas.openxmlformats.org/officeDocument/2006/relationships/image" Target="../media/image228.png"/><Relationship Id="rId4" Type="http://schemas.openxmlformats.org/officeDocument/2006/relationships/image" Target="../media/image213.png"/><Relationship Id="rId9" Type="http://schemas.openxmlformats.org/officeDocument/2006/relationships/image" Target="../media/image218.png"/><Relationship Id="rId14" Type="http://schemas.openxmlformats.org/officeDocument/2006/relationships/image" Target="../media/image223.png"/></Relationships>
</file>

<file path=ppt/slides/_rels/slide3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36.png"/><Relationship Id="rId13" Type="http://schemas.openxmlformats.org/officeDocument/2006/relationships/image" Target="../media/image241.png"/><Relationship Id="rId3" Type="http://schemas.openxmlformats.org/officeDocument/2006/relationships/image" Target="../media/image231.png"/><Relationship Id="rId7" Type="http://schemas.openxmlformats.org/officeDocument/2006/relationships/image" Target="../media/image235.png"/><Relationship Id="rId12" Type="http://schemas.openxmlformats.org/officeDocument/2006/relationships/image" Target="../media/image24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4.png"/><Relationship Id="rId11" Type="http://schemas.openxmlformats.org/officeDocument/2006/relationships/image" Target="../media/image239.png"/><Relationship Id="rId5" Type="http://schemas.openxmlformats.org/officeDocument/2006/relationships/image" Target="../media/image233.png"/><Relationship Id="rId15" Type="http://schemas.openxmlformats.org/officeDocument/2006/relationships/image" Target="../media/image243.png"/><Relationship Id="rId10" Type="http://schemas.openxmlformats.org/officeDocument/2006/relationships/image" Target="../media/image238.png"/><Relationship Id="rId4" Type="http://schemas.openxmlformats.org/officeDocument/2006/relationships/image" Target="../media/image232.png"/><Relationship Id="rId9" Type="http://schemas.openxmlformats.org/officeDocument/2006/relationships/image" Target="../media/image237.png"/><Relationship Id="rId14" Type="http://schemas.openxmlformats.org/officeDocument/2006/relationships/image" Target="../media/image242.png"/></Relationships>
</file>

<file path=ppt/slides/_rels/slide32.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47.png"/></Relationships>
</file>

<file path=ppt/slides/_rels/slide36.xml.rels><?xml version="1.0" encoding="UTF-8" standalone="yes"?>
<Relationships xmlns="http://schemas.openxmlformats.org/package/2006/relationships"><Relationship Id="rId3" Type="http://schemas.openxmlformats.org/officeDocument/2006/relationships/image" Target="../media/image249.jpeg"/><Relationship Id="rId7" Type="http://schemas.openxmlformats.org/officeDocument/2006/relationships/image" Target="../media/image253.png"/><Relationship Id="rId2" Type="http://schemas.openxmlformats.org/officeDocument/2006/relationships/image" Target="../media/image248.jpeg"/><Relationship Id="rId1" Type="http://schemas.openxmlformats.org/officeDocument/2006/relationships/slideLayout" Target="../slideLayouts/slideLayout1.xml"/><Relationship Id="rId6" Type="http://schemas.openxmlformats.org/officeDocument/2006/relationships/image" Target="../media/image252.png"/><Relationship Id="rId5" Type="http://schemas.openxmlformats.org/officeDocument/2006/relationships/image" Target="../media/image251.png"/><Relationship Id="rId4" Type="http://schemas.openxmlformats.org/officeDocument/2006/relationships/image" Target="../media/image250.jpeg"/></Relationships>
</file>

<file path=ppt/slides/_rels/slide37.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46.png"/><Relationship Id="rId1" Type="http://schemas.openxmlformats.org/officeDocument/2006/relationships/slideLayout" Target="../slideLayouts/slideLayout2.xml"/><Relationship Id="rId4" Type="http://schemas.openxmlformats.org/officeDocument/2006/relationships/image" Target="../media/image25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1410.png"/><Relationship Id="rId3" Type="http://schemas.openxmlformats.org/officeDocument/2006/relationships/image" Target="../media/image911.png"/><Relationship Id="rId7" Type="http://schemas.openxmlformats.org/officeDocument/2006/relationships/image" Target="../media/image131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11.png"/><Relationship Id="rId5" Type="http://schemas.openxmlformats.org/officeDocument/2006/relationships/image" Target="../media/image1111.png"/><Relationship Id="rId10" Type="http://schemas.openxmlformats.org/officeDocument/2006/relationships/image" Target="../media/image16.png"/><Relationship Id="rId4" Type="http://schemas.openxmlformats.org/officeDocument/2006/relationships/image" Target="../media/image1110.png"/><Relationship Id="rId9" Type="http://schemas.openxmlformats.org/officeDocument/2006/relationships/image" Target="../media/image151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256.png"/><Relationship Id="rId7" Type="http://schemas.openxmlformats.org/officeDocument/2006/relationships/image" Target="../media/image181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210.png"/><Relationship Id="rId5" Type="http://schemas.openxmlformats.org/officeDocument/2006/relationships/image" Target="../media/image2110.png"/><Relationship Id="rId4" Type="http://schemas.openxmlformats.org/officeDocument/2006/relationships/image" Target="../media/image209.png"/><Relationship Id="rId9" Type="http://schemas.openxmlformats.org/officeDocument/2006/relationships/image" Target="../media/image250.png"/></Relationships>
</file>

<file path=ppt/slides/_rels/slide42.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8.png"/></Relationships>
</file>

<file path=ppt/slides/_rels/slide43.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259.png"/><Relationship Id="rId18" Type="http://schemas.openxmlformats.org/officeDocument/2006/relationships/image" Target="../media/image400.png"/><Relationship Id="rId3" Type="http://schemas.openxmlformats.org/officeDocument/2006/relationships/image" Target="../media/image258.png"/><Relationship Id="rId7" Type="http://schemas.openxmlformats.org/officeDocument/2006/relationships/image" Target="../media/image290.png"/><Relationship Id="rId12" Type="http://schemas.openxmlformats.org/officeDocument/2006/relationships/image" Target="../media/image340.png"/><Relationship Id="rId17" Type="http://schemas.openxmlformats.org/officeDocument/2006/relationships/image" Target="../media/image390.png"/><Relationship Id="rId2" Type="http://schemas.openxmlformats.org/officeDocument/2006/relationships/notesSlide" Target="../notesSlides/notesSlide22.xml"/><Relationship Id="rId16" Type="http://schemas.openxmlformats.org/officeDocument/2006/relationships/image" Target="../media/image380.png"/><Relationship Id="rId1" Type="http://schemas.openxmlformats.org/officeDocument/2006/relationships/slideLayout" Target="../slideLayouts/slideLayout2.xml"/><Relationship Id="rId6" Type="http://schemas.openxmlformats.org/officeDocument/2006/relationships/image" Target="../media/image280.png"/><Relationship Id="rId11" Type="http://schemas.openxmlformats.org/officeDocument/2006/relationships/image" Target="../media/image330.png"/><Relationship Id="rId5" Type="http://schemas.openxmlformats.org/officeDocument/2006/relationships/image" Target="../media/image273.png"/><Relationship Id="rId15" Type="http://schemas.openxmlformats.org/officeDocument/2006/relationships/image" Target="../media/image370.png"/><Relationship Id="rId10" Type="http://schemas.openxmlformats.org/officeDocument/2006/relationships/image" Target="../media/image320.png"/><Relationship Id="rId19" Type="http://schemas.openxmlformats.org/officeDocument/2006/relationships/image" Target="../media/image410.png"/><Relationship Id="rId4" Type="http://schemas.openxmlformats.org/officeDocument/2006/relationships/image" Target="../media/image2610.png"/><Relationship Id="rId9" Type="http://schemas.openxmlformats.org/officeDocument/2006/relationships/image" Target="../media/image310.png"/><Relationship Id="rId14" Type="http://schemas.openxmlformats.org/officeDocument/2006/relationships/image" Target="../media/image360.png"/></Relationships>
</file>

<file path=ppt/slides/_rels/slide44.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60.png"/><Relationship Id="rId5" Type="http://schemas.openxmlformats.org/officeDocument/2006/relationships/image" Target="../media/image261.png"/><Relationship Id="rId4" Type="http://schemas.openxmlformats.org/officeDocument/2006/relationships/image" Target="../media/image260.png"/></Relationships>
</file>

<file path=ppt/slides/_rels/slide45.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65.png"/><Relationship Id="rId5" Type="http://schemas.openxmlformats.org/officeDocument/2006/relationships/image" Target="../media/image264.png"/><Relationship Id="rId4" Type="http://schemas.openxmlformats.org/officeDocument/2006/relationships/image" Target="../media/image263.png"/></Relationships>
</file>

<file path=ppt/slides/_rels/slide46.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68.png"/><Relationship Id="rId4" Type="http://schemas.openxmlformats.org/officeDocument/2006/relationships/image" Target="../media/image267.png"/></Relationships>
</file>

<file path=ppt/slides/_rels/slide47.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30.png"/></Relationships>
</file>

<file path=ppt/slides/_rels/slide4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1.png"/></Relationships>
</file>

<file path=ppt/slides/_rels/slide49.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E680A-BA32-7D3C-6AA2-6E10DF025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53B00-0D0B-BD42-5BFE-1BCAF4E327AF}"/>
              </a:ext>
            </a:extLst>
          </p:cNvPr>
          <p:cNvSpPr>
            <a:spLocks noGrp="1"/>
          </p:cNvSpPr>
          <p:nvPr>
            <p:ph type="ctrTitle"/>
          </p:nvPr>
        </p:nvSpPr>
        <p:spPr>
          <a:xfrm>
            <a:off x="1524001" y="1122363"/>
            <a:ext cx="7485487" cy="2387600"/>
          </a:xfrm>
        </p:spPr>
        <p:txBody>
          <a:bodyPr>
            <a:normAutofit/>
          </a:bodyPr>
          <a:lstStyle/>
          <a:p>
            <a:pPr algn="l"/>
            <a:r>
              <a:rPr lang="en-US" b="1"/>
              <a:t>Researcher trends in quantum computing</a:t>
            </a:r>
            <a:endParaRPr lang="en-VN"/>
          </a:p>
        </p:txBody>
      </p:sp>
      <p:sp>
        <p:nvSpPr>
          <p:cNvPr id="3" name="Subtitle 2">
            <a:extLst>
              <a:ext uri="{FF2B5EF4-FFF2-40B4-BE49-F238E27FC236}">
                <a16:creationId xmlns:a16="http://schemas.microsoft.com/office/drawing/2014/main" id="{38C10F9D-993C-6E8A-E68C-608BE43006F4}"/>
              </a:ext>
            </a:extLst>
          </p:cNvPr>
          <p:cNvSpPr>
            <a:spLocks noGrp="1"/>
          </p:cNvSpPr>
          <p:nvPr>
            <p:ph type="subTitle" idx="1"/>
          </p:nvPr>
        </p:nvSpPr>
        <p:spPr>
          <a:xfrm>
            <a:off x="1524000" y="3602037"/>
            <a:ext cx="9144000" cy="2848847"/>
          </a:xfrm>
        </p:spPr>
        <p:txBody>
          <a:bodyPr>
            <a:normAutofit/>
          </a:bodyPr>
          <a:lstStyle/>
          <a:p>
            <a:pPr algn="l"/>
            <a:r>
              <a:rPr lang="en-US"/>
              <a:t>SE-UIT-VNUHCM, 19-Dec-2025</a:t>
            </a:r>
          </a:p>
          <a:p>
            <a:pPr algn="l"/>
            <a:endParaRPr lang="en-US"/>
          </a:p>
          <a:p>
            <a:pPr algn="l"/>
            <a:r>
              <a:rPr lang="en-US"/>
              <a:t>PhD. </a:t>
            </a:r>
            <a:r>
              <a:rPr lang="en-VN"/>
              <a:t>Vu Tuan Hai</a:t>
            </a:r>
            <a:endParaRPr lang="en-US"/>
          </a:p>
          <a:p>
            <a:pPr algn="l"/>
            <a:r>
              <a:rPr lang="en-US"/>
              <a:t>Email: haivt@uit.edu.vn</a:t>
            </a:r>
          </a:p>
          <a:p>
            <a:pPr algn="l"/>
            <a:endParaRPr lang="en-US"/>
          </a:p>
        </p:txBody>
      </p:sp>
      <p:sp>
        <p:nvSpPr>
          <p:cNvPr id="4" name="Slide Number Placeholder 3">
            <a:extLst>
              <a:ext uri="{FF2B5EF4-FFF2-40B4-BE49-F238E27FC236}">
                <a16:creationId xmlns:a16="http://schemas.microsoft.com/office/drawing/2014/main" id="{BFD771E8-17F0-4ADC-C0A3-3473A4479AE3}"/>
              </a:ext>
            </a:extLst>
          </p:cNvPr>
          <p:cNvSpPr>
            <a:spLocks noGrp="1"/>
          </p:cNvSpPr>
          <p:nvPr>
            <p:ph type="sldNum" sz="quarter" idx="12"/>
          </p:nvPr>
        </p:nvSpPr>
        <p:spPr/>
        <p:txBody>
          <a:bodyPr/>
          <a:lstStyle/>
          <a:p>
            <a:fld id="{4E9BB9E5-D81C-FE46-A488-49ADE3951462}" type="slidenum">
              <a:t>1</a:t>
            </a:fld>
            <a:endParaRPr lang="en-VN"/>
          </a:p>
        </p:txBody>
      </p:sp>
    </p:spTree>
    <p:extLst>
      <p:ext uri="{BB962C8B-B14F-4D97-AF65-F5344CB8AC3E}">
        <p14:creationId xmlns:p14="http://schemas.microsoft.com/office/powerpoint/2010/main" val="370375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9E8D8-68B2-276B-0986-ABC64844EC9D}"/>
              </a:ext>
            </a:extLst>
          </p:cNvPr>
          <p:cNvSpPr>
            <a:spLocks noGrp="1"/>
          </p:cNvSpPr>
          <p:nvPr>
            <p:ph type="title"/>
          </p:nvPr>
        </p:nvSpPr>
        <p:spPr/>
        <p:txBody>
          <a:bodyPr/>
          <a:lstStyle/>
          <a:p>
            <a:r>
              <a:rPr lang="en-US"/>
              <a:t>Outline</a:t>
            </a:r>
            <a:endParaRPr lang="vi-VN"/>
          </a:p>
        </p:txBody>
      </p:sp>
      <p:sp>
        <p:nvSpPr>
          <p:cNvPr id="3" name="Content Placeholder 2">
            <a:extLst>
              <a:ext uri="{FF2B5EF4-FFF2-40B4-BE49-F238E27FC236}">
                <a16:creationId xmlns:a16="http://schemas.microsoft.com/office/drawing/2014/main" id="{4C9872EA-FA7E-3954-F625-60B2042A4B42}"/>
              </a:ext>
            </a:extLst>
          </p:cNvPr>
          <p:cNvSpPr>
            <a:spLocks noGrp="1"/>
          </p:cNvSpPr>
          <p:nvPr>
            <p:ph idx="1"/>
          </p:nvPr>
        </p:nvSpPr>
        <p:spPr>
          <a:xfrm>
            <a:off x="838200" y="1825625"/>
            <a:ext cx="7622894" cy="4351339"/>
          </a:xfrm>
        </p:spPr>
        <p:txBody>
          <a:bodyPr/>
          <a:lstStyle/>
          <a:p>
            <a:pPr marL="0" indent="0">
              <a:buNone/>
            </a:pPr>
            <a:r>
              <a:rPr lang="en-US"/>
              <a:t>0.    Quantum foundation</a:t>
            </a:r>
          </a:p>
          <a:p>
            <a:pPr marL="609585" indent="-609585">
              <a:buAutoNum type="arabicPeriod"/>
            </a:pPr>
            <a:r>
              <a:rPr lang="en-US"/>
              <a:t>Quantum optimization</a:t>
            </a:r>
          </a:p>
          <a:p>
            <a:pPr marL="609585" indent="-609585">
              <a:buFont typeface="Arial" panose="020B0604020202020204" pitchFamily="34" charset="0"/>
              <a:buAutoNum type="arabicPeriod"/>
            </a:pPr>
            <a:r>
              <a:rPr lang="en-US"/>
              <a:t>Quantum machine learning</a:t>
            </a:r>
          </a:p>
        </p:txBody>
      </p:sp>
      <p:sp>
        <p:nvSpPr>
          <p:cNvPr id="4" name="Slide Number Placeholder 3">
            <a:extLst>
              <a:ext uri="{FF2B5EF4-FFF2-40B4-BE49-F238E27FC236}">
                <a16:creationId xmlns:a16="http://schemas.microsoft.com/office/drawing/2014/main" id="{309F9E80-F5FE-C192-F7A7-16848472A45B}"/>
              </a:ext>
            </a:extLst>
          </p:cNvPr>
          <p:cNvSpPr>
            <a:spLocks noGrp="1"/>
          </p:cNvSpPr>
          <p:nvPr>
            <p:ph type="sldNum" sz="quarter" idx="12"/>
          </p:nvPr>
        </p:nvSpPr>
        <p:spPr/>
        <p:txBody>
          <a:bodyPr/>
          <a:lstStyle/>
          <a:p>
            <a:fld id="{6A45828D-F580-42DE-B77E-860980F07F32}" type="slidenum">
              <a:rPr lang="vi-VN" smtClean="0"/>
              <a:t>2</a:t>
            </a:fld>
            <a:endParaRPr lang="vi-VN"/>
          </a:p>
        </p:txBody>
      </p:sp>
    </p:spTree>
    <p:extLst>
      <p:ext uri="{BB962C8B-B14F-4D97-AF65-F5344CB8AC3E}">
        <p14:creationId xmlns:p14="http://schemas.microsoft.com/office/powerpoint/2010/main" val="4143088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9E45-7E32-5DFD-6DBB-DD3B5D32AD22}"/>
              </a:ext>
            </a:extLst>
          </p:cNvPr>
          <p:cNvSpPr>
            <a:spLocks noGrp="1"/>
          </p:cNvSpPr>
          <p:nvPr>
            <p:ph type="title"/>
          </p:nvPr>
        </p:nvSpPr>
        <p:spPr/>
        <p:txBody>
          <a:bodyPr/>
          <a:lstStyle/>
          <a:p>
            <a:r>
              <a:rPr lang="en-US"/>
              <a:t>0. Quantum foundation</a:t>
            </a:r>
            <a:endParaRPr lang="vi-VN"/>
          </a:p>
        </p:txBody>
      </p:sp>
      <p:sp>
        <p:nvSpPr>
          <p:cNvPr id="3" name="Content Placeholder 2">
            <a:extLst>
              <a:ext uri="{FF2B5EF4-FFF2-40B4-BE49-F238E27FC236}">
                <a16:creationId xmlns:a16="http://schemas.microsoft.com/office/drawing/2014/main" id="{8FF28F78-7952-EEF8-C049-331CD2288E42}"/>
              </a:ext>
            </a:extLst>
          </p:cNvPr>
          <p:cNvSpPr>
            <a:spLocks noGrp="1"/>
          </p:cNvSpPr>
          <p:nvPr>
            <p:ph idx="1"/>
          </p:nvPr>
        </p:nvSpPr>
        <p:spPr/>
        <p:txBody>
          <a:bodyPr/>
          <a:lstStyle/>
          <a:p>
            <a:pPr marL="0" indent="0">
              <a:buNone/>
            </a:pPr>
            <a:r>
              <a:rPr lang="en-US"/>
              <a:t>0.1. Models (quantum circuit, adiabatic, annealing, …)</a:t>
            </a:r>
          </a:p>
          <a:p>
            <a:pPr marL="0" indent="0">
              <a:buNone/>
            </a:pPr>
            <a:r>
              <a:rPr lang="en-US"/>
              <a:t>0.2. Complexity (BQP)</a:t>
            </a:r>
          </a:p>
          <a:p>
            <a:pPr marL="0" indent="0">
              <a:buNone/>
            </a:pPr>
            <a:r>
              <a:rPr lang="en-US"/>
              <a:t>0.3. Quantum information (entanglement, quantum channel, noise)</a:t>
            </a:r>
          </a:p>
          <a:p>
            <a:pPr marL="0" indent="0">
              <a:buNone/>
            </a:pPr>
            <a:r>
              <a:rPr lang="en-US"/>
              <a:t>0.4. Quantum algorithms</a:t>
            </a:r>
          </a:p>
          <a:p>
            <a:pPr marL="0" indent="0">
              <a:buNone/>
            </a:pPr>
            <a:r>
              <a:rPr lang="en-US"/>
              <a:t>0.5. ECC</a:t>
            </a:r>
          </a:p>
          <a:p>
            <a:pPr marL="0" indent="0">
              <a:buNone/>
            </a:pPr>
            <a:r>
              <a:rPr lang="en-US"/>
              <a:t>0.6. Quantum computing for physical problems</a:t>
            </a:r>
            <a:endParaRPr lang="vi-VN"/>
          </a:p>
        </p:txBody>
      </p:sp>
      <p:sp>
        <p:nvSpPr>
          <p:cNvPr id="4" name="Slide Number Placeholder 3">
            <a:extLst>
              <a:ext uri="{FF2B5EF4-FFF2-40B4-BE49-F238E27FC236}">
                <a16:creationId xmlns:a16="http://schemas.microsoft.com/office/drawing/2014/main" id="{EC781013-65EE-A173-0D15-E033100A0918}"/>
              </a:ext>
            </a:extLst>
          </p:cNvPr>
          <p:cNvSpPr>
            <a:spLocks noGrp="1"/>
          </p:cNvSpPr>
          <p:nvPr>
            <p:ph type="sldNum" sz="quarter" idx="12"/>
          </p:nvPr>
        </p:nvSpPr>
        <p:spPr/>
        <p:txBody>
          <a:bodyPr/>
          <a:lstStyle/>
          <a:p>
            <a:fld id="{6A45828D-F580-42DE-B77E-860980F07F32}" type="slidenum">
              <a:rPr lang="vi-VN" smtClean="0"/>
              <a:t>3</a:t>
            </a:fld>
            <a:endParaRPr lang="vi-VN"/>
          </a:p>
        </p:txBody>
      </p:sp>
    </p:spTree>
    <p:extLst>
      <p:ext uri="{BB962C8B-B14F-4D97-AF65-F5344CB8AC3E}">
        <p14:creationId xmlns:p14="http://schemas.microsoft.com/office/powerpoint/2010/main" val="2159038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51F60-A06E-77C0-E194-B6EAA51A8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86BA5-99D7-8B03-C859-6EA995A6E625}"/>
              </a:ext>
            </a:extLst>
          </p:cNvPr>
          <p:cNvSpPr>
            <a:spLocks noGrp="1"/>
          </p:cNvSpPr>
          <p:nvPr>
            <p:ph type="title"/>
          </p:nvPr>
        </p:nvSpPr>
        <p:spPr/>
        <p:txBody>
          <a:bodyPr/>
          <a:lstStyle/>
          <a:p>
            <a:r>
              <a:rPr lang="en-US"/>
              <a:t>1. Quantum optimization</a:t>
            </a:r>
            <a:endParaRPr lang="vi-VN"/>
          </a:p>
        </p:txBody>
      </p:sp>
      <p:sp>
        <p:nvSpPr>
          <p:cNvPr id="3" name="Content Placeholder 2">
            <a:extLst>
              <a:ext uri="{FF2B5EF4-FFF2-40B4-BE49-F238E27FC236}">
                <a16:creationId xmlns:a16="http://schemas.microsoft.com/office/drawing/2014/main" id="{E6AD3A77-2A5F-9032-EA10-A0A2B3EB8E3C}"/>
              </a:ext>
            </a:extLst>
          </p:cNvPr>
          <p:cNvSpPr>
            <a:spLocks noGrp="1"/>
          </p:cNvSpPr>
          <p:nvPr>
            <p:ph idx="1"/>
          </p:nvPr>
        </p:nvSpPr>
        <p:spPr/>
        <p:txBody>
          <a:bodyPr/>
          <a:lstStyle/>
          <a:p>
            <a:pPr marL="0" indent="0">
              <a:buNone/>
            </a:pPr>
            <a:r>
              <a:rPr lang="en-US"/>
              <a:t>1.1. Parameterized quantum circuit (PQC)</a:t>
            </a:r>
          </a:p>
          <a:p>
            <a:pPr marL="0" indent="0">
              <a:buNone/>
            </a:pPr>
            <a:r>
              <a:rPr lang="en-US"/>
              <a:t>1.2. Circuit ansatz</a:t>
            </a:r>
          </a:p>
          <a:p>
            <a:pPr marL="0" indent="0">
              <a:buNone/>
            </a:pPr>
            <a:r>
              <a:rPr lang="en-US"/>
              <a:t>1.3. Compilation</a:t>
            </a:r>
          </a:p>
          <a:p>
            <a:pPr marL="0" indent="0">
              <a:buNone/>
            </a:pPr>
            <a:r>
              <a:rPr lang="en-US"/>
              <a:t>1.4. Gradient and optimizer</a:t>
            </a:r>
          </a:p>
          <a:p>
            <a:pPr marL="0" indent="0">
              <a:buNone/>
            </a:pPr>
            <a:r>
              <a:rPr lang="en-US"/>
              <a:t>1.5. Encoding</a:t>
            </a:r>
          </a:p>
          <a:p>
            <a:pPr marL="0" indent="0">
              <a:buNone/>
            </a:pPr>
            <a:r>
              <a:rPr lang="en-US"/>
              <a:t>1.6. Quantum optimization</a:t>
            </a:r>
          </a:p>
          <a:p>
            <a:pPr marL="0" indent="0">
              <a:buNone/>
            </a:pPr>
            <a:r>
              <a:rPr lang="en-US"/>
              <a:t>1.7. Additional informations</a:t>
            </a:r>
          </a:p>
          <a:p>
            <a:pPr marL="0" indent="0">
              <a:buNone/>
            </a:pPr>
            <a:endParaRPr lang="vi-VN"/>
          </a:p>
        </p:txBody>
      </p:sp>
      <p:sp>
        <p:nvSpPr>
          <p:cNvPr id="4" name="Slide Number Placeholder 3">
            <a:extLst>
              <a:ext uri="{FF2B5EF4-FFF2-40B4-BE49-F238E27FC236}">
                <a16:creationId xmlns:a16="http://schemas.microsoft.com/office/drawing/2014/main" id="{41A2F71A-DFC4-01F7-E294-F05F4E4F8E17}"/>
              </a:ext>
            </a:extLst>
          </p:cNvPr>
          <p:cNvSpPr>
            <a:spLocks noGrp="1"/>
          </p:cNvSpPr>
          <p:nvPr>
            <p:ph type="sldNum" sz="quarter" idx="12"/>
          </p:nvPr>
        </p:nvSpPr>
        <p:spPr/>
        <p:txBody>
          <a:bodyPr/>
          <a:lstStyle/>
          <a:p>
            <a:fld id="{6A45828D-F580-42DE-B77E-860980F07F32}" type="slidenum">
              <a:rPr lang="vi-VN" smtClean="0"/>
              <a:t>4</a:t>
            </a:fld>
            <a:endParaRPr lang="vi-VN"/>
          </a:p>
        </p:txBody>
      </p:sp>
    </p:spTree>
    <p:extLst>
      <p:ext uri="{BB962C8B-B14F-4D97-AF65-F5344CB8AC3E}">
        <p14:creationId xmlns:p14="http://schemas.microsoft.com/office/powerpoint/2010/main" val="319082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a:extLst>
              <a:ext uri="{FF2B5EF4-FFF2-40B4-BE49-F238E27FC236}">
                <a16:creationId xmlns:a16="http://schemas.microsoft.com/office/drawing/2014/main" id="{08DD097D-62C5-2375-A5B2-D608D90E09BB}"/>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610927" y="4099077"/>
            <a:ext cx="1857163" cy="1857163"/>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Straight Connector 58">
            <a:extLst>
              <a:ext uri="{FF2B5EF4-FFF2-40B4-BE49-F238E27FC236}">
                <a16:creationId xmlns:a16="http://schemas.microsoft.com/office/drawing/2014/main" id="{C0ABA5F6-FBF5-B248-DAD3-A93812BFB71E}"/>
              </a:ext>
            </a:extLst>
          </p:cNvPr>
          <p:cNvCxnSpPr/>
          <p:nvPr/>
        </p:nvCxnSpPr>
        <p:spPr>
          <a:xfrm flipV="1">
            <a:off x="5655734" y="1495778"/>
            <a:ext cx="1977993" cy="15599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D60B7D-F99A-69CE-9B57-174811A21C3A}"/>
              </a:ext>
            </a:extLst>
          </p:cNvPr>
          <p:cNvCxnSpPr>
            <a:cxnSpLocks/>
          </p:cNvCxnSpPr>
          <p:nvPr/>
        </p:nvCxnSpPr>
        <p:spPr>
          <a:xfrm>
            <a:off x="5655734" y="3385257"/>
            <a:ext cx="1633340" cy="20437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a:xfrm>
            <a:off x="838201" y="365125"/>
            <a:ext cx="9770425" cy="1325563"/>
          </a:xfrm>
        </p:spPr>
        <p:txBody>
          <a:bodyPr>
            <a:normAutofit/>
          </a:bodyPr>
          <a:lstStyle/>
          <a:p>
            <a:r>
              <a:rPr lang="en-US"/>
              <a:t>1.1</a:t>
            </a:r>
            <a:r>
              <a:rPr lang="en-VN"/>
              <a:t>. Parameterized quantum circuit (</a:t>
            </a:r>
            <a:r>
              <a:rPr lang="en-VN" b="1"/>
              <a:t>PQC</a:t>
            </a:r>
            <a:r>
              <a:rPr lang="en-VN"/>
              <a:t>)</a:t>
            </a:r>
          </a:p>
        </p:txBody>
      </p:sp>
      <p:sp>
        <p:nvSpPr>
          <p:cNvPr id="3" name="TextBox 2">
            <a:extLst>
              <a:ext uri="{FF2B5EF4-FFF2-40B4-BE49-F238E27FC236}">
                <a16:creationId xmlns:a16="http://schemas.microsoft.com/office/drawing/2014/main" id="{26AFD4A1-EBD6-2E40-084C-BE85233C1D54}"/>
              </a:ext>
            </a:extLst>
          </p:cNvPr>
          <p:cNvSpPr txBox="1"/>
          <p:nvPr/>
        </p:nvSpPr>
        <p:spPr>
          <a:xfrm>
            <a:off x="-2268637" y="5162309"/>
            <a:ext cx="184731" cy="369332"/>
          </a:xfrm>
          <a:prstGeom prst="rect">
            <a:avLst/>
          </a:prstGeom>
          <a:noFill/>
        </p:spPr>
        <p:txBody>
          <a:bodyPr wrap="none" rtlCol="0">
            <a:spAutoFit/>
          </a:bodyPr>
          <a:lstStyle/>
          <a:p>
            <a:endParaRPr lang="en-VN"/>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5</a:t>
            </a:fld>
            <a:endParaRPr lang="en-VN"/>
          </a:p>
        </p:txBody>
      </p:sp>
      <p:sp>
        <p:nvSpPr>
          <p:cNvPr id="5" name="TextBox 4">
            <a:extLst>
              <a:ext uri="{FF2B5EF4-FFF2-40B4-BE49-F238E27FC236}">
                <a16:creationId xmlns:a16="http://schemas.microsoft.com/office/drawing/2014/main" id="{7CF15648-7EA3-8FB4-1BD5-A72FAA990D5B}"/>
              </a:ext>
            </a:extLst>
          </p:cNvPr>
          <p:cNvSpPr txBox="1"/>
          <p:nvPr/>
        </p:nvSpPr>
        <p:spPr>
          <a:xfrm>
            <a:off x="7148638" y="5490379"/>
            <a:ext cx="4993564" cy="738664"/>
          </a:xfrm>
          <a:prstGeom prst="rect">
            <a:avLst/>
          </a:prstGeom>
          <a:noFill/>
        </p:spPr>
        <p:txBody>
          <a:bodyPr wrap="square">
            <a:spAutoFit/>
          </a:bodyPr>
          <a:lstStyle/>
          <a:p>
            <a:r>
              <a:rPr lang="vi-VN" sz="140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400" b="1">
                <a:solidFill>
                  <a:srgbClr val="000000"/>
                </a:solidFill>
                <a:latin typeface="Calibri" panose="020F0502020204030204" pitchFamily="34" charset="0"/>
                <a:ea typeface="Calibri" panose="020F0502020204030204" pitchFamily="34" charset="0"/>
                <a:cs typeface="Calibri" panose="020F0502020204030204" pitchFamily="34" charset="0"/>
              </a:rPr>
              <a:t>1.2</a:t>
            </a:r>
            <a:r>
              <a:rPr lang="vi-VN" sz="140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400">
                <a:solidFill>
                  <a:srgbClr val="00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9" name="Straight Connector 8">
            <a:extLst>
              <a:ext uri="{FF2B5EF4-FFF2-40B4-BE49-F238E27FC236}">
                <a16:creationId xmlns:a16="http://schemas.microsoft.com/office/drawing/2014/main" id="{BF1B6ACC-7314-016A-EA3B-E4536E3F4F9B}"/>
              </a:ext>
            </a:extLst>
          </p:cNvPr>
          <p:cNvCxnSpPr>
            <a:cxnSpLocks/>
            <a:endCxn id="29" idx="3"/>
          </p:cNvCxnSpPr>
          <p:nvPr/>
        </p:nvCxnSpPr>
        <p:spPr>
          <a:xfrm>
            <a:off x="1854802" y="2091072"/>
            <a:ext cx="5156076" cy="7541"/>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D6774FC-3542-5716-450A-82151A97A7D5}"/>
              </a:ext>
            </a:extLst>
          </p:cNvPr>
          <p:cNvCxnSpPr>
            <a:cxnSpLocks/>
          </p:cNvCxnSpPr>
          <p:nvPr/>
        </p:nvCxnSpPr>
        <p:spPr>
          <a:xfrm>
            <a:off x="1899957" y="2932096"/>
            <a:ext cx="419604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4A2AFD5-5B02-6830-6B1B-FEF450424B94}"/>
              </a:ext>
            </a:extLst>
          </p:cNvPr>
          <p:cNvCxnSpPr>
            <a:cxnSpLocks/>
          </p:cNvCxnSpPr>
          <p:nvPr/>
        </p:nvCxnSpPr>
        <p:spPr>
          <a:xfrm flipV="1">
            <a:off x="2509558" y="2726074"/>
            <a:ext cx="383821" cy="412044"/>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ECC0428-61AD-32C7-D585-5384474F0725}"/>
              </a:ext>
            </a:extLst>
          </p:cNvPr>
          <p:cNvCxnSpPr>
            <a:cxnSpLocks/>
          </p:cNvCxnSpPr>
          <p:nvPr/>
        </p:nvCxnSpPr>
        <p:spPr>
          <a:xfrm flipV="1">
            <a:off x="2509558" y="1885050"/>
            <a:ext cx="383821" cy="412044"/>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4BBAA7E-F665-5500-7EBD-190A703E6CDF}"/>
                  </a:ext>
                </a:extLst>
              </p:cNvPr>
              <p:cNvSpPr txBox="1"/>
              <p:nvPr/>
            </p:nvSpPr>
            <p:spPr>
              <a:xfrm>
                <a:off x="939852" y="1874574"/>
                <a:ext cx="91230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𝑚</m:t>
                          </m:r>
                        </m:sup>
                      </m:sSup>
                    </m:oMath>
                  </m:oMathPara>
                </a14:m>
                <a:endParaRPr lang="vi-VN" sz="2400"/>
              </a:p>
            </p:txBody>
          </p:sp>
        </mc:Choice>
        <mc:Fallback>
          <p:sp>
            <p:nvSpPr>
              <p:cNvPr id="18" name="TextBox 17">
                <a:extLst>
                  <a:ext uri="{FF2B5EF4-FFF2-40B4-BE49-F238E27FC236}">
                    <a16:creationId xmlns:a16="http://schemas.microsoft.com/office/drawing/2014/main" id="{A4BBAA7E-F665-5500-7EBD-190A703E6CDF}"/>
                  </a:ext>
                </a:extLst>
              </p:cNvPr>
              <p:cNvSpPr txBox="1">
                <a:spLocks noRot="1" noChangeAspect="1" noMove="1" noResize="1" noEditPoints="1" noAdjustHandles="1" noChangeArrowheads="1" noChangeShapeType="1" noTextEdit="1"/>
              </p:cNvSpPr>
              <p:nvPr/>
            </p:nvSpPr>
            <p:spPr>
              <a:xfrm>
                <a:off x="939852" y="1874574"/>
                <a:ext cx="912301" cy="384657"/>
              </a:xfrm>
              <a:prstGeom prst="rect">
                <a:avLst/>
              </a:prstGeom>
              <a:blipFill>
                <a:blip r:embed="rId4"/>
                <a:stretch>
                  <a:fillRect t="-3125" b="-625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7ABDD7A9-E55B-C4E8-944B-6C06FE65DCA8}"/>
                  </a:ext>
                </a:extLst>
              </p:cNvPr>
              <p:cNvSpPr txBox="1"/>
              <p:nvPr/>
            </p:nvSpPr>
            <p:spPr>
              <a:xfrm>
                <a:off x="939851" y="2772243"/>
                <a:ext cx="84818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oMath>
                  </m:oMathPara>
                </a14:m>
                <a:endParaRPr lang="vi-VN" sz="2400"/>
              </a:p>
            </p:txBody>
          </p:sp>
        </mc:Choice>
        <mc:Fallback>
          <p:sp>
            <p:nvSpPr>
              <p:cNvPr id="23" name="TextBox 22">
                <a:extLst>
                  <a:ext uri="{FF2B5EF4-FFF2-40B4-BE49-F238E27FC236}">
                    <a16:creationId xmlns:a16="http://schemas.microsoft.com/office/drawing/2014/main" id="{7ABDD7A9-E55B-C4E8-944B-6C06FE65DCA8}"/>
                  </a:ext>
                </a:extLst>
              </p:cNvPr>
              <p:cNvSpPr txBox="1">
                <a:spLocks noRot="1" noChangeAspect="1" noMove="1" noResize="1" noEditPoints="1" noAdjustHandles="1" noChangeArrowheads="1" noChangeShapeType="1" noTextEdit="1"/>
              </p:cNvSpPr>
              <p:nvPr/>
            </p:nvSpPr>
            <p:spPr>
              <a:xfrm>
                <a:off x="939851" y="2772243"/>
                <a:ext cx="848181" cy="384657"/>
              </a:xfrm>
              <a:prstGeom prst="rect">
                <a:avLst/>
              </a:prstGeom>
              <a:blipFill>
                <a:blip r:embed="rId5"/>
                <a:stretch>
                  <a:fillRect t="-3226" b="-9677"/>
                </a:stretch>
              </a:blipFill>
            </p:spPr>
            <p:txBody>
              <a:bodyPr/>
              <a:lstStyle/>
              <a:p>
                <a:r>
                  <a:rPr lang="en-VN">
                    <a:noFill/>
                  </a:rPr>
                  <a:t> </a:t>
                </a:r>
              </a:p>
            </p:txBody>
          </p:sp>
        </mc:Fallback>
      </mc:AlternateContent>
      <p:sp>
        <p:nvSpPr>
          <p:cNvPr id="24" name="TextBox 23">
            <a:extLst>
              <a:ext uri="{FF2B5EF4-FFF2-40B4-BE49-F238E27FC236}">
                <a16:creationId xmlns:a16="http://schemas.microsoft.com/office/drawing/2014/main" id="{A1C7222A-D970-269E-B8BB-9D07B7381290}"/>
              </a:ext>
            </a:extLst>
          </p:cNvPr>
          <p:cNvSpPr txBox="1"/>
          <p:nvPr/>
        </p:nvSpPr>
        <p:spPr>
          <a:xfrm>
            <a:off x="838200" y="2336643"/>
            <a:ext cx="2506133" cy="461665"/>
          </a:xfrm>
          <a:prstGeom prst="rect">
            <a:avLst/>
          </a:prstGeom>
          <a:noFill/>
        </p:spPr>
        <p:txBody>
          <a:bodyPr wrap="square" rtlCol="0">
            <a:spAutoFit/>
          </a:bodyPr>
          <a:lstStyle/>
          <a:p>
            <a:r>
              <a:rPr lang="en-US" sz="2400"/>
              <a:t>Ancilla qubits</a:t>
            </a:r>
            <a:endParaRPr lang="vi-VN" sz="2400"/>
          </a:p>
        </p:txBody>
      </p:sp>
      <p:sp>
        <p:nvSpPr>
          <p:cNvPr id="25" name="TextBox 24">
            <a:extLst>
              <a:ext uri="{FF2B5EF4-FFF2-40B4-BE49-F238E27FC236}">
                <a16:creationId xmlns:a16="http://schemas.microsoft.com/office/drawing/2014/main" id="{2650980E-C313-FD80-A9F0-B2A378E61153}"/>
              </a:ext>
            </a:extLst>
          </p:cNvPr>
          <p:cNvSpPr txBox="1"/>
          <p:nvPr/>
        </p:nvSpPr>
        <p:spPr>
          <a:xfrm>
            <a:off x="794658" y="1341102"/>
            <a:ext cx="2506133" cy="461665"/>
          </a:xfrm>
          <a:prstGeom prst="rect">
            <a:avLst/>
          </a:prstGeom>
          <a:noFill/>
        </p:spPr>
        <p:txBody>
          <a:bodyPr wrap="square" rtlCol="0">
            <a:spAutoFit/>
          </a:bodyPr>
          <a:lstStyle/>
          <a:p>
            <a:r>
              <a:rPr lang="en-US" sz="2400"/>
              <a:t>(Main) qubits</a:t>
            </a:r>
            <a:endParaRPr lang="vi-VN" sz="2400"/>
          </a:p>
        </p:txBody>
      </p:sp>
      <p:sp>
        <p:nvSpPr>
          <p:cNvPr id="27" name="Rectangle 26">
            <a:extLst>
              <a:ext uri="{FF2B5EF4-FFF2-40B4-BE49-F238E27FC236}">
                <a16:creationId xmlns:a16="http://schemas.microsoft.com/office/drawing/2014/main" id="{E8E6C3A4-60E8-8175-6176-A54DC9086BCA}"/>
              </a:ext>
            </a:extLst>
          </p:cNvPr>
          <p:cNvSpPr/>
          <p:nvPr/>
        </p:nvSpPr>
        <p:spPr>
          <a:xfrm>
            <a:off x="3579274" y="1651769"/>
            <a:ext cx="2076460" cy="17461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85A6521F-6069-790F-56F0-DC5D6EB72862}"/>
                  </a:ext>
                </a:extLst>
              </p:cNvPr>
              <p:cNvSpPr txBox="1"/>
              <p:nvPr/>
            </p:nvSpPr>
            <p:spPr>
              <a:xfrm>
                <a:off x="4242059" y="2340196"/>
                <a:ext cx="75039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b="1" i="1">
                              <a:latin typeface="Cambria Math" panose="02040503050406030204" pitchFamily="18" charset="0"/>
                            </a:rPr>
                            <m:t>𝜽</m:t>
                          </m:r>
                        </m:e>
                      </m:d>
                    </m:oMath>
                  </m:oMathPara>
                </a14:m>
                <a:endParaRPr lang="vi-VN" sz="2400"/>
              </a:p>
            </p:txBody>
          </p:sp>
        </mc:Choice>
        <mc:Fallback>
          <p:sp>
            <p:nvSpPr>
              <p:cNvPr id="28" name="TextBox 27">
                <a:extLst>
                  <a:ext uri="{FF2B5EF4-FFF2-40B4-BE49-F238E27FC236}">
                    <a16:creationId xmlns:a16="http://schemas.microsoft.com/office/drawing/2014/main" id="{85A6521F-6069-790F-56F0-DC5D6EB72862}"/>
                  </a:ext>
                </a:extLst>
              </p:cNvPr>
              <p:cNvSpPr txBox="1">
                <a:spLocks noRot="1" noChangeAspect="1" noMove="1" noResize="1" noEditPoints="1" noAdjustHandles="1" noChangeArrowheads="1" noChangeShapeType="1" noTextEdit="1"/>
              </p:cNvSpPr>
              <p:nvPr/>
            </p:nvSpPr>
            <p:spPr>
              <a:xfrm>
                <a:off x="4242059" y="2340196"/>
                <a:ext cx="750398" cy="369332"/>
              </a:xfrm>
              <a:prstGeom prst="rect">
                <a:avLst/>
              </a:prstGeom>
              <a:blipFill>
                <a:blip r:embed="rId6"/>
                <a:stretch>
                  <a:fillRect l="-8333" b="-6667"/>
                </a:stretch>
              </a:blipFill>
            </p:spPr>
            <p:txBody>
              <a:bodyPr/>
              <a:lstStyle/>
              <a:p>
                <a:r>
                  <a:rPr lang="en-VN">
                    <a:noFill/>
                  </a:rPr>
                  <a:t> </a:t>
                </a:r>
              </a:p>
            </p:txBody>
          </p:sp>
        </mc:Fallback>
      </mc:AlternateContent>
      <p:sp>
        <p:nvSpPr>
          <p:cNvPr id="29" name="Hình chữ nhật 93">
            <a:extLst>
              <a:ext uri="{FF2B5EF4-FFF2-40B4-BE49-F238E27FC236}">
                <a16:creationId xmlns:a16="http://schemas.microsoft.com/office/drawing/2014/main" id="{DAEC4E73-A67C-6F67-ADAE-80C4A3ABC5E7}"/>
              </a:ext>
            </a:extLst>
          </p:cNvPr>
          <p:cNvSpPr/>
          <p:nvPr/>
        </p:nvSpPr>
        <p:spPr>
          <a:xfrm>
            <a:off x="6602453" y="189399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30" name="Arc 29">
            <a:extLst>
              <a:ext uri="{FF2B5EF4-FFF2-40B4-BE49-F238E27FC236}">
                <a16:creationId xmlns:a16="http://schemas.microsoft.com/office/drawing/2014/main" id="{FD3C0B1C-82E5-71A4-A660-9F207045397D}"/>
              </a:ext>
            </a:extLst>
          </p:cNvPr>
          <p:cNvSpPr/>
          <p:nvPr/>
        </p:nvSpPr>
        <p:spPr>
          <a:xfrm>
            <a:off x="6676715" y="2086791"/>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31" name="Straight Arrow Connector 30">
            <a:extLst>
              <a:ext uri="{FF2B5EF4-FFF2-40B4-BE49-F238E27FC236}">
                <a16:creationId xmlns:a16="http://schemas.microsoft.com/office/drawing/2014/main" id="{C6DED405-8E1B-64AA-4B51-41AB5BFAEB2E}"/>
              </a:ext>
            </a:extLst>
          </p:cNvPr>
          <p:cNvCxnSpPr>
            <a:cxnSpLocks/>
          </p:cNvCxnSpPr>
          <p:nvPr/>
        </p:nvCxnSpPr>
        <p:spPr>
          <a:xfrm flipV="1">
            <a:off x="6749003" y="1983286"/>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8540F21-3723-8A60-C6EF-0208066FEEB8}"/>
              </a:ext>
            </a:extLst>
          </p:cNvPr>
          <p:cNvCxnSpPr>
            <a:cxnSpLocks/>
          </p:cNvCxnSpPr>
          <p:nvPr/>
        </p:nvCxnSpPr>
        <p:spPr>
          <a:xfrm flipV="1">
            <a:off x="5997324" y="1866346"/>
            <a:ext cx="383821" cy="412044"/>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8B8A3150-4A6A-9D1C-D90C-B1083DAFD993}"/>
              </a:ext>
            </a:extLst>
          </p:cNvPr>
          <p:cNvCxnSpPr>
            <a:cxnSpLocks/>
          </p:cNvCxnSpPr>
          <p:nvPr/>
        </p:nvCxnSpPr>
        <p:spPr>
          <a:xfrm>
            <a:off x="1899958" y="3733607"/>
            <a:ext cx="517253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44D54A33-CAAE-E3DF-C404-06EDD29CF8EF}"/>
              </a:ext>
            </a:extLst>
          </p:cNvPr>
          <p:cNvCxnSpPr>
            <a:cxnSpLocks/>
          </p:cNvCxnSpPr>
          <p:nvPr/>
        </p:nvCxnSpPr>
        <p:spPr>
          <a:xfrm>
            <a:off x="1899956" y="3806988"/>
            <a:ext cx="517253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9C58CFFC-4620-433F-19EF-9C2670E21971}"/>
              </a:ext>
            </a:extLst>
          </p:cNvPr>
          <p:cNvCxnSpPr>
            <a:cxnSpLocks/>
            <a:endCxn id="29" idx="2"/>
          </p:cNvCxnSpPr>
          <p:nvPr/>
        </p:nvCxnSpPr>
        <p:spPr>
          <a:xfrm flipV="1">
            <a:off x="6806665" y="2303235"/>
            <a:ext cx="0" cy="1430372"/>
          </a:xfrm>
          <a:prstGeom prst="line">
            <a:avLst/>
          </a:prstGeom>
          <a:ln w="12700">
            <a:headEnd type="arrow"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5613DECE-2C41-AD73-A592-80AC0F9838E9}"/>
                  </a:ext>
                </a:extLst>
              </p:cNvPr>
              <p:cNvSpPr txBox="1"/>
              <p:nvPr/>
            </p:nvSpPr>
            <p:spPr>
              <a:xfrm>
                <a:off x="195806" y="3556984"/>
                <a:ext cx="170415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𝑐</m:t>
                      </m:r>
                    </m:oMath>
                  </m:oMathPara>
                </a14:m>
                <a:endParaRPr lang="vi-VN" sz="2400"/>
              </a:p>
            </p:txBody>
          </p:sp>
        </mc:Choice>
        <mc:Fallback>
          <p:sp>
            <p:nvSpPr>
              <p:cNvPr id="43" name="TextBox 42">
                <a:extLst>
                  <a:ext uri="{FF2B5EF4-FFF2-40B4-BE49-F238E27FC236}">
                    <a16:creationId xmlns:a16="http://schemas.microsoft.com/office/drawing/2014/main" id="{5613DECE-2C41-AD73-A592-80AC0F9838E9}"/>
                  </a:ext>
                </a:extLst>
              </p:cNvPr>
              <p:cNvSpPr txBox="1">
                <a:spLocks noRot="1" noChangeAspect="1" noMove="1" noResize="1" noEditPoints="1" noAdjustHandles="1" noChangeArrowheads="1" noChangeShapeType="1" noTextEdit="1"/>
              </p:cNvSpPr>
              <p:nvPr/>
            </p:nvSpPr>
            <p:spPr>
              <a:xfrm>
                <a:off x="195806" y="3556984"/>
                <a:ext cx="1704151" cy="369332"/>
              </a:xfrm>
              <a:prstGeom prst="rect">
                <a:avLst/>
              </a:prstGeom>
              <a:blipFill>
                <a:blip r:embed="rId7"/>
                <a:stretch>
                  <a:fillRect/>
                </a:stretch>
              </a:blipFill>
            </p:spPr>
            <p:txBody>
              <a:bodyPr/>
              <a:lstStyle/>
              <a:p>
                <a:r>
                  <a:rPr lang="en-VN">
                    <a:noFill/>
                  </a:rPr>
                  <a:t> </a:t>
                </a:r>
              </a:p>
            </p:txBody>
          </p:sp>
        </mc:Fallback>
      </mc:AlternateContent>
      <p:sp>
        <p:nvSpPr>
          <p:cNvPr id="44" name="TextBox 43">
            <a:extLst>
              <a:ext uri="{FF2B5EF4-FFF2-40B4-BE49-F238E27FC236}">
                <a16:creationId xmlns:a16="http://schemas.microsoft.com/office/drawing/2014/main" id="{98623146-1A19-CE6A-3E4D-96D0930046BD}"/>
              </a:ext>
            </a:extLst>
          </p:cNvPr>
          <p:cNvSpPr txBox="1"/>
          <p:nvPr/>
        </p:nvSpPr>
        <p:spPr>
          <a:xfrm>
            <a:off x="838200" y="3180559"/>
            <a:ext cx="2506133" cy="830997"/>
          </a:xfrm>
          <a:prstGeom prst="rect">
            <a:avLst/>
          </a:prstGeom>
          <a:noFill/>
        </p:spPr>
        <p:txBody>
          <a:bodyPr wrap="square" rtlCol="0">
            <a:spAutoFit/>
          </a:bodyPr>
          <a:lstStyle/>
          <a:p>
            <a:r>
              <a:rPr lang="en-US" sz="2400"/>
              <a:t>Classical channel</a:t>
            </a:r>
            <a:endParaRPr lang="vi-VN" sz="2400"/>
          </a:p>
        </p:txBody>
      </p:sp>
      <p:pic>
        <p:nvPicPr>
          <p:cNvPr id="3074" name="Picture 2">
            <a:extLst>
              <a:ext uri="{FF2B5EF4-FFF2-40B4-BE49-F238E27FC236}">
                <a16:creationId xmlns:a16="http://schemas.microsoft.com/office/drawing/2014/main" id="{DDB2C47A-558C-046C-21B0-8F547E0D73E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3953" y="4032513"/>
            <a:ext cx="1857163" cy="18571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D1ADF63-0892-67A2-6203-F27F855CBB3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741066" y="4074027"/>
            <a:ext cx="1882213" cy="18822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1E4DB4BF-BB50-4288-5DAC-6D249E211EB6}"/>
                  </a:ext>
                </a:extLst>
              </p:cNvPr>
              <p:cNvSpPr txBox="1"/>
              <p:nvPr/>
            </p:nvSpPr>
            <p:spPr>
              <a:xfrm>
                <a:off x="803813" y="5925463"/>
                <a:ext cx="6207065" cy="830997"/>
              </a:xfrm>
              <a:prstGeom prst="rect">
                <a:avLst/>
              </a:prstGeom>
              <a:noFill/>
            </p:spPr>
            <p:txBody>
              <a:bodyPr wrap="square" rtlCol="0">
                <a:spAutoFit/>
              </a:bodyPr>
              <a:lstStyle/>
              <a:p>
                <a:r>
                  <a:rPr lang="en-US" sz="2400"/>
                  <a:t>G</a:t>
                </a:r>
                <a:r>
                  <a:rPr lang="en-VN" sz="2400"/>
                  <a:t>ate </a:t>
                </a:r>
                <a14:m>
                  <m:oMath xmlns:m="http://schemas.openxmlformats.org/officeDocument/2006/math">
                    <m:sSub>
                      <m:sSubPr>
                        <m:ctrlPr>
                          <a:rPr lang="vi-VN" sz="2400" i="1">
                            <a:latin typeface="Cambria Math" panose="02040503050406030204" pitchFamily="18" charset="0"/>
                          </a:rPr>
                        </m:ctrlPr>
                      </m:sSubPr>
                      <m:e>
                        <m:r>
                          <a:rPr lang="en-VN" sz="2400" i="1">
                            <a:latin typeface="Cambria Math" panose="02040503050406030204" pitchFamily="18" charset="0"/>
                          </a:rPr>
                          <m:t>𝑅</m:t>
                        </m:r>
                      </m:e>
                      <m:sub>
                        <m:r>
                          <a:rPr lang="vi-VN" sz="2400" i="1">
                            <a:latin typeface="Cambria Math" panose="02040503050406030204" pitchFamily="18" charset="0"/>
                          </a:rPr>
                          <m:t>𝑖</m:t>
                        </m:r>
                      </m:sub>
                    </m:sSub>
                    <m:r>
                      <a:rPr lang="vi-VN" sz="2400" i="1">
                        <a:latin typeface="Cambria Math" panose="02040503050406030204" pitchFamily="18" charset="0"/>
                      </a:rPr>
                      <m:t>(</m:t>
                    </m:r>
                    <m:r>
                      <a:rPr lang="vi-VN" sz="2400" i="1">
                        <a:latin typeface="Cambria Math" panose="02040503050406030204" pitchFamily="18" charset="0"/>
                      </a:rPr>
                      <m:t>𝜃</m:t>
                    </m:r>
                    <m:r>
                      <a:rPr lang="vi-VN" sz="2400" i="1">
                        <a:latin typeface="Cambria Math" panose="02040503050406030204" pitchFamily="18" charset="0"/>
                      </a:rPr>
                      <m:t>)</m:t>
                    </m:r>
                  </m:oMath>
                </a14:m>
                <a:r>
                  <a:rPr lang="en-VN" sz="2400"/>
                  <a:t> rotate state </a:t>
                </a:r>
                <a14:m>
                  <m:oMath xmlns:m="http://schemas.openxmlformats.org/officeDocument/2006/math">
                    <m:sSup>
                      <m:sSupPr>
                        <m:ctrlPr>
                          <a:rPr lang="vi-VN" sz="2400" i="1">
                            <a:latin typeface="Cambria Math" panose="02040503050406030204" pitchFamily="18" charset="0"/>
                          </a:rPr>
                        </m:ctrlPr>
                      </m:sSupPr>
                      <m:e>
                        <m:r>
                          <a:rPr lang="vi-VN" sz="2400" i="1">
                            <a:latin typeface="Cambria Math" panose="02040503050406030204" pitchFamily="18" charset="0"/>
                          </a:rPr>
                          <m:t>𝜃</m:t>
                        </m:r>
                      </m:e>
                      <m:sup>
                        <m:r>
                          <m:rPr>
                            <m:sty m:val="p"/>
                          </m:rPr>
                          <a:rPr lang="vi-VN" sz="2400" i="1">
                            <a:latin typeface="Cambria Math" panose="02040503050406030204" pitchFamily="18" charset="0"/>
                          </a:rPr>
                          <m:t>o</m:t>
                        </m:r>
                      </m:sup>
                    </m:sSup>
                  </m:oMath>
                </a14:m>
                <a:r>
                  <a:rPr lang="en-VN" sz="2400"/>
                  <a:t> about the </a:t>
                </a:r>
                <a14:m>
                  <m:oMath xmlns:m="http://schemas.openxmlformats.org/officeDocument/2006/math">
                    <m:r>
                      <a:rPr lang="en-VN" sz="2400" i="1">
                        <a:latin typeface="Cambria Math" panose="02040503050406030204" pitchFamily="18" charset="0"/>
                      </a:rPr>
                      <m:t>𝑖</m:t>
                    </m:r>
                  </m:oMath>
                </a14:m>
                <a:r>
                  <a:rPr lang="en-VN" sz="2400"/>
                  <a:t>-axis</a:t>
                </a:r>
                <a:r>
                  <a:rPr lang="en-US" sz="2400"/>
                  <a:t> w</a:t>
                </a:r>
                <a:r>
                  <a:rPr lang="en-VN" sz="2400"/>
                  <a:t>here </a:t>
                </a:r>
                <a14:m>
                  <m:oMath xmlns:m="http://schemas.openxmlformats.org/officeDocument/2006/math">
                    <m:r>
                      <a:rPr lang="en-VN" sz="2400" i="1">
                        <a:latin typeface="Cambria Math" panose="02040503050406030204" pitchFamily="18" charset="0"/>
                      </a:rPr>
                      <m:t>𝑖</m:t>
                    </m:r>
                    <m:r>
                      <a:rPr lang="vi-VN" sz="2400" i="1">
                        <a:latin typeface="Cambria Math" panose="02040503050406030204" pitchFamily="18" charset="0"/>
                      </a:rPr>
                      <m:t>∈</m:t>
                    </m:r>
                    <m:d>
                      <m:dPr>
                        <m:begChr m:val="{"/>
                        <m:endChr m:val="}"/>
                        <m:ctrlPr>
                          <a:rPr lang="vi-VN"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𝑌</m:t>
                        </m:r>
                        <m:r>
                          <a:rPr lang="en-US" sz="2400" i="1">
                            <a:latin typeface="Cambria Math" panose="02040503050406030204" pitchFamily="18" charset="0"/>
                          </a:rPr>
                          <m:t>,</m:t>
                        </m:r>
                        <m:r>
                          <a:rPr lang="en-US" sz="2400" i="1">
                            <a:latin typeface="Cambria Math" panose="02040503050406030204" pitchFamily="18" charset="0"/>
                          </a:rPr>
                          <m:t>𝑍</m:t>
                        </m:r>
                      </m:e>
                    </m:d>
                  </m:oMath>
                </a14:m>
                <a:r>
                  <a:rPr lang="en-VN" sz="2400" i="1"/>
                  <a:t> </a:t>
                </a:r>
                <a:r>
                  <a:rPr lang="en-VN" sz="2400"/>
                  <a:t>and </a:t>
                </a:r>
                <a14:m>
                  <m:oMath xmlns:m="http://schemas.openxmlformats.org/officeDocument/2006/math">
                    <m:r>
                      <a:rPr lang="vi-VN" sz="2400" i="1">
                        <a:latin typeface="Cambria Math" panose="02040503050406030204" pitchFamily="18" charset="0"/>
                      </a:rPr>
                      <m:t>𝜃</m:t>
                    </m:r>
                    <m:r>
                      <a:rPr lang="vi-VN" sz="2400" i="1">
                        <a:latin typeface="Cambria Math" panose="02040503050406030204" pitchFamily="18" charset="0"/>
                      </a:rPr>
                      <m:t>∈[0,2</m:t>
                    </m:r>
                    <m:r>
                      <a:rPr lang="vi-VN" sz="2400" i="1">
                        <a:latin typeface="Cambria Math" panose="02040503050406030204" pitchFamily="18" charset="0"/>
                      </a:rPr>
                      <m:t>𝜋</m:t>
                    </m:r>
                    <m:r>
                      <a:rPr lang="vi-VN" sz="2400" i="1">
                        <a:latin typeface="Cambria Math" panose="02040503050406030204" pitchFamily="18" charset="0"/>
                      </a:rPr>
                      <m:t>]</m:t>
                    </m:r>
                  </m:oMath>
                </a14:m>
                <a:endParaRPr lang="en-VN" sz="2400"/>
              </a:p>
            </p:txBody>
          </p:sp>
        </mc:Choice>
        <mc:Fallback>
          <p:sp>
            <p:nvSpPr>
              <p:cNvPr id="51" name="TextBox 50">
                <a:extLst>
                  <a:ext uri="{FF2B5EF4-FFF2-40B4-BE49-F238E27FC236}">
                    <a16:creationId xmlns:a16="http://schemas.microsoft.com/office/drawing/2014/main" id="{1E4DB4BF-BB50-4288-5DAC-6D249E211EB6}"/>
                  </a:ext>
                </a:extLst>
              </p:cNvPr>
              <p:cNvSpPr txBox="1">
                <a:spLocks noRot="1" noChangeAspect="1" noMove="1" noResize="1" noEditPoints="1" noAdjustHandles="1" noChangeArrowheads="1" noChangeShapeType="1" noTextEdit="1"/>
              </p:cNvSpPr>
              <p:nvPr/>
            </p:nvSpPr>
            <p:spPr>
              <a:xfrm>
                <a:off x="803813" y="5925463"/>
                <a:ext cx="6207065" cy="830997"/>
              </a:xfrm>
              <a:prstGeom prst="rect">
                <a:avLst/>
              </a:prstGeom>
              <a:blipFill>
                <a:blip r:embed="rId10"/>
                <a:stretch>
                  <a:fillRect l="-1636" t="-6061" b="-16667"/>
                </a:stretch>
              </a:blipFill>
            </p:spPr>
            <p:txBody>
              <a:bodyPr/>
              <a:lstStyle/>
              <a:p>
                <a:r>
                  <a:rPr lang="en-VN">
                    <a:noFill/>
                  </a:rPr>
                  <a:t> </a:t>
                </a:r>
              </a:p>
            </p:txBody>
          </p:sp>
        </mc:Fallback>
      </mc:AlternateContent>
      <p:sp>
        <p:nvSpPr>
          <p:cNvPr id="57" name="Rectangle 56">
            <a:extLst>
              <a:ext uri="{FF2B5EF4-FFF2-40B4-BE49-F238E27FC236}">
                <a16:creationId xmlns:a16="http://schemas.microsoft.com/office/drawing/2014/main" id="{CBA39A83-DA49-E25E-235A-31062CC3A0E8}"/>
              </a:ext>
            </a:extLst>
          </p:cNvPr>
          <p:cNvSpPr/>
          <p:nvPr/>
        </p:nvSpPr>
        <p:spPr>
          <a:xfrm>
            <a:off x="7281513" y="1495777"/>
            <a:ext cx="4458932" cy="3933195"/>
          </a:xfrm>
          <a:prstGeom prst="rect">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63" name="Straight Connector 62">
            <a:extLst>
              <a:ext uri="{FF2B5EF4-FFF2-40B4-BE49-F238E27FC236}">
                <a16:creationId xmlns:a16="http://schemas.microsoft.com/office/drawing/2014/main" id="{C0E15684-451F-8CEC-4A60-4A98231BFB21}"/>
              </a:ext>
            </a:extLst>
          </p:cNvPr>
          <p:cNvCxnSpPr>
            <a:cxnSpLocks/>
          </p:cNvCxnSpPr>
          <p:nvPr/>
        </p:nvCxnSpPr>
        <p:spPr>
          <a:xfrm>
            <a:off x="7440543" y="2098613"/>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3" name="Straight Connector 3072">
            <a:extLst>
              <a:ext uri="{FF2B5EF4-FFF2-40B4-BE49-F238E27FC236}">
                <a16:creationId xmlns:a16="http://schemas.microsoft.com/office/drawing/2014/main" id="{F03FE966-13AB-EE11-C687-C0D71BCC5C15}"/>
              </a:ext>
            </a:extLst>
          </p:cNvPr>
          <p:cNvCxnSpPr>
            <a:cxnSpLocks/>
          </p:cNvCxnSpPr>
          <p:nvPr/>
        </p:nvCxnSpPr>
        <p:spPr>
          <a:xfrm>
            <a:off x="7440543" y="2482251"/>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5" name="Straight Connector 3074">
            <a:extLst>
              <a:ext uri="{FF2B5EF4-FFF2-40B4-BE49-F238E27FC236}">
                <a16:creationId xmlns:a16="http://schemas.microsoft.com/office/drawing/2014/main" id="{319FAA29-9794-45ED-7888-F4328807C9CF}"/>
              </a:ext>
            </a:extLst>
          </p:cNvPr>
          <p:cNvCxnSpPr>
            <a:cxnSpLocks/>
          </p:cNvCxnSpPr>
          <p:nvPr/>
        </p:nvCxnSpPr>
        <p:spPr>
          <a:xfrm>
            <a:off x="7440543" y="2865888"/>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7" name="Straight Connector 3076">
            <a:extLst>
              <a:ext uri="{FF2B5EF4-FFF2-40B4-BE49-F238E27FC236}">
                <a16:creationId xmlns:a16="http://schemas.microsoft.com/office/drawing/2014/main" id="{1D4C9A78-F240-5005-2FC9-58445F7C03D4}"/>
              </a:ext>
            </a:extLst>
          </p:cNvPr>
          <p:cNvCxnSpPr>
            <a:cxnSpLocks/>
          </p:cNvCxnSpPr>
          <p:nvPr/>
        </p:nvCxnSpPr>
        <p:spPr>
          <a:xfrm>
            <a:off x="7446187" y="3249525"/>
            <a:ext cx="4145280" cy="0"/>
          </a:xfrm>
          <a:prstGeom prst="line">
            <a:avLst/>
          </a:prstGeom>
          <a:ln w="28575"/>
        </p:spPr>
        <p:style>
          <a:lnRef idx="1">
            <a:schemeClr val="dk1"/>
          </a:lnRef>
          <a:fillRef idx="0">
            <a:schemeClr val="dk1"/>
          </a:fillRef>
          <a:effectRef idx="0">
            <a:schemeClr val="dk1"/>
          </a:effectRef>
          <a:fontRef idx="minor">
            <a:schemeClr val="tx1"/>
          </a:fontRef>
        </p:style>
      </p:cxnSp>
      <p:sp>
        <p:nvSpPr>
          <p:cNvPr id="3079" name="Rectangle 3078">
            <a:extLst>
              <a:ext uri="{FF2B5EF4-FFF2-40B4-BE49-F238E27FC236}">
                <a16:creationId xmlns:a16="http://schemas.microsoft.com/office/drawing/2014/main" id="{E2C6F9A4-6B3D-8477-E342-C31B8B2BF6D8}"/>
              </a:ext>
            </a:extLst>
          </p:cNvPr>
          <p:cNvSpPr/>
          <p:nvPr/>
        </p:nvSpPr>
        <p:spPr>
          <a:xfrm>
            <a:off x="7782494" y="1899148"/>
            <a:ext cx="664761" cy="432891"/>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080" name="TextBox 3079">
                <a:extLst>
                  <a:ext uri="{FF2B5EF4-FFF2-40B4-BE49-F238E27FC236}">
                    <a16:creationId xmlns:a16="http://schemas.microsoft.com/office/drawing/2014/main" id="{BAC769A3-926B-4E2F-FF99-89D599453A02}"/>
                  </a:ext>
                </a:extLst>
              </p:cNvPr>
              <p:cNvSpPr txBox="1"/>
              <p:nvPr/>
            </p:nvSpPr>
            <p:spPr>
              <a:xfrm>
                <a:off x="7842131" y="1989773"/>
                <a:ext cx="553805"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𝑌</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0</m:t>
                              </m:r>
                            </m:sub>
                          </m:sSub>
                        </m:e>
                      </m:d>
                    </m:oMath>
                  </m:oMathPara>
                </a14:m>
                <a:endParaRPr lang="vi-VN" sz="1333"/>
              </a:p>
            </p:txBody>
          </p:sp>
        </mc:Choice>
        <mc:Fallback>
          <p:sp>
            <p:nvSpPr>
              <p:cNvPr id="3080" name="TextBox 3079">
                <a:extLst>
                  <a:ext uri="{FF2B5EF4-FFF2-40B4-BE49-F238E27FC236}">
                    <a16:creationId xmlns:a16="http://schemas.microsoft.com/office/drawing/2014/main" id="{BAC769A3-926B-4E2F-FF99-89D599453A02}"/>
                  </a:ext>
                </a:extLst>
              </p:cNvPr>
              <p:cNvSpPr txBox="1">
                <a:spLocks noRot="1" noChangeAspect="1" noMove="1" noResize="1" noEditPoints="1" noAdjustHandles="1" noChangeArrowheads="1" noChangeShapeType="1" noTextEdit="1"/>
              </p:cNvSpPr>
              <p:nvPr/>
            </p:nvSpPr>
            <p:spPr>
              <a:xfrm>
                <a:off x="7842131" y="1989773"/>
                <a:ext cx="553805" cy="205121"/>
              </a:xfrm>
              <a:prstGeom prst="rect">
                <a:avLst/>
              </a:prstGeom>
              <a:blipFill>
                <a:blip r:embed="rId11"/>
                <a:stretch>
                  <a:fillRect l="-6818" b="-17647"/>
                </a:stretch>
              </a:blipFill>
            </p:spPr>
            <p:txBody>
              <a:bodyPr/>
              <a:lstStyle/>
              <a:p>
                <a:r>
                  <a:rPr lang="en-VN">
                    <a:noFill/>
                  </a:rPr>
                  <a:t> </a:t>
                </a:r>
              </a:p>
            </p:txBody>
          </p:sp>
        </mc:Fallback>
      </mc:AlternateContent>
      <p:sp>
        <p:nvSpPr>
          <p:cNvPr id="3081" name="Rectangle 3080">
            <a:extLst>
              <a:ext uri="{FF2B5EF4-FFF2-40B4-BE49-F238E27FC236}">
                <a16:creationId xmlns:a16="http://schemas.microsoft.com/office/drawing/2014/main" id="{12594910-D0C8-DDA0-7A73-B88D2DE4925A}"/>
              </a:ext>
            </a:extLst>
          </p:cNvPr>
          <p:cNvSpPr/>
          <p:nvPr/>
        </p:nvSpPr>
        <p:spPr>
          <a:xfrm>
            <a:off x="7787920" y="2603888"/>
            <a:ext cx="664761" cy="432891"/>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082" name="TextBox 3081">
                <a:extLst>
                  <a:ext uri="{FF2B5EF4-FFF2-40B4-BE49-F238E27FC236}">
                    <a16:creationId xmlns:a16="http://schemas.microsoft.com/office/drawing/2014/main" id="{DCFA5A36-0C65-A5D5-DBB8-0E3408525134}"/>
                  </a:ext>
                </a:extLst>
              </p:cNvPr>
              <p:cNvSpPr txBox="1"/>
              <p:nvPr/>
            </p:nvSpPr>
            <p:spPr>
              <a:xfrm>
                <a:off x="7847556" y="2694513"/>
                <a:ext cx="554831"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𝑋</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1</m:t>
                              </m:r>
                            </m:sub>
                          </m:sSub>
                        </m:e>
                      </m:d>
                    </m:oMath>
                  </m:oMathPara>
                </a14:m>
                <a:endParaRPr lang="vi-VN" sz="1333"/>
              </a:p>
            </p:txBody>
          </p:sp>
        </mc:Choice>
        <mc:Fallback>
          <p:sp>
            <p:nvSpPr>
              <p:cNvPr id="3082" name="TextBox 3081">
                <a:extLst>
                  <a:ext uri="{FF2B5EF4-FFF2-40B4-BE49-F238E27FC236}">
                    <a16:creationId xmlns:a16="http://schemas.microsoft.com/office/drawing/2014/main" id="{DCFA5A36-0C65-A5D5-DBB8-0E3408525134}"/>
                  </a:ext>
                </a:extLst>
              </p:cNvPr>
              <p:cNvSpPr txBox="1">
                <a:spLocks noRot="1" noChangeAspect="1" noMove="1" noResize="1" noEditPoints="1" noAdjustHandles="1" noChangeArrowheads="1" noChangeShapeType="1" noTextEdit="1"/>
              </p:cNvSpPr>
              <p:nvPr/>
            </p:nvSpPr>
            <p:spPr>
              <a:xfrm>
                <a:off x="7847556" y="2694513"/>
                <a:ext cx="554831" cy="205121"/>
              </a:xfrm>
              <a:prstGeom prst="rect">
                <a:avLst/>
              </a:prstGeom>
              <a:blipFill>
                <a:blip r:embed="rId12"/>
                <a:stretch>
                  <a:fillRect l="-4444" b="-17647"/>
                </a:stretch>
              </a:blipFill>
            </p:spPr>
            <p:txBody>
              <a:bodyPr/>
              <a:lstStyle/>
              <a:p>
                <a:r>
                  <a:rPr lang="en-VN">
                    <a:noFill/>
                  </a:rPr>
                  <a:t> </a:t>
                </a:r>
              </a:p>
            </p:txBody>
          </p:sp>
        </mc:Fallback>
      </mc:AlternateContent>
      <p:sp>
        <p:nvSpPr>
          <p:cNvPr id="3083" name="Rectangle 3082">
            <a:extLst>
              <a:ext uri="{FF2B5EF4-FFF2-40B4-BE49-F238E27FC236}">
                <a16:creationId xmlns:a16="http://schemas.microsoft.com/office/drawing/2014/main" id="{82D2CAB3-EBA0-2FE0-478D-F9E59AB138DF}"/>
              </a:ext>
            </a:extLst>
          </p:cNvPr>
          <p:cNvSpPr/>
          <p:nvPr/>
        </p:nvSpPr>
        <p:spPr>
          <a:xfrm>
            <a:off x="8737724" y="2242505"/>
            <a:ext cx="664761" cy="432891"/>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084" name="TextBox 3083">
                <a:extLst>
                  <a:ext uri="{FF2B5EF4-FFF2-40B4-BE49-F238E27FC236}">
                    <a16:creationId xmlns:a16="http://schemas.microsoft.com/office/drawing/2014/main" id="{F2D25819-B5E3-6C15-4303-D60CFAB6B210}"/>
                  </a:ext>
                </a:extLst>
              </p:cNvPr>
              <p:cNvSpPr txBox="1"/>
              <p:nvPr/>
            </p:nvSpPr>
            <p:spPr>
              <a:xfrm>
                <a:off x="8797361" y="2333130"/>
                <a:ext cx="558807"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𝑋</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2</m:t>
                              </m:r>
                            </m:sub>
                          </m:sSub>
                        </m:e>
                      </m:d>
                    </m:oMath>
                  </m:oMathPara>
                </a14:m>
                <a:endParaRPr lang="vi-VN" sz="1333"/>
              </a:p>
            </p:txBody>
          </p:sp>
        </mc:Choice>
        <mc:Fallback>
          <p:sp>
            <p:nvSpPr>
              <p:cNvPr id="3084" name="TextBox 3083">
                <a:extLst>
                  <a:ext uri="{FF2B5EF4-FFF2-40B4-BE49-F238E27FC236}">
                    <a16:creationId xmlns:a16="http://schemas.microsoft.com/office/drawing/2014/main" id="{F2D25819-B5E3-6C15-4303-D60CFAB6B210}"/>
                  </a:ext>
                </a:extLst>
              </p:cNvPr>
              <p:cNvSpPr txBox="1">
                <a:spLocks noRot="1" noChangeAspect="1" noMove="1" noResize="1" noEditPoints="1" noAdjustHandles="1" noChangeArrowheads="1" noChangeShapeType="1" noTextEdit="1"/>
              </p:cNvSpPr>
              <p:nvPr/>
            </p:nvSpPr>
            <p:spPr>
              <a:xfrm>
                <a:off x="8797361" y="2333130"/>
                <a:ext cx="558807" cy="205121"/>
              </a:xfrm>
              <a:prstGeom prst="rect">
                <a:avLst/>
              </a:prstGeom>
              <a:blipFill>
                <a:blip r:embed="rId13"/>
                <a:stretch>
                  <a:fillRect l="-4444" b="-17647"/>
                </a:stretch>
              </a:blipFill>
            </p:spPr>
            <p:txBody>
              <a:bodyPr/>
              <a:lstStyle/>
              <a:p>
                <a:r>
                  <a:rPr lang="en-VN">
                    <a:noFill/>
                  </a:rPr>
                  <a:t> </a:t>
                </a:r>
              </a:p>
            </p:txBody>
          </p:sp>
        </mc:Fallback>
      </mc:AlternateContent>
      <p:cxnSp>
        <p:nvCxnSpPr>
          <p:cNvPr id="3085" name="Straight Connector 3084">
            <a:extLst>
              <a:ext uri="{FF2B5EF4-FFF2-40B4-BE49-F238E27FC236}">
                <a16:creationId xmlns:a16="http://schemas.microsoft.com/office/drawing/2014/main" id="{058C4BB8-3B2E-D4B1-C248-355A9C1F49DF}"/>
              </a:ext>
            </a:extLst>
          </p:cNvPr>
          <p:cNvCxnSpPr>
            <a:cxnSpLocks/>
          </p:cNvCxnSpPr>
          <p:nvPr/>
        </p:nvCxnSpPr>
        <p:spPr>
          <a:xfrm>
            <a:off x="7434899" y="3633163"/>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6" name="Straight Connector 3085">
            <a:extLst>
              <a:ext uri="{FF2B5EF4-FFF2-40B4-BE49-F238E27FC236}">
                <a16:creationId xmlns:a16="http://schemas.microsoft.com/office/drawing/2014/main" id="{9C1ECFD0-BD17-2B32-AF03-525B8606254B}"/>
              </a:ext>
            </a:extLst>
          </p:cNvPr>
          <p:cNvCxnSpPr>
            <a:cxnSpLocks/>
          </p:cNvCxnSpPr>
          <p:nvPr/>
        </p:nvCxnSpPr>
        <p:spPr>
          <a:xfrm>
            <a:off x="7440543" y="4016801"/>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7" name="Straight Connector 3086">
            <a:extLst>
              <a:ext uri="{FF2B5EF4-FFF2-40B4-BE49-F238E27FC236}">
                <a16:creationId xmlns:a16="http://schemas.microsoft.com/office/drawing/2014/main" id="{EF05A6BA-0844-B52D-C869-4EA5994FFDCB}"/>
              </a:ext>
            </a:extLst>
          </p:cNvPr>
          <p:cNvCxnSpPr>
            <a:cxnSpLocks/>
            <a:endCxn id="3083" idx="2"/>
          </p:cNvCxnSpPr>
          <p:nvPr/>
        </p:nvCxnSpPr>
        <p:spPr>
          <a:xfrm flipV="1">
            <a:off x="9070104" y="2675397"/>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091" name="Oval 3090">
            <a:extLst>
              <a:ext uri="{FF2B5EF4-FFF2-40B4-BE49-F238E27FC236}">
                <a16:creationId xmlns:a16="http://schemas.microsoft.com/office/drawing/2014/main" id="{4478DBF9-9D88-CFE9-5E42-B8575056DA67}"/>
              </a:ext>
            </a:extLst>
          </p:cNvPr>
          <p:cNvSpPr/>
          <p:nvPr/>
        </p:nvSpPr>
        <p:spPr>
          <a:xfrm>
            <a:off x="8955604" y="3519337"/>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p:sp>
        <p:nvSpPr>
          <p:cNvPr id="3092" name="Rectangle 3091">
            <a:extLst>
              <a:ext uri="{FF2B5EF4-FFF2-40B4-BE49-F238E27FC236}">
                <a16:creationId xmlns:a16="http://schemas.microsoft.com/office/drawing/2014/main" id="{F6FB6435-3809-30E5-A3E4-F1771CB2CD00}"/>
              </a:ext>
            </a:extLst>
          </p:cNvPr>
          <p:cNvSpPr/>
          <p:nvPr/>
        </p:nvSpPr>
        <p:spPr>
          <a:xfrm>
            <a:off x="9679285" y="2649484"/>
            <a:ext cx="664761" cy="432891"/>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093" name="TextBox 3092">
                <a:extLst>
                  <a:ext uri="{FF2B5EF4-FFF2-40B4-BE49-F238E27FC236}">
                    <a16:creationId xmlns:a16="http://schemas.microsoft.com/office/drawing/2014/main" id="{42930002-E27B-9398-E171-3BDB853B2D98}"/>
                  </a:ext>
                </a:extLst>
              </p:cNvPr>
              <p:cNvSpPr txBox="1"/>
              <p:nvPr/>
            </p:nvSpPr>
            <p:spPr>
              <a:xfrm>
                <a:off x="9738922" y="2740109"/>
                <a:ext cx="552202"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𝑍</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3</m:t>
                              </m:r>
                            </m:sub>
                          </m:sSub>
                        </m:e>
                      </m:d>
                    </m:oMath>
                  </m:oMathPara>
                </a14:m>
                <a:endParaRPr lang="vi-VN" sz="1333"/>
              </a:p>
            </p:txBody>
          </p:sp>
        </mc:Choice>
        <mc:Fallback>
          <p:sp>
            <p:nvSpPr>
              <p:cNvPr id="3093" name="TextBox 3092">
                <a:extLst>
                  <a:ext uri="{FF2B5EF4-FFF2-40B4-BE49-F238E27FC236}">
                    <a16:creationId xmlns:a16="http://schemas.microsoft.com/office/drawing/2014/main" id="{42930002-E27B-9398-E171-3BDB853B2D98}"/>
                  </a:ext>
                </a:extLst>
              </p:cNvPr>
              <p:cNvSpPr txBox="1">
                <a:spLocks noRot="1" noChangeAspect="1" noMove="1" noResize="1" noEditPoints="1" noAdjustHandles="1" noChangeArrowheads="1" noChangeShapeType="1" noTextEdit="1"/>
              </p:cNvSpPr>
              <p:nvPr/>
            </p:nvSpPr>
            <p:spPr>
              <a:xfrm>
                <a:off x="9738922" y="2740109"/>
                <a:ext cx="552202" cy="205121"/>
              </a:xfrm>
              <a:prstGeom prst="rect">
                <a:avLst/>
              </a:prstGeom>
              <a:blipFill>
                <a:blip r:embed="rId14"/>
                <a:stretch>
                  <a:fillRect l="-6818" b="-17647"/>
                </a:stretch>
              </a:blipFill>
            </p:spPr>
            <p:txBody>
              <a:bodyPr/>
              <a:lstStyle/>
              <a:p>
                <a:r>
                  <a:rPr lang="en-VN">
                    <a:noFill/>
                  </a:rPr>
                  <a:t> </a:t>
                </a:r>
              </a:p>
            </p:txBody>
          </p:sp>
        </mc:Fallback>
      </mc:AlternateContent>
      <p:cxnSp>
        <p:nvCxnSpPr>
          <p:cNvPr id="3094" name="Straight Connector 3093">
            <a:extLst>
              <a:ext uri="{FF2B5EF4-FFF2-40B4-BE49-F238E27FC236}">
                <a16:creationId xmlns:a16="http://schemas.microsoft.com/office/drawing/2014/main" id="{2ACB9085-EED7-3179-9949-C06C1B26BD92}"/>
              </a:ext>
            </a:extLst>
          </p:cNvPr>
          <p:cNvCxnSpPr>
            <a:cxnSpLocks/>
            <a:endCxn id="3092" idx="2"/>
          </p:cNvCxnSpPr>
          <p:nvPr/>
        </p:nvCxnSpPr>
        <p:spPr>
          <a:xfrm flipV="1">
            <a:off x="10011665" y="3082375"/>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095" name="Oval 3094">
            <a:extLst>
              <a:ext uri="{FF2B5EF4-FFF2-40B4-BE49-F238E27FC236}">
                <a16:creationId xmlns:a16="http://schemas.microsoft.com/office/drawing/2014/main" id="{23D912C8-7695-2FF0-5F2E-098360645CAB}"/>
              </a:ext>
            </a:extLst>
          </p:cNvPr>
          <p:cNvSpPr/>
          <p:nvPr/>
        </p:nvSpPr>
        <p:spPr>
          <a:xfrm>
            <a:off x="9897165" y="3926316"/>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p:sp>
        <p:nvSpPr>
          <p:cNvPr id="3096" name="Oval 3095">
            <a:extLst>
              <a:ext uri="{FF2B5EF4-FFF2-40B4-BE49-F238E27FC236}">
                <a16:creationId xmlns:a16="http://schemas.microsoft.com/office/drawing/2014/main" id="{DD33CDD9-01B1-58A6-9FFC-4B4EA8E4EB56}"/>
              </a:ext>
            </a:extLst>
          </p:cNvPr>
          <p:cNvSpPr/>
          <p:nvPr/>
        </p:nvSpPr>
        <p:spPr>
          <a:xfrm>
            <a:off x="9897165" y="3519337"/>
            <a:ext cx="224600" cy="224600"/>
          </a:xfrm>
          <a:prstGeom prst="ellipse">
            <a:avLst/>
          </a:prstGeom>
          <a:solidFill>
            <a:schemeClr val="bg2"/>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098" name="TextBox 3097">
                <a:extLst>
                  <a:ext uri="{FF2B5EF4-FFF2-40B4-BE49-F238E27FC236}">
                    <a16:creationId xmlns:a16="http://schemas.microsoft.com/office/drawing/2014/main" id="{8EFAD544-7A0C-072D-443F-9DDF6B791384}"/>
                  </a:ext>
                </a:extLst>
              </p:cNvPr>
              <p:cNvSpPr txBox="1"/>
              <p:nvPr/>
            </p:nvSpPr>
            <p:spPr>
              <a:xfrm>
                <a:off x="7449339" y="4818582"/>
                <a:ext cx="2672427" cy="461665"/>
              </a:xfrm>
              <a:prstGeom prst="rect">
                <a:avLst/>
              </a:prstGeom>
              <a:solidFill>
                <a:schemeClr val="bg2"/>
              </a:solidFill>
              <a:ln>
                <a:solidFill>
                  <a:srgbClr val="FF0000"/>
                </a:solidFill>
              </a:ln>
            </p:spPr>
            <p:txBody>
              <a:bodyPr wrap="square" rtlCol="0">
                <a:spAutoFit/>
              </a:bodyPr>
              <a:lstStyle/>
              <a:p>
                <a14:m>
                  <m:oMath xmlns:m="http://schemas.openxmlformats.org/officeDocument/2006/math">
                    <m:r>
                      <a:rPr lang="en-US" sz="2400" b="1" i="1">
                        <a:latin typeface="Cambria Math" panose="02040503050406030204" pitchFamily="18" charset="0"/>
                      </a:rPr>
                      <m:t>𝜽</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m>
                              <m:mPr>
                                <m:mcs>
                                  <m:mc>
                                    <m:mcPr>
                                      <m:count m:val="3"/>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0</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1</m:t>
                                      </m:r>
                                    </m:sub>
                                  </m:sSub>
                                </m:e>
                                <m:e>
                                  <m:r>
                                    <a:rPr lang="en-US" sz="2400" i="1">
                                      <a:latin typeface="Cambria Math" panose="02040503050406030204" pitchFamily="18" charset="0"/>
                                    </a:rPr>
                                    <m:t>…</m:t>
                                  </m:r>
                                </m:e>
                              </m:mr>
                            </m:m>
                          </m:e>
                        </m:d>
                      </m:e>
                      <m:sup>
                        <m:r>
                          <a:rPr lang="en-US" sz="2400" i="1">
                            <a:latin typeface="Cambria Math" panose="02040503050406030204" pitchFamily="18" charset="0"/>
                            <a:ea typeface="Cambria Math" panose="02040503050406030204" pitchFamily="18" charset="0"/>
                          </a:rPr>
                          <m:t>⊺</m:t>
                        </m:r>
                      </m:sup>
                    </m:sSup>
                  </m:oMath>
                </a14:m>
                <a:r>
                  <a:rPr lang="en-US" sz="2400"/>
                  <a:t>  </a:t>
                </a:r>
                <a:endParaRPr lang="en-VN" sz="2400"/>
              </a:p>
            </p:txBody>
          </p:sp>
        </mc:Choice>
        <mc:Fallback>
          <p:sp>
            <p:nvSpPr>
              <p:cNvPr id="3098" name="TextBox 3097">
                <a:extLst>
                  <a:ext uri="{FF2B5EF4-FFF2-40B4-BE49-F238E27FC236}">
                    <a16:creationId xmlns:a16="http://schemas.microsoft.com/office/drawing/2014/main" id="{8EFAD544-7A0C-072D-443F-9DDF6B791384}"/>
                  </a:ext>
                </a:extLst>
              </p:cNvPr>
              <p:cNvSpPr txBox="1">
                <a:spLocks noRot="1" noChangeAspect="1" noMove="1" noResize="1" noEditPoints="1" noAdjustHandles="1" noChangeArrowheads="1" noChangeShapeType="1" noTextEdit="1"/>
              </p:cNvSpPr>
              <p:nvPr/>
            </p:nvSpPr>
            <p:spPr>
              <a:xfrm>
                <a:off x="7449339" y="4818582"/>
                <a:ext cx="2672427" cy="461665"/>
              </a:xfrm>
              <a:prstGeom prst="rect">
                <a:avLst/>
              </a:prstGeom>
              <a:blipFill>
                <a:blip r:embed="rId15"/>
                <a:stretch>
                  <a:fillRect l="-472"/>
                </a:stretch>
              </a:blipFill>
              <a:ln>
                <a:solidFill>
                  <a:srgbClr val="FF0000"/>
                </a:solidFill>
              </a:ln>
            </p:spPr>
            <p:txBody>
              <a:bodyPr/>
              <a:lstStyle/>
              <a:p>
                <a:r>
                  <a:rPr lang="en-VN">
                    <a:noFill/>
                  </a:rPr>
                  <a:t> </a:t>
                </a:r>
              </a:p>
            </p:txBody>
          </p:sp>
        </mc:Fallback>
      </mc:AlternateContent>
      <p:sp>
        <p:nvSpPr>
          <p:cNvPr id="3099" name="Rectangle 3098">
            <a:extLst>
              <a:ext uri="{FF2B5EF4-FFF2-40B4-BE49-F238E27FC236}">
                <a16:creationId xmlns:a16="http://schemas.microsoft.com/office/drawing/2014/main" id="{1D083D2E-FBE0-B342-2B56-6A19EC2F36B7}"/>
              </a:ext>
            </a:extLst>
          </p:cNvPr>
          <p:cNvSpPr/>
          <p:nvPr/>
        </p:nvSpPr>
        <p:spPr>
          <a:xfrm>
            <a:off x="7666395" y="1803729"/>
            <a:ext cx="881247"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0" name="TextBox 3099">
            <a:extLst>
              <a:ext uri="{FF2B5EF4-FFF2-40B4-BE49-F238E27FC236}">
                <a16:creationId xmlns:a16="http://schemas.microsoft.com/office/drawing/2014/main" id="{2E80F3D9-E764-4F4C-7DDC-762F603AE142}"/>
              </a:ext>
            </a:extLst>
          </p:cNvPr>
          <p:cNvSpPr txBox="1"/>
          <p:nvPr/>
        </p:nvSpPr>
        <p:spPr>
          <a:xfrm>
            <a:off x="7654131" y="4195841"/>
            <a:ext cx="947445" cy="523220"/>
          </a:xfrm>
          <a:prstGeom prst="rect">
            <a:avLst/>
          </a:prstGeom>
          <a:noFill/>
        </p:spPr>
        <p:txBody>
          <a:bodyPr wrap="square">
            <a:spAutoFit/>
          </a:bodyPr>
          <a:lstStyle/>
          <a:p>
            <a:pPr algn="ctr"/>
            <a:r>
              <a:rPr lang="en-US" sz="1400">
                <a:solidFill>
                  <a:srgbClr val="000000"/>
                </a:solidFill>
                <a:latin typeface="Calibri" panose="020F0502020204030204" pitchFamily="34" charset="0"/>
                <a:ea typeface="Calibri" panose="020F0502020204030204" pitchFamily="34" charset="0"/>
                <a:cs typeface="Calibri" panose="020F0502020204030204" pitchFamily="34" charset="0"/>
              </a:rPr>
              <a:t>1-qubit gates</a:t>
            </a:r>
            <a:endParaRPr lang="vi-VN"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1" name="Rectangle 3100">
            <a:extLst>
              <a:ext uri="{FF2B5EF4-FFF2-40B4-BE49-F238E27FC236}">
                <a16:creationId xmlns:a16="http://schemas.microsoft.com/office/drawing/2014/main" id="{2538C970-E573-2E0E-55E9-7B23A41C563D}"/>
              </a:ext>
            </a:extLst>
          </p:cNvPr>
          <p:cNvSpPr/>
          <p:nvPr/>
        </p:nvSpPr>
        <p:spPr>
          <a:xfrm>
            <a:off x="8632546" y="1796486"/>
            <a:ext cx="881247"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2" name="Rectangle 3101">
            <a:extLst>
              <a:ext uri="{FF2B5EF4-FFF2-40B4-BE49-F238E27FC236}">
                <a16:creationId xmlns:a16="http://schemas.microsoft.com/office/drawing/2014/main" id="{21A804EB-3B2C-4440-34EB-75476096C49A}"/>
              </a:ext>
            </a:extLst>
          </p:cNvPr>
          <p:cNvSpPr/>
          <p:nvPr/>
        </p:nvSpPr>
        <p:spPr>
          <a:xfrm>
            <a:off x="9598696" y="1787879"/>
            <a:ext cx="1914560"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3" name="TextBox 3102">
            <a:extLst>
              <a:ext uri="{FF2B5EF4-FFF2-40B4-BE49-F238E27FC236}">
                <a16:creationId xmlns:a16="http://schemas.microsoft.com/office/drawing/2014/main" id="{FF949F28-59E4-26F7-B2A0-C955BA5BCE89}"/>
              </a:ext>
            </a:extLst>
          </p:cNvPr>
          <p:cNvSpPr txBox="1"/>
          <p:nvPr/>
        </p:nvSpPr>
        <p:spPr>
          <a:xfrm>
            <a:off x="8561771" y="4197104"/>
            <a:ext cx="1024271" cy="523220"/>
          </a:xfrm>
          <a:prstGeom prst="rect">
            <a:avLst/>
          </a:prstGeom>
          <a:noFill/>
        </p:spPr>
        <p:txBody>
          <a:bodyPr wrap="square">
            <a:spAutoFit/>
          </a:bodyPr>
          <a:lstStyle/>
          <a:p>
            <a:pPr algn="ctr"/>
            <a:r>
              <a:rPr lang="en-US" sz="1400">
                <a:solidFill>
                  <a:srgbClr val="000000"/>
                </a:solidFill>
                <a:latin typeface="Calibri" panose="020F0502020204030204" pitchFamily="34" charset="0"/>
                <a:ea typeface="Calibri" panose="020F0502020204030204" pitchFamily="34" charset="0"/>
                <a:cs typeface="Calibri" panose="020F0502020204030204" pitchFamily="34" charset="0"/>
              </a:rPr>
              <a:t>2-qubit gates</a:t>
            </a:r>
            <a:endParaRPr lang="vi-VN"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4" name="TextBox 3103">
            <a:extLst>
              <a:ext uri="{FF2B5EF4-FFF2-40B4-BE49-F238E27FC236}">
                <a16:creationId xmlns:a16="http://schemas.microsoft.com/office/drawing/2014/main" id="{9164D572-3C7F-8EA6-5B55-46154D2A7E15}"/>
              </a:ext>
            </a:extLst>
          </p:cNvPr>
          <p:cNvSpPr txBox="1"/>
          <p:nvPr/>
        </p:nvSpPr>
        <p:spPr>
          <a:xfrm>
            <a:off x="10300344" y="4196000"/>
            <a:ext cx="1775272" cy="307777"/>
          </a:xfrm>
          <a:prstGeom prst="rect">
            <a:avLst/>
          </a:prstGeom>
          <a:noFill/>
        </p:spPr>
        <p:txBody>
          <a:bodyPr wrap="square">
            <a:spAutoFit/>
          </a:bodyPr>
          <a:lstStyle/>
          <a:p>
            <a:pPr algn="ctr"/>
            <a:r>
              <a:rPr lang="en-US" sz="1400">
                <a:solidFill>
                  <a:srgbClr val="000000"/>
                </a:solidFill>
                <a:latin typeface="Calibri" panose="020F0502020204030204" pitchFamily="34" charset="0"/>
                <a:ea typeface="Calibri" panose="020F0502020204030204" pitchFamily="34" charset="0"/>
                <a:cs typeface="Calibri" panose="020F0502020204030204" pitchFamily="34" charset="0"/>
              </a:rPr>
              <a:t>complex gate</a:t>
            </a:r>
            <a:endParaRPr lang="vi-VN"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5" name="Rectangle 3104">
            <a:extLst>
              <a:ext uri="{FF2B5EF4-FFF2-40B4-BE49-F238E27FC236}">
                <a16:creationId xmlns:a16="http://schemas.microsoft.com/office/drawing/2014/main" id="{52E35932-BFA4-1A23-034C-6BFF6D6B421C}"/>
              </a:ext>
            </a:extLst>
          </p:cNvPr>
          <p:cNvSpPr/>
          <p:nvPr/>
        </p:nvSpPr>
        <p:spPr>
          <a:xfrm>
            <a:off x="10608626" y="1938594"/>
            <a:ext cx="833255" cy="1143780"/>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3106" name="Straight Connector 3105">
            <a:extLst>
              <a:ext uri="{FF2B5EF4-FFF2-40B4-BE49-F238E27FC236}">
                <a16:creationId xmlns:a16="http://schemas.microsoft.com/office/drawing/2014/main" id="{9574F327-9C50-9014-D83E-53A095FC41C4}"/>
              </a:ext>
            </a:extLst>
          </p:cNvPr>
          <p:cNvCxnSpPr>
            <a:cxnSpLocks/>
          </p:cNvCxnSpPr>
          <p:nvPr/>
        </p:nvCxnSpPr>
        <p:spPr>
          <a:xfrm flipV="1">
            <a:off x="11061131" y="3060559"/>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107" name="Oval 3106">
            <a:extLst>
              <a:ext uri="{FF2B5EF4-FFF2-40B4-BE49-F238E27FC236}">
                <a16:creationId xmlns:a16="http://schemas.microsoft.com/office/drawing/2014/main" id="{FDD7F85C-CBB7-83A5-1B3D-74C50FB111EB}"/>
              </a:ext>
            </a:extLst>
          </p:cNvPr>
          <p:cNvSpPr/>
          <p:nvPr/>
        </p:nvSpPr>
        <p:spPr>
          <a:xfrm>
            <a:off x="10946631" y="3904500"/>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109" name="TextBox 3108">
                <a:extLst>
                  <a:ext uri="{FF2B5EF4-FFF2-40B4-BE49-F238E27FC236}">
                    <a16:creationId xmlns:a16="http://schemas.microsoft.com/office/drawing/2014/main" id="{D3FE9651-8F7C-0C15-B045-4DD8697E09DD}"/>
                  </a:ext>
                </a:extLst>
              </p:cNvPr>
              <p:cNvSpPr txBox="1"/>
              <p:nvPr/>
            </p:nvSpPr>
            <p:spPr>
              <a:xfrm>
                <a:off x="10680158" y="2360615"/>
                <a:ext cx="6879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𝑉</m:t>
                      </m:r>
                      <m:d>
                        <m:dPr>
                          <m:ctrlPr>
                            <a:rPr lang="en-US" sz="1400" i="1">
                              <a:latin typeface="Cambria Math" panose="02040503050406030204" pitchFamily="18" charset="0"/>
                            </a:rPr>
                          </m:ctrlPr>
                        </m:dPr>
                        <m:e>
                          <m:sSub>
                            <m:sSubPr>
                              <m:ctrlPr>
                                <a:rPr lang="en-US" sz="1400" b="1" i="1">
                                  <a:latin typeface="Cambria Math" panose="02040503050406030204" pitchFamily="18" charset="0"/>
                                </a:rPr>
                              </m:ctrlPr>
                            </m:sSubPr>
                            <m:e>
                              <m:r>
                                <a:rPr lang="en-US" sz="1400" b="1" i="1">
                                  <a:latin typeface="Cambria Math" panose="02040503050406030204" pitchFamily="18" charset="0"/>
                                </a:rPr>
                                <m:t>𝜽</m:t>
                              </m:r>
                            </m:e>
                            <m:sub>
                              <m:r>
                                <a:rPr lang="en-US" sz="1400" b="1" i="1">
                                  <a:latin typeface="Cambria Math" panose="02040503050406030204" pitchFamily="18" charset="0"/>
                                </a:rPr>
                                <m:t>𝟒</m:t>
                              </m:r>
                              <m:r>
                                <a:rPr lang="en-US" sz="1400" b="1" i="1">
                                  <a:latin typeface="Cambria Math" panose="02040503050406030204" pitchFamily="18" charset="0"/>
                                </a:rPr>
                                <m:t>−</m:t>
                              </m:r>
                              <m:r>
                                <a:rPr lang="en-US" sz="1400" b="1" i="1">
                                  <a:latin typeface="Cambria Math" panose="02040503050406030204" pitchFamily="18" charset="0"/>
                                </a:rPr>
                                <m:t>𝟕</m:t>
                              </m:r>
                            </m:sub>
                          </m:sSub>
                        </m:e>
                      </m:d>
                    </m:oMath>
                  </m:oMathPara>
                </a14:m>
                <a:endParaRPr lang="vi-VN" sz="1400"/>
              </a:p>
            </p:txBody>
          </p:sp>
        </mc:Choice>
        <mc:Fallback>
          <p:sp>
            <p:nvSpPr>
              <p:cNvPr id="3109" name="TextBox 3108">
                <a:extLst>
                  <a:ext uri="{FF2B5EF4-FFF2-40B4-BE49-F238E27FC236}">
                    <a16:creationId xmlns:a16="http://schemas.microsoft.com/office/drawing/2014/main" id="{D3FE9651-8F7C-0C15-B045-4DD8697E09DD}"/>
                  </a:ext>
                </a:extLst>
              </p:cNvPr>
              <p:cNvSpPr txBox="1">
                <a:spLocks noRot="1" noChangeAspect="1" noMove="1" noResize="1" noEditPoints="1" noAdjustHandles="1" noChangeArrowheads="1" noChangeShapeType="1" noTextEdit="1"/>
              </p:cNvSpPr>
              <p:nvPr/>
            </p:nvSpPr>
            <p:spPr>
              <a:xfrm>
                <a:off x="10680158" y="2360615"/>
                <a:ext cx="687944" cy="215444"/>
              </a:xfrm>
              <a:prstGeom prst="rect">
                <a:avLst/>
              </a:prstGeom>
              <a:blipFill>
                <a:blip r:embed="rId16"/>
                <a:stretch>
                  <a:fillRect l="-3571" b="-15789"/>
                </a:stretch>
              </a:blipFill>
            </p:spPr>
            <p:txBody>
              <a:bodyPr/>
              <a:lstStyle/>
              <a:p>
                <a:r>
                  <a:rPr lang="en-VN">
                    <a:noFill/>
                  </a:rPr>
                  <a:t> </a:t>
                </a:r>
              </a:p>
            </p:txBody>
          </p:sp>
        </mc:Fallback>
      </mc:AlternateContent>
      <p:sp>
        <p:nvSpPr>
          <p:cNvPr id="4" name="TextBox 3">
            <a:extLst>
              <a:ext uri="{FF2B5EF4-FFF2-40B4-BE49-F238E27FC236}">
                <a16:creationId xmlns:a16="http://schemas.microsoft.com/office/drawing/2014/main" id="{D6748CD7-ADB0-68D8-1B12-32313F041CA2}"/>
              </a:ext>
            </a:extLst>
          </p:cNvPr>
          <p:cNvSpPr txBox="1"/>
          <p:nvPr/>
        </p:nvSpPr>
        <p:spPr>
          <a:xfrm>
            <a:off x="3760361" y="3010686"/>
            <a:ext cx="2027663" cy="338554"/>
          </a:xfrm>
          <a:prstGeom prst="rect">
            <a:avLst/>
          </a:prstGeom>
          <a:noFill/>
        </p:spPr>
        <p:txBody>
          <a:bodyPr wrap="square" rtlCol="0">
            <a:spAutoFit/>
          </a:bodyPr>
          <a:lstStyle/>
          <a:p>
            <a:r>
              <a:rPr lang="en-US" sz="1600"/>
              <a:t>Trainable parameter</a:t>
            </a:r>
            <a:endParaRPr lang="en-VN" sz="1600"/>
          </a:p>
        </p:txBody>
      </p:sp>
      <p:cxnSp>
        <p:nvCxnSpPr>
          <p:cNvPr id="7" name="Straight Arrow Connector 6">
            <a:extLst>
              <a:ext uri="{FF2B5EF4-FFF2-40B4-BE49-F238E27FC236}">
                <a16:creationId xmlns:a16="http://schemas.microsoft.com/office/drawing/2014/main" id="{7C1D86EA-2AFC-3380-477E-9E866D1311F1}"/>
              </a:ext>
            </a:extLst>
          </p:cNvPr>
          <p:cNvCxnSpPr>
            <a:cxnSpLocks/>
          </p:cNvCxnSpPr>
          <p:nvPr/>
        </p:nvCxnSpPr>
        <p:spPr>
          <a:xfrm flipV="1">
            <a:off x="4726283" y="2660893"/>
            <a:ext cx="0" cy="4214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194BEAE-7471-5EDA-6CED-C62448C7EA01}"/>
              </a:ext>
            </a:extLst>
          </p:cNvPr>
          <p:cNvSpPr txBox="1"/>
          <p:nvPr/>
        </p:nvSpPr>
        <p:spPr>
          <a:xfrm>
            <a:off x="9416695" y="4195842"/>
            <a:ext cx="1242992" cy="523220"/>
          </a:xfrm>
          <a:prstGeom prst="rect">
            <a:avLst/>
          </a:prstGeom>
          <a:noFill/>
        </p:spPr>
        <p:txBody>
          <a:bodyPr wrap="square">
            <a:spAutoFit/>
          </a:bodyPr>
          <a:lstStyle/>
          <a:p>
            <a:pPr algn="ctr"/>
            <a:r>
              <a:rPr lang="en-US" sz="1400">
                <a:solidFill>
                  <a:srgbClr val="000000"/>
                </a:solidFill>
                <a:latin typeface="Calibri" panose="020F0502020204030204" pitchFamily="34" charset="0"/>
                <a:ea typeface="Calibri" panose="020F0502020204030204" pitchFamily="34" charset="0"/>
                <a:cs typeface="Calibri" panose="020F0502020204030204" pitchFamily="34" charset="0"/>
              </a:rPr>
              <a:t>multi-control gate</a:t>
            </a:r>
            <a:endParaRPr lang="vi-VN"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6611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511C-D27B-3E89-934F-0D6C5F35A849}"/>
              </a:ext>
            </a:extLst>
          </p:cNvPr>
          <p:cNvSpPr>
            <a:spLocks noGrp="1"/>
          </p:cNvSpPr>
          <p:nvPr>
            <p:ph type="title"/>
          </p:nvPr>
        </p:nvSpPr>
        <p:spPr>
          <a:xfrm>
            <a:off x="838200" y="1"/>
            <a:ext cx="10515600" cy="1158888"/>
          </a:xfrm>
        </p:spPr>
        <p:txBody>
          <a:bodyPr>
            <a:normAutofit/>
          </a:bodyPr>
          <a:lstStyle/>
          <a:p>
            <a:r>
              <a:rPr lang="en-US" sz="4267"/>
              <a:t>1.2</a:t>
            </a:r>
            <a:r>
              <a:rPr lang="en-VN" sz="4267"/>
              <a:t>. </a:t>
            </a:r>
            <a:r>
              <a:rPr lang="en-US" sz="4267"/>
              <a:t>Circuit ansatz</a:t>
            </a:r>
            <a:br>
              <a:rPr lang="en-US" sz="4267"/>
            </a:br>
            <a:r>
              <a:rPr lang="en-US" sz="2667"/>
              <a:t>Existing ansatzes</a:t>
            </a:r>
            <a:endParaRPr lang="en-VN" sz="2667"/>
          </a:p>
        </p:txBody>
      </p:sp>
      <p:pic>
        <p:nvPicPr>
          <p:cNvPr id="7" name="Content Placeholder 6">
            <a:extLst>
              <a:ext uri="{FF2B5EF4-FFF2-40B4-BE49-F238E27FC236}">
                <a16:creationId xmlns:a16="http://schemas.microsoft.com/office/drawing/2014/main" id="{3480497E-19C9-BC7D-AAA1-EF1D324F0090}"/>
              </a:ext>
            </a:extLst>
          </p:cNvPr>
          <p:cNvPicPr>
            <a:picLocks noGrp="1" noChangeAspect="1"/>
          </p:cNvPicPr>
          <p:nvPr>
            <p:ph idx="1"/>
          </p:nvPr>
        </p:nvPicPr>
        <p:blipFill rotWithShape="1">
          <a:blip r:embed="rId3">
            <a:extLst>
              <a:ext uri="{96DAC541-7B7A-43D3-8B79-37D633B846F1}">
                <asvg:svgBlip xmlns:asvg="http://schemas.microsoft.com/office/drawing/2016/SVG/main" r:embed="rId4"/>
              </a:ext>
            </a:extLst>
          </a:blip>
          <a:srcRect r="67180" b="59955"/>
          <a:stretch/>
        </p:blipFill>
        <p:spPr>
          <a:xfrm>
            <a:off x="1022618" y="2718366"/>
            <a:ext cx="2806772" cy="1857135"/>
          </a:xfrm>
          <a:prstGeom prst="rect">
            <a:avLst/>
          </a:prstGeom>
        </p:spPr>
      </p:pic>
      <p:cxnSp>
        <p:nvCxnSpPr>
          <p:cNvPr id="3" name="Đường nối Thẳng 75">
            <a:extLst>
              <a:ext uri="{FF2B5EF4-FFF2-40B4-BE49-F238E27FC236}">
                <a16:creationId xmlns:a16="http://schemas.microsoft.com/office/drawing/2014/main" id="{FEC9F5DA-2102-5BD6-5DF2-5CC6C3DEA224}"/>
              </a:ext>
            </a:extLst>
          </p:cNvPr>
          <p:cNvCxnSpPr>
            <a:cxnSpLocks/>
          </p:cNvCxnSpPr>
          <p:nvPr/>
        </p:nvCxnSpPr>
        <p:spPr>
          <a:xfrm>
            <a:off x="9096843" y="3501249"/>
            <a:ext cx="285443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 name="Đường nối Thẳng 76">
            <a:extLst>
              <a:ext uri="{FF2B5EF4-FFF2-40B4-BE49-F238E27FC236}">
                <a16:creationId xmlns:a16="http://schemas.microsoft.com/office/drawing/2014/main" id="{BAFCFB46-BB05-F685-6AF0-7B94F9534526}"/>
              </a:ext>
            </a:extLst>
          </p:cNvPr>
          <p:cNvCxnSpPr>
            <a:cxnSpLocks/>
          </p:cNvCxnSpPr>
          <p:nvPr/>
        </p:nvCxnSpPr>
        <p:spPr>
          <a:xfrm>
            <a:off x="9096843" y="3869549"/>
            <a:ext cx="285443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 name="Đường nối Thẳng 77">
            <a:extLst>
              <a:ext uri="{FF2B5EF4-FFF2-40B4-BE49-F238E27FC236}">
                <a16:creationId xmlns:a16="http://schemas.microsoft.com/office/drawing/2014/main" id="{B8C89C6F-1379-B94D-052E-A816D763EDFE}"/>
              </a:ext>
            </a:extLst>
          </p:cNvPr>
          <p:cNvCxnSpPr>
            <a:cxnSpLocks/>
          </p:cNvCxnSpPr>
          <p:nvPr/>
        </p:nvCxnSpPr>
        <p:spPr>
          <a:xfrm flipV="1">
            <a:off x="9096843" y="4253181"/>
            <a:ext cx="2854432" cy="14171"/>
          </a:xfrm>
          <a:prstGeom prst="line">
            <a:avLst/>
          </a:prstGeom>
          <a:ln w="28575"/>
        </p:spPr>
        <p:style>
          <a:lnRef idx="1">
            <a:schemeClr val="dk1"/>
          </a:lnRef>
          <a:fillRef idx="0">
            <a:schemeClr val="dk1"/>
          </a:fillRef>
          <a:effectRef idx="0">
            <a:schemeClr val="dk1"/>
          </a:effectRef>
          <a:fontRef idx="minor">
            <a:schemeClr val="tx1"/>
          </a:fontRef>
        </p:style>
      </p:cxnSp>
      <p:cxnSp>
        <p:nvCxnSpPr>
          <p:cNvPr id="9" name="Đường nối Thẳng 78">
            <a:extLst>
              <a:ext uri="{FF2B5EF4-FFF2-40B4-BE49-F238E27FC236}">
                <a16:creationId xmlns:a16="http://schemas.microsoft.com/office/drawing/2014/main" id="{E0F13598-AEDF-A465-3D8D-53E2958FF8EF}"/>
              </a:ext>
            </a:extLst>
          </p:cNvPr>
          <p:cNvCxnSpPr>
            <a:cxnSpLocks/>
          </p:cNvCxnSpPr>
          <p:nvPr/>
        </p:nvCxnSpPr>
        <p:spPr>
          <a:xfrm>
            <a:off x="9096843" y="4673361"/>
            <a:ext cx="285443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Đường nối Thẳng 75">
            <a:extLst>
              <a:ext uri="{FF2B5EF4-FFF2-40B4-BE49-F238E27FC236}">
                <a16:creationId xmlns:a16="http://schemas.microsoft.com/office/drawing/2014/main" id="{B0B257D0-DC1B-BD9B-A6E4-95BECCAB79E7}"/>
              </a:ext>
            </a:extLst>
          </p:cNvPr>
          <p:cNvCxnSpPr>
            <a:cxnSpLocks/>
          </p:cNvCxnSpPr>
          <p:nvPr/>
        </p:nvCxnSpPr>
        <p:spPr>
          <a:xfrm>
            <a:off x="4964238" y="4844001"/>
            <a:ext cx="2065932"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2" name="Đường nối Thẳng 76">
            <a:extLst>
              <a:ext uri="{FF2B5EF4-FFF2-40B4-BE49-F238E27FC236}">
                <a16:creationId xmlns:a16="http://schemas.microsoft.com/office/drawing/2014/main" id="{FB555FA3-D7C6-6598-B4A1-0D3C616F3A76}"/>
              </a:ext>
            </a:extLst>
          </p:cNvPr>
          <p:cNvCxnSpPr>
            <a:cxnSpLocks/>
          </p:cNvCxnSpPr>
          <p:nvPr/>
        </p:nvCxnSpPr>
        <p:spPr>
          <a:xfrm flipV="1">
            <a:off x="4964238" y="5202328"/>
            <a:ext cx="2065932" cy="997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Đường nối Thẳng 77">
            <a:extLst>
              <a:ext uri="{FF2B5EF4-FFF2-40B4-BE49-F238E27FC236}">
                <a16:creationId xmlns:a16="http://schemas.microsoft.com/office/drawing/2014/main" id="{0744831C-14A9-6181-BF1E-0C7A053CF67C}"/>
              </a:ext>
            </a:extLst>
          </p:cNvPr>
          <p:cNvCxnSpPr>
            <a:cxnSpLocks/>
          </p:cNvCxnSpPr>
          <p:nvPr/>
        </p:nvCxnSpPr>
        <p:spPr>
          <a:xfrm flipV="1">
            <a:off x="4964238" y="5595931"/>
            <a:ext cx="2065932" cy="1417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Đường nối Thẳng 78">
            <a:extLst>
              <a:ext uri="{FF2B5EF4-FFF2-40B4-BE49-F238E27FC236}">
                <a16:creationId xmlns:a16="http://schemas.microsoft.com/office/drawing/2014/main" id="{F1063E4C-9D8B-B946-8C8F-D55F9013ADFF}"/>
              </a:ext>
            </a:extLst>
          </p:cNvPr>
          <p:cNvCxnSpPr>
            <a:cxnSpLocks/>
          </p:cNvCxnSpPr>
          <p:nvPr/>
        </p:nvCxnSpPr>
        <p:spPr>
          <a:xfrm>
            <a:off x="4964238" y="6016113"/>
            <a:ext cx="2065932"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5" name="Hình chữ nhật 84">
                <a:extLst>
                  <a:ext uri="{FF2B5EF4-FFF2-40B4-BE49-F238E27FC236}">
                    <a16:creationId xmlns:a16="http://schemas.microsoft.com/office/drawing/2014/main" id="{D31337C4-A637-83CC-C17C-A47175EB0247}"/>
                  </a:ext>
                </a:extLst>
              </p:cNvPr>
              <p:cNvSpPr/>
              <p:nvPr/>
            </p:nvSpPr>
            <p:spPr>
              <a:xfrm>
                <a:off x="5122265" y="5054579"/>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15" name="Hình chữ nhật 84">
                <a:extLst>
                  <a:ext uri="{FF2B5EF4-FFF2-40B4-BE49-F238E27FC236}">
                    <a16:creationId xmlns:a16="http://schemas.microsoft.com/office/drawing/2014/main" id="{D31337C4-A637-83CC-C17C-A47175EB0247}"/>
                  </a:ext>
                </a:extLst>
              </p:cNvPr>
              <p:cNvSpPr>
                <a:spLocks noRot="1" noChangeAspect="1" noMove="1" noResize="1" noEditPoints="1" noAdjustHandles="1" noChangeArrowheads="1" noChangeShapeType="1" noTextEdit="1"/>
              </p:cNvSpPr>
              <p:nvPr/>
            </p:nvSpPr>
            <p:spPr>
              <a:xfrm>
                <a:off x="5122265" y="5054579"/>
                <a:ext cx="399592" cy="341115"/>
              </a:xfrm>
              <a:prstGeom prst="rect">
                <a:avLst/>
              </a:prstGeom>
              <a:blipFill>
                <a:blip r:embed="rId5"/>
                <a:stretch>
                  <a:fillRect/>
                </a:stretch>
              </a:blipFill>
              <a:ln>
                <a:solidFill>
                  <a:schemeClr val="tx1"/>
                </a:solidFill>
              </a:ln>
            </p:spPr>
            <p:txBody>
              <a:bodyPr/>
              <a:lstStyle/>
              <a:p>
                <a:r>
                  <a:rPr lang="en-VN">
                    <a:noFill/>
                  </a:rPr>
                  <a:t> </a:t>
                </a:r>
              </a:p>
            </p:txBody>
          </p:sp>
        </mc:Fallback>
      </mc:AlternateContent>
      <p:cxnSp>
        <p:nvCxnSpPr>
          <p:cNvPr id="16" name="Đường nối Thẳng 85">
            <a:extLst>
              <a:ext uri="{FF2B5EF4-FFF2-40B4-BE49-F238E27FC236}">
                <a16:creationId xmlns:a16="http://schemas.microsoft.com/office/drawing/2014/main" id="{8DBC91A7-77C8-F784-D6D4-761B855F427D}"/>
              </a:ext>
            </a:extLst>
          </p:cNvPr>
          <p:cNvCxnSpPr>
            <a:cxnSpLocks/>
            <a:stCxn id="15" idx="0"/>
          </p:cNvCxnSpPr>
          <p:nvPr/>
        </p:nvCxnSpPr>
        <p:spPr>
          <a:xfrm flipV="1">
            <a:off x="5322061" y="4835087"/>
            <a:ext cx="0" cy="21949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7" name="Hình Bầu dục 88">
            <a:extLst>
              <a:ext uri="{FF2B5EF4-FFF2-40B4-BE49-F238E27FC236}">
                <a16:creationId xmlns:a16="http://schemas.microsoft.com/office/drawing/2014/main" id="{6191EE26-1684-47A6-B071-E0666B86E332}"/>
              </a:ext>
            </a:extLst>
          </p:cNvPr>
          <p:cNvSpPr/>
          <p:nvPr/>
        </p:nvSpPr>
        <p:spPr>
          <a:xfrm>
            <a:off x="5259318" y="4781617"/>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18" name="Hình chữ nhật 89">
                <a:extLst>
                  <a:ext uri="{FF2B5EF4-FFF2-40B4-BE49-F238E27FC236}">
                    <a16:creationId xmlns:a16="http://schemas.microsoft.com/office/drawing/2014/main" id="{CB952AE5-9F01-A18C-4A38-479D52B2EE60}"/>
                  </a:ext>
                </a:extLst>
              </p:cNvPr>
              <p:cNvSpPr/>
              <p:nvPr/>
            </p:nvSpPr>
            <p:spPr>
              <a:xfrm>
                <a:off x="5737607" y="5430011"/>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18" name="Hình chữ nhật 89">
                <a:extLst>
                  <a:ext uri="{FF2B5EF4-FFF2-40B4-BE49-F238E27FC236}">
                    <a16:creationId xmlns:a16="http://schemas.microsoft.com/office/drawing/2014/main" id="{CB952AE5-9F01-A18C-4A38-479D52B2EE60}"/>
                  </a:ext>
                </a:extLst>
              </p:cNvPr>
              <p:cNvSpPr>
                <a:spLocks noRot="1" noChangeAspect="1" noMove="1" noResize="1" noEditPoints="1" noAdjustHandles="1" noChangeArrowheads="1" noChangeShapeType="1" noTextEdit="1"/>
              </p:cNvSpPr>
              <p:nvPr/>
            </p:nvSpPr>
            <p:spPr>
              <a:xfrm>
                <a:off x="5737607" y="5430011"/>
                <a:ext cx="399592" cy="341115"/>
              </a:xfrm>
              <a:prstGeom prst="rect">
                <a:avLst/>
              </a:prstGeom>
              <a:blipFill>
                <a:blip r:embed="rId6"/>
                <a:stretch>
                  <a:fillRect/>
                </a:stretch>
              </a:blipFill>
              <a:ln>
                <a:solidFill>
                  <a:schemeClr val="tx1"/>
                </a:solidFill>
              </a:ln>
            </p:spPr>
            <p:txBody>
              <a:bodyPr/>
              <a:lstStyle/>
              <a:p>
                <a:r>
                  <a:rPr lang="en-VN">
                    <a:noFill/>
                  </a:rPr>
                  <a:t> </a:t>
                </a:r>
              </a:p>
            </p:txBody>
          </p:sp>
        </mc:Fallback>
      </mc:AlternateContent>
      <p:cxnSp>
        <p:nvCxnSpPr>
          <p:cNvPr id="19" name="Đường nối Thẳng 90">
            <a:extLst>
              <a:ext uri="{FF2B5EF4-FFF2-40B4-BE49-F238E27FC236}">
                <a16:creationId xmlns:a16="http://schemas.microsoft.com/office/drawing/2014/main" id="{861E9ECA-2C99-A8BC-A6EC-823C8731AEBF}"/>
              </a:ext>
            </a:extLst>
          </p:cNvPr>
          <p:cNvCxnSpPr>
            <a:cxnSpLocks/>
            <a:stCxn id="18" idx="0"/>
          </p:cNvCxnSpPr>
          <p:nvPr/>
        </p:nvCxnSpPr>
        <p:spPr>
          <a:xfrm flipV="1">
            <a:off x="5937403" y="5210519"/>
            <a:ext cx="0" cy="21949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0" name="Hình Bầu dục 91">
            <a:extLst>
              <a:ext uri="{FF2B5EF4-FFF2-40B4-BE49-F238E27FC236}">
                <a16:creationId xmlns:a16="http://schemas.microsoft.com/office/drawing/2014/main" id="{63254DF5-9978-A836-F184-60F32B7D2EBD}"/>
              </a:ext>
            </a:extLst>
          </p:cNvPr>
          <p:cNvSpPr/>
          <p:nvPr/>
        </p:nvSpPr>
        <p:spPr>
          <a:xfrm>
            <a:off x="5874661" y="5157049"/>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21" name="Hình chữ nhật 93">
                <a:extLst>
                  <a:ext uri="{FF2B5EF4-FFF2-40B4-BE49-F238E27FC236}">
                    <a16:creationId xmlns:a16="http://schemas.microsoft.com/office/drawing/2014/main" id="{59DF2123-534A-01E5-7E27-70DD340A1FA1}"/>
                  </a:ext>
                </a:extLst>
              </p:cNvPr>
              <p:cNvSpPr/>
              <p:nvPr/>
            </p:nvSpPr>
            <p:spPr>
              <a:xfrm>
                <a:off x="6403887" y="4686052"/>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21" name="Hình chữ nhật 93">
                <a:extLst>
                  <a:ext uri="{FF2B5EF4-FFF2-40B4-BE49-F238E27FC236}">
                    <a16:creationId xmlns:a16="http://schemas.microsoft.com/office/drawing/2014/main" id="{59DF2123-534A-01E5-7E27-70DD340A1FA1}"/>
                  </a:ext>
                </a:extLst>
              </p:cNvPr>
              <p:cNvSpPr>
                <a:spLocks noRot="1" noChangeAspect="1" noMove="1" noResize="1" noEditPoints="1" noAdjustHandles="1" noChangeArrowheads="1" noChangeShapeType="1" noTextEdit="1"/>
              </p:cNvSpPr>
              <p:nvPr/>
            </p:nvSpPr>
            <p:spPr>
              <a:xfrm>
                <a:off x="6403887" y="4686052"/>
                <a:ext cx="399592" cy="341115"/>
              </a:xfrm>
              <a:prstGeom prst="rect">
                <a:avLst/>
              </a:prstGeom>
              <a:blipFill>
                <a:blip r:embed="rId7"/>
                <a:stretch>
                  <a:fillRect/>
                </a:stretch>
              </a:blipFill>
              <a:ln>
                <a:solidFill>
                  <a:schemeClr val="tx1"/>
                </a:solidFill>
              </a:ln>
            </p:spPr>
            <p:txBody>
              <a:bodyPr/>
              <a:lstStyle/>
              <a:p>
                <a:r>
                  <a:rPr lang="en-VN">
                    <a:noFill/>
                  </a:rPr>
                  <a:t> </a:t>
                </a:r>
              </a:p>
            </p:txBody>
          </p:sp>
        </mc:Fallback>
      </mc:AlternateContent>
      <p:cxnSp>
        <p:nvCxnSpPr>
          <p:cNvPr id="22" name="Đường nối Thẳng 94">
            <a:extLst>
              <a:ext uri="{FF2B5EF4-FFF2-40B4-BE49-F238E27FC236}">
                <a16:creationId xmlns:a16="http://schemas.microsoft.com/office/drawing/2014/main" id="{334449A2-B42B-4450-4286-A41FE57D3A8D}"/>
              </a:ext>
            </a:extLst>
          </p:cNvPr>
          <p:cNvCxnSpPr>
            <a:cxnSpLocks/>
            <a:stCxn id="21" idx="2"/>
            <a:endCxn id="23" idx="0"/>
          </p:cNvCxnSpPr>
          <p:nvPr/>
        </p:nvCxnSpPr>
        <p:spPr>
          <a:xfrm>
            <a:off x="6603683" y="5027167"/>
            <a:ext cx="0" cy="93219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3" name="Hình Bầu dục 95">
            <a:extLst>
              <a:ext uri="{FF2B5EF4-FFF2-40B4-BE49-F238E27FC236}">
                <a16:creationId xmlns:a16="http://schemas.microsoft.com/office/drawing/2014/main" id="{44D6812A-267C-C87B-669B-B5563D39B7BF}"/>
              </a:ext>
            </a:extLst>
          </p:cNvPr>
          <p:cNvSpPr/>
          <p:nvPr/>
        </p:nvSpPr>
        <p:spPr>
          <a:xfrm>
            <a:off x="6540941" y="5959364"/>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24" name="Hộp Văn bản 53">
                <a:extLst>
                  <a:ext uri="{FF2B5EF4-FFF2-40B4-BE49-F238E27FC236}">
                    <a16:creationId xmlns:a16="http://schemas.microsoft.com/office/drawing/2014/main" id="{48FB0015-2C52-EF22-DA25-FA2A9321FEC8}"/>
                  </a:ext>
                </a:extLst>
              </p:cNvPr>
              <p:cNvSpPr txBox="1"/>
              <p:nvPr/>
            </p:nvSpPr>
            <p:spPr>
              <a:xfrm>
                <a:off x="4912247" y="6258093"/>
                <a:ext cx="1650719" cy="369332"/>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m:rPr>
                          <m:sty m:val="p"/>
                        </m:rPr>
                        <a:rPr lang="en-US">
                          <a:latin typeface="Cambria Math" panose="02040503050406030204" pitchFamily="18" charset="0"/>
                        </a:rPr>
                        <m:t>e</m:t>
                      </m:r>
                      <m:r>
                        <a:rPr lang="vi-VN">
                          <a:latin typeface="Cambria Math" panose="02040503050406030204" pitchFamily="18" charset="0"/>
                        </a:rPr>
                        <m:t>)</m:t>
                      </m:r>
                      <m:r>
                        <a:rPr lang="vi-VN"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𝑐h𝑎𝑖𝑛</m:t>
                          </m:r>
                        </m:sub>
                      </m:sSub>
                    </m:oMath>
                  </m:oMathPara>
                </a14:m>
                <a:endParaRPr lang="vi-VN" i="1">
                  <a:latin typeface="Calibri" panose="020F0502020204030204" pitchFamily="34" charset="0"/>
                  <a:cs typeface="Calibri" panose="020F0502020204030204" pitchFamily="34" charset="0"/>
                </a:endParaRPr>
              </a:p>
            </p:txBody>
          </p:sp>
        </mc:Choice>
        <mc:Fallback>
          <p:sp>
            <p:nvSpPr>
              <p:cNvPr id="24" name="Hộp Văn bản 53">
                <a:extLst>
                  <a:ext uri="{FF2B5EF4-FFF2-40B4-BE49-F238E27FC236}">
                    <a16:creationId xmlns:a16="http://schemas.microsoft.com/office/drawing/2014/main" id="{48FB0015-2C52-EF22-DA25-FA2A9321FEC8}"/>
                  </a:ext>
                </a:extLst>
              </p:cNvPr>
              <p:cNvSpPr txBox="1">
                <a:spLocks noRot="1" noChangeAspect="1" noMove="1" noResize="1" noEditPoints="1" noAdjustHandles="1" noChangeArrowheads="1" noChangeShapeType="1" noTextEdit="1"/>
              </p:cNvSpPr>
              <p:nvPr/>
            </p:nvSpPr>
            <p:spPr>
              <a:xfrm>
                <a:off x="4912247" y="6258093"/>
                <a:ext cx="1650719" cy="369332"/>
              </a:xfrm>
              <a:prstGeom prst="rect">
                <a:avLst/>
              </a:prstGeom>
              <a:blipFill>
                <a:blip r:embed="rId8"/>
                <a:stretch>
                  <a:fillRect b="-16667"/>
                </a:stretch>
              </a:blipFill>
            </p:spPr>
            <p:txBody>
              <a:bodyPr/>
              <a:lstStyle/>
              <a:p>
                <a:r>
                  <a:rPr lang="en-VN">
                    <a:noFill/>
                  </a:rPr>
                  <a:t> </a:t>
                </a:r>
              </a:p>
            </p:txBody>
          </p:sp>
        </mc:Fallback>
      </mc:AlternateContent>
      <p:cxnSp>
        <p:nvCxnSpPr>
          <p:cNvPr id="25" name="Đường nối Thẳng 58">
            <a:extLst>
              <a:ext uri="{FF2B5EF4-FFF2-40B4-BE49-F238E27FC236}">
                <a16:creationId xmlns:a16="http://schemas.microsoft.com/office/drawing/2014/main" id="{E68EDD43-E02C-DB32-C450-E2A9CDDC2BB5}"/>
              </a:ext>
            </a:extLst>
          </p:cNvPr>
          <p:cNvCxnSpPr>
            <a:cxnSpLocks/>
          </p:cNvCxnSpPr>
          <p:nvPr/>
        </p:nvCxnSpPr>
        <p:spPr>
          <a:xfrm>
            <a:off x="8246459" y="1207009"/>
            <a:ext cx="37551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6" name="Đường nối Thẳng 59">
            <a:extLst>
              <a:ext uri="{FF2B5EF4-FFF2-40B4-BE49-F238E27FC236}">
                <a16:creationId xmlns:a16="http://schemas.microsoft.com/office/drawing/2014/main" id="{7809F676-1293-69CB-44EB-909DF14A999E}"/>
              </a:ext>
            </a:extLst>
          </p:cNvPr>
          <p:cNvCxnSpPr>
            <a:cxnSpLocks/>
          </p:cNvCxnSpPr>
          <p:nvPr/>
        </p:nvCxnSpPr>
        <p:spPr>
          <a:xfrm>
            <a:off x="8246459" y="1575309"/>
            <a:ext cx="37551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7" name="Đường nối Thẳng 60">
            <a:extLst>
              <a:ext uri="{FF2B5EF4-FFF2-40B4-BE49-F238E27FC236}">
                <a16:creationId xmlns:a16="http://schemas.microsoft.com/office/drawing/2014/main" id="{3692DEB1-76F2-0BF2-A707-B2AAAF79510C}"/>
              </a:ext>
            </a:extLst>
          </p:cNvPr>
          <p:cNvCxnSpPr>
            <a:cxnSpLocks/>
          </p:cNvCxnSpPr>
          <p:nvPr/>
        </p:nvCxnSpPr>
        <p:spPr>
          <a:xfrm>
            <a:off x="8246459" y="1973111"/>
            <a:ext cx="37551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8" name="Đường nối Thẳng 61">
            <a:extLst>
              <a:ext uri="{FF2B5EF4-FFF2-40B4-BE49-F238E27FC236}">
                <a16:creationId xmlns:a16="http://schemas.microsoft.com/office/drawing/2014/main" id="{E8477AF5-ACF1-BFCB-AFF6-047F3188D3B6}"/>
              </a:ext>
            </a:extLst>
          </p:cNvPr>
          <p:cNvCxnSpPr>
            <a:cxnSpLocks/>
          </p:cNvCxnSpPr>
          <p:nvPr/>
        </p:nvCxnSpPr>
        <p:spPr>
          <a:xfrm>
            <a:off x="8228616" y="2383113"/>
            <a:ext cx="377301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9" name="Hình chữ nhật 63">
                <a:extLst>
                  <a:ext uri="{FF2B5EF4-FFF2-40B4-BE49-F238E27FC236}">
                    <a16:creationId xmlns:a16="http://schemas.microsoft.com/office/drawing/2014/main" id="{8D038FA6-BED7-D79A-B8E9-0196C2F03077}"/>
                  </a:ext>
                </a:extLst>
              </p:cNvPr>
              <p:cNvSpPr/>
              <p:nvPr/>
            </p:nvSpPr>
            <p:spPr>
              <a:xfrm>
                <a:off x="8404487" y="1417587"/>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29" name="Hình chữ nhật 63">
                <a:extLst>
                  <a:ext uri="{FF2B5EF4-FFF2-40B4-BE49-F238E27FC236}">
                    <a16:creationId xmlns:a16="http://schemas.microsoft.com/office/drawing/2014/main" id="{8D038FA6-BED7-D79A-B8E9-0196C2F03077}"/>
                  </a:ext>
                </a:extLst>
              </p:cNvPr>
              <p:cNvSpPr>
                <a:spLocks noRot="1" noChangeAspect="1" noMove="1" noResize="1" noEditPoints="1" noAdjustHandles="1" noChangeArrowheads="1" noChangeShapeType="1" noTextEdit="1"/>
              </p:cNvSpPr>
              <p:nvPr/>
            </p:nvSpPr>
            <p:spPr>
              <a:xfrm>
                <a:off x="8404487" y="1417587"/>
                <a:ext cx="399592" cy="341115"/>
              </a:xfrm>
              <a:prstGeom prst="rect">
                <a:avLst/>
              </a:prstGeom>
              <a:blipFill>
                <a:blip r:embed="rId9"/>
                <a:stretch>
                  <a:fillRect/>
                </a:stretch>
              </a:blipFill>
              <a:ln>
                <a:solidFill>
                  <a:schemeClr val="tx1"/>
                </a:solidFill>
              </a:ln>
            </p:spPr>
            <p:txBody>
              <a:bodyPr/>
              <a:lstStyle/>
              <a:p>
                <a:r>
                  <a:rPr lang="en-VN">
                    <a:noFill/>
                  </a:rPr>
                  <a:t> </a:t>
                </a:r>
              </a:p>
            </p:txBody>
          </p:sp>
        </mc:Fallback>
      </mc:AlternateContent>
      <p:cxnSp>
        <p:nvCxnSpPr>
          <p:cNvPr id="30" name="Đường nối Thẳng 64">
            <a:extLst>
              <a:ext uri="{FF2B5EF4-FFF2-40B4-BE49-F238E27FC236}">
                <a16:creationId xmlns:a16="http://schemas.microsoft.com/office/drawing/2014/main" id="{11EBAA0D-4FD4-BA54-8F2C-B4CF166247B8}"/>
              </a:ext>
            </a:extLst>
          </p:cNvPr>
          <p:cNvCxnSpPr>
            <a:cxnSpLocks/>
            <a:stCxn id="29" idx="0"/>
          </p:cNvCxnSpPr>
          <p:nvPr/>
        </p:nvCxnSpPr>
        <p:spPr>
          <a:xfrm flipV="1">
            <a:off x="8604283" y="1198095"/>
            <a:ext cx="0" cy="21949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1" name="Hình Bầu dục 65">
            <a:extLst>
              <a:ext uri="{FF2B5EF4-FFF2-40B4-BE49-F238E27FC236}">
                <a16:creationId xmlns:a16="http://schemas.microsoft.com/office/drawing/2014/main" id="{5C1A4356-8ACB-D590-729F-CB22A4C8B61E}"/>
              </a:ext>
            </a:extLst>
          </p:cNvPr>
          <p:cNvSpPr/>
          <p:nvPr/>
        </p:nvSpPr>
        <p:spPr>
          <a:xfrm>
            <a:off x="8541541" y="1144625"/>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32" name="Hình chữ nhật 66">
                <a:extLst>
                  <a:ext uri="{FF2B5EF4-FFF2-40B4-BE49-F238E27FC236}">
                    <a16:creationId xmlns:a16="http://schemas.microsoft.com/office/drawing/2014/main" id="{B62539B7-CC7D-76CC-F279-75489DDF5B5B}"/>
                  </a:ext>
                </a:extLst>
              </p:cNvPr>
              <p:cNvSpPr/>
              <p:nvPr/>
            </p:nvSpPr>
            <p:spPr>
              <a:xfrm>
                <a:off x="9019829" y="1793019"/>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32" name="Hình chữ nhật 66">
                <a:extLst>
                  <a:ext uri="{FF2B5EF4-FFF2-40B4-BE49-F238E27FC236}">
                    <a16:creationId xmlns:a16="http://schemas.microsoft.com/office/drawing/2014/main" id="{B62539B7-CC7D-76CC-F279-75489DDF5B5B}"/>
                  </a:ext>
                </a:extLst>
              </p:cNvPr>
              <p:cNvSpPr>
                <a:spLocks noRot="1" noChangeAspect="1" noMove="1" noResize="1" noEditPoints="1" noAdjustHandles="1" noChangeArrowheads="1" noChangeShapeType="1" noTextEdit="1"/>
              </p:cNvSpPr>
              <p:nvPr/>
            </p:nvSpPr>
            <p:spPr>
              <a:xfrm>
                <a:off x="9019829" y="1793019"/>
                <a:ext cx="399592" cy="341115"/>
              </a:xfrm>
              <a:prstGeom prst="rect">
                <a:avLst/>
              </a:prstGeom>
              <a:blipFill>
                <a:blip r:embed="rId10"/>
                <a:stretch>
                  <a:fillRect/>
                </a:stretch>
              </a:blipFill>
              <a:ln>
                <a:solidFill>
                  <a:schemeClr val="tx1"/>
                </a:solidFill>
              </a:ln>
            </p:spPr>
            <p:txBody>
              <a:bodyPr/>
              <a:lstStyle/>
              <a:p>
                <a:r>
                  <a:rPr lang="en-VN">
                    <a:noFill/>
                  </a:rPr>
                  <a:t> </a:t>
                </a:r>
              </a:p>
            </p:txBody>
          </p:sp>
        </mc:Fallback>
      </mc:AlternateContent>
      <p:cxnSp>
        <p:nvCxnSpPr>
          <p:cNvPr id="33" name="Đường nối Thẳng 67">
            <a:extLst>
              <a:ext uri="{FF2B5EF4-FFF2-40B4-BE49-F238E27FC236}">
                <a16:creationId xmlns:a16="http://schemas.microsoft.com/office/drawing/2014/main" id="{00FEBCF6-5AD0-16A5-DD00-A38D5CEF29E3}"/>
              </a:ext>
            </a:extLst>
          </p:cNvPr>
          <p:cNvCxnSpPr>
            <a:cxnSpLocks/>
            <a:stCxn id="32" idx="0"/>
            <a:endCxn id="34" idx="4"/>
          </p:cNvCxnSpPr>
          <p:nvPr/>
        </p:nvCxnSpPr>
        <p:spPr>
          <a:xfrm flipV="1">
            <a:off x="9219625" y="1255130"/>
            <a:ext cx="0" cy="53788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4" name="Hình Bầu dục 68">
            <a:extLst>
              <a:ext uri="{FF2B5EF4-FFF2-40B4-BE49-F238E27FC236}">
                <a16:creationId xmlns:a16="http://schemas.microsoft.com/office/drawing/2014/main" id="{AEC55009-FA8B-96CC-15D0-7A440EBBB1EA}"/>
              </a:ext>
            </a:extLst>
          </p:cNvPr>
          <p:cNvSpPr/>
          <p:nvPr/>
        </p:nvSpPr>
        <p:spPr>
          <a:xfrm>
            <a:off x="9156882" y="1144625"/>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35" name="Hộp Văn bản 74">
                <a:extLst>
                  <a:ext uri="{FF2B5EF4-FFF2-40B4-BE49-F238E27FC236}">
                    <a16:creationId xmlns:a16="http://schemas.microsoft.com/office/drawing/2014/main" id="{ED8DC7BE-E24C-BDCE-4ADD-3C0CC7CDA737}"/>
                  </a:ext>
                </a:extLst>
              </p:cNvPr>
              <p:cNvSpPr txBox="1"/>
              <p:nvPr/>
            </p:nvSpPr>
            <p:spPr>
              <a:xfrm>
                <a:off x="10244461" y="2654863"/>
                <a:ext cx="16110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g</m:t>
                          </m:r>
                          <m:r>
                            <a:rPr lang="vi-VN">
                              <a:latin typeface="Cambria Math" panose="02040503050406030204" pitchFamily="18" charset="0"/>
                            </a:rPr>
                            <m:t>)</m:t>
                          </m:r>
                          <m:r>
                            <a:rPr lang="vi-VN" i="1">
                              <a:latin typeface="Cambria Math" panose="02040503050406030204" pitchFamily="18" charset="0"/>
                            </a:rPr>
                            <m:t> </m:t>
                          </m:r>
                          <m:r>
                            <a:rPr lang="en-US" i="1">
                              <a:latin typeface="Cambria Math" panose="02040503050406030204" pitchFamily="18" charset="0"/>
                            </a:rPr>
                            <m:t>𝑊</m:t>
                          </m:r>
                        </m:e>
                        <m:sub>
                          <m:r>
                            <a:rPr lang="en-US" i="1">
                              <a:latin typeface="Cambria Math" panose="02040503050406030204" pitchFamily="18" charset="0"/>
                            </a:rPr>
                            <m:t>𝑎𝑙𝑙</m:t>
                          </m:r>
                          <m:r>
                            <a:rPr lang="vi-VN" i="1">
                              <a:latin typeface="Cambria Math" panose="02040503050406030204" pitchFamily="18" charset="0"/>
                            </a:rPr>
                            <m:t>−</m:t>
                          </m:r>
                          <m:r>
                            <a:rPr lang="en-US" i="1">
                              <a:latin typeface="Cambria Math" panose="02040503050406030204" pitchFamily="18" charset="0"/>
                            </a:rPr>
                            <m:t>𝑡𝑜</m:t>
                          </m:r>
                          <m:r>
                            <a:rPr lang="vi-VN" i="1">
                              <a:latin typeface="Cambria Math" panose="02040503050406030204" pitchFamily="18" charset="0"/>
                            </a:rPr>
                            <m:t>−</m:t>
                          </m:r>
                          <m:r>
                            <a:rPr lang="en-US" i="1">
                              <a:latin typeface="Cambria Math" panose="02040503050406030204" pitchFamily="18" charset="0"/>
                            </a:rPr>
                            <m:t>𝑎𝑙𝑙</m:t>
                          </m:r>
                        </m:sub>
                      </m:sSub>
                    </m:oMath>
                  </m:oMathPara>
                </a14:m>
                <a:endParaRPr lang="vi-VN" i="1">
                  <a:latin typeface="Calibri" panose="020F0502020204030204" pitchFamily="34" charset="0"/>
                  <a:cs typeface="Calibri" panose="020F0502020204030204" pitchFamily="34" charset="0"/>
                </a:endParaRPr>
              </a:p>
            </p:txBody>
          </p:sp>
        </mc:Choice>
        <mc:Fallback>
          <p:sp>
            <p:nvSpPr>
              <p:cNvPr id="35" name="Hộp Văn bản 74">
                <a:extLst>
                  <a:ext uri="{FF2B5EF4-FFF2-40B4-BE49-F238E27FC236}">
                    <a16:creationId xmlns:a16="http://schemas.microsoft.com/office/drawing/2014/main" id="{ED8DC7BE-E24C-BDCE-4ADD-3C0CC7CDA737}"/>
                  </a:ext>
                </a:extLst>
              </p:cNvPr>
              <p:cNvSpPr txBox="1">
                <a:spLocks noRot="1" noChangeAspect="1" noMove="1" noResize="1" noEditPoints="1" noAdjustHandles="1" noChangeArrowheads="1" noChangeShapeType="1" noTextEdit="1"/>
              </p:cNvSpPr>
              <p:nvPr/>
            </p:nvSpPr>
            <p:spPr>
              <a:xfrm>
                <a:off x="10244461" y="2654863"/>
                <a:ext cx="1611087" cy="369332"/>
              </a:xfrm>
              <a:prstGeom prst="rect">
                <a:avLst/>
              </a:prstGeom>
              <a:blipFill>
                <a:blip r:embed="rId11"/>
                <a:stretch>
                  <a:fillRect b="-1333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6" name="Hình chữ nhật 80">
                <a:extLst>
                  <a:ext uri="{FF2B5EF4-FFF2-40B4-BE49-F238E27FC236}">
                    <a16:creationId xmlns:a16="http://schemas.microsoft.com/office/drawing/2014/main" id="{1CE19BA9-CAFB-786A-0B33-0C3807F4A1BD}"/>
                  </a:ext>
                </a:extLst>
              </p:cNvPr>
              <p:cNvSpPr/>
              <p:nvPr/>
            </p:nvSpPr>
            <p:spPr>
              <a:xfrm>
                <a:off x="9614584" y="2178007"/>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36" name="Hình chữ nhật 80">
                <a:extLst>
                  <a:ext uri="{FF2B5EF4-FFF2-40B4-BE49-F238E27FC236}">
                    <a16:creationId xmlns:a16="http://schemas.microsoft.com/office/drawing/2014/main" id="{1CE19BA9-CAFB-786A-0B33-0C3807F4A1BD}"/>
                  </a:ext>
                </a:extLst>
              </p:cNvPr>
              <p:cNvSpPr>
                <a:spLocks noRot="1" noChangeAspect="1" noMove="1" noResize="1" noEditPoints="1" noAdjustHandles="1" noChangeArrowheads="1" noChangeShapeType="1" noTextEdit="1"/>
              </p:cNvSpPr>
              <p:nvPr/>
            </p:nvSpPr>
            <p:spPr>
              <a:xfrm>
                <a:off x="9614584" y="2178007"/>
                <a:ext cx="399592" cy="341115"/>
              </a:xfrm>
              <a:prstGeom prst="rect">
                <a:avLst/>
              </a:prstGeom>
              <a:blipFill>
                <a:blip r:embed="rId12"/>
                <a:stretch>
                  <a:fillRect/>
                </a:stretch>
              </a:blipFill>
              <a:ln>
                <a:solidFill>
                  <a:schemeClr val="tx1"/>
                </a:solidFill>
              </a:ln>
            </p:spPr>
            <p:txBody>
              <a:bodyPr/>
              <a:lstStyle/>
              <a:p>
                <a:r>
                  <a:rPr lang="en-VN">
                    <a:noFill/>
                  </a:rPr>
                  <a:t> </a:t>
                </a:r>
              </a:p>
            </p:txBody>
          </p:sp>
        </mc:Fallback>
      </mc:AlternateContent>
      <p:sp>
        <p:nvSpPr>
          <p:cNvPr id="37" name="Hình Bầu dục 81">
            <a:extLst>
              <a:ext uri="{FF2B5EF4-FFF2-40B4-BE49-F238E27FC236}">
                <a16:creationId xmlns:a16="http://schemas.microsoft.com/office/drawing/2014/main" id="{B15949A9-00E4-1FE0-702A-7EEA00532BBE}"/>
              </a:ext>
            </a:extLst>
          </p:cNvPr>
          <p:cNvSpPr/>
          <p:nvPr/>
        </p:nvSpPr>
        <p:spPr>
          <a:xfrm>
            <a:off x="9751638" y="1171626"/>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p:cxnSp>
        <p:nvCxnSpPr>
          <p:cNvPr id="38" name="Đường nối Thẳng 82">
            <a:extLst>
              <a:ext uri="{FF2B5EF4-FFF2-40B4-BE49-F238E27FC236}">
                <a16:creationId xmlns:a16="http://schemas.microsoft.com/office/drawing/2014/main" id="{13F86A9D-D7A9-8E0E-BD38-8A99139B4C80}"/>
              </a:ext>
            </a:extLst>
          </p:cNvPr>
          <p:cNvCxnSpPr>
            <a:cxnSpLocks/>
            <a:stCxn id="36" idx="0"/>
            <a:endCxn id="37" idx="4"/>
          </p:cNvCxnSpPr>
          <p:nvPr/>
        </p:nvCxnSpPr>
        <p:spPr>
          <a:xfrm flipV="1">
            <a:off x="9814380" y="1282131"/>
            <a:ext cx="0" cy="89587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9" name="Hình chữ nhật 86">
                <a:extLst>
                  <a:ext uri="{FF2B5EF4-FFF2-40B4-BE49-F238E27FC236}">
                    <a16:creationId xmlns:a16="http://schemas.microsoft.com/office/drawing/2014/main" id="{C83E49DE-92EC-3F0C-936A-0183BC5674EE}"/>
                  </a:ext>
                </a:extLst>
              </p:cNvPr>
              <p:cNvSpPr/>
              <p:nvPr/>
            </p:nvSpPr>
            <p:spPr>
              <a:xfrm>
                <a:off x="10127955" y="1802575"/>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39" name="Hình chữ nhật 86">
                <a:extLst>
                  <a:ext uri="{FF2B5EF4-FFF2-40B4-BE49-F238E27FC236}">
                    <a16:creationId xmlns:a16="http://schemas.microsoft.com/office/drawing/2014/main" id="{C83E49DE-92EC-3F0C-936A-0183BC5674EE}"/>
                  </a:ext>
                </a:extLst>
              </p:cNvPr>
              <p:cNvSpPr>
                <a:spLocks noRot="1" noChangeAspect="1" noMove="1" noResize="1" noEditPoints="1" noAdjustHandles="1" noChangeArrowheads="1" noChangeShapeType="1" noTextEdit="1"/>
              </p:cNvSpPr>
              <p:nvPr/>
            </p:nvSpPr>
            <p:spPr>
              <a:xfrm>
                <a:off x="10127955" y="1802575"/>
                <a:ext cx="399592" cy="341115"/>
              </a:xfrm>
              <a:prstGeom prst="rect">
                <a:avLst/>
              </a:prstGeom>
              <a:blipFill>
                <a:blip r:embed="rId13"/>
                <a:stretch>
                  <a:fillRect/>
                </a:stretch>
              </a:blipFill>
              <a:ln>
                <a:solidFill>
                  <a:schemeClr val="tx1"/>
                </a:solidFill>
              </a:ln>
            </p:spPr>
            <p:txBody>
              <a:bodyPr/>
              <a:lstStyle/>
              <a:p>
                <a:r>
                  <a:rPr lang="en-VN">
                    <a:noFill/>
                  </a:rPr>
                  <a:t> </a:t>
                </a:r>
              </a:p>
            </p:txBody>
          </p:sp>
        </mc:Fallback>
      </mc:AlternateContent>
      <p:cxnSp>
        <p:nvCxnSpPr>
          <p:cNvPr id="40" name="Đường nối Thẳng 87">
            <a:extLst>
              <a:ext uri="{FF2B5EF4-FFF2-40B4-BE49-F238E27FC236}">
                <a16:creationId xmlns:a16="http://schemas.microsoft.com/office/drawing/2014/main" id="{BAC76805-24BE-2F2F-84D5-0E7A7E8CBA78}"/>
              </a:ext>
            </a:extLst>
          </p:cNvPr>
          <p:cNvCxnSpPr>
            <a:cxnSpLocks/>
            <a:stCxn id="39" idx="0"/>
          </p:cNvCxnSpPr>
          <p:nvPr/>
        </p:nvCxnSpPr>
        <p:spPr>
          <a:xfrm flipV="1">
            <a:off x="10327751" y="1583083"/>
            <a:ext cx="0" cy="21949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1" name="Hình Bầu dục 96">
            <a:extLst>
              <a:ext uri="{FF2B5EF4-FFF2-40B4-BE49-F238E27FC236}">
                <a16:creationId xmlns:a16="http://schemas.microsoft.com/office/drawing/2014/main" id="{C12FC28F-0968-B044-11C6-241B538CFFC6}"/>
              </a:ext>
            </a:extLst>
          </p:cNvPr>
          <p:cNvSpPr/>
          <p:nvPr/>
        </p:nvSpPr>
        <p:spPr>
          <a:xfrm>
            <a:off x="10265007" y="1529613"/>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42" name="Hình chữ nhật 97">
                <a:extLst>
                  <a:ext uri="{FF2B5EF4-FFF2-40B4-BE49-F238E27FC236}">
                    <a16:creationId xmlns:a16="http://schemas.microsoft.com/office/drawing/2014/main" id="{2F9CF38A-B3F4-7AEB-0C21-EFF0279EE72D}"/>
                  </a:ext>
                </a:extLst>
              </p:cNvPr>
              <p:cNvSpPr/>
              <p:nvPr/>
            </p:nvSpPr>
            <p:spPr>
              <a:xfrm>
                <a:off x="10743296" y="2178007"/>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42" name="Hình chữ nhật 97">
                <a:extLst>
                  <a:ext uri="{FF2B5EF4-FFF2-40B4-BE49-F238E27FC236}">
                    <a16:creationId xmlns:a16="http://schemas.microsoft.com/office/drawing/2014/main" id="{2F9CF38A-B3F4-7AEB-0C21-EFF0279EE72D}"/>
                  </a:ext>
                </a:extLst>
              </p:cNvPr>
              <p:cNvSpPr>
                <a:spLocks noRot="1" noChangeAspect="1" noMove="1" noResize="1" noEditPoints="1" noAdjustHandles="1" noChangeArrowheads="1" noChangeShapeType="1" noTextEdit="1"/>
              </p:cNvSpPr>
              <p:nvPr/>
            </p:nvSpPr>
            <p:spPr>
              <a:xfrm>
                <a:off x="10743296" y="2178007"/>
                <a:ext cx="399592" cy="341115"/>
              </a:xfrm>
              <a:prstGeom prst="rect">
                <a:avLst/>
              </a:prstGeom>
              <a:blipFill>
                <a:blip r:embed="rId14"/>
                <a:stretch>
                  <a:fillRect/>
                </a:stretch>
              </a:blipFill>
              <a:ln>
                <a:solidFill>
                  <a:schemeClr val="tx1"/>
                </a:solidFill>
              </a:ln>
            </p:spPr>
            <p:txBody>
              <a:bodyPr/>
              <a:lstStyle/>
              <a:p>
                <a:r>
                  <a:rPr lang="en-VN">
                    <a:noFill/>
                  </a:rPr>
                  <a:t> </a:t>
                </a:r>
              </a:p>
            </p:txBody>
          </p:sp>
        </mc:Fallback>
      </mc:AlternateContent>
      <p:cxnSp>
        <p:nvCxnSpPr>
          <p:cNvPr id="43" name="Đường nối Thẳng 98">
            <a:extLst>
              <a:ext uri="{FF2B5EF4-FFF2-40B4-BE49-F238E27FC236}">
                <a16:creationId xmlns:a16="http://schemas.microsoft.com/office/drawing/2014/main" id="{C52EE2F8-FA15-E484-D2B0-C6122365E83C}"/>
              </a:ext>
            </a:extLst>
          </p:cNvPr>
          <p:cNvCxnSpPr>
            <a:cxnSpLocks/>
            <a:stCxn id="42" idx="0"/>
            <a:endCxn id="44" idx="4"/>
          </p:cNvCxnSpPr>
          <p:nvPr/>
        </p:nvCxnSpPr>
        <p:spPr>
          <a:xfrm flipV="1">
            <a:off x="10943092" y="1640118"/>
            <a:ext cx="0" cy="53788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4" name="Hình Bầu dục 99">
            <a:extLst>
              <a:ext uri="{FF2B5EF4-FFF2-40B4-BE49-F238E27FC236}">
                <a16:creationId xmlns:a16="http://schemas.microsoft.com/office/drawing/2014/main" id="{68D0CA85-EAFD-44E2-6C70-828EFD88B7B1}"/>
              </a:ext>
            </a:extLst>
          </p:cNvPr>
          <p:cNvSpPr/>
          <p:nvPr/>
        </p:nvSpPr>
        <p:spPr>
          <a:xfrm>
            <a:off x="10880350" y="1529613"/>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45" name="Hình chữ nhật 107">
                <a:extLst>
                  <a:ext uri="{FF2B5EF4-FFF2-40B4-BE49-F238E27FC236}">
                    <a16:creationId xmlns:a16="http://schemas.microsoft.com/office/drawing/2014/main" id="{1A6CAD90-B913-FD58-D33F-6D91B59B060C}"/>
                  </a:ext>
                </a:extLst>
              </p:cNvPr>
              <p:cNvSpPr/>
              <p:nvPr/>
            </p:nvSpPr>
            <p:spPr>
              <a:xfrm>
                <a:off x="11395207" y="2178007"/>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45" name="Hình chữ nhật 107">
                <a:extLst>
                  <a:ext uri="{FF2B5EF4-FFF2-40B4-BE49-F238E27FC236}">
                    <a16:creationId xmlns:a16="http://schemas.microsoft.com/office/drawing/2014/main" id="{1A6CAD90-B913-FD58-D33F-6D91B59B060C}"/>
                  </a:ext>
                </a:extLst>
              </p:cNvPr>
              <p:cNvSpPr>
                <a:spLocks noRot="1" noChangeAspect="1" noMove="1" noResize="1" noEditPoints="1" noAdjustHandles="1" noChangeArrowheads="1" noChangeShapeType="1" noTextEdit="1"/>
              </p:cNvSpPr>
              <p:nvPr/>
            </p:nvSpPr>
            <p:spPr>
              <a:xfrm>
                <a:off x="11395207" y="2178007"/>
                <a:ext cx="399592" cy="341115"/>
              </a:xfrm>
              <a:prstGeom prst="rect">
                <a:avLst/>
              </a:prstGeom>
              <a:blipFill>
                <a:blip r:embed="rId15"/>
                <a:stretch>
                  <a:fillRect/>
                </a:stretch>
              </a:blipFill>
              <a:ln>
                <a:solidFill>
                  <a:schemeClr val="tx1"/>
                </a:solidFill>
              </a:ln>
            </p:spPr>
            <p:txBody>
              <a:bodyPr/>
              <a:lstStyle/>
              <a:p>
                <a:r>
                  <a:rPr lang="en-VN">
                    <a:noFill/>
                  </a:rPr>
                  <a:t> </a:t>
                </a:r>
              </a:p>
            </p:txBody>
          </p:sp>
        </mc:Fallback>
      </mc:AlternateContent>
      <p:cxnSp>
        <p:nvCxnSpPr>
          <p:cNvPr id="46" name="Đường nối Thẳng 108">
            <a:extLst>
              <a:ext uri="{FF2B5EF4-FFF2-40B4-BE49-F238E27FC236}">
                <a16:creationId xmlns:a16="http://schemas.microsoft.com/office/drawing/2014/main" id="{52C7A10E-5D47-411F-8E55-058A2A9C7EED}"/>
              </a:ext>
            </a:extLst>
          </p:cNvPr>
          <p:cNvCxnSpPr>
            <a:cxnSpLocks/>
            <a:stCxn id="45" idx="0"/>
          </p:cNvCxnSpPr>
          <p:nvPr/>
        </p:nvCxnSpPr>
        <p:spPr>
          <a:xfrm flipV="1">
            <a:off x="11595003" y="1958515"/>
            <a:ext cx="0" cy="21949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7" name="Hình Bầu dục 109">
            <a:extLst>
              <a:ext uri="{FF2B5EF4-FFF2-40B4-BE49-F238E27FC236}">
                <a16:creationId xmlns:a16="http://schemas.microsoft.com/office/drawing/2014/main" id="{095DD37E-933F-B8F5-2D9F-A668705E0F3D}"/>
              </a:ext>
            </a:extLst>
          </p:cNvPr>
          <p:cNvSpPr/>
          <p:nvPr/>
        </p:nvSpPr>
        <p:spPr>
          <a:xfrm>
            <a:off x="11532261" y="1905045"/>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p:cxnSp>
        <p:nvCxnSpPr>
          <p:cNvPr id="48" name="Đường nối Thẳng 119">
            <a:extLst>
              <a:ext uri="{FF2B5EF4-FFF2-40B4-BE49-F238E27FC236}">
                <a16:creationId xmlns:a16="http://schemas.microsoft.com/office/drawing/2014/main" id="{455C7CBB-7B5D-BBA3-EEAD-F1435D3D7525}"/>
              </a:ext>
            </a:extLst>
          </p:cNvPr>
          <p:cNvCxnSpPr>
            <a:cxnSpLocks/>
          </p:cNvCxnSpPr>
          <p:nvPr/>
        </p:nvCxnSpPr>
        <p:spPr>
          <a:xfrm flipV="1">
            <a:off x="6067208" y="3093041"/>
            <a:ext cx="832865" cy="89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Đường nối Thẳng 120">
            <a:extLst>
              <a:ext uri="{FF2B5EF4-FFF2-40B4-BE49-F238E27FC236}">
                <a16:creationId xmlns:a16="http://schemas.microsoft.com/office/drawing/2014/main" id="{288DFADD-04B8-2437-8FFA-8E3367D6163A}"/>
              </a:ext>
            </a:extLst>
          </p:cNvPr>
          <p:cNvCxnSpPr>
            <a:cxnSpLocks/>
          </p:cNvCxnSpPr>
          <p:nvPr/>
        </p:nvCxnSpPr>
        <p:spPr>
          <a:xfrm>
            <a:off x="6067208" y="3470256"/>
            <a:ext cx="832865" cy="777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0" name="Đường nối Thẳng 121">
            <a:extLst>
              <a:ext uri="{FF2B5EF4-FFF2-40B4-BE49-F238E27FC236}">
                <a16:creationId xmlns:a16="http://schemas.microsoft.com/office/drawing/2014/main" id="{1510815C-3562-1AF6-F91A-FFDBCF89A4F8}"/>
              </a:ext>
            </a:extLst>
          </p:cNvPr>
          <p:cNvCxnSpPr>
            <a:cxnSpLocks/>
          </p:cNvCxnSpPr>
          <p:nvPr/>
        </p:nvCxnSpPr>
        <p:spPr>
          <a:xfrm>
            <a:off x="6067208" y="3868057"/>
            <a:ext cx="83286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1" name="Đường nối Thẳng 122">
            <a:extLst>
              <a:ext uri="{FF2B5EF4-FFF2-40B4-BE49-F238E27FC236}">
                <a16:creationId xmlns:a16="http://schemas.microsoft.com/office/drawing/2014/main" id="{B0D96C53-4362-4830-79E9-CFBA242C707F}"/>
              </a:ext>
            </a:extLst>
          </p:cNvPr>
          <p:cNvCxnSpPr>
            <a:cxnSpLocks/>
          </p:cNvCxnSpPr>
          <p:nvPr/>
        </p:nvCxnSpPr>
        <p:spPr>
          <a:xfrm>
            <a:off x="6049363" y="4278059"/>
            <a:ext cx="85070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52" name="Hình chữ nhật 123">
                <a:extLst>
                  <a:ext uri="{FF2B5EF4-FFF2-40B4-BE49-F238E27FC236}">
                    <a16:creationId xmlns:a16="http://schemas.microsoft.com/office/drawing/2014/main" id="{8C56A178-1B7B-D5FE-9427-C73C5F24D33D}"/>
                  </a:ext>
                </a:extLst>
              </p:cNvPr>
              <p:cNvSpPr/>
              <p:nvPr/>
            </p:nvSpPr>
            <p:spPr>
              <a:xfrm>
                <a:off x="6225235" y="3312533"/>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52" name="Hình chữ nhật 123">
                <a:extLst>
                  <a:ext uri="{FF2B5EF4-FFF2-40B4-BE49-F238E27FC236}">
                    <a16:creationId xmlns:a16="http://schemas.microsoft.com/office/drawing/2014/main" id="{8C56A178-1B7B-D5FE-9427-C73C5F24D33D}"/>
                  </a:ext>
                </a:extLst>
              </p:cNvPr>
              <p:cNvSpPr>
                <a:spLocks noRot="1" noChangeAspect="1" noMove="1" noResize="1" noEditPoints="1" noAdjustHandles="1" noChangeArrowheads="1" noChangeShapeType="1" noTextEdit="1"/>
              </p:cNvSpPr>
              <p:nvPr/>
            </p:nvSpPr>
            <p:spPr>
              <a:xfrm>
                <a:off x="6225235" y="3312533"/>
                <a:ext cx="399592" cy="341115"/>
              </a:xfrm>
              <a:prstGeom prst="rect">
                <a:avLst/>
              </a:prstGeom>
              <a:blipFill>
                <a:blip r:embed="rId16"/>
                <a:stretch>
                  <a:fillRect/>
                </a:stretch>
              </a:blipFill>
              <a:ln>
                <a:solidFill>
                  <a:schemeClr val="tx1"/>
                </a:solidFill>
              </a:ln>
            </p:spPr>
            <p:txBody>
              <a:bodyPr/>
              <a:lstStyle/>
              <a:p>
                <a:r>
                  <a:rPr lang="en-VN">
                    <a:noFill/>
                  </a:rPr>
                  <a:t> </a:t>
                </a:r>
              </a:p>
            </p:txBody>
          </p:sp>
        </mc:Fallback>
      </mc:AlternateContent>
      <p:cxnSp>
        <p:nvCxnSpPr>
          <p:cNvPr id="53" name="Đường nối Thẳng 124">
            <a:extLst>
              <a:ext uri="{FF2B5EF4-FFF2-40B4-BE49-F238E27FC236}">
                <a16:creationId xmlns:a16="http://schemas.microsoft.com/office/drawing/2014/main" id="{F30136B0-97D9-767B-AC97-A9E9A5ABD9BE}"/>
              </a:ext>
            </a:extLst>
          </p:cNvPr>
          <p:cNvCxnSpPr>
            <a:cxnSpLocks/>
            <a:stCxn id="52" idx="0"/>
          </p:cNvCxnSpPr>
          <p:nvPr/>
        </p:nvCxnSpPr>
        <p:spPr>
          <a:xfrm flipV="1">
            <a:off x="6425031" y="3093041"/>
            <a:ext cx="0" cy="21949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4" name="Hình Bầu dục 125">
            <a:extLst>
              <a:ext uri="{FF2B5EF4-FFF2-40B4-BE49-F238E27FC236}">
                <a16:creationId xmlns:a16="http://schemas.microsoft.com/office/drawing/2014/main" id="{524F70AD-42F9-1035-A566-1BFB79E4A635}"/>
              </a:ext>
            </a:extLst>
          </p:cNvPr>
          <p:cNvSpPr/>
          <p:nvPr/>
        </p:nvSpPr>
        <p:spPr>
          <a:xfrm>
            <a:off x="6362287" y="3039572"/>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55" name="Hình chữ nhật 142">
                <a:extLst>
                  <a:ext uri="{FF2B5EF4-FFF2-40B4-BE49-F238E27FC236}">
                    <a16:creationId xmlns:a16="http://schemas.microsoft.com/office/drawing/2014/main" id="{53FC46D1-A4A5-D909-DFD8-0BB6BAED8917}"/>
                  </a:ext>
                </a:extLst>
              </p:cNvPr>
              <p:cNvSpPr/>
              <p:nvPr/>
            </p:nvSpPr>
            <p:spPr>
              <a:xfrm>
                <a:off x="6225235" y="4095301"/>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55" name="Hình chữ nhật 142">
                <a:extLst>
                  <a:ext uri="{FF2B5EF4-FFF2-40B4-BE49-F238E27FC236}">
                    <a16:creationId xmlns:a16="http://schemas.microsoft.com/office/drawing/2014/main" id="{53FC46D1-A4A5-D909-DFD8-0BB6BAED8917}"/>
                  </a:ext>
                </a:extLst>
              </p:cNvPr>
              <p:cNvSpPr>
                <a:spLocks noRot="1" noChangeAspect="1" noMove="1" noResize="1" noEditPoints="1" noAdjustHandles="1" noChangeArrowheads="1" noChangeShapeType="1" noTextEdit="1"/>
              </p:cNvSpPr>
              <p:nvPr/>
            </p:nvSpPr>
            <p:spPr>
              <a:xfrm>
                <a:off x="6225235" y="4095301"/>
                <a:ext cx="399592" cy="341115"/>
              </a:xfrm>
              <a:prstGeom prst="rect">
                <a:avLst/>
              </a:prstGeom>
              <a:blipFill>
                <a:blip r:embed="rId17"/>
                <a:stretch>
                  <a:fillRect/>
                </a:stretch>
              </a:blipFill>
              <a:ln>
                <a:solidFill>
                  <a:schemeClr val="tx1"/>
                </a:solidFill>
              </a:ln>
            </p:spPr>
            <p:txBody>
              <a:bodyPr/>
              <a:lstStyle/>
              <a:p>
                <a:r>
                  <a:rPr lang="en-VN">
                    <a:noFill/>
                  </a:rPr>
                  <a:t> </a:t>
                </a:r>
              </a:p>
            </p:txBody>
          </p:sp>
        </mc:Fallback>
      </mc:AlternateContent>
      <p:cxnSp>
        <p:nvCxnSpPr>
          <p:cNvPr id="56" name="Đường nối Thẳng 143">
            <a:extLst>
              <a:ext uri="{FF2B5EF4-FFF2-40B4-BE49-F238E27FC236}">
                <a16:creationId xmlns:a16="http://schemas.microsoft.com/office/drawing/2014/main" id="{D8AD0C7C-8BC8-51F0-E655-FC845A9D23E2}"/>
              </a:ext>
            </a:extLst>
          </p:cNvPr>
          <p:cNvCxnSpPr>
            <a:cxnSpLocks/>
          </p:cNvCxnSpPr>
          <p:nvPr/>
        </p:nvCxnSpPr>
        <p:spPr>
          <a:xfrm flipV="1">
            <a:off x="6425029" y="3868058"/>
            <a:ext cx="0" cy="21949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7" name="Hình Bầu dục 144">
            <a:extLst>
              <a:ext uri="{FF2B5EF4-FFF2-40B4-BE49-F238E27FC236}">
                <a16:creationId xmlns:a16="http://schemas.microsoft.com/office/drawing/2014/main" id="{E3BC736C-56E9-3566-3F75-339C2335524E}"/>
              </a:ext>
            </a:extLst>
          </p:cNvPr>
          <p:cNvSpPr/>
          <p:nvPr/>
        </p:nvSpPr>
        <p:spPr>
          <a:xfrm>
            <a:off x="6362287" y="3811372"/>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p:cxnSp>
        <p:nvCxnSpPr>
          <p:cNvPr id="58" name="Đường nối Thẳng 149">
            <a:extLst>
              <a:ext uri="{FF2B5EF4-FFF2-40B4-BE49-F238E27FC236}">
                <a16:creationId xmlns:a16="http://schemas.microsoft.com/office/drawing/2014/main" id="{EB746FF1-B9A3-0E3E-5AF3-ACED93B6FEDB}"/>
              </a:ext>
            </a:extLst>
          </p:cNvPr>
          <p:cNvCxnSpPr>
            <a:cxnSpLocks/>
          </p:cNvCxnSpPr>
          <p:nvPr/>
        </p:nvCxnSpPr>
        <p:spPr>
          <a:xfrm flipV="1">
            <a:off x="7012372" y="3090580"/>
            <a:ext cx="1660376"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9" name="Đường nối Thẳng 150">
            <a:extLst>
              <a:ext uri="{FF2B5EF4-FFF2-40B4-BE49-F238E27FC236}">
                <a16:creationId xmlns:a16="http://schemas.microsoft.com/office/drawing/2014/main" id="{8D322907-D3E7-F837-4BF3-40EFBA5B21B0}"/>
              </a:ext>
            </a:extLst>
          </p:cNvPr>
          <p:cNvCxnSpPr>
            <a:cxnSpLocks/>
          </p:cNvCxnSpPr>
          <p:nvPr/>
        </p:nvCxnSpPr>
        <p:spPr>
          <a:xfrm flipV="1">
            <a:off x="7012372" y="3446681"/>
            <a:ext cx="1660376" cy="1219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0" name="Đường nối Thẳng 151">
            <a:extLst>
              <a:ext uri="{FF2B5EF4-FFF2-40B4-BE49-F238E27FC236}">
                <a16:creationId xmlns:a16="http://schemas.microsoft.com/office/drawing/2014/main" id="{BFB91332-2667-6DE3-ED7F-95D5967C0C38}"/>
              </a:ext>
            </a:extLst>
          </p:cNvPr>
          <p:cNvCxnSpPr>
            <a:cxnSpLocks/>
          </p:cNvCxnSpPr>
          <p:nvPr/>
        </p:nvCxnSpPr>
        <p:spPr>
          <a:xfrm>
            <a:off x="7012372" y="3856680"/>
            <a:ext cx="165017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1" name="Đường nối Thẳng 152">
            <a:extLst>
              <a:ext uri="{FF2B5EF4-FFF2-40B4-BE49-F238E27FC236}">
                <a16:creationId xmlns:a16="http://schemas.microsoft.com/office/drawing/2014/main" id="{DEB48C5E-F87C-084B-B2E2-152324457BFE}"/>
              </a:ext>
            </a:extLst>
          </p:cNvPr>
          <p:cNvCxnSpPr>
            <a:cxnSpLocks/>
          </p:cNvCxnSpPr>
          <p:nvPr/>
        </p:nvCxnSpPr>
        <p:spPr>
          <a:xfrm flipV="1">
            <a:off x="6994529" y="4254482"/>
            <a:ext cx="1668016" cy="1220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62" name="Hình chữ nhật 153">
                <a:extLst>
                  <a:ext uri="{FF2B5EF4-FFF2-40B4-BE49-F238E27FC236}">
                    <a16:creationId xmlns:a16="http://schemas.microsoft.com/office/drawing/2014/main" id="{CDAA7477-5867-ED22-48A5-080A00D87930}"/>
                  </a:ext>
                </a:extLst>
              </p:cNvPr>
              <p:cNvSpPr/>
              <p:nvPr/>
            </p:nvSpPr>
            <p:spPr>
              <a:xfrm>
                <a:off x="7853317" y="4105153"/>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62" name="Hình chữ nhật 153">
                <a:extLst>
                  <a:ext uri="{FF2B5EF4-FFF2-40B4-BE49-F238E27FC236}">
                    <a16:creationId xmlns:a16="http://schemas.microsoft.com/office/drawing/2014/main" id="{CDAA7477-5867-ED22-48A5-080A00D87930}"/>
                  </a:ext>
                </a:extLst>
              </p:cNvPr>
              <p:cNvSpPr>
                <a:spLocks noRot="1" noChangeAspect="1" noMove="1" noResize="1" noEditPoints="1" noAdjustHandles="1" noChangeArrowheads="1" noChangeShapeType="1" noTextEdit="1"/>
              </p:cNvSpPr>
              <p:nvPr/>
            </p:nvSpPr>
            <p:spPr>
              <a:xfrm>
                <a:off x="7853317" y="4105153"/>
                <a:ext cx="399592" cy="341115"/>
              </a:xfrm>
              <a:prstGeom prst="rect">
                <a:avLst/>
              </a:prstGeom>
              <a:blipFill>
                <a:blip r:embed="rId18"/>
                <a:stretch>
                  <a:fillRect/>
                </a:stretch>
              </a:blipFill>
              <a:ln>
                <a:solidFill>
                  <a:schemeClr val="tx1"/>
                </a:solidFill>
              </a:ln>
            </p:spPr>
            <p:txBody>
              <a:bodyPr/>
              <a:lstStyle/>
              <a:p>
                <a:r>
                  <a:rPr lang="en-VN">
                    <a:noFill/>
                  </a:rPr>
                  <a:t> </a:t>
                </a:r>
              </a:p>
            </p:txBody>
          </p:sp>
        </mc:Fallback>
      </mc:AlternateContent>
      <p:cxnSp>
        <p:nvCxnSpPr>
          <p:cNvPr id="63" name="Đường nối Thẳng 154">
            <a:extLst>
              <a:ext uri="{FF2B5EF4-FFF2-40B4-BE49-F238E27FC236}">
                <a16:creationId xmlns:a16="http://schemas.microsoft.com/office/drawing/2014/main" id="{FAA76890-C699-30F6-BC5D-7F074004E1AC}"/>
              </a:ext>
            </a:extLst>
          </p:cNvPr>
          <p:cNvCxnSpPr>
            <a:cxnSpLocks/>
            <a:stCxn id="62" idx="0"/>
            <a:endCxn id="64" idx="4"/>
          </p:cNvCxnSpPr>
          <p:nvPr/>
        </p:nvCxnSpPr>
        <p:spPr>
          <a:xfrm flipH="1" flipV="1">
            <a:off x="8045033" y="3144964"/>
            <a:ext cx="8080" cy="96018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4" name="Hình Bầu dục 155">
            <a:extLst>
              <a:ext uri="{FF2B5EF4-FFF2-40B4-BE49-F238E27FC236}">
                <a16:creationId xmlns:a16="http://schemas.microsoft.com/office/drawing/2014/main" id="{080A9C49-A79E-8E1E-A1C0-4D8AEC0F4AC0}"/>
              </a:ext>
            </a:extLst>
          </p:cNvPr>
          <p:cNvSpPr/>
          <p:nvPr/>
        </p:nvSpPr>
        <p:spPr>
          <a:xfrm>
            <a:off x="7982290" y="3034460"/>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mc:Choice xmlns:a14="http://schemas.microsoft.com/office/drawing/2010/main" Requires="a14">
          <p:sp>
            <p:nvSpPr>
              <p:cNvPr id="65" name="Hình chữ nhật 157">
                <a:extLst>
                  <a:ext uri="{FF2B5EF4-FFF2-40B4-BE49-F238E27FC236}">
                    <a16:creationId xmlns:a16="http://schemas.microsoft.com/office/drawing/2014/main" id="{850966B3-DD7F-9A60-305A-A20E2A0A4FE6}"/>
                  </a:ext>
                </a:extLst>
              </p:cNvPr>
              <p:cNvSpPr/>
              <p:nvPr/>
            </p:nvSpPr>
            <p:spPr>
              <a:xfrm>
                <a:off x="7162205" y="3763560"/>
                <a:ext cx="399592" cy="3411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600" i="1">
                              <a:solidFill>
                                <a:schemeClr val="tx1"/>
                              </a:solidFill>
                              <a:latin typeface="Cambria Math" panose="02040503050406030204" pitchFamily="18" charset="0"/>
                              <a:cs typeface="Times New Roman" panose="02020603050405020304" pitchFamily="18" charset="0"/>
                            </a:rPr>
                          </m:ctrlPr>
                        </m:sSubPr>
                        <m:e>
                          <m:r>
                            <a:rPr lang="en-US" sz="1600" i="1">
                              <a:solidFill>
                                <a:schemeClr val="tx1"/>
                              </a:solidFill>
                              <a:latin typeface="Cambria Math" panose="02040503050406030204" pitchFamily="18" charset="0"/>
                              <a:cs typeface="Times New Roman" panose="02020603050405020304" pitchFamily="18" charset="0"/>
                            </a:rPr>
                            <m:t>𝑅</m:t>
                          </m:r>
                        </m:e>
                        <m:sub>
                          <m:r>
                            <a:rPr lang="en-US" sz="1600" i="1">
                              <a:solidFill>
                                <a:schemeClr val="tx1"/>
                              </a:solidFill>
                              <a:latin typeface="Cambria Math" panose="02040503050406030204" pitchFamily="18" charset="0"/>
                              <a:cs typeface="Times New Roman" panose="02020603050405020304" pitchFamily="18" charset="0"/>
                            </a:rPr>
                            <m:t>𝑌</m:t>
                          </m:r>
                        </m:sub>
                      </m:sSub>
                    </m:oMath>
                  </m:oMathPara>
                </a14:m>
                <a:endParaRPr lang="vi-VN" sz="1600" i="1">
                  <a:solidFill>
                    <a:schemeClr val="tx1"/>
                  </a:solidFill>
                  <a:latin typeface="+mj-lt"/>
                  <a:cs typeface="Times New Roman" panose="02020603050405020304" pitchFamily="18" charset="0"/>
                </a:endParaRPr>
              </a:p>
            </p:txBody>
          </p:sp>
        </mc:Choice>
        <mc:Fallback>
          <p:sp>
            <p:nvSpPr>
              <p:cNvPr id="65" name="Hình chữ nhật 157">
                <a:extLst>
                  <a:ext uri="{FF2B5EF4-FFF2-40B4-BE49-F238E27FC236}">
                    <a16:creationId xmlns:a16="http://schemas.microsoft.com/office/drawing/2014/main" id="{850966B3-DD7F-9A60-305A-A20E2A0A4FE6}"/>
                  </a:ext>
                </a:extLst>
              </p:cNvPr>
              <p:cNvSpPr>
                <a:spLocks noRot="1" noChangeAspect="1" noMove="1" noResize="1" noEditPoints="1" noAdjustHandles="1" noChangeArrowheads="1" noChangeShapeType="1" noTextEdit="1"/>
              </p:cNvSpPr>
              <p:nvPr/>
            </p:nvSpPr>
            <p:spPr>
              <a:xfrm>
                <a:off x="7162205" y="3763560"/>
                <a:ext cx="399592" cy="341115"/>
              </a:xfrm>
              <a:prstGeom prst="rect">
                <a:avLst/>
              </a:prstGeom>
              <a:blipFill>
                <a:blip r:embed="rId19"/>
                <a:stretch>
                  <a:fillRect/>
                </a:stretch>
              </a:blipFill>
              <a:ln>
                <a:solidFill>
                  <a:schemeClr val="tx1"/>
                </a:solidFill>
              </a:ln>
            </p:spPr>
            <p:txBody>
              <a:bodyPr/>
              <a:lstStyle/>
              <a:p>
                <a:r>
                  <a:rPr lang="en-VN">
                    <a:noFill/>
                  </a:rPr>
                  <a:t> </a:t>
                </a:r>
              </a:p>
            </p:txBody>
          </p:sp>
        </mc:Fallback>
      </mc:AlternateContent>
      <p:cxnSp>
        <p:nvCxnSpPr>
          <p:cNvPr id="66" name="Đường nối Thẳng 158">
            <a:extLst>
              <a:ext uri="{FF2B5EF4-FFF2-40B4-BE49-F238E27FC236}">
                <a16:creationId xmlns:a16="http://schemas.microsoft.com/office/drawing/2014/main" id="{4ABE1CC5-16DF-9447-58B8-AA4601485767}"/>
              </a:ext>
            </a:extLst>
          </p:cNvPr>
          <p:cNvCxnSpPr>
            <a:cxnSpLocks/>
            <a:stCxn id="65" idx="0"/>
            <a:endCxn id="67" idx="4"/>
          </p:cNvCxnSpPr>
          <p:nvPr/>
        </p:nvCxnSpPr>
        <p:spPr>
          <a:xfrm flipH="1" flipV="1">
            <a:off x="7360156" y="3514131"/>
            <a:ext cx="1845" cy="24942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7" name="Hình Bầu dục 159">
            <a:extLst>
              <a:ext uri="{FF2B5EF4-FFF2-40B4-BE49-F238E27FC236}">
                <a16:creationId xmlns:a16="http://schemas.microsoft.com/office/drawing/2014/main" id="{31EB5A28-0B48-0A28-76CE-A4797AA00864}"/>
              </a:ext>
            </a:extLst>
          </p:cNvPr>
          <p:cNvSpPr/>
          <p:nvPr/>
        </p:nvSpPr>
        <p:spPr>
          <a:xfrm>
            <a:off x="7297414" y="3403626"/>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p:sp>
        <p:nvSpPr>
          <p:cNvPr id="68" name="Hộp Văn bản 191">
            <a:extLst>
              <a:ext uri="{FF2B5EF4-FFF2-40B4-BE49-F238E27FC236}">
                <a16:creationId xmlns:a16="http://schemas.microsoft.com/office/drawing/2014/main" id="{338DB47F-DD5F-8B0E-F0D8-856D849B4121}"/>
              </a:ext>
            </a:extLst>
          </p:cNvPr>
          <p:cNvSpPr txBox="1"/>
          <p:nvPr/>
        </p:nvSpPr>
        <p:spPr>
          <a:xfrm>
            <a:off x="6143875" y="2765603"/>
            <a:ext cx="756197" cy="246221"/>
          </a:xfrm>
          <a:prstGeom prst="rect">
            <a:avLst/>
          </a:prstGeom>
          <a:noFill/>
          <a:ln>
            <a:noFill/>
          </a:ln>
        </p:spPr>
        <p:txBody>
          <a:bodyPr wrap="square" rtlCol="0">
            <a:spAutoFit/>
          </a:bodyPr>
          <a:lstStyle/>
          <a:p>
            <a:pPr algn="ctr"/>
            <a:r>
              <a:rPr lang="en-US" sz="1000" i="1">
                <a:latin typeface="Times New Roman" panose="02020603050405020304" pitchFamily="18" charset="0"/>
                <a:cs typeface="Times New Roman" panose="02020603050405020304" pitchFamily="18" charset="0"/>
              </a:rPr>
              <a:t>Odd layer</a:t>
            </a:r>
            <a:endParaRPr lang="vi-VN" sz="1000" i="1">
              <a:latin typeface="Times New Roman" panose="02020603050405020304" pitchFamily="18" charset="0"/>
              <a:cs typeface="Times New Roman" panose="02020603050405020304" pitchFamily="18" charset="0"/>
            </a:endParaRPr>
          </a:p>
        </p:txBody>
      </p:sp>
      <p:sp>
        <p:nvSpPr>
          <p:cNvPr id="69" name="Hộp Văn bản 192">
            <a:extLst>
              <a:ext uri="{FF2B5EF4-FFF2-40B4-BE49-F238E27FC236}">
                <a16:creationId xmlns:a16="http://schemas.microsoft.com/office/drawing/2014/main" id="{37C1E9CE-76D7-53DA-DE60-E99314EBCFEF}"/>
              </a:ext>
            </a:extLst>
          </p:cNvPr>
          <p:cNvSpPr txBox="1"/>
          <p:nvPr/>
        </p:nvSpPr>
        <p:spPr>
          <a:xfrm>
            <a:off x="6994529" y="2760490"/>
            <a:ext cx="1500281" cy="246221"/>
          </a:xfrm>
          <a:prstGeom prst="rect">
            <a:avLst/>
          </a:prstGeom>
          <a:noFill/>
          <a:ln>
            <a:noFill/>
          </a:ln>
        </p:spPr>
        <p:txBody>
          <a:bodyPr wrap="square" rtlCol="0">
            <a:spAutoFit/>
          </a:bodyPr>
          <a:lstStyle/>
          <a:p>
            <a:pPr algn="ctr"/>
            <a:r>
              <a:rPr lang="en-US" sz="1000" i="1">
                <a:latin typeface="Times New Roman" panose="02020603050405020304" pitchFamily="18" charset="0"/>
                <a:cs typeface="Times New Roman" panose="02020603050405020304" pitchFamily="18" charset="0"/>
              </a:rPr>
              <a:t>Even layer</a:t>
            </a:r>
            <a:endParaRPr lang="vi-VN" sz="1000" i="1">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0" name="Hộp Văn bản 193">
                <a:extLst>
                  <a:ext uri="{FF2B5EF4-FFF2-40B4-BE49-F238E27FC236}">
                    <a16:creationId xmlns:a16="http://schemas.microsoft.com/office/drawing/2014/main" id="{4B8537D1-D050-E2AD-4687-04477553B3BC}"/>
                  </a:ext>
                </a:extLst>
              </p:cNvPr>
              <p:cNvSpPr txBox="1"/>
              <p:nvPr/>
            </p:nvSpPr>
            <p:spPr>
              <a:xfrm>
                <a:off x="7050530" y="4499389"/>
                <a:ext cx="1622217" cy="3919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f</m:t>
                          </m:r>
                          <m:r>
                            <a:rPr lang="vi-VN">
                              <a:latin typeface="Cambria Math" panose="02040503050406030204" pitchFamily="18" charset="0"/>
                            </a:rPr>
                            <m:t>)</m:t>
                          </m:r>
                          <m:r>
                            <a:rPr lang="vi-VN" i="1">
                              <a:latin typeface="Cambria Math" panose="02040503050406030204" pitchFamily="18" charset="0"/>
                            </a:rPr>
                            <m:t> </m:t>
                          </m:r>
                          <m:r>
                            <a:rPr lang="en-US" i="1">
                              <a:latin typeface="Cambria Math" panose="02040503050406030204" pitchFamily="18" charset="0"/>
                            </a:rPr>
                            <m:t>𝑊</m:t>
                          </m:r>
                        </m:e>
                        <m:sub>
                          <m:r>
                            <a:rPr lang="en-US" i="1">
                              <a:latin typeface="Cambria Math" panose="02040503050406030204" pitchFamily="18" charset="0"/>
                            </a:rPr>
                            <m:t>𝑎𝑙𝑡𝑒𝑟𝑛𝑎𝑡𝑖𝑛𝑔</m:t>
                          </m:r>
                        </m:sub>
                      </m:sSub>
                    </m:oMath>
                  </m:oMathPara>
                </a14:m>
                <a:endParaRPr lang="vi-VN" i="1">
                  <a:latin typeface="Calibri" panose="020F0502020204030204" pitchFamily="34" charset="0"/>
                  <a:cs typeface="Calibri" panose="020F0502020204030204" pitchFamily="34" charset="0"/>
                </a:endParaRPr>
              </a:p>
            </p:txBody>
          </p:sp>
        </mc:Choice>
        <mc:Fallback>
          <p:sp>
            <p:nvSpPr>
              <p:cNvPr id="70" name="Hộp Văn bản 193">
                <a:extLst>
                  <a:ext uri="{FF2B5EF4-FFF2-40B4-BE49-F238E27FC236}">
                    <a16:creationId xmlns:a16="http://schemas.microsoft.com/office/drawing/2014/main" id="{4B8537D1-D050-E2AD-4687-04477553B3BC}"/>
                  </a:ext>
                </a:extLst>
              </p:cNvPr>
              <p:cNvSpPr txBox="1">
                <a:spLocks noRot="1" noChangeAspect="1" noMove="1" noResize="1" noEditPoints="1" noAdjustHandles="1" noChangeArrowheads="1" noChangeShapeType="1" noTextEdit="1"/>
              </p:cNvSpPr>
              <p:nvPr/>
            </p:nvSpPr>
            <p:spPr>
              <a:xfrm>
                <a:off x="7050530" y="4499389"/>
                <a:ext cx="1622217" cy="391902"/>
              </a:xfrm>
              <a:prstGeom prst="rect">
                <a:avLst/>
              </a:prstGeom>
              <a:blipFill>
                <a:blip r:embed="rId20"/>
                <a:stretch>
                  <a:fillRect b="-1290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1" name="Hình chữ nhật 93">
                <a:extLst>
                  <a:ext uri="{FF2B5EF4-FFF2-40B4-BE49-F238E27FC236}">
                    <a16:creationId xmlns:a16="http://schemas.microsoft.com/office/drawing/2014/main" id="{62AEB7F0-17C2-E149-B764-B5B7B33437E5}"/>
                  </a:ext>
                </a:extLst>
              </p:cNvPr>
              <p:cNvSpPr/>
              <p:nvPr/>
            </p:nvSpPr>
            <p:spPr>
              <a:xfrm>
                <a:off x="9324278" y="3272261"/>
                <a:ext cx="1611087" cy="16143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𝑊</m:t>
                          </m:r>
                        </m:e>
                        <m:sub>
                          <m:r>
                            <m:rPr>
                              <m:sty m:val="p"/>
                            </m:rPr>
                            <a:rPr lang="vi-VN" sz="1600" i="1">
                              <a:solidFill>
                                <a:schemeClr val="tx1"/>
                              </a:solidFill>
                              <a:latin typeface="Cambria Math" panose="02040503050406030204" pitchFamily="18" charset="0"/>
                              <a:cs typeface="Times New Roman" panose="02020603050405020304" pitchFamily="18" charset="0"/>
                            </a:rPr>
                            <m:t>i</m:t>
                          </m:r>
                        </m:sub>
                      </m:sSub>
                    </m:oMath>
                  </m:oMathPara>
                </a14:m>
                <a:endParaRPr lang="vi-VN" sz="1600">
                  <a:solidFill>
                    <a:schemeClr val="tx1"/>
                  </a:solidFill>
                  <a:latin typeface="+mj-lt"/>
                  <a:cs typeface="Times New Roman" panose="02020603050405020304" pitchFamily="18" charset="0"/>
                </a:endParaRPr>
              </a:p>
            </p:txBody>
          </p:sp>
        </mc:Choice>
        <mc:Fallback>
          <p:sp>
            <p:nvSpPr>
              <p:cNvPr id="71" name="Hình chữ nhật 93">
                <a:extLst>
                  <a:ext uri="{FF2B5EF4-FFF2-40B4-BE49-F238E27FC236}">
                    <a16:creationId xmlns:a16="http://schemas.microsoft.com/office/drawing/2014/main" id="{62AEB7F0-17C2-E149-B764-B5B7B33437E5}"/>
                  </a:ext>
                </a:extLst>
              </p:cNvPr>
              <p:cNvSpPr>
                <a:spLocks noRot="1" noChangeAspect="1" noMove="1" noResize="1" noEditPoints="1" noAdjustHandles="1" noChangeArrowheads="1" noChangeShapeType="1" noTextEdit="1"/>
              </p:cNvSpPr>
              <p:nvPr/>
            </p:nvSpPr>
            <p:spPr>
              <a:xfrm>
                <a:off x="9324278" y="3272261"/>
                <a:ext cx="1611087" cy="1614315"/>
              </a:xfrm>
              <a:prstGeom prst="rect">
                <a:avLst/>
              </a:prstGeom>
              <a:blipFill>
                <a:blip r:embed="rId21"/>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2" name="Hình chữ nhật 93">
                <a:extLst>
                  <a:ext uri="{FF2B5EF4-FFF2-40B4-BE49-F238E27FC236}">
                    <a16:creationId xmlns:a16="http://schemas.microsoft.com/office/drawing/2014/main" id="{BF49AC47-B2AB-DDD6-674C-A69B59D1CF99}"/>
                  </a:ext>
                </a:extLst>
              </p:cNvPr>
              <p:cNvSpPr/>
              <p:nvPr/>
            </p:nvSpPr>
            <p:spPr>
              <a:xfrm>
                <a:off x="11066648" y="3323579"/>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X</m:t>
                          </m:r>
                        </m:sub>
                      </m:sSub>
                    </m:oMath>
                  </m:oMathPara>
                </a14:m>
                <a:endParaRPr lang="vi-VN" sz="1600">
                  <a:solidFill>
                    <a:schemeClr val="tx1"/>
                  </a:solidFill>
                  <a:latin typeface="+mj-lt"/>
                  <a:cs typeface="Times New Roman" panose="02020603050405020304" pitchFamily="18" charset="0"/>
                </a:endParaRPr>
              </a:p>
            </p:txBody>
          </p:sp>
        </mc:Choice>
        <mc:Fallback>
          <p:sp>
            <p:nvSpPr>
              <p:cNvPr id="72" name="Hình chữ nhật 93">
                <a:extLst>
                  <a:ext uri="{FF2B5EF4-FFF2-40B4-BE49-F238E27FC236}">
                    <a16:creationId xmlns:a16="http://schemas.microsoft.com/office/drawing/2014/main" id="{BF49AC47-B2AB-DDD6-674C-A69B59D1CF99}"/>
                  </a:ext>
                </a:extLst>
              </p:cNvPr>
              <p:cNvSpPr>
                <a:spLocks noRot="1" noChangeAspect="1" noMove="1" noResize="1" noEditPoints="1" noAdjustHandles="1" noChangeArrowheads="1" noChangeShapeType="1" noTextEdit="1"/>
              </p:cNvSpPr>
              <p:nvPr/>
            </p:nvSpPr>
            <p:spPr>
              <a:xfrm>
                <a:off x="11066648" y="3323579"/>
                <a:ext cx="321125" cy="321768"/>
              </a:xfrm>
              <a:prstGeom prst="rect">
                <a:avLst/>
              </a:prstGeom>
              <a:blipFill>
                <a:blip r:embed="rId22"/>
                <a:stretch>
                  <a:fillRect l="-10714"/>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3" name="Hình chữ nhật 93">
                <a:extLst>
                  <a:ext uri="{FF2B5EF4-FFF2-40B4-BE49-F238E27FC236}">
                    <a16:creationId xmlns:a16="http://schemas.microsoft.com/office/drawing/2014/main" id="{8D2645F8-C39D-CA73-E8AE-15B7231C2736}"/>
                  </a:ext>
                </a:extLst>
              </p:cNvPr>
              <p:cNvSpPr/>
              <p:nvPr/>
            </p:nvSpPr>
            <p:spPr>
              <a:xfrm>
                <a:off x="11066647" y="3707209"/>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X</m:t>
                          </m:r>
                        </m:sub>
                      </m:sSub>
                    </m:oMath>
                  </m:oMathPara>
                </a14:m>
                <a:endParaRPr lang="vi-VN" sz="1600">
                  <a:solidFill>
                    <a:schemeClr val="tx1"/>
                  </a:solidFill>
                  <a:latin typeface="+mj-lt"/>
                  <a:cs typeface="Times New Roman" panose="02020603050405020304" pitchFamily="18" charset="0"/>
                </a:endParaRPr>
              </a:p>
            </p:txBody>
          </p:sp>
        </mc:Choice>
        <mc:Fallback>
          <p:sp>
            <p:nvSpPr>
              <p:cNvPr id="73" name="Hình chữ nhật 93">
                <a:extLst>
                  <a:ext uri="{FF2B5EF4-FFF2-40B4-BE49-F238E27FC236}">
                    <a16:creationId xmlns:a16="http://schemas.microsoft.com/office/drawing/2014/main" id="{8D2645F8-C39D-CA73-E8AE-15B7231C2736}"/>
                  </a:ext>
                </a:extLst>
              </p:cNvPr>
              <p:cNvSpPr>
                <a:spLocks noRot="1" noChangeAspect="1" noMove="1" noResize="1" noEditPoints="1" noAdjustHandles="1" noChangeArrowheads="1" noChangeShapeType="1" noTextEdit="1"/>
              </p:cNvSpPr>
              <p:nvPr/>
            </p:nvSpPr>
            <p:spPr>
              <a:xfrm>
                <a:off x="11066647" y="3707209"/>
                <a:ext cx="321125" cy="321768"/>
              </a:xfrm>
              <a:prstGeom prst="rect">
                <a:avLst/>
              </a:prstGeom>
              <a:blipFill>
                <a:blip r:embed="rId23"/>
                <a:stretch>
                  <a:fillRect l="-10714"/>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4" name="Hình chữ nhật 93">
                <a:extLst>
                  <a:ext uri="{FF2B5EF4-FFF2-40B4-BE49-F238E27FC236}">
                    <a16:creationId xmlns:a16="http://schemas.microsoft.com/office/drawing/2014/main" id="{3407471F-BC8F-0B65-E48D-CD9B390EABBE}"/>
                  </a:ext>
                </a:extLst>
              </p:cNvPr>
              <p:cNvSpPr/>
              <p:nvPr/>
            </p:nvSpPr>
            <p:spPr>
              <a:xfrm>
                <a:off x="11066648" y="4090947"/>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X</m:t>
                          </m:r>
                        </m:sub>
                      </m:sSub>
                    </m:oMath>
                  </m:oMathPara>
                </a14:m>
                <a:endParaRPr lang="vi-VN" sz="1600">
                  <a:solidFill>
                    <a:schemeClr val="tx1"/>
                  </a:solidFill>
                  <a:latin typeface="+mj-lt"/>
                  <a:cs typeface="Times New Roman" panose="02020603050405020304" pitchFamily="18" charset="0"/>
                </a:endParaRPr>
              </a:p>
            </p:txBody>
          </p:sp>
        </mc:Choice>
        <mc:Fallback>
          <p:sp>
            <p:nvSpPr>
              <p:cNvPr id="74" name="Hình chữ nhật 93">
                <a:extLst>
                  <a:ext uri="{FF2B5EF4-FFF2-40B4-BE49-F238E27FC236}">
                    <a16:creationId xmlns:a16="http://schemas.microsoft.com/office/drawing/2014/main" id="{3407471F-BC8F-0B65-E48D-CD9B390EABBE}"/>
                  </a:ext>
                </a:extLst>
              </p:cNvPr>
              <p:cNvSpPr>
                <a:spLocks noRot="1" noChangeAspect="1" noMove="1" noResize="1" noEditPoints="1" noAdjustHandles="1" noChangeArrowheads="1" noChangeShapeType="1" noTextEdit="1"/>
              </p:cNvSpPr>
              <p:nvPr/>
            </p:nvSpPr>
            <p:spPr>
              <a:xfrm>
                <a:off x="11066648" y="4090947"/>
                <a:ext cx="321125" cy="321768"/>
              </a:xfrm>
              <a:prstGeom prst="rect">
                <a:avLst/>
              </a:prstGeom>
              <a:blipFill>
                <a:blip r:embed="rId24"/>
                <a:stretch>
                  <a:fillRect l="-10714"/>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5" name="Hình chữ nhật 93">
                <a:extLst>
                  <a:ext uri="{FF2B5EF4-FFF2-40B4-BE49-F238E27FC236}">
                    <a16:creationId xmlns:a16="http://schemas.microsoft.com/office/drawing/2014/main" id="{159694A1-B645-97FE-00C5-4ED1B188568E}"/>
                  </a:ext>
                </a:extLst>
              </p:cNvPr>
              <p:cNvSpPr/>
              <p:nvPr/>
            </p:nvSpPr>
            <p:spPr>
              <a:xfrm>
                <a:off x="11066647" y="4474577"/>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X</m:t>
                          </m:r>
                        </m:sub>
                      </m:sSub>
                    </m:oMath>
                  </m:oMathPara>
                </a14:m>
                <a:endParaRPr lang="vi-VN" sz="1600">
                  <a:solidFill>
                    <a:schemeClr val="tx1"/>
                  </a:solidFill>
                  <a:latin typeface="+mj-lt"/>
                  <a:cs typeface="Times New Roman" panose="02020603050405020304" pitchFamily="18" charset="0"/>
                </a:endParaRPr>
              </a:p>
            </p:txBody>
          </p:sp>
        </mc:Choice>
        <mc:Fallback>
          <p:sp>
            <p:nvSpPr>
              <p:cNvPr id="75" name="Hình chữ nhật 93">
                <a:extLst>
                  <a:ext uri="{FF2B5EF4-FFF2-40B4-BE49-F238E27FC236}">
                    <a16:creationId xmlns:a16="http://schemas.microsoft.com/office/drawing/2014/main" id="{159694A1-B645-97FE-00C5-4ED1B188568E}"/>
                  </a:ext>
                </a:extLst>
              </p:cNvPr>
              <p:cNvSpPr>
                <a:spLocks noRot="1" noChangeAspect="1" noMove="1" noResize="1" noEditPoints="1" noAdjustHandles="1" noChangeArrowheads="1" noChangeShapeType="1" noTextEdit="1"/>
              </p:cNvSpPr>
              <p:nvPr/>
            </p:nvSpPr>
            <p:spPr>
              <a:xfrm>
                <a:off x="11066647" y="4474577"/>
                <a:ext cx="321125" cy="321768"/>
              </a:xfrm>
              <a:prstGeom prst="rect">
                <a:avLst/>
              </a:prstGeom>
              <a:blipFill>
                <a:blip r:embed="rId25"/>
                <a:stretch>
                  <a:fillRect l="-10714"/>
                </a:stretch>
              </a:blipFill>
              <a:ln>
                <a:solidFill>
                  <a:schemeClr val="tx1"/>
                </a:solidFill>
              </a:ln>
            </p:spPr>
            <p:txBody>
              <a:bodyPr/>
              <a:lstStyle/>
              <a:p>
                <a:r>
                  <a:rPr lang="en-VN">
                    <a:noFill/>
                  </a:rPr>
                  <a:t> </a:t>
                </a:r>
              </a:p>
            </p:txBody>
          </p:sp>
        </mc:Fallback>
      </mc:AlternateContent>
      <p:sp>
        <p:nvSpPr>
          <p:cNvPr id="76" name="Rectangle 75">
            <a:extLst>
              <a:ext uri="{FF2B5EF4-FFF2-40B4-BE49-F238E27FC236}">
                <a16:creationId xmlns:a16="http://schemas.microsoft.com/office/drawing/2014/main" id="{16618904-1D18-3B5A-DB35-4228881AB941}"/>
              </a:ext>
            </a:extLst>
          </p:cNvPr>
          <p:cNvSpPr/>
          <p:nvPr/>
        </p:nvSpPr>
        <p:spPr>
          <a:xfrm>
            <a:off x="9243979" y="3158584"/>
            <a:ext cx="2651076" cy="18288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77" name="Hình chữ nhật 93">
                <a:extLst>
                  <a:ext uri="{FF2B5EF4-FFF2-40B4-BE49-F238E27FC236}">
                    <a16:creationId xmlns:a16="http://schemas.microsoft.com/office/drawing/2014/main" id="{4BF6ABAF-1D83-D278-B66A-2EA81B71C56A}"/>
                  </a:ext>
                </a:extLst>
              </p:cNvPr>
              <p:cNvSpPr/>
              <p:nvPr/>
            </p:nvSpPr>
            <p:spPr>
              <a:xfrm>
                <a:off x="11487284" y="3332779"/>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Z</m:t>
                          </m:r>
                        </m:sub>
                      </m:sSub>
                    </m:oMath>
                  </m:oMathPara>
                </a14:m>
                <a:endParaRPr lang="vi-VN" sz="1600">
                  <a:solidFill>
                    <a:schemeClr val="tx1"/>
                  </a:solidFill>
                  <a:latin typeface="+mj-lt"/>
                  <a:cs typeface="Times New Roman" panose="02020603050405020304" pitchFamily="18" charset="0"/>
                </a:endParaRPr>
              </a:p>
            </p:txBody>
          </p:sp>
        </mc:Choice>
        <mc:Fallback>
          <p:sp>
            <p:nvSpPr>
              <p:cNvPr id="77" name="Hình chữ nhật 93">
                <a:extLst>
                  <a:ext uri="{FF2B5EF4-FFF2-40B4-BE49-F238E27FC236}">
                    <a16:creationId xmlns:a16="http://schemas.microsoft.com/office/drawing/2014/main" id="{4BF6ABAF-1D83-D278-B66A-2EA81B71C56A}"/>
                  </a:ext>
                </a:extLst>
              </p:cNvPr>
              <p:cNvSpPr>
                <a:spLocks noRot="1" noChangeAspect="1" noMove="1" noResize="1" noEditPoints="1" noAdjustHandles="1" noChangeArrowheads="1" noChangeShapeType="1" noTextEdit="1"/>
              </p:cNvSpPr>
              <p:nvPr/>
            </p:nvSpPr>
            <p:spPr>
              <a:xfrm>
                <a:off x="11487284" y="3332779"/>
                <a:ext cx="321125" cy="321768"/>
              </a:xfrm>
              <a:prstGeom prst="rect">
                <a:avLst/>
              </a:prstGeom>
              <a:blipFill>
                <a:blip r:embed="rId26"/>
                <a:stretch>
                  <a:fillRect l="-10714"/>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8" name="Hình chữ nhật 93">
                <a:extLst>
                  <a:ext uri="{FF2B5EF4-FFF2-40B4-BE49-F238E27FC236}">
                    <a16:creationId xmlns:a16="http://schemas.microsoft.com/office/drawing/2014/main" id="{D5389256-F1F7-656E-0DD9-5D769F25D304}"/>
                  </a:ext>
                </a:extLst>
              </p:cNvPr>
              <p:cNvSpPr/>
              <p:nvPr/>
            </p:nvSpPr>
            <p:spPr>
              <a:xfrm>
                <a:off x="11487283" y="3716409"/>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Z</m:t>
                          </m:r>
                        </m:sub>
                      </m:sSub>
                    </m:oMath>
                  </m:oMathPara>
                </a14:m>
                <a:endParaRPr lang="vi-VN" sz="1600">
                  <a:solidFill>
                    <a:schemeClr val="tx1"/>
                  </a:solidFill>
                  <a:latin typeface="+mj-lt"/>
                  <a:cs typeface="Times New Roman" panose="02020603050405020304" pitchFamily="18" charset="0"/>
                </a:endParaRPr>
              </a:p>
            </p:txBody>
          </p:sp>
        </mc:Choice>
        <mc:Fallback>
          <p:sp>
            <p:nvSpPr>
              <p:cNvPr id="78" name="Hình chữ nhật 93">
                <a:extLst>
                  <a:ext uri="{FF2B5EF4-FFF2-40B4-BE49-F238E27FC236}">
                    <a16:creationId xmlns:a16="http://schemas.microsoft.com/office/drawing/2014/main" id="{D5389256-F1F7-656E-0DD9-5D769F25D304}"/>
                  </a:ext>
                </a:extLst>
              </p:cNvPr>
              <p:cNvSpPr>
                <a:spLocks noRot="1" noChangeAspect="1" noMove="1" noResize="1" noEditPoints="1" noAdjustHandles="1" noChangeArrowheads="1" noChangeShapeType="1" noTextEdit="1"/>
              </p:cNvSpPr>
              <p:nvPr/>
            </p:nvSpPr>
            <p:spPr>
              <a:xfrm>
                <a:off x="11487283" y="3716409"/>
                <a:ext cx="321125" cy="321768"/>
              </a:xfrm>
              <a:prstGeom prst="rect">
                <a:avLst/>
              </a:prstGeom>
              <a:blipFill>
                <a:blip r:embed="rId27"/>
                <a:stretch>
                  <a:fillRect l="-10714"/>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9" name="Hình chữ nhật 93">
                <a:extLst>
                  <a:ext uri="{FF2B5EF4-FFF2-40B4-BE49-F238E27FC236}">
                    <a16:creationId xmlns:a16="http://schemas.microsoft.com/office/drawing/2014/main" id="{61522224-F96F-3DA0-997E-E21CC997C4FC}"/>
                  </a:ext>
                </a:extLst>
              </p:cNvPr>
              <p:cNvSpPr/>
              <p:nvPr/>
            </p:nvSpPr>
            <p:spPr>
              <a:xfrm>
                <a:off x="11487284" y="4100147"/>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Z</m:t>
                          </m:r>
                        </m:sub>
                      </m:sSub>
                    </m:oMath>
                  </m:oMathPara>
                </a14:m>
                <a:endParaRPr lang="vi-VN" sz="1600">
                  <a:solidFill>
                    <a:schemeClr val="tx1"/>
                  </a:solidFill>
                  <a:latin typeface="+mj-lt"/>
                  <a:cs typeface="Times New Roman" panose="02020603050405020304" pitchFamily="18" charset="0"/>
                </a:endParaRPr>
              </a:p>
            </p:txBody>
          </p:sp>
        </mc:Choice>
        <mc:Fallback>
          <p:sp>
            <p:nvSpPr>
              <p:cNvPr id="79" name="Hình chữ nhật 93">
                <a:extLst>
                  <a:ext uri="{FF2B5EF4-FFF2-40B4-BE49-F238E27FC236}">
                    <a16:creationId xmlns:a16="http://schemas.microsoft.com/office/drawing/2014/main" id="{61522224-F96F-3DA0-997E-E21CC997C4FC}"/>
                  </a:ext>
                </a:extLst>
              </p:cNvPr>
              <p:cNvSpPr>
                <a:spLocks noRot="1" noChangeAspect="1" noMove="1" noResize="1" noEditPoints="1" noAdjustHandles="1" noChangeArrowheads="1" noChangeShapeType="1" noTextEdit="1"/>
              </p:cNvSpPr>
              <p:nvPr/>
            </p:nvSpPr>
            <p:spPr>
              <a:xfrm>
                <a:off x="11487284" y="4100147"/>
                <a:ext cx="321125" cy="321768"/>
              </a:xfrm>
              <a:prstGeom prst="rect">
                <a:avLst/>
              </a:prstGeom>
              <a:blipFill>
                <a:blip r:embed="rId28"/>
                <a:stretch>
                  <a:fillRect l="-10714"/>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0" name="Hình chữ nhật 93">
                <a:extLst>
                  <a:ext uri="{FF2B5EF4-FFF2-40B4-BE49-F238E27FC236}">
                    <a16:creationId xmlns:a16="http://schemas.microsoft.com/office/drawing/2014/main" id="{FDE8448F-0BAA-0A8F-E893-E127D8E29108}"/>
                  </a:ext>
                </a:extLst>
              </p:cNvPr>
              <p:cNvSpPr/>
              <p:nvPr/>
            </p:nvSpPr>
            <p:spPr>
              <a:xfrm>
                <a:off x="11487283" y="4483777"/>
                <a:ext cx="321125" cy="321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600" i="1">
                              <a:solidFill>
                                <a:schemeClr val="tx1"/>
                              </a:solidFill>
                              <a:latin typeface="Cambria Math" panose="02040503050406030204" pitchFamily="18" charset="0"/>
                              <a:cs typeface="Times New Roman" panose="02020603050405020304" pitchFamily="18" charset="0"/>
                            </a:rPr>
                          </m:ctrlPr>
                        </m:sSubPr>
                        <m:e>
                          <m:r>
                            <a:rPr lang="vi-VN" sz="1600" i="1">
                              <a:solidFill>
                                <a:schemeClr val="tx1"/>
                              </a:solidFill>
                              <a:latin typeface="Cambria Math" panose="02040503050406030204" pitchFamily="18" charset="0"/>
                              <a:cs typeface="Times New Roman" panose="02020603050405020304" pitchFamily="18" charset="0"/>
                            </a:rPr>
                            <m:t>𝑅</m:t>
                          </m:r>
                        </m:e>
                        <m:sub>
                          <m:r>
                            <m:rPr>
                              <m:sty m:val="p"/>
                            </m:rPr>
                            <a:rPr lang="vi-VN" sz="1600" i="1">
                              <a:solidFill>
                                <a:schemeClr val="tx1"/>
                              </a:solidFill>
                              <a:latin typeface="Cambria Math" panose="02040503050406030204" pitchFamily="18" charset="0"/>
                              <a:cs typeface="Times New Roman" panose="02020603050405020304" pitchFamily="18" charset="0"/>
                            </a:rPr>
                            <m:t>Z</m:t>
                          </m:r>
                        </m:sub>
                      </m:sSub>
                    </m:oMath>
                  </m:oMathPara>
                </a14:m>
                <a:endParaRPr lang="vi-VN" sz="1600">
                  <a:solidFill>
                    <a:schemeClr val="tx1"/>
                  </a:solidFill>
                  <a:latin typeface="+mj-lt"/>
                  <a:cs typeface="Times New Roman" panose="02020603050405020304" pitchFamily="18" charset="0"/>
                </a:endParaRPr>
              </a:p>
            </p:txBody>
          </p:sp>
        </mc:Choice>
        <mc:Fallback>
          <p:sp>
            <p:nvSpPr>
              <p:cNvPr id="80" name="Hình chữ nhật 93">
                <a:extLst>
                  <a:ext uri="{FF2B5EF4-FFF2-40B4-BE49-F238E27FC236}">
                    <a16:creationId xmlns:a16="http://schemas.microsoft.com/office/drawing/2014/main" id="{FDE8448F-0BAA-0A8F-E893-E127D8E29108}"/>
                  </a:ext>
                </a:extLst>
              </p:cNvPr>
              <p:cNvSpPr>
                <a:spLocks noRot="1" noChangeAspect="1" noMove="1" noResize="1" noEditPoints="1" noAdjustHandles="1" noChangeArrowheads="1" noChangeShapeType="1" noTextEdit="1"/>
              </p:cNvSpPr>
              <p:nvPr/>
            </p:nvSpPr>
            <p:spPr>
              <a:xfrm>
                <a:off x="11487283" y="4483777"/>
                <a:ext cx="321125" cy="321768"/>
              </a:xfrm>
              <a:prstGeom prst="rect">
                <a:avLst/>
              </a:prstGeom>
              <a:blipFill>
                <a:blip r:embed="rId29"/>
                <a:stretch>
                  <a:fillRect l="-10714"/>
                </a:stretch>
              </a:blipFill>
              <a:ln>
                <a:solidFill>
                  <a:schemeClr val="tx1"/>
                </a:solidFill>
              </a:ln>
            </p:spPr>
            <p:txBody>
              <a:bodyPr/>
              <a:lstStyle/>
              <a:p>
                <a:r>
                  <a:rPr lang="en-VN">
                    <a:noFill/>
                  </a:rPr>
                  <a:t> </a:t>
                </a:r>
              </a:p>
            </p:txBody>
          </p:sp>
        </mc:Fallback>
      </mc:AlternateContent>
      <p:cxnSp>
        <p:nvCxnSpPr>
          <p:cNvPr id="82" name="Curved Connector 81">
            <a:extLst>
              <a:ext uri="{FF2B5EF4-FFF2-40B4-BE49-F238E27FC236}">
                <a16:creationId xmlns:a16="http://schemas.microsoft.com/office/drawing/2014/main" id="{F1D271D1-C019-A0BF-C0B3-40E1BE19A3B4}"/>
              </a:ext>
            </a:extLst>
          </p:cNvPr>
          <p:cNvCxnSpPr>
            <a:cxnSpLocks/>
            <a:stCxn id="76" idx="1"/>
            <a:endCxn id="90" idx="2"/>
          </p:cNvCxnSpPr>
          <p:nvPr/>
        </p:nvCxnSpPr>
        <p:spPr>
          <a:xfrm rot="10800000" flipH="1">
            <a:off x="9243978" y="2626457"/>
            <a:ext cx="828997" cy="1446529"/>
          </a:xfrm>
          <a:prstGeom prst="curvedConnector4">
            <a:avLst>
              <a:gd name="adj1" fmla="val -41363"/>
              <a:gd name="adj2" fmla="val 816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Left Brace 83">
            <a:extLst>
              <a:ext uri="{FF2B5EF4-FFF2-40B4-BE49-F238E27FC236}">
                <a16:creationId xmlns:a16="http://schemas.microsoft.com/office/drawing/2014/main" id="{6BB7DEF0-0B8C-C696-FD06-7701488A2906}"/>
              </a:ext>
            </a:extLst>
          </p:cNvPr>
          <p:cNvSpPr/>
          <p:nvPr/>
        </p:nvSpPr>
        <p:spPr>
          <a:xfrm rot="16200000">
            <a:off x="10457108" y="3810076"/>
            <a:ext cx="224819" cy="2651077"/>
          </a:xfrm>
          <a:prstGeom prst="leftBrace">
            <a:avLst>
              <a:gd name="adj1" fmla="val 140307"/>
              <a:gd name="adj2" fmla="val 5069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85" name="Hộp Văn bản 193">
                <a:extLst>
                  <a:ext uri="{FF2B5EF4-FFF2-40B4-BE49-F238E27FC236}">
                    <a16:creationId xmlns:a16="http://schemas.microsoft.com/office/drawing/2014/main" id="{B03BB27D-087C-928B-648B-A94345A6E002}"/>
                  </a:ext>
                </a:extLst>
              </p:cNvPr>
              <p:cNvSpPr txBox="1"/>
              <p:nvPr/>
            </p:nvSpPr>
            <p:spPr>
              <a:xfrm>
                <a:off x="9291361" y="5194777"/>
                <a:ext cx="2623387" cy="369332"/>
              </a:xfrm>
              <a:prstGeom prst="rect">
                <a:avLst/>
              </a:prstGeom>
              <a:noFill/>
            </p:spPr>
            <p:txBody>
              <a:bodyPr wrap="square" rtlCol="0">
                <a:spAutoFit/>
              </a:bodyPr>
              <a:lstStyle/>
              <a:p>
                <a:pPr algn="ctr"/>
                <a14:m>
                  <m:oMath xmlns:m="http://schemas.openxmlformats.org/officeDocument/2006/math">
                    <m:r>
                      <a:rPr lang="en-US" i="1">
                        <a:latin typeface="Cambria Math" panose="02040503050406030204" pitchFamily="18" charset="0"/>
                      </a:rPr>
                      <m:t>𝐿</m:t>
                    </m:r>
                  </m:oMath>
                </a14:m>
                <a:r>
                  <a:rPr lang="vi-VN">
                    <a:latin typeface="+mj-lt"/>
                  </a:rPr>
                  <a:t> layer</a:t>
                </a:r>
              </a:p>
            </p:txBody>
          </p:sp>
        </mc:Choice>
        <mc:Fallback>
          <p:sp>
            <p:nvSpPr>
              <p:cNvPr id="85" name="Hộp Văn bản 193">
                <a:extLst>
                  <a:ext uri="{FF2B5EF4-FFF2-40B4-BE49-F238E27FC236}">
                    <a16:creationId xmlns:a16="http://schemas.microsoft.com/office/drawing/2014/main" id="{B03BB27D-087C-928B-648B-A94345A6E002}"/>
                  </a:ext>
                </a:extLst>
              </p:cNvPr>
              <p:cNvSpPr txBox="1">
                <a:spLocks noRot="1" noChangeAspect="1" noMove="1" noResize="1" noEditPoints="1" noAdjustHandles="1" noChangeArrowheads="1" noChangeShapeType="1" noTextEdit="1"/>
              </p:cNvSpPr>
              <p:nvPr/>
            </p:nvSpPr>
            <p:spPr>
              <a:xfrm>
                <a:off x="9291361" y="5194777"/>
                <a:ext cx="2623387" cy="369332"/>
              </a:xfrm>
              <a:prstGeom prst="rect">
                <a:avLst/>
              </a:prstGeom>
              <a:blipFill>
                <a:blip r:embed="rId30"/>
                <a:stretch>
                  <a:fillRect t="-3226" b="-19355"/>
                </a:stretch>
              </a:blipFill>
            </p:spPr>
            <p:txBody>
              <a:bodyPr/>
              <a:lstStyle/>
              <a:p>
                <a:r>
                  <a:rPr lang="en-VN">
                    <a:noFill/>
                  </a:rPr>
                  <a:t> </a:t>
                </a:r>
              </a:p>
            </p:txBody>
          </p:sp>
        </mc:Fallback>
      </mc:AlternateContent>
      <p:sp>
        <p:nvSpPr>
          <p:cNvPr id="88" name="Rectangle 87">
            <a:extLst>
              <a:ext uri="{FF2B5EF4-FFF2-40B4-BE49-F238E27FC236}">
                <a16:creationId xmlns:a16="http://schemas.microsoft.com/office/drawing/2014/main" id="{931785A2-95BE-AF5A-16CB-FF2BCEB1D1ED}"/>
              </a:ext>
            </a:extLst>
          </p:cNvPr>
          <p:cNvSpPr/>
          <p:nvPr/>
        </p:nvSpPr>
        <p:spPr>
          <a:xfrm>
            <a:off x="5039329" y="4645093"/>
            <a:ext cx="1857891" cy="1586587"/>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9" name="Rectangle 88">
            <a:extLst>
              <a:ext uri="{FF2B5EF4-FFF2-40B4-BE49-F238E27FC236}">
                <a16:creationId xmlns:a16="http://schemas.microsoft.com/office/drawing/2014/main" id="{E94D960B-3870-9D8B-F668-0EC0A3691080}"/>
              </a:ext>
            </a:extLst>
          </p:cNvPr>
          <p:cNvSpPr/>
          <p:nvPr/>
        </p:nvSpPr>
        <p:spPr>
          <a:xfrm>
            <a:off x="6149316" y="2765151"/>
            <a:ext cx="2345493" cy="1740032"/>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0" name="Rectangle 89">
            <a:extLst>
              <a:ext uri="{FF2B5EF4-FFF2-40B4-BE49-F238E27FC236}">
                <a16:creationId xmlns:a16="http://schemas.microsoft.com/office/drawing/2014/main" id="{5EEE9D81-0E58-4F5A-C6AA-B936B63F26F5}"/>
              </a:ext>
            </a:extLst>
          </p:cNvPr>
          <p:cNvSpPr/>
          <p:nvPr/>
        </p:nvSpPr>
        <p:spPr>
          <a:xfrm>
            <a:off x="8321299" y="1070426"/>
            <a:ext cx="3503352" cy="1556031"/>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12" name="Content Placeholder 6">
            <a:extLst>
              <a:ext uri="{FF2B5EF4-FFF2-40B4-BE49-F238E27FC236}">
                <a16:creationId xmlns:a16="http://schemas.microsoft.com/office/drawing/2014/main" id="{6D9CC289-FEEA-5CE3-B656-F0AE773DF0C2}"/>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7415" r="40572" b="59780"/>
          <a:stretch/>
        </p:blipFill>
        <p:spPr>
          <a:xfrm>
            <a:off x="3783902" y="2706910"/>
            <a:ext cx="1885964" cy="1868591"/>
          </a:xfrm>
          <a:prstGeom prst="rect">
            <a:avLst/>
          </a:prstGeom>
        </p:spPr>
      </p:pic>
      <p:pic>
        <p:nvPicPr>
          <p:cNvPr id="113" name="Content Placeholder 6">
            <a:extLst>
              <a:ext uri="{FF2B5EF4-FFF2-40B4-BE49-F238E27FC236}">
                <a16:creationId xmlns:a16="http://schemas.microsoft.com/office/drawing/2014/main" id="{9E428215-0215-39D2-B6A0-4A787D9EF7C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63288" b="59780"/>
          <a:stretch/>
        </p:blipFill>
        <p:spPr>
          <a:xfrm>
            <a:off x="1056300" y="4513290"/>
            <a:ext cx="3121853" cy="1854719"/>
          </a:xfrm>
          <a:prstGeom prst="rect">
            <a:avLst/>
          </a:prstGeom>
        </p:spPr>
      </p:pic>
      <p:pic>
        <p:nvPicPr>
          <p:cNvPr id="114" name="Content Placeholder 6">
            <a:extLst>
              <a:ext uri="{FF2B5EF4-FFF2-40B4-BE49-F238E27FC236}">
                <a16:creationId xmlns:a16="http://schemas.microsoft.com/office/drawing/2014/main" id="{133C1AC7-FF67-366F-44BC-7CCBA13C47EE}"/>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8573" b="9945"/>
          <a:stretch/>
        </p:blipFill>
        <p:spPr>
          <a:xfrm>
            <a:off x="1043478" y="1082565"/>
            <a:ext cx="6825708" cy="1535457"/>
          </a:xfrm>
          <a:prstGeom prst="rect">
            <a:avLst/>
          </a:prstGeom>
        </p:spPr>
      </p:pic>
      <p:cxnSp>
        <p:nvCxnSpPr>
          <p:cNvPr id="142" name="Straight Arrow Connector 141">
            <a:extLst>
              <a:ext uri="{FF2B5EF4-FFF2-40B4-BE49-F238E27FC236}">
                <a16:creationId xmlns:a16="http://schemas.microsoft.com/office/drawing/2014/main" id="{044AA402-9B09-B8D2-2B77-4653C8638E04}"/>
              </a:ext>
            </a:extLst>
          </p:cNvPr>
          <p:cNvCxnSpPr>
            <a:cxnSpLocks/>
            <a:stCxn id="114" idx="3"/>
            <a:endCxn id="90" idx="1"/>
          </p:cNvCxnSpPr>
          <p:nvPr/>
        </p:nvCxnSpPr>
        <p:spPr>
          <a:xfrm flipV="1">
            <a:off x="7869185" y="1848440"/>
            <a:ext cx="452115" cy="1853"/>
          </a:xfrm>
          <a:prstGeom prst="straightConnector1">
            <a:avLst/>
          </a:prstGeom>
          <a:ln w="381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DB4C398B-433D-468C-9EC5-286EC2CE4E89}"/>
              </a:ext>
            </a:extLst>
          </p:cNvPr>
          <p:cNvCxnSpPr>
            <a:cxnSpLocks/>
            <a:stCxn id="113" idx="3"/>
            <a:endCxn id="88" idx="1"/>
          </p:cNvCxnSpPr>
          <p:nvPr/>
        </p:nvCxnSpPr>
        <p:spPr>
          <a:xfrm flipV="1">
            <a:off x="4178152" y="5438388"/>
            <a:ext cx="861176" cy="2261"/>
          </a:xfrm>
          <a:prstGeom prst="straightConnector1">
            <a:avLst/>
          </a:prstGeom>
          <a:ln w="381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7F01C8B3-E58C-83EA-BFD1-2035EEB4487D}"/>
              </a:ext>
            </a:extLst>
          </p:cNvPr>
          <p:cNvCxnSpPr>
            <a:cxnSpLocks/>
            <a:stCxn id="112" idx="3"/>
            <a:endCxn id="89" idx="1"/>
          </p:cNvCxnSpPr>
          <p:nvPr/>
        </p:nvCxnSpPr>
        <p:spPr>
          <a:xfrm flipV="1">
            <a:off x="5669865" y="3635168"/>
            <a:ext cx="479451" cy="6037"/>
          </a:xfrm>
          <a:prstGeom prst="straightConnector1">
            <a:avLst/>
          </a:prstGeom>
          <a:ln w="381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0" name="Curved Connector 149">
            <a:extLst>
              <a:ext uri="{FF2B5EF4-FFF2-40B4-BE49-F238E27FC236}">
                <a16:creationId xmlns:a16="http://schemas.microsoft.com/office/drawing/2014/main" id="{575FC8FC-6871-71E9-3243-6E4B95A1B93B}"/>
              </a:ext>
            </a:extLst>
          </p:cNvPr>
          <p:cNvCxnSpPr>
            <a:cxnSpLocks/>
            <a:stCxn id="76" idx="1"/>
            <a:endCxn id="88" idx="3"/>
          </p:cNvCxnSpPr>
          <p:nvPr/>
        </p:nvCxnSpPr>
        <p:spPr>
          <a:xfrm rot="10800000" flipV="1">
            <a:off x="6897222" y="4072984"/>
            <a:ext cx="2346759" cy="1365403"/>
          </a:xfrm>
          <a:prstGeom prst="curvedConnector3">
            <a:avLst>
              <a:gd name="adj1" fmla="val 224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Curved Connector 152">
            <a:extLst>
              <a:ext uri="{FF2B5EF4-FFF2-40B4-BE49-F238E27FC236}">
                <a16:creationId xmlns:a16="http://schemas.microsoft.com/office/drawing/2014/main" id="{5EDD4767-B0E8-1661-65AA-F442B81C9A30}"/>
              </a:ext>
            </a:extLst>
          </p:cNvPr>
          <p:cNvCxnSpPr>
            <a:cxnSpLocks/>
            <a:stCxn id="76" idx="1"/>
            <a:endCxn id="89" idx="3"/>
          </p:cNvCxnSpPr>
          <p:nvPr/>
        </p:nvCxnSpPr>
        <p:spPr>
          <a:xfrm rot="10800000">
            <a:off x="8494812" y="3635169"/>
            <a:ext cx="749169" cy="437817"/>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9" name="Hộp Văn bản 199">
            <a:extLst>
              <a:ext uri="{FF2B5EF4-FFF2-40B4-BE49-F238E27FC236}">
                <a16:creationId xmlns:a16="http://schemas.microsoft.com/office/drawing/2014/main" id="{98B392B2-EAF5-BB49-82F5-9E65965C152A}"/>
              </a:ext>
            </a:extLst>
          </p:cNvPr>
          <p:cNvSpPr txBox="1"/>
          <p:nvPr/>
        </p:nvSpPr>
        <p:spPr>
          <a:xfrm>
            <a:off x="83394" y="3200104"/>
            <a:ext cx="1049431" cy="738664"/>
          </a:xfrm>
          <a:prstGeom prst="rect">
            <a:avLst/>
          </a:prstGeom>
          <a:noFill/>
        </p:spPr>
        <p:txBody>
          <a:bodyPr wrap="square" rtlCol="0">
            <a:spAutoFit/>
          </a:bodyPr>
          <a:lstStyle/>
          <a:p>
            <a:r>
              <a:rPr lang="en-US" sz="1400">
                <a:latin typeface="Calibri" panose="020F0502020204030204" pitchFamily="34" charset="0"/>
                <a:cs typeface="Calibri" panose="020F0502020204030204" pitchFamily="34" charset="0"/>
              </a:rPr>
              <a:t>Graph-star &amp; Nearest Neighboor</a:t>
            </a:r>
            <a:endParaRPr lang="vi-VN" sz="1400">
              <a:latin typeface="Calibri" panose="020F0502020204030204" pitchFamily="34" charset="0"/>
              <a:cs typeface="Calibri" panose="020F0502020204030204" pitchFamily="34" charset="0"/>
            </a:endParaRPr>
          </a:p>
        </p:txBody>
      </p:sp>
      <p:sp>
        <p:nvSpPr>
          <p:cNvPr id="190" name="Hộp Văn bản 199">
            <a:extLst>
              <a:ext uri="{FF2B5EF4-FFF2-40B4-BE49-F238E27FC236}">
                <a16:creationId xmlns:a16="http://schemas.microsoft.com/office/drawing/2014/main" id="{680BA163-3CFA-034E-83A5-F31F4E1F13BF}"/>
              </a:ext>
            </a:extLst>
          </p:cNvPr>
          <p:cNvSpPr txBox="1"/>
          <p:nvPr/>
        </p:nvSpPr>
        <p:spPr>
          <a:xfrm>
            <a:off x="114563" y="1529613"/>
            <a:ext cx="1261427" cy="369332"/>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All-to-all</a:t>
            </a:r>
            <a:endParaRPr lang="vi-VN">
              <a:latin typeface="Calibri" panose="020F0502020204030204" pitchFamily="34" charset="0"/>
              <a:cs typeface="Calibri" panose="020F0502020204030204" pitchFamily="34" charset="0"/>
            </a:endParaRPr>
          </a:p>
        </p:txBody>
      </p:sp>
      <p:sp>
        <p:nvSpPr>
          <p:cNvPr id="191" name="Hộp Văn bản 199">
            <a:extLst>
              <a:ext uri="{FF2B5EF4-FFF2-40B4-BE49-F238E27FC236}">
                <a16:creationId xmlns:a16="http://schemas.microsoft.com/office/drawing/2014/main" id="{281DAB75-1254-73B9-0657-18866FB1AF7B}"/>
              </a:ext>
            </a:extLst>
          </p:cNvPr>
          <p:cNvSpPr txBox="1"/>
          <p:nvPr/>
        </p:nvSpPr>
        <p:spPr>
          <a:xfrm>
            <a:off x="86731" y="5070223"/>
            <a:ext cx="884015" cy="369332"/>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Ring</a:t>
            </a:r>
            <a:endParaRPr lang="vi-VN">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208" name="Hộp Văn bản 32">
                <a:extLst>
                  <a:ext uri="{FF2B5EF4-FFF2-40B4-BE49-F238E27FC236}">
                    <a16:creationId xmlns:a16="http://schemas.microsoft.com/office/drawing/2014/main" id="{9B659F8D-9B1F-3BBB-F1D5-A94BAB97A251}"/>
                  </a:ext>
                </a:extLst>
              </p:cNvPr>
              <p:cNvSpPr txBox="1"/>
              <p:nvPr/>
            </p:nvSpPr>
            <p:spPr>
              <a:xfrm>
                <a:off x="10454531" y="5979536"/>
                <a:ext cx="1395207" cy="307777"/>
              </a:xfrm>
              <a:prstGeom prst="rect">
                <a:avLst/>
              </a:prstGeom>
              <a:noFill/>
            </p:spPr>
            <p:txBody>
              <a:bodyPr wrap="square" rtlCol="0">
                <a:spAutoFit/>
              </a:bodyPr>
              <a:lstStyle/>
              <a:p>
                <a:r>
                  <a:rPr lang="en-VN" sz="1400">
                    <a:cs typeface="Times New Roman" panose="02020603050405020304" pitchFamily="18" charset="0"/>
                  </a:rPr>
                  <a:t>Control </a:t>
                </a:r>
                <a14:m>
                  <m:oMath xmlns:m="http://schemas.openxmlformats.org/officeDocument/2006/math">
                    <m:sSub>
                      <m:sSubPr>
                        <m:ctrlPr>
                          <a:rPr lang="vi-VN" sz="1400" i="1">
                            <a:latin typeface="Cambria Math" panose="02040503050406030204" pitchFamily="18" charset="0"/>
                            <a:cs typeface="Times New Roman" panose="02020603050405020304" pitchFamily="18" charset="0"/>
                          </a:rPr>
                        </m:ctrlPr>
                      </m:sSubPr>
                      <m:e>
                        <m:r>
                          <a:rPr lang="en-VN" sz="1400" i="1">
                            <a:latin typeface="Cambria Math" panose="02040503050406030204" pitchFamily="18" charset="0"/>
                            <a:cs typeface="Times New Roman" panose="02020603050405020304" pitchFamily="18" charset="0"/>
                          </a:rPr>
                          <m:t>𝑅</m:t>
                        </m:r>
                      </m:e>
                      <m:sub>
                        <m:r>
                          <a:rPr lang="en-US" sz="1400" i="1">
                            <a:latin typeface="Cambria Math" panose="02040503050406030204" pitchFamily="18" charset="0"/>
                            <a:cs typeface="Times New Roman" panose="02020603050405020304" pitchFamily="18" charset="0"/>
                          </a:rPr>
                          <m:t>𝑖</m:t>
                        </m:r>
                      </m:sub>
                    </m:sSub>
                  </m:oMath>
                </a14:m>
                <a:r>
                  <a:rPr lang="vi-VN" sz="1400" i="1">
                    <a:cs typeface="Times New Roman" panose="02020603050405020304" pitchFamily="18" charset="0"/>
                  </a:rPr>
                  <a:t> </a:t>
                </a:r>
                <a:r>
                  <a:rPr lang="vi-VN" sz="1400">
                    <a:cs typeface="Times New Roman" panose="02020603050405020304" pitchFamily="18" charset="0"/>
                  </a:rPr>
                  <a:t>gate</a:t>
                </a:r>
              </a:p>
            </p:txBody>
          </p:sp>
        </mc:Choice>
        <mc:Fallback>
          <p:sp>
            <p:nvSpPr>
              <p:cNvPr id="208" name="Hộp Văn bản 32">
                <a:extLst>
                  <a:ext uri="{FF2B5EF4-FFF2-40B4-BE49-F238E27FC236}">
                    <a16:creationId xmlns:a16="http://schemas.microsoft.com/office/drawing/2014/main" id="{9B659F8D-9B1F-3BBB-F1D5-A94BAB97A251}"/>
                  </a:ext>
                </a:extLst>
              </p:cNvPr>
              <p:cNvSpPr txBox="1">
                <a:spLocks noRot="1" noChangeAspect="1" noMove="1" noResize="1" noEditPoints="1" noAdjustHandles="1" noChangeArrowheads="1" noChangeShapeType="1" noTextEdit="1"/>
              </p:cNvSpPr>
              <p:nvPr/>
            </p:nvSpPr>
            <p:spPr>
              <a:xfrm>
                <a:off x="10454531" y="5979536"/>
                <a:ext cx="1395207" cy="307777"/>
              </a:xfrm>
              <a:prstGeom prst="rect">
                <a:avLst/>
              </a:prstGeom>
              <a:blipFill>
                <a:blip r:embed="rId31"/>
                <a:stretch>
                  <a:fillRect l="-1802" t="-8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09" name="Hộp Văn bản 32">
                <a:extLst>
                  <a:ext uri="{FF2B5EF4-FFF2-40B4-BE49-F238E27FC236}">
                    <a16:creationId xmlns:a16="http://schemas.microsoft.com/office/drawing/2014/main" id="{513D4E4E-B3D0-8C48-9EEB-0AC6A3FFDAC3}"/>
                  </a:ext>
                </a:extLst>
              </p:cNvPr>
              <p:cNvSpPr txBox="1"/>
              <p:nvPr/>
            </p:nvSpPr>
            <p:spPr>
              <a:xfrm>
                <a:off x="10448705" y="6326194"/>
                <a:ext cx="997439" cy="307777"/>
              </a:xfrm>
              <a:prstGeom prst="rect">
                <a:avLst/>
              </a:prstGeom>
              <a:noFill/>
            </p:spPr>
            <p:txBody>
              <a:bodyPr wrap="square" rtlCol="0">
                <a:spAutoFit/>
              </a:bodyPr>
              <a:lstStyle/>
              <a:p>
                <a14:m>
                  <m:oMath xmlns:m="http://schemas.openxmlformats.org/officeDocument/2006/math">
                    <m:sSub>
                      <m:sSubPr>
                        <m:ctrlPr>
                          <a:rPr lang="vi-VN" sz="1400" i="1">
                            <a:latin typeface="Cambria Math" panose="02040503050406030204" pitchFamily="18" charset="0"/>
                            <a:cs typeface="Times New Roman" panose="02020603050405020304" pitchFamily="18" charset="0"/>
                          </a:rPr>
                        </m:ctrlPr>
                      </m:sSubPr>
                      <m:e>
                        <m:r>
                          <a:rPr lang="en-VN" sz="1400" i="1">
                            <a:latin typeface="Cambria Math" panose="02040503050406030204" pitchFamily="18" charset="0"/>
                            <a:cs typeface="Times New Roman" panose="02020603050405020304" pitchFamily="18" charset="0"/>
                          </a:rPr>
                          <m:t>𝑅</m:t>
                        </m:r>
                      </m:e>
                      <m:sub>
                        <m:r>
                          <a:rPr lang="en-US" sz="1400" i="1">
                            <a:latin typeface="Cambria Math" panose="02040503050406030204" pitchFamily="18" charset="0"/>
                            <a:cs typeface="Times New Roman" panose="02020603050405020304" pitchFamily="18" charset="0"/>
                          </a:rPr>
                          <m:t>𝑖</m:t>
                        </m:r>
                      </m:sub>
                    </m:sSub>
                  </m:oMath>
                </a14:m>
                <a:r>
                  <a:rPr lang="en-US" sz="1400" i="1">
                    <a:cs typeface="Times New Roman" panose="02020603050405020304" pitchFamily="18" charset="0"/>
                  </a:rPr>
                  <a:t> </a:t>
                </a:r>
                <a:r>
                  <a:rPr lang="en-US" sz="1400">
                    <a:cs typeface="Times New Roman" panose="02020603050405020304" pitchFamily="18" charset="0"/>
                  </a:rPr>
                  <a:t>gate </a:t>
                </a:r>
                <a:endParaRPr lang="vi-VN" sz="1400">
                  <a:cs typeface="Times New Roman" panose="02020603050405020304" pitchFamily="18" charset="0"/>
                </a:endParaRPr>
              </a:p>
            </p:txBody>
          </p:sp>
        </mc:Choice>
        <mc:Fallback>
          <p:sp>
            <p:nvSpPr>
              <p:cNvPr id="209" name="Hộp Văn bản 32">
                <a:extLst>
                  <a:ext uri="{FF2B5EF4-FFF2-40B4-BE49-F238E27FC236}">
                    <a16:creationId xmlns:a16="http://schemas.microsoft.com/office/drawing/2014/main" id="{513D4E4E-B3D0-8C48-9EEB-0AC6A3FFDAC3}"/>
                  </a:ext>
                </a:extLst>
              </p:cNvPr>
              <p:cNvSpPr txBox="1">
                <a:spLocks noRot="1" noChangeAspect="1" noMove="1" noResize="1" noEditPoints="1" noAdjustHandles="1" noChangeArrowheads="1" noChangeShapeType="1" noTextEdit="1"/>
              </p:cNvSpPr>
              <p:nvPr/>
            </p:nvSpPr>
            <p:spPr>
              <a:xfrm>
                <a:off x="10448705" y="6326194"/>
                <a:ext cx="997439" cy="307777"/>
              </a:xfrm>
              <a:prstGeom prst="rect">
                <a:avLst/>
              </a:prstGeom>
              <a:blipFill>
                <a:blip r:embed="rId32"/>
                <a:stretch>
                  <a:fillRect t="-4000" b="-20000"/>
                </a:stretch>
              </a:blipFill>
            </p:spPr>
            <p:txBody>
              <a:bodyPr/>
              <a:lstStyle/>
              <a:p>
                <a:r>
                  <a:rPr lang="en-VN">
                    <a:noFill/>
                  </a:rPr>
                  <a:t> </a:t>
                </a:r>
              </a:p>
            </p:txBody>
          </p:sp>
        </mc:Fallback>
      </mc:AlternateContent>
      <p:sp>
        <p:nvSpPr>
          <p:cNvPr id="210" name="Hình chữ nhật 65">
            <a:extLst>
              <a:ext uri="{FF2B5EF4-FFF2-40B4-BE49-F238E27FC236}">
                <a16:creationId xmlns:a16="http://schemas.microsoft.com/office/drawing/2014/main" id="{A3E9F97E-2FB3-6E9C-9758-899D4809110F}"/>
              </a:ext>
            </a:extLst>
          </p:cNvPr>
          <p:cNvSpPr/>
          <p:nvPr/>
        </p:nvSpPr>
        <p:spPr>
          <a:xfrm>
            <a:off x="9742872" y="5650991"/>
            <a:ext cx="2208403" cy="1060448"/>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cxnSp>
        <p:nvCxnSpPr>
          <p:cNvPr id="211" name="Đường nối Thẳng 19">
            <a:extLst>
              <a:ext uri="{FF2B5EF4-FFF2-40B4-BE49-F238E27FC236}">
                <a16:creationId xmlns:a16="http://schemas.microsoft.com/office/drawing/2014/main" id="{F1559A8C-2580-3345-4E21-E8E166BBF0C2}"/>
              </a:ext>
            </a:extLst>
          </p:cNvPr>
          <p:cNvCxnSpPr>
            <a:cxnSpLocks/>
            <a:stCxn id="213" idx="0"/>
            <a:endCxn id="212" idx="4"/>
          </p:cNvCxnSpPr>
          <p:nvPr/>
        </p:nvCxnSpPr>
        <p:spPr>
          <a:xfrm flipV="1">
            <a:off x="10178844" y="5838771"/>
            <a:ext cx="483" cy="1683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Hình Bầu dục 38">
            <a:extLst>
              <a:ext uri="{FF2B5EF4-FFF2-40B4-BE49-F238E27FC236}">
                <a16:creationId xmlns:a16="http://schemas.microsoft.com/office/drawing/2014/main" id="{13544919-62E9-685C-2D36-FD787F86D718}"/>
              </a:ext>
            </a:extLst>
          </p:cNvPr>
          <p:cNvSpPr/>
          <p:nvPr/>
        </p:nvSpPr>
        <p:spPr>
          <a:xfrm>
            <a:off x="10136465" y="5753047"/>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213" name="Hình chữ nhật 84">
                <a:extLst>
                  <a:ext uri="{FF2B5EF4-FFF2-40B4-BE49-F238E27FC236}">
                    <a16:creationId xmlns:a16="http://schemas.microsoft.com/office/drawing/2014/main" id="{5719DD07-0931-66E4-B6D6-98D5DC369761}"/>
                  </a:ext>
                </a:extLst>
              </p:cNvPr>
              <p:cNvSpPr/>
              <p:nvPr/>
            </p:nvSpPr>
            <p:spPr>
              <a:xfrm>
                <a:off x="9908984" y="6007083"/>
                <a:ext cx="539721"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1400" i="1">
                            <a:solidFill>
                              <a:schemeClr val="tx1"/>
                            </a:solidFill>
                            <a:latin typeface="Cambria Math" panose="02040503050406030204" pitchFamily="18" charset="0"/>
                            <a:cs typeface="Times New Roman" panose="02020603050405020304" pitchFamily="18" charset="0"/>
                          </a:rPr>
                        </m:ctrlPr>
                      </m:sSubPr>
                      <m:e>
                        <m:r>
                          <a:rPr lang="en-US" sz="1400" i="1">
                            <a:solidFill>
                              <a:schemeClr val="tx1"/>
                            </a:solidFill>
                            <a:latin typeface="Cambria Math" panose="02040503050406030204" pitchFamily="18" charset="0"/>
                            <a:cs typeface="Times New Roman" panose="02020603050405020304" pitchFamily="18" charset="0"/>
                          </a:rPr>
                          <m:t>𝑅</m:t>
                        </m:r>
                      </m:e>
                      <m:sub>
                        <m:r>
                          <a:rPr lang="en-US" sz="1400" i="1">
                            <a:solidFill>
                              <a:schemeClr val="tx1"/>
                            </a:solidFill>
                            <a:latin typeface="Cambria Math" panose="02040503050406030204" pitchFamily="18" charset="0"/>
                            <a:cs typeface="Times New Roman" panose="02020603050405020304" pitchFamily="18" charset="0"/>
                          </a:rPr>
                          <m:t>𝑖</m:t>
                        </m:r>
                      </m:sub>
                    </m:sSub>
                    <m:d>
                      <m:dPr>
                        <m:ctrlPr>
                          <a:rPr lang="vi-VN" sz="1400" i="1">
                            <a:solidFill>
                              <a:schemeClr val="tx1"/>
                            </a:solidFill>
                            <a:latin typeface="Cambria Math" panose="02040503050406030204" pitchFamily="18" charset="0"/>
                            <a:cs typeface="Times New Roman" panose="02020603050405020304" pitchFamily="18" charset="0"/>
                          </a:rPr>
                        </m:ctrlPr>
                      </m:dPr>
                      <m:e>
                        <m:r>
                          <a:rPr lang="vi-VN" sz="1400" i="1">
                            <a:solidFill>
                              <a:schemeClr val="tx1"/>
                            </a:solidFill>
                            <a:latin typeface="Cambria Math" panose="02040503050406030204" pitchFamily="18" charset="0"/>
                            <a:cs typeface="Times New Roman" panose="02020603050405020304" pitchFamily="18" charset="0"/>
                          </a:rPr>
                          <m:t>.</m:t>
                        </m:r>
                      </m:e>
                    </m:d>
                  </m:oMath>
                </a14:m>
                <a:r>
                  <a:rPr lang="vi-VN" sz="1400" i="1">
                    <a:solidFill>
                      <a:schemeClr val="tx1"/>
                    </a:solidFill>
                    <a:latin typeface="+mj-lt"/>
                    <a:cs typeface="Times New Roman" panose="02020603050405020304" pitchFamily="18" charset="0"/>
                  </a:rPr>
                  <a:t> </a:t>
                </a:r>
              </a:p>
            </p:txBody>
          </p:sp>
        </mc:Choice>
        <mc:Fallback>
          <p:sp>
            <p:nvSpPr>
              <p:cNvPr id="213" name="Hình chữ nhật 84">
                <a:extLst>
                  <a:ext uri="{FF2B5EF4-FFF2-40B4-BE49-F238E27FC236}">
                    <a16:creationId xmlns:a16="http://schemas.microsoft.com/office/drawing/2014/main" id="{5719DD07-0931-66E4-B6D6-98D5DC369761}"/>
                  </a:ext>
                </a:extLst>
              </p:cNvPr>
              <p:cNvSpPr>
                <a:spLocks noRot="1" noChangeAspect="1" noMove="1" noResize="1" noEditPoints="1" noAdjustHandles="1" noChangeArrowheads="1" noChangeShapeType="1" noTextEdit="1"/>
              </p:cNvSpPr>
              <p:nvPr/>
            </p:nvSpPr>
            <p:spPr>
              <a:xfrm>
                <a:off x="9908984" y="6007083"/>
                <a:ext cx="539721" cy="265979"/>
              </a:xfrm>
              <a:prstGeom prst="rect">
                <a:avLst/>
              </a:prstGeom>
              <a:blipFill>
                <a:blip r:embed="rId33"/>
                <a:stretch>
                  <a:fillRect b="-4348"/>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17" name="Hình chữ nhật 84">
                <a:extLst>
                  <a:ext uri="{FF2B5EF4-FFF2-40B4-BE49-F238E27FC236}">
                    <a16:creationId xmlns:a16="http://schemas.microsoft.com/office/drawing/2014/main" id="{D98FBFFC-80BC-0F0B-AAA5-4566E985E17E}"/>
                  </a:ext>
                </a:extLst>
              </p:cNvPr>
              <p:cNvSpPr/>
              <p:nvPr/>
            </p:nvSpPr>
            <p:spPr>
              <a:xfrm>
                <a:off x="9924782" y="6359409"/>
                <a:ext cx="539721"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1400" i="1">
                            <a:solidFill>
                              <a:schemeClr val="tx1"/>
                            </a:solidFill>
                            <a:latin typeface="Cambria Math" panose="02040503050406030204" pitchFamily="18" charset="0"/>
                            <a:cs typeface="Times New Roman" panose="02020603050405020304" pitchFamily="18" charset="0"/>
                          </a:rPr>
                        </m:ctrlPr>
                      </m:sSubPr>
                      <m:e>
                        <m:r>
                          <a:rPr lang="en-US" sz="1400" i="1">
                            <a:solidFill>
                              <a:schemeClr val="tx1"/>
                            </a:solidFill>
                            <a:latin typeface="Cambria Math" panose="02040503050406030204" pitchFamily="18" charset="0"/>
                            <a:cs typeface="Times New Roman" panose="02020603050405020304" pitchFamily="18" charset="0"/>
                          </a:rPr>
                          <m:t>𝑅</m:t>
                        </m:r>
                      </m:e>
                      <m:sub>
                        <m:r>
                          <a:rPr lang="en-US" sz="1400" i="1">
                            <a:solidFill>
                              <a:schemeClr val="tx1"/>
                            </a:solidFill>
                            <a:latin typeface="Cambria Math" panose="02040503050406030204" pitchFamily="18" charset="0"/>
                            <a:cs typeface="Times New Roman" panose="02020603050405020304" pitchFamily="18" charset="0"/>
                          </a:rPr>
                          <m:t>𝑖</m:t>
                        </m:r>
                      </m:sub>
                    </m:sSub>
                    <m:d>
                      <m:dPr>
                        <m:ctrlPr>
                          <a:rPr lang="vi-VN" sz="1400" i="1">
                            <a:solidFill>
                              <a:schemeClr val="tx1"/>
                            </a:solidFill>
                            <a:latin typeface="Cambria Math" panose="02040503050406030204" pitchFamily="18" charset="0"/>
                            <a:cs typeface="Times New Roman" panose="02020603050405020304" pitchFamily="18" charset="0"/>
                          </a:rPr>
                        </m:ctrlPr>
                      </m:dPr>
                      <m:e>
                        <m:r>
                          <a:rPr lang="vi-VN" sz="1400" i="1">
                            <a:solidFill>
                              <a:schemeClr val="tx1"/>
                            </a:solidFill>
                            <a:latin typeface="Cambria Math" panose="02040503050406030204" pitchFamily="18" charset="0"/>
                            <a:cs typeface="Times New Roman" panose="02020603050405020304" pitchFamily="18" charset="0"/>
                          </a:rPr>
                          <m:t>.</m:t>
                        </m:r>
                      </m:e>
                    </m:d>
                  </m:oMath>
                </a14:m>
                <a:r>
                  <a:rPr lang="vi-VN" sz="1400" i="1">
                    <a:solidFill>
                      <a:schemeClr val="tx1"/>
                    </a:solidFill>
                    <a:latin typeface="+mj-lt"/>
                    <a:cs typeface="Times New Roman" panose="02020603050405020304" pitchFamily="18" charset="0"/>
                  </a:rPr>
                  <a:t> </a:t>
                </a:r>
              </a:p>
            </p:txBody>
          </p:sp>
        </mc:Choice>
        <mc:Fallback>
          <p:sp>
            <p:nvSpPr>
              <p:cNvPr id="217" name="Hình chữ nhật 84">
                <a:extLst>
                  <a:ext uri="{FF2B5EF4-FFF2-40B4-BE49-F238E27FC236}">
                    <a16:creationId xmlns:a16="http://schemas.microsoft.com/office/drawing/2014/main" id="{D98FBFFC-80BC-0F0B-AAA5-4566E985E17E}"/>
                  </a:ext>
                </a:extLst>
              </p:cNvPr>
              <p:cNvSpPr>
                <a:spLocks noRot="1" noChangeAspect="1" noMove="1" noResize="1" noEditPoints="1" noAdjustHandles="1" noChangeArrowheads="1" noChangeShapeType="1" noTextEdit="1"/>
              </p:cNvSpPr>
              <p:nvPr/>
            </p:nvSpPr>
            <p:spPr>
              <a:xfrm>
                <a:off x="9924782" y="6359409"/>
                <a:ext cx="539721" cy="265979"/>
              </a:xfrm>
              <a:prstGeom prst="rect">
                <a:avLst/>
              </a:prstGeom>
              <a:blipFill>
                <a:blip r:embed="rId34"/>
                <a:stretch>
                  <a:fillRect b="-4348"/>
                </a:stretch>
              </a:blipFill>
              <a:ln>
                <a:solidFill>
                  <a:schemeClr val="tx1"/>
                </a:solidFill>
              </a:ln>
            </p:spPr>
            <p:txBody>
              <a:bodyPr/>
              <a:lstStyle/>
              <a:p>
                <a:r>
                  <a:rPr lang="en-VN">
                    <a:noFill/>
                  </a:rPr>
                  <a:t> </a:t>
                </a:r>
              </a:p>
            </p:txBody>
          </p:sp>
        </mc:Fallback>
      </mc:AlternateContent>
      <p:sp>
        <p:nvSpPr>
          <p:cNvPr id="6" name="TextBox 5">
            <a:extLst>
              <a:ext uri="{FF2B5EF4-FFF2-40B4-BE49-F238E27FC236}">
                <a16:creationId xmlns:a16="http://schemas.microsoft.com/office/drawing/2014/main" id="{CCACEF14-233C-25BB-B3F7-446DE5B7B76E}"/>
              </a:ext>
            </a:extLst>
          </p:cNvPr>
          <p:cNvSpPr txBox="1"/>
          <p:nvPr/>
        </p:nvSpPr>
        <p:spPr>
          <a:xfrm>
            <a:off x="838201" y="6347751"/>
            <a:ext cx="4831665" cy="461665"/>
          </a:xfrm>
          <a:prstGeom prst="rect">
            <a:avLst/>
          </a:prstGeom>
          <a:noFill/>
        </p:spPr>
        <p:txBody>
          <a:bodyPr wrap="square">
            <a:spAutoFit/>
          </a:bodyPr>
          <a:lstStyle/>
          <a:p>
            <a:r>
              <a:rPr lang="en-US" sz="1200" b="1">
                <a:solidFill>
                  <a:srgbClr val="222222"/>
                </a:solidFill>
                <a:latin typeface="Calibri" panose="020F0502020204030204" pitchFamily="34" charset="0"/>
                <a:cs typeface="Calibri" panose="020F0502020204030204" pitchFamily="34" charset="0"/>
              </a:rPr>
              <a:t>[1.5]</a:t>
            </a:r>
            <a:r>
              <a:rPr lang="en-US" sz="1200">
                <a:solidFill>
                  <a:srgbClr val="222222"/>
                </a:solidFill>
                <a:latin typeface="Calibri" panose="020F0502020204030204" pitchFamily="34" charset="0"/>
                <a:cs typeface="Calibri" panose="020F0502020204030204" pitchFamily="34" charset="0"/>
              </a:rPr>
              <a:t> Haug, T et al, Capacity and quantum geometry of parametrized quantum circuits. </a:t>
            </a:r>
            <a:r>
              <a:rPr lang="en-US" sz="1200" i="1">
                <a:solidFill>
                  <a:srgbClr val="222222"/>
                </a:solidFill>
                <a:latin typeface="Calibri" panose="020F0502020204030204" pitchFamily="34" charset="0"/>
                <a:cs typeface="Calibri" panose="020F0502020204030204" pitchFamily="34" charset="0"/>
              </a:rPr>
              <a:t>PRX Quantum</a:t>
            </a:r>
            <a:r>
              <a:rPr lang="en-US" sz="1200">
                <a:solidFill>
                  <a:srgbClr val="222222"/>
                </a:solidFill>
                <a:latin typeface="Calibri" panose="020F0502020204030204" pitchFamily="34" charset="0"/>
                <a:cs typeface="Calibri" panose="020F0502020204030204" pitchFamily="34" charset="0"/>
              </a:rPr>
              <a:t>, </a:t>
            </a:r>
            <a:r>
              <a:rPr lang="en-US" sz="1200" i="1">
                <a:solidFill>
                  <a:srgbClr val="222222"/>
                </a:solidFill>
                <a:latin typeface="Calibri" panose="020F0502020204030204" pitchFamily="34" charset="0"/>
                <a:cs typeface="Calibri" panose="020F0502020204030204" pitchFamily="34" charset="0"/>
              </a:rPr>
              <a:t>2</a:t>
            </a:r>
            <a:r>
              <a:rPr lang="en-US" sz="1200">
                <a:solidFill>
                  <a:srgbClr val="222222"/>
                </a:solidFill>
                <a:latin typeface="Calibri" panose="020F0502020204030204" pitchFamily="34" charset="0"/>
                <a:cs typeface="Calibri" panose="020F0502020204030204" pitchFamily="34" charset="0"/>
              </a:rPr>
              <a:t>(4), 040309. (2021)</a:t>
            </a:r>
            <a:endParaRPr lang="en-VN" sz="12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0815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1043459" y="5349103"/>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US"/>
              <a:t>1.4</a:t>
            </a:r>
            <a:r>
              <a:rPr lang="en-VN"/>
              <a:t>. Gradient and optimizer</a:t>
            </a:r>
          </a:p>
        </p:txBody>
      </p:sp>
      <mc:AlternateContent xmlns:mc="http://schemas.openxmlformats.org/markup-compatibility/2006">
        <mc:Choice xmlns:a14="http://schemas.microsoft.com/office/drawing/2010/main" Requires="a14">
          <p:sp>
            <p:nvSpPr>
              <p:cNvPr id="50" name="Rectangle 49">
                <a:extLst>
                  <a:ext uri="{FF2B5EF4-FFF2-40B4-BE49-F238E27FC236}">
                    <a16:creationId xmlns:a16="http://schemas.microsoft.com/office/drawing/2014/main" id="{5D21E891-5D4C-C534-335C-0F82247E7E6C}"/>
                  </a:ext>
                </a:extLst>
              </p:cNvPr>
              <p:cNvSpPr/>
              <p:nvPr/>
            </p:nvSpPr>
            <p:spPr>
              <a:xfrm>
                <a:off x="838200" y="1441621"/>
                <a:ext cx="8772611" cy="32739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PQC:</a:t>
                </a:r>
              </a:p>
              <a:p>
                <a:pPr lvl="1"/>
                <a14:m>
                  <m:oMath xmlns:m="http://schemas.openxmlformats.org/officeDocument/2006/math">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−1</m:t>
                        </m:r>
                      </m:sub>
                    </m:sSub>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−2</m:t>
                        </m:r>
                      </m:sub>
                    </m:sSub>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0</m:t>
                        </m:r>
                      </m:sub>
                    </m:sSub>
                  </m:oMath>
                </a14:m>
                <a:r>
                  <a:rPr lang="en-VN" i="1">
                    <a:solidFill>
                      <a:schemeClr val="tx1"/>
                    </a:solidFill>
                    <a:latin typeface="Calibri" panose="020F0502020204030204" pitchFamily="34" charset="0"/>
                    <a:cs typeface="Calibri" panose="020F0502020204030204" pitchFamily="34" charset="0"/>
                  </a:rPr>
                  <a:t> </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can be splitted into </a:t>
                </a:r>
                <a14:m>
                  <m:oMath xmlns:m="http://schemas.openxmlformats.org/officeDocument/2006/math">
                    <m:r>
                      <a:rPr lang="vi-VN" sz="2800" i="1">
                        <a:solidFill>
                          <a:schemeClr val="tx1"/>
                        </a:solidFill>
                        <a:latin typeface="Cambria Math" panose="02040503050406030204" pitchFamily="18" charset="0"/>
                        <a:ea typeface="Cambria Math" panose="02040503050406030204" pitchFamily="18" charset="0"/>
                      </a:rPr>
                      <m:t>𝑚</m:t>
                    </m:r>
                  </m:oMath>
                </a14:m>
                <a:r>
                  <a:rPr lang="en-VN" sz="2800" i="1">
                    <a:solidFill>
                      <a:schemeClr val="tx1"/>
                    </a:solidFill>
                    <a:latin typeface="Calibri" panose="020F0502020204030204" pitchFamily="34" charset="0"/>
                    <a:cs typeface="Calibri" panose="020F0502020204030204" pitchFamily="34" charset="0"/>
                  </a:rPr>
                  <a:t> </a:t>
                </a:r>
                <a:r>
                  <a:rPr lang="en-VN" sz="2800">
                    <a:solidFill>
                      <a:schemeClr val="tx1"/>
                    </a:solidFill>
                    <a:latin typeface="Calibri" panose="020F0502020204030204" pitchFamily="34" charset="0"/>
                    <a:cs typeface="Calibri" panose="020F0502020204030204" pitchFamily="34" charset="0"/>
                  </a:rPr>
                  <a:t>sub-circuit</a:t>
                </a:r>
                <a:r>
                  <a:rPr lang="en-US" sz="2800">
                    <a:solidFill>
                      <a:schemeClr val="tx1"/>
                    </a:solidFill>
                    <a:latin typeface="Calibri" panose="020F0502020204030204" pitchFamily="34" charset="0"/>
                    <a:cs typeface="Calibri" panose="020F0502020204030204" pitchFamily="34" charset="0"/>
                  </a:rPr>
                  <a:t>s</a:t>
                </a:r>
                <a:r>
                  <a:rPr lang="en-VN" sz="2800">
                    <a:solidFill>
                      <a:schemeClr val="tx1"/>
                    </a:solidFill>
                    <a:latin typeface="Calibri" panose="020F0502020204030204" pitchFamily="34" charset="0"/>
                    <a:cs typeface="Calibri" panose="020F0502020204030204" pitchFamily="34" charset="0"/>
                  </a:rPr>
                  <a:t> with </a:t>
                </a:r>
                <a14:m>
                  <m:oMath xmlns:m="http://schemas.openxmlformats.org/officeDocument/2006/math">
                    <m:d>
                      <m:dPr>
                        <m:begChr m:val="|"/>
                        <m:endChr m:val="|"/>
                        <m:ctrlPr>
                          <a:rPr lang="vi-VN" sz="2800"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r>
                      <a:rPr lang="vi-VN" sz="2800" i="1">
                        <a:solidFill>
                          <a:schemeClr val="tx1"/>
                        </a:solidFill>
                        <a:latin typeface="Cambria Math" panose="02040503050406030204" pitchFamily="18" charset="0"/>
                      </a:rPr>
                      <m:t>=</m:t>
                    </m:r>
                    <m:r>
                      <a:rPr lang="vi-VN" sz="2800" i="1">
                        <a:solidFill>
                          <a:schemeClr val="tx1"/>
                        </a:solidFill>
                        <a:latin typeface="Cambria Math" panose="02040503050406030204" pitchFamily="18" charset="0"/>
                      </a:rPr>
                      <m:t>𝑚</m:t>
                    </m:r>
                  </m:oMath>
                </a14:m>
                <a:endParaRPr lang="en-VN" sz="2800" i="1">
                  <a:solidFill>
                    <a:schemeClr val="tx1"/>
                  </a:solidFill>
                  <a:latin typeface="Calibri" panose="020F0502020204030204" pitchFamily="34" charset="0"/>
                  <a:cs typeface="Calibri" panose="020F0502020204030204" pitchFamily="34" charset="0"/>
                </a:endParaRP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and cost function:</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800" i="1">
                        <a:solidFill>
                          <a:schemeClr val="tx1"/>
                        </a:solidFill>
                        <a:latin typeface="Cambria Math" panose="02040503050406030204" pitchFamily="18" charset="0"/>
                        <a:ea typeface="Cambria Math" panose="02040503050406030204" pitchFamily="18" charset="0"/>
                      </a:rPr>
                      <m:t>𝐶</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r>
                      <a:rPr lang="vi-VN" sz="2800" b="1" i="1">
                        <a:solidFill>
                          <a:schemeClr val="tx1"/>
                        </a:solidFill>
                        <a:latin typeface="Cambria Math" panose="02040503050406030204" pitchFamily="18" charset="0"/>
                        <a:ea typeface="Cambria Math" panose="02040503050406030204" pitchFamily="18" charset="0"/>
                      </a:rPr>
                      <m:t>𝟎</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sSup>
                          <m:sSupPr>
                            <m:ctrlPr>
                              <a:rPr lang="vi-VN" sz="2800" i="1">
                                <a:solidFill>
                                  <a:schemeClr val="tx1"/>
                                </a:solidFill>
                                <a:latin typeface="Cambria Math" panose="02040503050406030204" pitchFamily="18" charset="0"/>
                                <a:ea typeface="Cambria Math" panose="02040503050406030204" pitchFamily="18" charset="0"/>
                              </a:rPr>
                            </m:ctrlPr>
                          </m:sSupPr>
                          <m:e>
                            <m:r>
                              <a:rPr lang="vi-VN" sz="2800" i="1">
                                <a:solidFill>
                                  <a:schemeClr val="tx1"/>
                                </a:solidFill>
                                <a:latin typeface="Cambria Math" panose="02040503050406030204" pitchFamily="18" charset="0"/>
                                <a:ea typeface="Cambria Math" panose="02040503050406030204" pitchFamily="18" charset="0"/>
                              </a:rPr>
                              <m:t>𝑈</m:t>
                            </m:r>
                          </m:e>
                          <m:sup>
                            <m:r>
                              <a:rPr lang="vi-VN" sz="2800" i="1">
                                <a:solidFill>
                                  <a:schemeClr val="tx1"/>
                                </a:solidFill>
                                <a:latin typeface="Cambria Math" panose="02040503050406030204" pitchFamily="18" charset="0"/>
                                <a:ea typeface="Cambria Math" panose="02040503050406030204" pitchFamily="18" charset="0"/>
                              </a:rPr>
                              <m:t>†</m:t>
                            </m:r>
                          </m:sup>
                        </m:sSup>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acc>
                          <m:accPr>
                            <m:chr m:val="̂"/>
                            <m:ctrlPr>
                              <a:rPr lang="vi-VN" sz="2800" i="1">
                                <a:solidFill>
                                  <a:schemeClr val="tx1"/>
                                </a:solidFill>
                                <a:latin typeface="Cambria Math" panose="02040503050406030204" pitchFamily="18" charset="0"/>
                                <a:ea typeface="Cambria Math" panose="02040503050406030204" pitchFamily="18" charset="0"/>
                              </a:rPr>
                            </m:ctrlPr>
                          </m:accPr>
                          <m:e>
                            <m:r>
                              <a:rPr lang="vi-VN" sz="2800" i="1">
                                <a:solidFill>
                                  <a:schemeClr val="tx1"/>
                                </a:solidFill>
                                <a:latin typeface="Cambria Math" panose="02040503050406030204" pitchFamily="18" charset="0"/>
                                <a:ea typeface="Cambria Math" panose="02040503050406030204" pitchFamily="18" charset="0"/>
                              </a:rPr>
                              <m:t>𝐵</m:t>
                            </m:r>
                          </m:e>
                        </m:acc>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e>
                    </m:d>
                    <m:r>
                      <a:rPr lang="vi-VN" sz="2800" b="1" i="1">
                        <a:solidFill>
                          <a:schemeClr val="tx1"/>
                        </a:solidFill>
                        <a:latin typeface="Cambria Math" panose="02040503050406030204" pitchFamily="18" charset="0"/>
                        <a:ea typeface="Cambria Math" panose="02040503050406030204" pitchFamily="18" charset="0"/>
                      </a:rPr>
                      <m:t>𝟎</m:t>
                    </m:r>
                    <m:r>
                      <a:rPr lang="vi-VN" sz="2800" i="1">
                        <a:solidFill>
                          <a:schemeClr val="tx1"/>
                        </a:solidFill>
                        <a:latin typeface="Cambria Math" panose="02040503050406030204" pitchFamily="18" charset="0"/>
                        <a:ea typeface="Cambria Math" panose="02040503050406030204" pitchFamily="18" charset="0"/>
                      </a:rPr>
                      <m:t>⟩</m:t>
                    </m:r>
                  </m:oMath>
                </a14:m>
                <a:endParaRPr lang="en-VN" sz="2800" b="1" i="1">
                  <a:solidFill>
                    <a:schemeClr val="tx1"/>
                  </a:solidFill>
                  <a:latin typeface="Calibri" panose="020F0502020204030204" pitchFamily="34" charset="0"/>
                  <a:cs typeface="Calibri" panose="020F0502020204030204" pitchFamily="34" charset="0"/>
                </a:endParaRPr>
              </a:p>
              <a:p>
                <a:r>
                  <a:rPr lang="en-VN" sz="28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800" b="1" i="1">
                            <a:solidFill>
                              <a:schemeClr val="tx1"/>
                            </a:solidFill>
                            <a:latin typeface="Cambria Math" panose="02040503050406030204" pitchFamily="18" charset="0"/>
                          </a:rPr>
                        </m:ctrlPr>
                      </m:sSupPr>
                      <m:e>
                        <m:r>
                          <a:rPr lang="vi-VN" sz="2800" b="1" i="1">
                            <a:solidFill>
                              <a:schemeClr val="tx1"/>
                            </a:solidFill>
                            <a:latin typeface="Cambria Math" panose="02040503050406030204" pitchFamily="18" charset="0"/>
                          </a:rPr>
                          <m:t>𝜽</m:t>
                        </m:r>
                      </m:e>
                      <m:sup>
                        <m:r>
                          <a:rPr lang="vi-VN" sz="2800" b="1" i="1">
                            <a:solidFill>
                              <a:schemeClr val="tx1"/>
                            </a:solidFill>
                            <a:latin typeface="Cambria Math" panose="02040503050406030204" pitchFamily="18" charset="0"/>
                          </a:rPr>
                          <m:t>∗</m:t>
                        </m:r>
                      </m:sup>
                    </m:sSup>
                    <m:r>
                      <a:rPr lang="vi-VN" sz="2800" b="1" i="1">
                        <a:solidFill>
                          <a:schemeClr val="tx1"/>
                        </a:solidFill>
                        <a:latin typeface="Cambria Math" panose="02040503050406030204" pitchFamily="18" charset="0"/>
                      </a:rPr>
                      <m:t>=</m:t>
                    </m:r>
                    <m:sSub>
                      <m:sSubPr>
                        <m:ctrlPr>
                          <a:rPr lang="vi-VN" sz="2800" i="1">
                            <a:solidFill>
                              <a:schemeClr val="tx1"/>
                            </a:solidFill>
                            <a:latin typeface="Cambria Math" panose="02040503050406030204" pitchFamily="18" charset="0"/>
                          </a:rPr>
                        </m:ctrlPr>
                      </m:sSubPr>
                      <m:e>
                        <m:r>
                          <m:rPr>
                            <m:sty m:val="p"/>
                          </m:rPr>
                          <a:rPr lang="vi-VN" sz="2800">
                            <a:solidFill>
                              <a:schemeClr val="tx1"/>
                            </a:solidFill>
                            <a:latin typeface="Cambria Math" panose="02040503050406030204" pitchFamily="18" charset="0"/>
                          </a:rPr>
                          <m:t>argmin</m:t>
                        </m:r>
                      </m:e>
                      <m:sub>
                        <m:r>
                          <a:rPr lang="vi-VN" sz="2800" b="1" i="1">
                            <a:solidFill>
                              <a:schemeClr val="tx1"/>
                            </a:solidFill>
                            <a:latin typeface="Cambria Math" panose="02040503050406030204" pitchFamily="18" charset="0"/>
                          </a:rPr>
                          <m:t>𝜽</m:t>
                        </m:r>
                      </m:sub>
                    </m:sSub>
                    <m:r>
                      <a:rPr lang="vi-VN" sz="2800" i="1">
                        <a:solidFill>
                          <a:schemeClr val="tx1"/>
                        </a:solidFill>
                        <a:latin typeface="Cambria Math" panose="02040503050406030204" pitchFamily="18" charset="0"/>
                      </a:rPr>
                      <m:t>𝐶</m:t>
                    </m:r>
                    <m:d>
                      <m:dPr>
                        <m:ctrlPr>
                          <a:rPr lang="vi-VN" sz="2800" b="1"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oMath>
                </a14:m>
                <a:r>
                  <a:rPr lang="en-VN" sz="2800" b="1" i="1">
                    <a:solidFill>
                      <a:schemeClr val="tx1"/>
                    </a:solidFill>
                    <a:latin typeface="Calibri" panose="020F0502020204030204" pitchFamily="34" charset="0"/>
                    <a:cs typeface="Calibri" panose="020F0502020204030204" pitchFamily="34" charset="0"/>
                  </a:rPr>
                  <a:t> </a:t>
                </a:r>
              </a:p>
              <a:p>
                <a:r>
                  <a:rPr lang="en-VN" sz="2800" i="1">
                    <a:solidFill>
                      <a:schemeClr val="tx1"/>
                    </a:solidFill>
                    <a:latin typeface="Calibri" panose="020F0502020204030204" pitchFamily="34" charset="0"/>
                    <a:cs typeface="Calibri" panose="020F0502020204030204" pitchFamily="34" charset="0"/>
                  </a:rPr>
                  <a:t> </a:t>
                </a:r>
              </a:p>
            </p:txBody>
          </p:sp>
        </mc:Choice>
        <mc:Fallback>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838200" y="1441621"/>
                <a:ext cx="8772611" cy="3273984"/>
              </a:xfrm>
              <a:prstGeom prst="rect">
                <a:avLst/>
              </a:prstGeom>
              <a:blipFill>
                <a:blip r:embed="rId2"/>
                <a:stretch>
                  <a:fillRect l="-1447" t="-1931"/>
                </a:stretch>
              </a:blipFill>
              <a:ln>
                <a:noFill/>
              </a:ln>
            </p:spPr>
            <p:txBody>
              <a:bodyPr/>
              <a:lstStyle/>
              <a:p>
                <a:r>
                  <a:rPr lang="en-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7</a:t>
            </a:fld>
            <a:endParaRPr lang="en-VN"/>
          </a:p>
        </p:txBody>
      </p:sp>
      <mc:AlternateContent xmlns:mc="http://schemas.openxmlformats.org/markup-compatibility/2006">
        <mc:Choice xmlns:a14="http://schemas.microsoft.com/office/drawing/2010/main" Requires="a14">
          <p:sp>
            <p:nvSpPr>
              <p:cNvPr id="46" name="Rectangle 45">
                <a:extLst>
                  <a:ext uri="{FF2B5EF4-FFF2-40B4-BE49-F238E27FC236}">
                    <a16:creationId xmlns:a16="http://schemas.microsoft.com/office/drawing/2014/main" id="{A8A39BA6-8714-E404-42DE-F41BAB3062DD}"/>
                  </a:ext>
                </a:extLst>
              </p:cNvPr>
              <p:cNvSpPr/>
              <p:nvPr/>
            </p:nvSpPr>
            <p:spPr>
              <a:xfrm>
                <a:off x="1548716" y="4924383"/>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548716" y="4924383"/>
                <a:ext cx="1691501"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3943180" y="514448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4017441" y="5337280"/>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4089730" y="5233775"/>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1213708" y="5222791"/>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3532721" y="521744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4" name="TextBox 63">
                <a:extLst>
                  <a:ext uri="{FF2B5EF4-FFF2-40B4-BE49-F238E27FC236}">
                    <a16:creationId xmlns:a16="http://schemas.microsoft.com/office/drawing/2014/main" id="{7708B677-147A-6A63-0034-BADA4C3CE1A8}"/>
                  </a:ext>
                </a:extLst>
              </p:cNvPr>
              <p:cNvSpPr txBox="1"/>
              <p:nvPr/>
            </p:nvSpPr>
            <p:spPr>
              <a:xfrm>
                <a:off x="4887780" y="5112021"/>
                <a:ext cx="911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oMath>
                  </m:oMathPara>
                </a14:m>
                <a:endParaRPr lang="en-VN" sz="2400"/>
              </a:p>
            </p:txBody>
          </p:sp>
        </mc:Choice>
        <mc:Fallback>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4887780" y="5112021"/>
                <a:ext cx="911656" cy="461665"/>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flipV="1">
            <a:off x="4351605" y="5342854"/>
            <a:ext cx="536175" cy="62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B780FC65-407E-2595-D7CC-35B757880195}"/>
                  </a:ext>
                </a:extLst>
              </p:cNvPr>
              <p:cNvSpPr txBox="1"/>
              <p:nvPr/>
            </p:nvSpPr>
            <p:spPr>
              <a:xfrm>
                <a:off x="6365938" y="5112172"/>
                <a:ext cx="10544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2400">
                          <a:solidFill>
                            <a:srgbClr val="FF0000"/>
                          </a:solidFill>
                          <a:latin typeface="Cambria Math" panose="02040503050406030204" pitchFamily="18" charset="0"/>
                          <a:ea typeface="Cambria Math" panose="02040503050406030204" pitchFamily="18" charset="0"/>
                        </a:rPr>
                        <m:t>∇</m:t>
                      </m:r>
                      <m:r>
                        <a:rPr lang="vi-VN" sz="2400" i="1">
                          <a:solidFill>
                            <a:srgbClr val="FF0000"/>
                          </a:solidFill>
                          <a:latin typeface="Cambria Math" panose="02040503050406030204" pitchFamily="18" charset="0"/>
                          <a:ea typeface="Cambria Math" panose="02040503050406030204" pitchFamily="18" charset="0"/>
                        </a:rPr>
                        <m:t>𝐶</m:t>
                      </m:r>
                    </m:oMath>
                  </m:oMathPara>
                </a14:m>
                <a:endParaRPr lang="en-VN" sz="2400">
                  <a:solidFill>
                    <a:srgbClr val="FF0000"/>
                  </a:solidFill>
                </a:endParaRPr>
              </a:p>
            </p:txBody>
          </p:sp>
        </mc:Choice>
        <mc:Fallback>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6365938" y="5112172"/>
                <a:ext cx="1054447" cy="461665"/>
              </a:xfrm>
              <a:prstGeom prst="rect">
                <a:avLst/>
              </a:prstGeom>
              <a:blipFill>
                <a:blip r:embed="rId5"/>
                <a:stretch>
                  <a:fillRect/>
                </a:stretch>
              </a:blipFill>
            </p:spPr>
            <p:txBody>
              <a:bodyPr/>
              <a:lstStyle/>
              <a:p>
                <a:r>
                  <a:rPr lang="en-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5799436" y="5342854"/>
            <a:ext cx="566502" cy="15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01143910-BC54-FA73-56ED-84D98CB4DBBD}"/>
                  </a:ext>
                </a:extLst>
              </p:cNvPr>
              <p:cNvSpPr txBox="1"/>
              <p:nvPr/>
            </p:nvSpPr>
            <p:spPr>
              <a:xfrm>
                <a:off x="7952259" y="5119509"/>
                <a:ext cx="3504107" cy="461665"/>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sz="2400" i="1">
                            <a:latin typeface="Cambria Math" panose="02040503050406030204" pitchFamily="18" charset="0"/>
                          </a:rPr>
                        </m:ctrlPr>
                      </m:sSupPr>
                      <m:e>
                        <m:r>
                          <a:rPr lang="vi-VN" sz="2400" b="1" i="1">
                            <a:latin typeface="Cambria Math" panose="02040503050406030204" pitchFamily="18" charset="0"/>
                          </a:rPr>
                          <m:t>𝜽</m:t>
                        </m:r>
                      </m:e>
                      <m:sup>
                        <m:r>
                          <m:rPr>
                            <m:sty m:val="p"/>
                          </m:rPr>
                          <a:rPr lang="vi-VN" sz="2400" i="1">
                            <a:latin typeface="Cambria Math" panose="02040503050406030204" pitchFamily="18" charset="0"/>
                          </a:rPr>
                          <m:t>t</m:t>
                        </m:r>
                        <m:r>
                          <a:rPr lang="vi-VN" sz="2400" i="1">
                            <a:latin typeface="Cambria Math" panose="02040503050406030204" pitchFamily="18" charset="0"/>
                          </a:rPr>
                          <m:t>+1</m:t>
                        </m:r>
                      </m:sup>
                    </m:sSup>
                    <m:r>
                      <a:rPr lang="vi-VN" sz="2400" i="1">
                        <a:latin typeface="Cambria Math" panose="02040503050406030204" pitchFamily="18" charset="0"/>
                      </a:rPr>
                      <m:t>←</m:t>
                    </m:r>
                  </m:oMath>
                </a14:m>
                <a:r>
                  <a:rPr lang="en-VN" sz="2400"/>
                  <a:t> Optimizer</a:t>
                </a:r>
                <a14:m>
                  <m:oMath xmlns:m="http://schemas.openxmlformats.org/officeDocument/2006/math">
                    <m:r>
                      <a:rPr lang="en-VN" sz="2400" i="1">
                        <a:latin typeface="Cambria Math" panose="02040503050406030204" pitchFamily="18" charset="0"/>
                      </a:rPr>
                      <m:t>(</m:t>
                    </m:r>
                    <m:r>
                      <a:rPr lang="vi-VN" sz="2400" b="1" i="1">
                        <a:latin typeface="Cambria Math" panose="02040503050406030204" pitchFamily="18" charset="0"/>
                      </a:rPr>
                      <m:t>𝜽</m:t>
                    </m:r>
                    <m:r>
                      <a:rPr lang="vi-VN" sz="2400" i="1">
                        <a:latin typeface="Cambria Math" panose="02040503050406030204" pitchFamily="18" charset="0"/>
                      </a:rPr>
                      <m:t>,</m:t>
                    </m:r>
                    <m:r>
                      <m:rPr>
                        <m:sty m:val="p"/>
                      </m:rPr>
                      <a:rPr lang="vi-VN" sz="2400">
                        <a:latin typeface="Cambria Math" panose="02040503050406030204" pitchFamily="18" charset="0"/>
                      </a:rPr>
                      <m:t>∇</m:t>
                    </m:r>
                    <m:r>
                      <a:rPr lang="vi-VN" sz="2400" i="1">
                        <a:latin typeface="Cambria Math" panose="02040503050406030204" pitchFamily="18" charset="0"/>
                      </a:rPr>
                      <m:t>𝐶</m:t>
                    </m:r>
                    <m:r>
                      <a:rPr lang="en-VN" sz="2400" i="1">
                        <a:latin typeface="Cambria Math" panose="02040503050406030204" pitchFamily="18" charset="0"/>
                      </a:rPr>
                      <m:t>)</m:t>
                    </m:r>
                  </m:oMath>
                </a14:m>
                <a:endParaRPr lang="en-VN" sz="2400"/>
              </a:p>
            </p:txBody>
          </p:sp>
        </mc:Choice>
        <mc:Fallback>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7952259" y="5119509"/>
                <a:ext cx="3504107" cy="461665"/>
              </a:xfrm>
              <a:prstGeom prst="rect">
                <a:avLst/>
              </a:prstGeom>
              <a:blipFill>
                <a:blip r:embed="rId6"/>
                <a:stretch>
                  <a:fillRect l="-360" t="-7692" b="-25641"/>
                </a:stretch>
              </a:blipFill>
              <a:ln>
                <a:solidFill>
                  <a:schemeClr val="tx1"/>
                </a:solidFill>
                <a:prstDash val="dash"/>
              </a:ln>
            </p:spPr>
            <p:txBody>
              <a:bodyPr/>
              <a:lstStyle/>
              <a:p>
                <a:r>
                  <a:rPr lang="en-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7420385" y="5343005"/>
            <a:ext cx="531874" cy="733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5943926" y="2031715"/>
            <a:ext cx="210928" cy="7309846"/>
          </a:xfrm>
          <a:prstGeom prst="bentConnector3">
            <a:avLst>
              <a:gd name="adj1" fmla="val 208378"/>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A50D1D80-D9B7-5ED7-3B35-6399690675AF}"/>
                  </a:ext>
                </a:extLst>
              </p:cNvPr>
              <p:cNvSpPr txBox="1"/>
              <p:nvPr/>
            </p:nvSpPr>
            <p:spPr>
              <a:xfrm>
                <a:off x="4492370" y="5640366"/>
                <a:ext cx="4613189" cy="461665"/>
              </a:xfrm>
              <a:prstGeom prst="rect">
                <a:avLst/>
              </a:prstGeom>
              <a:noFill/>
            </p:spPr>
            <p:txBody>
              <a:bodyPr wrap="square" rtlCol="0">
                <a:spAutoFit/>
              </a:bodyPr>
              <a:lstStyle/>
              <a:p>
                <a:r>
                  <a:rPr lang="en-VN" sz="2400"/>
                  <a:t>Update </a:t>
                </a:r>
                <a14:m>
                  <m:oMath xmlns:m="http://schemas.openxmlformats.org/officeDocument/2006/math">
                    <m:r>
                      <a:rPr lang="en-VN" sz="2400" b="1" i="1">
                        <a:latin typeface="Cambria Math" panose="02040503050406030204" pitchFamily="18" charset="0"/>
                      </a:rPr>
                      <m:t>𝜽</m:t>
                    </m:r>
                  </m:oMath>
                </a14:m>
                <a:r>
                  <a:rPr lang="en-VN" sz="2400" b="1"/>
                  <a:t> </a:t>
                </a:r>
                <a:r>
                  <a:rPr lang="en-VN" sz="2400"/>
                  <a:t>until </a:t>
                </a:r>
                <a14:m>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r>
                      <a:rPr lang="vi-VN" sz="2400" b="1" i="1">
                        <a:latin typeface="Cambria Math" panose="02040503050406030204" pitchFamily="18" charset="0"/>
                        <a:ea typeface="Cambria Math" panose="02040503050406030204" pitchFamily="18" charset="0"/>
                      </a:rPr>
                      <m:t>&lt;</m:t>
                    </m:r>
                    <m:r>
                      <a:rPr lang="vi-VN" sz="2400" i="1">
                        <a:latin typeface="Cambria Math" panose="02040503050406030204" pitchFamily="18" charset="0"/>
                        <a:ea typeface="Cambria Math" panose="02040503050406030204" pitchFamily="18" charset="0"/>
                      </a:rPr>
                      <m:t>𝜏</m:t>
                    </m:r>
                  </m:oMath>
                </a14:m>
                <a:endParaRPr lang="en-VN" sz="2400"/>
              </a:p>
            </p:txBody>
          </p:sp>
        </mc:Choice>
        <mc:Fallback>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4492370" y="5640366"/>
                <a:ext cx="4613189" cy="461665"/>
              </a:xfrm>
              <a:prstGeom prst="rect">
                <a:avLst/>
              </a:prstGeom>
              <a:blipFill>
                <a:blip r:embed="rId7"/>
                <a:stretch>
                  <a:fillRect l="-1918" t="-10811" b="-29730"/>
                </a:stretch>
              </a:blipFill>
            </p:spPr>
            <p:txBody>
              <a:bodyPr/>
              <a:lstStyle/>
              <a:p>
                <a:r>
                  <a:rPr lang="en-VN">
                    <a:noFill/>
                  </a:rPr>
                  <a:t> </a:t>
                </a:r>
              </a:p>
            </p:txBody>
          </p:sp>
        </mc:Fallback>
      </mc:AlternateContent>
      <p:sp>
        <p:nvSpPr>
          <p:cNvPr id="80" name="TextBox 79">
            <a:extLst>
              <a:ext uri="{FF2B5EF4-FFF2-40B4-BE49-F238E27FC236}">
                <a16:creationId xmlns:a16="http://schemas.microsoft.com/office/drawing/2014/main" id="{7C84B3EA-56D1-AEB4-2040-3AB4D9C32451}"/>
              </a:ext>
            </a:extLst>
          </p:cNvPr>
          <p:cNvSpPr txBox="1"/>
          <p:nvPr/>
        </p:nvSpPr>
        <p:spPr>
          <a:xfrm>
            <a:off x="6181126" y="4242085"/>
            <a:ext cx="1397685" cy="461665"/>
          </a:xfrm>
          <a:prstGeom prst="rect">
            <a:avLst/>
          </a:prstGeom>
          <a:noFill/>
        </p:spPr>
        <p:txBody>
          <a:bodyPr wrap="square" rtlCol="0">
            <a:spAutoFit/>
          </a:bodyPr>
          <a:lstStyle/>
          <a:p>
            <a:r>
              <a:rPr lang="en-VN" sz="2400">
                <a:solidFill>
                  <a:srgbClr val="FF0000"/>
                </a:solidFill>
              </a:rPr>
              <a:t>Gradient</a:t>
            </a:r>
          </a:p>
        </p:txBody>
      </p:sp>
      <p:cxnSp>
        <p:nvCxnSpPr>
          <p:cNvPr id="81" name="Straight Arrow Connector 80">
            <a:extLst>
              <a:ext uri="{FF2B5EF4-FFF2-40B4-BE49-F238E27FC236}">
                <a16:creationId xmlns:a16="http://schemas.microsoft.com/office/drawing/2014/main" id="{91851B99-096F-9AE9-3916-FC38B8A1A642}"/>
              </a:ext>
            </a:extLst>
          </p:cNvPr>
          <p:cNvCxnSpPr>
            <a:cxnSpLocks/>
            <a:stCxn id="80" idx="2"/>
            <a:endCxn id="67" idx="0"/>
          </p:cNvCxnSpPr>
          <p:nvPr/>
        </p:nvCxnSpPr>
        <p:spPr>
          <a:xfrm>
            <a:off x="6879969" y="4703750"/>
            <a:ext cx="13193" cy="408422"/>
          </a:xfrm>
          <a:prstGeom prst="straightConnector1">
            <a:avLst/>
          </a:prstGeom>
          <a:ln>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904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921D-108F-FF86-3522-399BA6BB5155}"/>
              </a:ext>
            </a:extLst>
          </p:cNvPr>
          <p:cNvSpPr>
            <a:spLocks noGrp="1"/>
          </p:cNvSpPr>
          <p:nvPr>
            <p:ph type="title"/>
          </p:nvPr>
        </p:nvSpPr>
        <p:spPr/>
        <p:txBody>
          <a:bodyPr/>
          <a:lstStyle/>
          <a:p>
            <a:r>
              <a:rPr lang="en-US"/>
              <a:t>1.4. </a:t>
            </a:r>
            <a:r>
              <a:rPr lang="en-VN"/>
              <a:t>Gradient</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156DC11-7823-551F-9FDB-8AB8DA234703}"/>
                  </a:ext>
                </a:extLst>
              </p:cNvPr>
              <p:cNvSpPr>
                <a:spLocks noGrp="1"/>
              </p:cNvSpPr>
              <p:nvPr>
                <p:ph idx="1"/>
              </p:nvPr>
            </p:nvSpPr>
            <p:spPr>
              <a:xfrm>
                <a:off x="1648691" y="2244684"/>
                <a:ext cx="6358488" cy="9541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indent="0">
                  <a:buNone/>
                </a:pPr>
                <a14:m>
                  <m:oMath xmlns:m="http://schemas.openxmlformats.org/officeDocument/2006/math">
                    <m:r>
                      <m:rPr>
                        <m:sty m:val="p"/>
                      </m:rPr>
                      <a:rPr lang="vi-VN" b="0" i="0">
                        <a:solidFill>
                          <a:schemeClr val="tx1"/>
                        </a:solidFill>
                        <a:latin typeface="Cambria Math" panose="02040503050406030204" pitchFamily="18" charset="0"/>
                        <a:ea typeface="Cambria Math" panose="02040503050406030204" pitchFamily="18" charset="0"/>
                      </a:rPr>
                      <m:t>∇</m:t>
                    </m:r>
                    <m:r>
                      <a:rPr lang="vi-VN" i="1">
                        <a:solidFill>
                          <a:schemeClr val="tx1"/>
                        </a:solidFill>
                        <a:latin typeface="Cambria Math" panose="02040503050406030204" pitchFamily="18" charset="0"/>
                        <a:ea typeface="Cambria Math" panose="02040503050406030204" pitchFamily="18" charset="0"/>
                      </a:rPr>
                      <m:t>𝐶</m:t>
                    </m:r>
                    <m:r>
                      <a:rPr lang="vi-VN" b="0" i="1">
                        <a:solidFill>
                          <a:schemeClr val="tx1"/>
                        </a:solidFill>
                        <a:latin typeface="Cambria Math" panose="02040503050406030204" pitchFamily="18" charset="0"/>
                        <a:ea typeface="Cambria Math" panose="02040503050406030204" pitchFamily="18" charset="0"/>
                      </a:rPr>
                      <m:t>=</m:t>
                    </m:r>
                    <m:sSup>
                      <m:sSupPr>
                        <m:ctrlPr>
                          <a:rPr lang="vi-VN" b="0" i="1">
                            <a:solidFill>
                              <a:schemeClr val="tx1"/>
                            </a:solidFill>
                            <a:latin typeface="Cambria Math" panose="02040503050406030204" pitchFamily="18" charset="0"/>
                            <a:ea typeface="Cambria Math" panose="02040503050406030204" pitchFamily="18" charset="0"/>
                          </a:rPr>
                        </m:ctrlPr>
                      </m:sSupPr>
                      <m:e>
                        <m:d>
                          <m:dPr>
                            <m:begChr m:val="["/>
                            <m:endChr m:val="]"/>
                            <m:ctrlPr>
                              <a:rPr lang="vi-VN" b="0" i="1">
                                <a:solidFill>
                                  <a:schemeClr val="tx1"/>
                                </a:solidFill>
                                <a:latin typeface="Cambria Math" panose="02040503050406030204" pitchFamily="18" charset="0"/>
                                <a:ea typeface="Cambria Math" panose="02040503050406030204" pitchFamily="18" charset="0"/>
                              </a:rPr>
                            </m:ctrlPr>
                          </m:dPr>
                          <m:e>
                            <m:m>
                              <m:mPr>
                                <m:mcs>
                                  <m:mc>
                                    <m:mcPr>
                                      <m:count m:val="3"/>
                                      <m:mcJc m:val="center"/>
                                    </m:mcPr>
                                  </m:mc>
                                </m:mcs>
                                <m:ctrlPr>
                                  <a:rPr lang="vi-VN" b="0" i="1">
                                    <a:solidFill>
                                      <a:schemeClr val="tx1"/>
                                    </a:solidFill>
                                    <a:latin typeface="Cambria Math" panose="02040503050406030204" pitchFamily="18" charset="0"/>
                                    <a:ea typeface="Cambria Math" panose="02040503050406030204" pitchFamily="18" charset="0"/>
                                  </a:rPr>
                                </m:ctrlPr>
                              </m:mPr>
                              <m:mr>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0</m:t>
                                          </m:r>
                                        </m:sub>
                                      </m:sSub>
                                    </m:sub>
                                  </m:sSub>
                                  <m:r>
                                    <a:rPr lang="vi-VN" i="1">
                                      <a:solidFill>
                                        <a:schemeClr val="tx1"/>
                                      </a:solidFill>
                                      <a:latin typeface="Cambria Math" panose="02040503050406030204" pitchFamily="18" charset="0"/>
                                      <a:ea typeface="Cambria Math" panose="02040503050406030204" pitchFamily="18" charset="0"/>
                                    </a:rPr>
                                    <m:t>𝐶</m:t>
                                  </m:r>
                                </m:e>
                                <m:e>
                                  <m:r>
                                    <a:rPr lang="vi-VN" b="0" i="1">
                                      <a:solidFill>
                                        <a:schemeClr val="tx1"/>
                                      </a:solidFill>
                                      <a:latin typeface="Cambria Math" panose="02040503050406030204" pitchFamily="18" charset="0"/>
                                      <a:ea typeface="Cambria Math" panose="02040503050406030204" pitchFamily="18" charset="0"/>
                                    </a:rPr>
                                    <m:t>…</m:t>
                                  </m:r>
                                </m:e>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𝑚</m:t>
                                          </m:r>
                                          <m:r>
                                            <a:rPr lang="vi-VN" b="0" i="1">
                                              <a:solidFill>
                                                <a:schemeClr val="tx1"/>
                                              </a:solidFill>
                                              <a:latin typeface="Cambria Math" panose="02040503050406030204" pitchFamily="18" charset="0"/>
                                              <a:ea typeface="Cambria Math" panose="02040503050406030204" pitchFamily="18" charset="0"/>
                                            </a:rPr>
                                            <m:t>−1</m:t>
                                          </m:r>
                                        </m:sub>
                                      </m:sSub>
                                    </m:sub>
                                  </m:sSub>
                                  <m:r>
                                    <a:rPr lang="vi-VN" i="1">
                                      <a:solidFill>
                                        <a:schemeClr val="tx1"/>
                                      </a:solidFill>
                                      <a:latin typeface="Cambria Math" panose="02040503050406030204" pitchFamily="18" charset="0"/>
                                      <a:ea typeface="Cambria Math" panose="02040503050406030204" pitchFamily="18" charset="0"/>
                                    </a:rPr>
                                    <m:t>𝐶</m:t>
                                  </m:r>
                                </m:e>
                              </m:mr>
                            </m:m>
                          </m:e>
                        </m:d>
                      </m:e>
                      <m:sup>
                        <m:r>
                          <a:rPr lang="vi-VN" b="0" i="1">
                            <a:solidFill>
                              <a:schemeClr val="tx1"/>
                            </a:solidFill>
                            <a:latin typeface="Cambria Math" panose="02040503050406030204" pitchFamily="18" charset="0"/>
                            <a:ea typeface="Cambria Math" panose="02040503050406030204" pitchFamily="18" charset="0"/>
                          </a:rPr>
                          <m:t>⊺</m:t>
                        </m:r>
                      </m:sup>
                    </m:sSup>
                  </m:oMath>
                </a14:m>
                <a:r>
                  <a:rPr lang="en-VN" b="1" i="1">
                    <a:solidFill>
                      <a:schemeClr val="tx1"/>
                    </a:solidFill>
                  </a:rPr>
                  <a:t> </a:t>
                </a:r>
              </a:p>
            </p:txBody>
          </p:sp>
        </mc:Choice>
        <mc:Fallback>
          <p:sp>
            <p:nvSpPr>
              <p:cNvPr id="4" name="Content Placeholder 3">
                <a:extLst>
                  <a:ext uri="{FF2B5EF4-FFF2-40B4-BE49-F238E27FC236}">
                    <a16:creationId xmlns:a16="http://schemas.microsoft.com/office/drawing/2014/main" id="{F156DC11-7823-551F-9FDB-8AB8DA234703}"/>
                  </a:ext>
                </a:extLst>
              </p:cNvPr>
              <p:cNvSpPr>
                <a:spLocks noGrp="1" noRot="1" noChangeAspect="1" noMove="1" noResize="1" noEditPoints="1" noAdjustHandles="1" noChangeArrowheads="1" noChangeShapeType="1" noTextEdit="1"/>
              </p:cNvSpPr>
              <p:nvPr>
                <p:ph idx="1"/>
              </p:nvPr>
            </p:nvSpPr>
            <p:spPr>
              <a:xfrm>
                <a:off x="1648691" y="2244684"/>
                <a:ext cx="6358488" cy="954107"/>
              </a:xfrm>
              <a:prstGeom prst="rect">
                <a:avLst/>
              </a:prstGeom>
              <a:blipFill>
                <a:blip r:embed="rId2"/>
                <a:stretch>
                  <a:fillRect l="-398"/>
                </a:stretch>
              </a:blipFill>
              <a:ln>
                <a:noFill/>
              </a:ln>
            </p:spPr>
            <p:txBody>
              <a:bodyPr/>
              <a:lstStyle/>
              <a:p>
                <a:r>
                  <a:rPr lang="en-VN">
                    <a:noFill/>
                  </a:rPr>
                  <a:t> </a:t>
                </a:r>
              </a:p>
            </p:txBody>
          </p:sp>
        </mc:Fallback>
      </mc:AlternateContent>
      <p:sp>
        <p:nvSpPr>
          <p:cNvPr id="5" name="TextBox 4">
            <a:extLst>
              <a:ext uri="{FF2B5EF4-FFF2-40B4-BE49-F238E27FC236}">
                <a16:creationId xmlns:a16="http://schemas.microsoft.com/office/drawing/2014/main" id="{8A37164C-7F40-2C49-B88B-7F4A329943D4}"/>
              </a:ext>
            </a:extLst>
          </p:cNvPr>
          <p:cNvSpPr txBox="1"/>
          <p:nvPr/>
        </p:nvSpPr>
        <p:spPr>
          <a:xfrm>
            <a:off x="838201" y="1690687"/>
            <a:ext cx="10233455" cy="523220"/>
          </a:xfrm>
          <a:prstGeom prst="rect">
            <a:avLst/>
          </a:prstGeom>
          <a:noFill/>
        </p:spPr>
        <p:txBody>
          <a:bodyPr wrap="square" rtlCol="0">
            <a:spAutoFit/>
          </a:bodyPr>
          <a:lstStyle/>
          <a:p>
            <a:r>
              <a:rPr lang="en-VN" sz="2800"/>
              <a:t>Computing </a:t>
            </a:r>
            <a:r>
              <a:rPr lang="en-US" sz="2800"/>
              <a:t>PQC’s</a:t>
            </a:r>
            <a:r>
              <a:rPr lang="en-VN" sz="2800"/>
              <a:t> gradient is the key in </a:t>
            </a:r>
            <a:r>
              <a:rPr lang="en-US" sz="2800"/>
              <a:t>quantum </a:t>
            </a:r>
            <a:r>
              <a:rPr lang="en-VN" sz="2800"/>
              <a:t>optimization</a:t>
            </a:r>
            <a:r>
              <a:rPr lang="en-US" sz="2800"/>
              <a:t>:</a:t>
            </a:r>
            <a:endParaRPr lang="en-VN" sz="2800"/>
          </a:p>
        </p:txBody>
      </p:sp>
      <p:sp>
        <p:nvSpPr>
          <p:cNvPr id="6" name="TextBox 5">
            <a:extLst>
              <a:ext uri="{FF2B5EF4-FFF2-40B4-BE49-F238E27FC236}">
                <a16:creationId xmlns:a16="http://schemas.microsoft.com/office/drawing/2014/main" id="{5EB8BDE1-E923-084F-F9AD-EB9E3BABDDB0}"/>
              </a:ext>
            </a:extLst>
          </p:cNvPr>
          <p:cNvSpPr txBox="1"/>
          <p:nvPr/>
        </p:nvSpPr>
        <p:spPr>
          <a:xfrm>
            <a:off x="838201" y="2988203"/>
            <a:ext cx="11661345" cy="954107"/>
          </a:xfrm>
          <a:prstGeom prst="rect">
            <a:avLst/>
          </a:prstGeom>
          <a:noFill/>
        </p:spPr>
        <p:txBody>
          <a:bodyPr wrap="square" rtlCol="0">
            <a:spAutoFit/>
          </a:bodyPr>
          <a:lstStyle/>
          <a:p>
            <a:r>
              <a:rPr lang="en-US" sz="2800"/>
              <a:t>The partial derivative can be computed through </a:t>
            </a:r>
            <a:r>
              <a:rPr lang="en-VN" sz="2800"/>
              <a:t>parameter-shift rule </a:t>
            </a:r>
            <a:r>
              <a:rPr lang="en-VN" sz="2800" b="1"/>
              <a:t>[</a:t>
            </a:r>
            <a:r>
              <a:rPr lang="en-US" sz="2800" b="1"/>
              <a:t>1.17</a:t>
            </a:r>
            <a:r>
              <a:rPr lang="en-VN" sz="2800" b="1"/>
              <a:t>]</a:t>
            </a:r>
            <a:r>
              <a:rPr lang="en-VN" sz="2800"/>
              <a:t>:</a:t>
            </a:r>
          </a:p>
          <a:p>
            <a:endParaRPr lang="en-VN" sz="2800" i="1"/>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9119155-0CC6-FF6C-3B08-CF75C9C1790D}"/>
                  </a:ext>
                </a:extLst>
              </p:cNvPr>
              <p:cNvSpPr txBox="1"/>
              <p:nvPr/>
            </p:nvSpPr>
            <p:spPr>
              <a:xfrm>
                <a:off x="767643" y="4890891"/>
                <a:ext cx="11731903" cy="737189"/>
              </a:xfrm>
              <a:prstGeom prst="rect">
                <a:avLst/>
              </a:prstGeom>
              <a:noFill/>
            </p:spPr>
            <p:txBody>
              <a:bodyPr wrap="square" rtlCol="0">
                <a:spAutoFit/>
              </a:bodyPr>
              <a:lstStyle/>
              <a:p>
                <a:r>
                  <a:rPr lang="vi-VN" sz="280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vi-VN" sz="2800" i="1">
                        <a:latin typeface="Cambria Math" panose="02040503050406030204" pitchFamily="18" charset="0"/>
                        <a:ea typeface="Cambria Math" panose="02040503050406030204" pitchFamily="18" charset="0"/>
                      </a:rPr>
                      <m:t>𝐶</m:t>
                    </m:r>
                    <m:d>
                      <m:dPr>
                        <m:ctrlPr>
                          <a:rPr lang="vi-VN" sz="2800" i="1">
                            <a:latin typeface="Cambria Math" panose="02040503050406030204" pitchFamily="18" charset="0"/>
                            <a:ea typeface="Cambria Math" panose="02040503050406030204" pitchFamily="18" charset="0"/>
                          </a:rPr>
                        </m:ctrlPr>
                      </m:dPr>
                      <m:e>
                        <m:sSubSup>
                          <m:sSubSupPr>
                            <m:ctrlPr>
                              <a:rPr lang="vi-VN" sz="2800" i="1">
                                <a:latin typeface="Cambria Math" panose="02040503050406030204" pitchFamily="18" charset="0"/>
                                <a:ea typeface="Cambria Math" panose="02040503050406030204" pitchFamily="18" charset="0"/>
                              </a:rPr>
                            </m:ctrlPr>
                          </m:sSubSupPr>
                          <m:e>
                            <m:r>
                              <a:rPr lang="vi-VN" sz="2800" i="1">
                                <a:latin typeface="Cambria Math" panose="02040503050406030204" pitchFamily="18" charset="0"/>
                                <a:ea typeface="Cambria Math" panose="02040503050406030204" pitchFamily="18" charset="0"/>
                              </a:rPr>
                              <m:t>𝜃</m:t>
                            </m:r>
                          </m:e>
                          <m:sub>
                            <m:r>
                              <a:rPr lang="vi-VN" sz="2800" i="1">
                                <a:latin typeface="Cambria Math" panose="02040503050406030204" pitchFamily="18" charset="0"/>
                                <a:ea typeface="Cambria Math" panose="02040503050406030204" pitchFamily="18" charset="0"/>
                              </a:rPr>
                              <m:t>𝑗</m:t>
                            </m:r>
                          </m:sub>
                          <m:sup>
                            <m:r>
                              <a:rPr lang="vi-VN" sz="2800" i="1">
                                <a:latin typeface="Cambria Math" panose="02040503050406030204" pitchFamily="18" charset="0"/>
                                <a:ea typeface="Cambria Math" panose="02040503050406030204" pitchFamily="18" charset="0"/>
                              </a:rPr>
                              <m:t>+</m:t>
                            </m:r>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sup>
                        </m:sSubSup>
                      </m:e>
                    </m:d>
                    <m:r>
                      <a:rPr lang="vi-VN" sz="2800" i="1">
                        <a:latin typeface="Cambria Math" panose="02040503050406030204" pitchFamily="18" charset="0"/>
                        <a:ea typeface="Cambria Math" panose="02040503050406030204" pitchFamily="18" charset="0"/>
                      </a:rPr>
                      <m:t>≡</m:t>
                    </m:r>
                    <m:r>
                      <a:rPr lang="vi-VN" sz="2800" i="1">
                        <a:latin typeface="Cambria Math" panose="02040503050406030204" pitchFamily="18" charset="0"/>
                        <a:ea typeface="Cambria Math" panose="02040503050406030204" pitchFamily="18" charset="0"/>
                      </a:rPr>
                      <m:t>𝐶</m:t>
                    </m:r>
                    <m:d>
                      <m:dPr>
                        <m:ctrlPr>
                          <a:rPr lang="vi-VN" sz="2800" i="1">
                            <a:latin typeface="Cambria Math" panose="02040503050406030204" pitchFamily="18" charset="0"/>
                            <a:ea typeface="Cambria Math" panose="02040503050406030204" pitchFamily="18" charset="0"/>
                          </a:rPr>
                        </m:ctrlPr>
                      </m:dPr>
                      <m:e>
                        <m:r>
                          <a:rPr lang="vi-VN" sz="2800" b="1" i="1">
                            <a:latin typeface="Cambria Math" panose="02040503050406030204" pitchFamily="18" charset="0"/>
                            <a:ea typeface="Cambria Math" panose="02040503050406030204" pitchFamily="18" charset="0"/>
                          </a:rPr>
                          <m:t>𝜽</m:t>
                        </m:r>
                        <m:r>
                          <a:rPr lang="vi-VN" sz="2800" b="1" i="1">
                            <a:latin typeface="Cambria Math" panose="02040503050406030204" pitchFamily="18" charset="0"/>
                            <a:ea typeface="Cambria Math" panose="02040503050406030204" pitchFamily="18" charset="0"/>
                          </a:rPr>
                          <m:t>+</m:t>
                        </m:r>
                        <m:sSub>
                          <m:sSubPr>
                            <m:ctrlPr>
                              <a:rPr lang="vi-VN" sz="2800" b="1" i="1">
                                <a:latin typeface="Cambria Math" panose="02040503050406030204" pitchFamily="18" charset="0"/>
                                <a:ea typeface="Cambria Math" panose="02040503050406030204" pitchFamily="18" charset="0"/>
                              </a:rPr>
                            </m:ctrlPr>
                          </m:sSubPr>
                          <m:e>
                            <m:r>
                              <a:rPr lang="vi-VN" sz="2800" b="1">
                                <a:latin typeface="Cambria Math" panose="02040503050406030204" pitchFamily="18" charset="0"/>
                                <a:ea typeface="Cambria Math" panose="02040503050406030204" pitchFamily="18" charset="0"/>
                              </a:rPr>
                              <m:t>𝐞</m:t>
                            </m:r>
                          </m:e>
                          <m:sub>
                            <m:r>
                              <a:rPr lang="vi-VN" sz="2800" b="1">
                                <a:latin typeface="Cambria Math" panose="02040503050406030204" pitchFamily="18" charset="0"/>
                                <a:ea typeface="Cambria Math" panose="02040503050406030204" pitchFamily="18" charset="0"/>
                              </a:rPr>
                              <m:t>𝐣</m:t>
                            </m:r>
                          </m:sub>
                        </m:sSub>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e>
                    </m:d>
                  </m:oMath>
                </a14:m>
                <a:r>
                  <a:rPr lang="en-VN" sz="280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vi-VN" sz="2800" b="1" i="1">
                            <a:latin typeface="Cambria Math" panose="02040503050406030204" pitchFamily="18" charset="0"/>
                            <a:ea typeface="Cambria Math" panose="02040503050406030204" pitchFamily="18" charset="0"/>
                          </a:rPr>
                        </m:ctrlPr>
                      </m:sSubPr>
                      <m:e>
                        <m:r>
                          <a:rPr lang="vi-VN" sz="2800" b="1">
                            <a:latin typeface="Cambria Math" panose="02040503050406030204" pitchFamily="18" charset="0"/>
                            <a:ea typeface="Cambria Math" panose="02040503050406030204" pitchFamily="18" charset="0"/>
                          </a:rPr>
                          <m:t>𝐞</m:t>
                        </m:r>
                      </m:e>
                      <m:sub>
                        <m:r>
                          <a:rPr lang="vi-VN" sz="2800" b="1">
                            <a:latin typeface="Cambria Math" panose="02040503050406030204" pitchFamily="18" charset="0"/>
                            <a:ea typeface="Cambria Math" panose="02040503050406030204" pitchFamily="18" charset="0"/>
                          </a:rPr>
                          <m:t>𝐣</m:t>
                        </m:r>
                      </m:sub>
                    </m:sSub>
                  </m:oMath>
                </a14:m>
                <a:r>
                  <a:rPr lang="en-VN" sz="2800">
                    <a:latin typeface="Calibri" panose="020F0502020204030204" pitchFamily="34" charset="0"/>
                    <a:ea typeface="Calibri" panose="020F0502020204030204" pitchFamily="34" charset="0"/>
                    <a:cs typeface="Calibri" panose="020F0502020204030204" pitchFamily="34" charset="0"/>
                  </a:rPr>
                  <a:t> is the </a:t>
                </a:r>
                <a14:m>
                  <m:oMath xmlns:m="http://schemas.openxmlformats.org/officeDocument/2006/math">
                    <m:sSup>
                      <m:sSupPr>
                        <m:ctrlPr>
                          <a:rPr lang="vi-VN" sz="2800" i="1">
                            <a:latin typeface="Cambria Math" panose="02040503050406030204" pitchFamily="18" charset="0"/>
                          </a:rPr>
                        </m:ctrlPr>
                      </m:sSupPr>
                      <m:e>
                        <m:r>
                          <a:rPr lang="en-VN" sz="2800" i="1">
                            <a:latin typeface="Cambria Math" panose="02040503050406030204" pitchFamily="18" charset="0"/>
                          </a:rPr>
                          <m:t>𝑗</m:t>
                        </m:r>
                      </m:e>
                      <m:sup>
                        <m:r>
                          <a:rPr lang="en-VN" sz="2800" i="1">
                            <a:latin typeface="Cambria Math" panose="02040503050406030204" pitchFamily="18" charset="0"/>
                          </a:rPr>
                          <m:t>𝑡h</m:t>
                        </m:r>
                      </m:sup>
                    </m:sSup>
                  </m:oMath>
                </a14:m>
                <a:r>
                  <a:rPr lang="en-VN" sz="2800">
                    <a:latin typeface="Calibri" panose="020F0502020204030204" pitchFamily="34" charset="0"/>
                    <a:ea typeface="Calibri" panose="020F0502020204030204" pitchFamily="34" charset="0"/>
                    <a:cs typeface="Calibri" panose="020F0502020204030204" pitchFamily="34" charset="0"/>
                  </a:rPr>
                  <a:t> unit vector, </a:t>
                </a:r>
                <a14:m>
                  <m:oMath xmlns:m="http://schemas.openxmlformats.org/officeDocument/2006/math">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oMath>
                </a14:m>
                <a:r>
                  <a:rPr lang="en-VN" sz="2800">
                    <a:latin typeface="Calibri" panose="020F0502020204030204" pitchFamily="34" charset="0"/>
                    <a:ea typeface="Calibri" panose="020F0502020204030204" pitchFamily="34" charset="0"/>
                    <a:cs typeface="Calibri" panose="020F0502020204030204" pitchFamily="34" charset="0"/>
                  </a:rPr>
                  <a:t> is the shift-value </a:t>
                </a:r>
              </a:p>
            </p:txBody>
          </p:sp>
        </mc:Choice>
        <mc:Fallback>
          <p:sp>
            <p:nvSpPr>
              <p:cNvPr id="7" name="TextBox 6">
                <a:extLst>
                  <a:ext uri="{FF2B5EF4-FFF2-40B4-BE49-F238E27FC236}">
                    <a16:creationId xmlns:a16="http://schemas.microsoft.com/office/drawing/2014/main" id="{F9119155-0CC6-FF6C-3B08-CF75C9C1790D}"/>
                  </a:ext>
                </a:extLst>
              </p:cNvPr>
              <p:cNvSpPr txBox="1">
                <a:spLocks noRot="1" noChangeAspect="1" noMove="1" noResize="1" noEditPoints="1" noAdjustHandles="1" noChangeArrowheads="1" noChangeShapeType="1" noTextEdit="1"/>
              </p:cNvSpPr>
              <p:nvPr/>
            </p:nvSpPr>
            <p:spPr>
              <a:xfrm>
                <a:off x="767643" y="4890891"/>
                <a:ext cx="11731903" cy="737189"/>
              </a:xfrm>
              <a:prstGeom prst="rect">
                <a:avLst/>
              </a:prstGeom>
              <a:blipFill>
                <a:blip r:embed="rId3"/>
                <a:stretch>
                  <a:fillRect l="-1081" b="-6667"/>
                </a:stretch>
              </a:blipFill>
            </p:spPr>
            <p:txBody>
              <a:bodyPr/>
              <a:lstStyle/>
              <a:p>
                <a:r>
                  <a:rPr lang="en-VN">
                    <a:noFill/>
                  </a:rPr>
                  <a:t> </a:t>
                </a:r>
              </a:p>
            </p:txBody>
          </p:sp>
        </mc:Fallback>
      </mc:AlternateContent>
      <p:sp>
        <p:nvSpPr>
          <p:cNvPr id="9" name="TextBox 8">
            <a:extLst>
              <a:ext uri="{FF2B5EF4-FFF2-40B4-BE49-F238E27FC236}">
                <a16:creationId xmlns:a16="http://schemas.microsoft.com/office/drawing/2014/main" id="{F2A3DF7A-C538-B93A-A7C9-06D99D69B1A3}"/>
              </a:ext>
            </a:extLst>
          </p:cNvPr>
          <p:cNvSpPr txBox="1"/>
          <p:nvPr/>
        </p:nvSpPr>
        <p:spPr>
          <a:xfrm>
            <a:off x="838201" y="6329980"/>
            <a:ext cx="8621889" cy="502573"/>
          </a:xfrm>
          <a:prstGeom prst="rect">
            <a:avLst/>
          </a:prstGeom>
          <a:noFill/>
        </p:spPr>
        <p:txBody>
          <a:bodyPr wrap="square">
            <a:spAutoFit/>
          </a:bodyPr>
          <a:lstStyle/>
          <a:p>
            <a:r>
              <a:rPr lang="en-US" sz="1333" b="1">
                <a:highlight>
                  <a:srgbClr val="FFFFFF"/>
                </a:highlight>
                <a:latin typeface="Arial" panose="020B0604020202020204" pitchFamily="34" charset="0"/>
              </a:rPr>
              <a:t>[1.17] </a:t>
            </a:r>
            <a:r>
              <a:rPr lang="en-US" sz="1333">
                <a:highlight>
                  <a:srgbClr val="FFFFFF"/>
                </a:highlight>
                <a:latin typeface="Arial" panose="020B0604020202020204" pitchFamily="34" charset="0"/>
              </a:rPr>
              <a:t>D. Wierichs, J. Izaac, C. Wang, and C. Y.-Y. Lin, “General parameter-shift rules for quantum gradients,” Quantum, vol. 6, p. 677, Mar. 2022</a:t>
            </a:r>
            <a:endParaRPr lang="en-VN" sz="1333"/>
          </a:p>
        </p:txBody>
      </p:sp>
      <p:sp>
        <p:nvSpPr>
          <p:cNvPr id="12" name="Slide Number Placeholder 11">
            <a:extLst>
              <a:ext uri="{FF2B5EF4-FFF2-40B4-BE49-F238E27FC236}">
                <a16:creationId xmlns:a16="http://schemas.microsoft.com/office/drawing/2014/main" id="{A0A80CC2-EDAD-A8C6-55F4-AA54EF5772ED}"/>
              </a:ext>
            </a:extLst>
          </p:cNvPr>
          <p:cNvSpPr>
            <a:spLocks noGrp="1"/>
          </p:cNvSpPr>
          <p:nvPr>
            <p:ph type="sldNum" sz="quarter" idx="12"/>
          </p:nvPr>
        </p:nvSpPr>
        <p:spPr/>
        <p:txBody>
          <a:bodyPr/>
          <a:lstStyle/>
          <a:p>
            <a:fld id="{D98A4569-6716-F649-8F1C-6F4A1EFC2E5C}" type="slidenum">
              <a:t>8</a:t>
            </a:fld>
            <a:endParaRPr lang="en-VN"/>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7931D01C-CD6D-79DE-1500-45400CA64561}"/>
                  </a:ext>
                </a:extLst>
              </p:cNvPr>
              <p:cNvSpPr txBox="1"/>
              <p:nvPr/>
            </p:nvSpPr>
            <p:spPr>
              <a:xfrm>
                <a:off x="1189681" y="3513997"/>
                <a:ext cx="6249771" cy="12461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vi-VN" sz="2667" i="1">
                              <a:latin typeface="Cambria Math" panose="02040503050406030204" pitchFamily="18" charset="0"/>
                              <a:ea typeface="Cambria Math" panose="02040503050406030204" pitchFamily="18" charset="0"/>
                            </a:rPr>
                          </m:ctrlPr>
                        </m:fPr>
                        <m:num>
                          <m:r>
                            <a:rPr lang="vi-VN" sz="2667" i="1">
                              <a:latin typeface="Cambria Math" panose="02040503050406030204" pitchFamily="18" charset="0"/>
                              <a:ea typeface="Cambria Math" panose="02040503050406030204" pitchFamily="18" charset="0"/>
                            </a:rPr>
                            <m:t>𝜕</m:t>
                          </m:r>
                          <m:r>
                            <a:rPr lang="vi-VN" sz="2667" i="1">
                              <a:latin typeface="Cambria Math" panose="02040503050406030204" pitchFamily="18" charset="0"/>
                              <a:ea typeface="Cambria Math" panose="02040503050406030204" pitchFamily="18" charset="0"/>
                            </a:rPr>
                            <m:t>𝐶</m:t>
                          </m:r>
                        </m:num>
                        <m:den>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Sub>
                        </m:den>
                      </m:f>
                      <m:r>
                        <a:rPr lang="vi-VN" sz="2667" i="1">
                          <a:latin typeface="Cambria Math" panose="02040503050406030204" pitchFamily="18" charset="0"/>
                          <a:ea typeface="Cambria Math" panose="02040503050406030204" pitchFamily="18" charset="0"/>
                        </a:rPr>
                        <m:t>=</m:t>
                      </m:r>
                      <m:nary>
                        <m:naryPr>
                          <m:chr m:val="∑"/>
                          <m:ctrlPr>
                            <a:rPr lang="vi-VN" sz="2667" i="1">
                              <a:latin typeface="Cambria Math" panose="02040503050406030204" pitchFamily="18" charset="0"/>
                              <a:ea typeface="Cambria Math" panose="02040503050406030204" pitchFamily="18" charset="0"/>
                            </a:rPr>
                          </m:ctrlPr>
                        </m:naryPr>
                        <m:sub>
                          <m:r>
                            <m:rPr>
                              <m:brk m:alnAt="23"/>
                            </m:rPr>
                            <a:rPr lang="vi-VN" sz="2667" i="1">
                              <a:latin typeface="Cambria Math" panose="02040503050406030204" pitchFamily="18" charset="0"/>
                              <a:ea typeface="Cambria Math" panose="02040503050406030204" pitchFamily="18" charset="0"/>
                            </a:rPr>
                            <m:t>𝑘</m:t>
                          </m:r>
                          <m:r>
                            <a:rPr lang="vi-VN" sz="2667" i="1">
                              <a:latin typeface="Cambria Math" panose="02040503050406030204" pitchFamily="18" charset="0"/>
                              <a:ea typeface="Cambria Math" panose="02040503050406030204" pitchFamily="18" charset="0"/>
                            </a:rPr>
                            <m:t>=1</m:t>
                          </m:r>
                        </m:sub>
                        <m:sup>
                          <m:r>
                            <a:rPr lang="vi-VN" sz="2667" i="1">
                              <a:latin typeface="Cambria Math" panose="02040503050406030204" pitchFamily="18" charset="0"/>
                              <a:ea typeface="Cambria Math" panose="02040503050406030204" pitchFamily="18" charset="0"/>
                            </a:rPr>
                            <m:t>𝑅</m:t>
                          </m:r>
                        </m:sup>
                        <m:e>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𝑑</m:t>
                              </m:r>
                            </m:e>
                            <m:sub>
                              <m:r>
                                <a:rPr lang="vi-VN" sz="2667" i="1">
                                  <a:latin typeface="Cambria Math" panose="02040503050406030204" pitchFamily="18" charset="0"/>
                                  <a:ea typeface="Cambria Math" panose="02040503050406030204" pitchFamily="18" charset="0"/>
                                </a:rPr>
                                <m:t>𝑘</m:t>
                              </m:r>
                            </m:sub>
                          </m:sSub>
                          <m:d>
                            <m:dPr>
                              <m:ctrlPr>
                                <a:rPr lang="vi-VN" sz="2667" i="1">
                                  <a:latin typeface="Cambria Math" panose="02040503050406030204" pitchFamily="18" charset="0"/>
                                  <a:ea typeface="Cambria Math" panose="02040503050406030204" pitchFamily="18" charset="0"/>
                                </a:rPr>
                              </m:ctrlPr>
                            </m:dPr>
                            <m:e>
                              <m:r>
                                <a:rPr lang="vi-VN" sz="2667" i="1">
                                  <a:latin typeface="Cambria Math" panose="02040503050406030204" pitchFamily="18" charset="0"/>
                                  <a:ea typeface="Cambria Math" panose="02040503050406030204" pitchFamily="18" charset="0"/>
                                </a:rPr>
                                <m:t>𝐶</m:t>
                              </m:r>
                              <m:d>
                                <m:dPr>
                                  <m:ctrlPr>
                                    <a:rPr lang="vi-VN" sz="2667" i="1">
                                      <a:latin typeface="Cambria Math" panose="02040503050406030204" pitchFamily="18" charset="0"/>
                                      <a:ea typeface="Cambria Math" panose="02040503050406030204" pitchFamily="18" charset="0"/>
                                    </a:rPr>
                                  </m:ctrlPr>
                                </m:dPr>
                                <m:e>
                                  <m:sSubSup>
                                    <m:sSubSupPr>
                                      <m:ctrlPr>
                                        <a:rPr lang="vi-VN" sz="2667" i="1">
                                          <a:latin typeface="Cambria Math" panose="02040503050406030204" pitchFamily="18" charset="0"/>
                                          <a:ea typeface="Cambria Math" panose="02040503050406030204" pitchFamily="18" charset="0"/>
                                        </a:rPr>
                                      </m:ctrlPr>
                                    </m:sSubSup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up>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𝜖</m:t>
                                          </m:r>
                                        </m:e>
                                        <m:sub>
                                          <m:r>
                                            <a:rPr lang="vi-VN" sz="2667" i="1">
                                              <a:latin typeface="Cambria Math" panose="02040503050406030204" pitchFamily="18" charset="0"/>
                                              <a:ea typeface="Cambria Math" panose="02040503050406030204" pitchFamily="18" charset="0"/>
                                            </a:rPr>
                                            <m:t>𝑘</m:t>
                                          </m:r>
                                        </m:sub>
                                      </m:sSub>
                                    </m:sup>
                                  </m:sSubSup>
                                </m:e>
                              </m:d>
                              <m:r>
                                <a:rPr lang="vi-VN" sz="2667" i="1">
                                  <a:latin typeface="Cambria Math" panose="02040503050406030204" pitchFamily="18" charset="0"/>
                                  <a:ea typeface="Cambria Math" panose="02040503050406030204" pitchFamily="18" charset="0"/>
                                </a:rPr>
                                <m:t>−</m:t>
                              </m:r>
                              <m:r>
                                <a:rPr lang="vi-VN" sz="2667" i="1">
                                  <a:latin typeface="Cambria Math" panose="02040503050406030204" pitchFamily="18" charset="0"/>
                                  <a:ea typeface="Cambria Math" panose="02040503050406030204" pitchFamily="18" charset="0"/>
                                </a:rPr>
                                <m:t>𝐶</m:t>
                              </m:r>
                              <m:d>
                                <m:dPr>
                                  <m:ctrlPr>
                                    <a:rPr lang="vi-VN" sz="2667" i="1">
                                      <a:latin typeface="Cambria Math" panose="02040503050406030204" pitchFamily="18" charset="0"/>
                                      <a:ea typeface="Cambria Math" panose="02040503050406030204" pitchFamily="18" charset="0"/>
                                    </a:rPr>
                                  </m:ctrlPr>
                                </m:dPr>
                                <m:e>
                                  <m:sSubSup>
                                    <m:sSubSupPr>
                                      <m:ctrlPr>
                                        <a:rPr lang="vi-VN" sz="2667" i="1">
                                          <a:latin typeface="Cambria Math" panose="02040503050406030204" pitchFamily="18" charset="0"/>
                                          <a:ea typeface="Cambria Math" panose="02040503050406030204" pitchFamily="18" charset="0"/>
                                        </a:rPr>
                                      </m:ctrlPr>
                                    </m:sSubSup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up>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𝜖</m:t>
                                          </m:r>
                                        </m:e>
                                        <m:sub>
                                          <m:r>
                                            <a:rPr lang="vi-VN" sz="2667" i="1">
                                              <a:latin typeface="Cambria Math" panose="02040503050406030204" pitchFamily="18" charset="0"/>
                                              <a:ea typeface="Cambria Math" panose="02040503050406030204" pitchFamily="18" charset="0"/>
                                            </a:rPr>
                                            <m:t>𝑘</m:t>
                                          </m:r>
                                        </m:sub>
                                      </m:sSub>
                                    </m:sup>
                                  </m:sSubSup>
                                </m:e>
                              </m:d>
                            </m:e>
                          </m:d>
                        </m:e>
                      </m:nary>
                    </m:oMath>
                  </m:oMathPara>
                </a14:m>
                <a:endParaRPr lang="en-VN" sz="2667"/>
              </a:p>
            </p:txBody>
          </p:sp>
        </mc:Choice>
        <mc:Fallback>
          <p:sp>
            <p:nvSpPr>
              <p:cNvPr id="8" name="TextBox 7">
                <a:extLst>
                  <a:ext uri="{FF2B5EF4-FFF2-40B4-BE49-F238E27FC236}">
                    <a16:creationId xmlns:a16="http://schemas.microsoft.com/office/drawing/2014/main" id="{7931D01C-CD6D-79DE-1500-45400CA64561}"/>
                  </a:ext>
                </a:extLst>
              </p:cNvPr>
              <p:cNvSpPr txBox="1">
                <a:spLocks noRot="1" noChangeAspect="1" noMove="1" noResize="1" noEditPoints="1" noAdjustHandles="1" noChangeArrowheads="1" noChangeShapeType="1" noTextEdit="1"/>
              </p:cNvSpPr>
              <p:nvPr/>
            </p:nvSpPr>
            <p:spPr>
              <a:xfrm>
                <a:off x="1189681" y="3513997"/>
                <a:ext cx="6249771" cy="1246175"/>
              </a:xfrm>
              <a:prstGeom prst="rect">
                <a:avLst/>
              </a:prstGeom>
              <a:blipFill>
                <a:blip r:embed="rId4"/>
                <a:stretch>
                  <a:fillRect t="-104040" b="-164646"/>
                </a:stretch>
              </a:blipFill>
            </p:spPr>
            <p:txBody>
              <a:bodyPr/>
              <a:lstStyle/>
              <a:p>
                <a:r>
                  <a:rPr lang="en-VN">
                    <a:noFill/>
                  </a:rPr>
                  <a:t> </a:t>
                </a:r>
              </a:p>
            </p:txBody>
          </p:sp>
        </mc:Fallback>
      </mc:AlternateContent>
    </p:spTree>
    <p:extLst>
      <p:ext uri="{BB962C8B-B14F-4D97-AF65-F5344CB8AC3E}">
        <p14:creationId xmlns:p14="http://schemas.microsoft.com/office/powerpoint/2010/main" val="519695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a:extLst>
              <a:ext uri="{FF2B5EF4-FFF2-40B4-BE49-F238E27FC236}">
                <a16:creationId xmlns:a16="http://schemas.microsoft.com/office/drawing/2014/main" id="{3B1C2B5C-9921-12B4-D139-7E5A471D3259}"/>
              </a:ext>
            </a:extLst>
          </p:cNvPr>
          <p:cNvPicPr>
            <a:picLocks noGrp="1" noChangeAspect="1"/>
          </p:cNvPicPr>
          <p:nvPr>
            <p:ph idx="1"/>
          </p:nvPr>
        </p:nvPicPr>
        <p:blipFill>
          <a:blip r:embed="rId3"/>
          <a:stretch>
            <a:fillRect/>
          </a:stretch>
        </p:blipFill>
        <p:spPr>
          <a:xfrm>
            <a:off x="761314" y="1129970"/>
            <a:ext cx="5894860" cy="4722684"/>
          </a:xfrm>
        </p:spPr>
      </p:pic>
      <p:sp>
        <p:nvSpPr>
          <p:cNvPr id="2" name="Title 1">
            <a:extLst>
              <a:ext uri="{FF2B5EF4-FFF2-40B4-BE49-F238E27FC236}">
                <a16:creationId xmlns:a16="http://schemas.microsoft.com/office/drawing/2014/main" id="{B6211126-7B75-E05A-8EFF-99130F917EB3}"/>
              </a:ext>
            </a:extLst>
          </p:cNvPr>
          <p:cNvSpPr>
            <a:spLocks noGrp="1"/>
          </p:cNvSpPr>
          <p:nvPr>
            <p:ph type="title"/>
          </p:nvPr>
        </p:nvSpPr>
        <p:spPr>
          <a:xfrm>
            <a:off x="838201" y="0"/>
            <a:ext cx="8621889" cy="1325563"/>
          </a:xfrm>
        </p:spPr>
        <p:txBody>
          <a:bodyPr>
            <a:normAutofit/>
          </a:bodyPr>
          <a:lstStyle/>
          <a:p>
            <a:r>
              <a:rPr lang="en-US"/>
              <a:t>1.4</a:t>
            </a:r>
            <a:r>
              <a:rPr lang="en-VN"/>
              <a:t>. Gradient</a:t>
            </a:r>
            <a:br>
              <a:rPr lang="en-US"/>
            </a:br>
            <a:r>
              <a:rPr lang="en-VN" sz="2933"/>
              <a:t>Parameter-shift rule</a:t>
            </a:r>
          </a:p>
        </p:txBody>
      </p:sp>
      <mc:AlternateContent xmlns:mc="http://schemas.openxmlformats.org/markup-compatibility/2006">
        <mc:Choice xmlns:a14="http://schemas.microsoft.com/office/drawing/2010/main" Requires="a14">
          <p:sp>
            <p:nvSpPr>
              <p:cNvPr id="10" name="Chỗ dành sẵn cho Nội dung 2">
                <a:extLst>
                  <a:ext uri="{FF2B5EF4-FFF2-40B4-BE49-F238E27FC236}">
                    <a16:creationId xmlns:a16="http://schemas.microsoft.com/office/drawing/2014/main" id="{E59CCD19-B484-83EA-DE73-1B91F3F4B415}"/>
                  </a:ext>
                </a:extLst>
              </p:cNvPr>
              <p:cNvSpPr txBox="1">
                <a:spLocks/>
              </p:cNvSpPr>
              <p:nvPr/>
            </p:nvSpPr>
            <p:spPr>
              <a:xfrm>
                <a:off x="7014864" y="2210469"/>
                <a:ext cx="5177137" cy="824595"/>
              </a:xfrm>
              <a:prstGeom prst="rect">
                <a:avLst/>
              </a:prstGeom>
            </p:spPr>
            <p:txBody>
              <a:bodyPr vert="horz" lIns="121920" tIns="60960" rIns="121920" bIns="6096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b>
                      <m:sSubPr>
                        <m:ctrlPr>
                          <a:rPr lang="vi-VN" sz="2400" i="1">
                            <a:latin typeface="Cambria Math" panose="02040503050406030204" pitchFamily="18" charset="0"/>
                          </a:rPr>
                        </m:ctrlPr>
                      </m:sSubPr>
                      <m:e>
                        <m:r>
                          <a:rPr lang="en-US" sz="2400" i="1">
                            <a:latin typeface="Cambria Math" panose="02040503050406030204" pitchFamily="18" charset="0"/>
                          </a:rPr>
                          <m:t>𝜕</m:t>
                        </m:r>
                      </m:e>
                      <m:sub>
                        <m:sSub>
                          <m:sSubPr>
                            <m:ctrlPr>
                              <a:rPr lang="vi-VN" sz="2400" i="1">
                                <a:latin typeface="Cambria Math" panose="02040503050406030204" pitchFamily="18" charset="0"/>
                              </a:rPr>
                            </m:ctrlPr>
                          </m:sSubPr>
                          <m:e>
                            <m:r>
                              <a:rPr lang="vi-VN" sz="2400" i="1">
                                <a:latin typeface="Cambria Math" panose="02040503050406030204" pitchFamily="18" charset="0"/>
                              </a:rPr>
                              <m:t>𝜃</m:t>
                            </m:r>
                          </m:e>
                          <m:sub>
                            <m:r>
                              <a:rPr lang="en-US" sz="2400" i="1">
                                <a:latin typeface="Cambria Math" panose="02040503050406030204" pitchFamily="18" charset="0"/>
                              </a:rPr>
                              <m:t>𝑗</m:t>
                            </m:r>
                          </m:sub>
                        </m:sSub>
                      </m:sub>
                    </m:sSub>
                    <m:r>
                      <a:rPr lang="en-US" sz="2400" i="1">
                        <a:latin typeface="Cambria Math" panose="02040503050406030204" pitchFamily="18" charset="0"/>
                      </a:rPr>
                      <m:t>𝐶</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vi-VN"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sup>
                            </m:sSubSup>
                          </m:e>
                        </m:d>
                        <m:r>
                          <a:rPr lang="en-US" sz="2400" i="1">
                            <a:latin typeface="Cambria Math" panose="02040503050406030204" pitchFamily="18" charset="0"/>
                          </a:rPr>
                          <m:t>−</m:t>
                        </m:r>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sup>
                            </m:sSubSup>
                          </m:e>
                        </m:d>
                      </m:e>
                    </m:d>
                  </m:oMath>
                </a14:m>
                <a:r>
                  <a:rPr lang="en-US" sz="2400"/>
                  <a:t> </a:t>
                </a:r>
              </a:p>
            </p:txBody>
          </p:sp>
        </mc:Choice>
        <mc:Fallback>
          <p:sp>
            <p:nvSpPr>
              <p:cNvPr id="10" name="Chỗ dành sẵn cho Nội dung 2">
                <a:extLst>
                  <a:ext uri="{FF2B5EF4-FFF2-40B4-BE49-F238E27FC236}">
                    <a16:creationId xmlns:a16="http://schemas.microsoft.com/office/drawing/2014/main" id="{E59CCD19-B484-83EA-DE73-1B91F3F4B415}"/>
                  </a:ext>
                </a:extLst>
              </p:cNvPr>
              <p:cNvSpPr txBox="1">
                <a:spLocks noRot="1" noChangeAspect="1" noMove="1" noResize="1" noEditPoints="1" noAdjustHandles="1" noChangeArrowheads="1" noChangeShapeType="1" noTextEdit="1"/>
              </p:cNvSpPr>
              <p:nvPr/>
            </p:nvSpPr>
            <p:spPr>
              <a:xfrm>
                <a:off x="7014864" y="2210469"/>
                <a:ext cx="5177137" cy="824595"/>
              </a:xfrm>
              <a:prstGeom prst="rect">
                <a:avLst/>
              </a:prstGeom>
              <a:blipFill>
                <a:blip r:embed="rId4"/>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3" name="Chỗ dành sẵn cho Nội dung 2">
                <a:extLst>
                  <a:ext uri="{FF2B5EF4-FFF2-40B4-BE49-F238E27FC236}">
                    <a16:creationId xmlns:a16="http://schemas.microsoft.com/office/drawing/2014/main" id="{AE47E588-5A6E-221D-21F5-1B4C18C7AE6F}"/>
                  </a:ext>
                </a:extLst>
              </p:cNvPr>
              <p:cNvSpPr txBox="1">
                <a:spLocks/>
              </p:cNvSpPr>
              <p:nvPr/>
            </p:nvSpPr>
            <p:spPr>
              <a:xfrm>
                <a:off x="761314" y="5921877"/>
                <a:ext cx="10787649" cy="686148"/>
              </a:xfrm>
              <a:prstGeom prst="rect">
                <a:avLst/>
              </a:prstGeom>
              <a:ln>
                <a:solidFill>
                  <a:srgbClr val="FF0000"/>
                </a:solidFill>
              </a:ln>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r>
                          <a:rPr lang="en-US" sz="2400" i="1">
                            <a:latin typeface="Cambria Math" panose="02040503050406030204" pitchFamily="18" charset="0"/>
                          </a:rPr>
                          <m:t>𝑥</m:t>
                        </m:r>
                      </m:e>
                    </m:func>
                    <m:r>
                      <a:rPr lang="vi-VN"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𝑓</m:t>
                        </m:r>
                      </m:e>
                      <m:sup>
                        <m:r>
                          <a:rPr lang="en-US" sz="2400" i="1">
                            <a:latin typeface="Cambria Math" panose="02040503050406030204" pitchFamily="18" charset="0"/>
                          </a:rPr>
                          <m:t>′</m:t>
                        </m:r>
                      </m:sup>
                    </m:sSup>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e>
                            </m:d>
                          </m:e>
                        </m:func>
                        <m:r>
                          <a:rPr lang="en-US" sz="2400" i="1">
                            <a:latin typeface="Cambria Math" panose="02040503050406030204" pitchFamily="18" charset="0"/>
                          </a:rPr>
                          <m:t>−</m:t>
                        </m:r>
                        <m:r>
                          <m:rPr>
                            <m:sty m:val="p"/>
                          </m:rPr>
                          <a:rPr lang="en-US" sz="2400">
                            <a:latin typeface="Cambria Math" panose="02040503050406030204" pitchFamily="18" charset="0"/>
                          </a:rPr>
                          <m:t>sin</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r>
                          <a:rPr lang="en-US" sz="2400" i="1">
                            <a:latin typeface="Cambria Math" panose="02040503050406030204" pitchFamily="18" charset="0"/>
                          </a:rPr>
                          <m:t>)</m:t>
                        </m:r>
                      </m:e>
                    </m:d>
                  </m:oMath>
                </a14:m>
                <a:r>
                  <a:rPr lang="vi-VN" sz="2400" i="1">
                    <a:latin typeface="Cambria Math" panose="02040503050406030204" pitchFamily="18" charset="0"/>
                  </a:rPr>
                  <a:t> </a:t>
                </a:r>
                <a14:m>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d>
                              <m:dPr>
                                <m:ctrlPr>
                                  <a:rPr lang="en-US" sz="2400" i="1">
                                    <a:latin typeface="Cambria Math" panose="02040503050406030204" pitchFamily="18" charset="0"/>
                                  </a:rPr>
                                </m:ctrlPr>
                              </m:dPr>
                              <m:e>
                                <m:r>
                                  <a:rPr lang="en-US" sz="2400" i="1">
                                    <a:latin typeface="Cambria Math" panose="02040503050406030204" pitchFamily="18" charset="0"/>
                                  </a:rPr>
                                  <m:t>𝑥</m:t>
                                </m:r>
                              </m:e>
                            </m:d>
                          </m:e>
                        </m:func>
                        <m:r>
                          <a:rPr lang="en-US" sz="2400" i="1">
                            <a:latin typeface="Cambria Math" panose="02040503050406030204" pitchFamily="18" charset="0"/>
                          </a:rPr>
                          <m:t>+</m:t>
                        </m:r>
                        <m:r>
                          <m:rPr>
                            <m:sty m:val="p"/>
                          </m:rPr>
                          <a:rPr lang="en-US" sz="2400">
                            <a:latin typeface="Cambria Math" panose="02040503050406030204" pitchFamily="18" charset="0"/>
                          </a:rPr>
                          <m:t>cos</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e>
                    </m:d>
                  </m:oMath>
                </a14:m>
                <a:r>
                  <a:rPr lang="en-US" sz="2400"/>
                  <a:t> </a:t>
                </a:r>
                <a14:m>
                  <m:oMath xmlns:m="http://schemas.openxmlformats.org/officeDocument/2006/math">
                    <m:r>
                      <a:rPr lang="en-US" sz="2400" i="1">
                        <a:latin typeface="Cambria Math" panose="02040503050406030204" pitchFamily="18" charset="0"/>
                      </a:rPr>
                      <m:t>=</m:t>
                    </m:r>
                    <m:r>
                      <m:rPr>
                        <m:sty m:val="p"/>
                      </m:rPr>
                      <a:rPr lang="en-US" sz="2400">
                        <a:latin typeface="Cambria Math" panose="02040503050406030204" pitchFamily="18" charset="0"/>
                      </a:rPr>
                      <m:t>cos</m:t>
                    </m:r>
                    <m:r>
                      <a:rPr lang="en-US" sz="2400" i="1">
                        <a:latin typeface="Cambria Math" panose="02040503050406030204" pitchFamily="18" charset="0"/>
                      </a:rPr>
                      <m:t>⁡(</m:t>
                    </m:r>
                    <m:r>
                      <a:rPr lang="en-US" sz="2400" i="1">
                        <a:latin typeface="Cambria Math" panose="02040503050406030204" pitchFamily="18" charset="0"/>
                      </a:rPr>
                      <m:t>𝑥</m:t>
                    </m:r>
                    <m:r>
                      <a:rPr lang="vi-VN" sz="2400" i="1">
                        <a:latin typeface="Cambria Math" panose="02040503050406030204" pitchFamily="18" charset="0"/>
                      </a:rPr>
                      <m:t>)</m:t>
                    </m:r>
                  </m:oMath>
                </a14:m>
                <a:endParaRPr lang="en-US" sz="2400"/>
              </a:p>
            </p:txBody>
          </p:sp>
        </mc:Choice>
        <mc:Fallback>
          <p:sp>
            <p:nvSpPr>
              <p:cNvPr id="13" name="Chỗ dành sẵn cho Nội dung 2">
                <a:extLst>
                  <a:ext uri="{FF2B5EF4-FFF2-40B4-BE49-F238E27FC236}">
                    <a16:creationId xmlns:a16="http://schemas.microsoft.com/office/drawing/2014/main" id="{AE47E588-5A6E-221D-21F5-1B4C18C7AE6F}"/>
                  </a:ext>
                </a:extLst>
              </p:cNvPr>
              <p:cNvSpPr txBox="1">
                <a:spLocks noRot="1" noChangeAspect="1" noMove="1" noResize="1" noEditPoints="1" noAdjustHandles="1" noChangeArrowheads="1" noChangeShapeType="1" noTextEdit="1"/>
              </p:cNvSpPr>
              <p:nvPr/>
            </p:nvSpPr>
            <p:spPr>
              <a:xfrm>
                <a:off x="761314" y="5921877"/>
                <a:ext cx="10787649" cy="686148"/>
              </a:xfrm>
              <a:prstGeom prst="rect">
                <a:avLst/>
              </a:prstGeom>
              <a:blipFill>
                <a:blip r:embed="rId5"/>
                <a:stretch>
                  <a:fillRect l="-117"/>
                </a:stretch>
              </a:blipFill>
              <a:ln>
                <a:solidFill>
                  <a:srgbClr val="FF0000"/>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9B2FD6E-5A76-47A8-D011-5D3BEEC40559}"/>
                  </a:ext>
                </a:extLst>
              </p:cNvPr>
              <p:cNvSpPr txBox="1"/>
              <p:nvPr/>
            </p:nvSpPr>
            <p:spPr>
              <a:xfrm>
                <a:off x="6924665" y="5011455"/>
                <a:ext cx="4567043" cy="830997"/>
              </a:xfrm>
              <a:prstGeom prst="rect">
                <a:avLst/>
              </a:prstGeom>
              <a:noFill/>
            </p:spPr>
            <p:txBody>
              <a:bodyPr wrap="square">
                <a:spAutoFit/>
              </a:bodyPr>
              <a:lstStyle/>
              <a:p>
                <a:r>
                  <a:rPr lang="en-US" sz="2400">
                    <a:solidFill>
                      <a:srgbClr val="FF0000"/>
                    </a:solidFill>
                    <a:latin typeface="Calibri" panose="020F0502020204030204" pitchFamily="34" charset="0"/>
                    <a:cs typeface="Calibri" panose="020F0502020204030204" pitchFamily="34" charset="0"/>
                  </a:rPr>
                  <a:t>Take </a:t>
                </a:r>
                <a14:m>
                  <m:oMath xmlns:m="http://schemas.openxmlformats.org/officeDocument/2006/math">
                    <m:r>
                      <a:rPr lang="en-US" sz="2400" i="1">
                        <a:solidFill>
                          <a:srgbClr val="FF0000"/>
                        </a:solidFill>
                        <a:latin typeface="Cambria Math" panose="02040503050406030204" pitchFamily="18" charset="0"/>
                        <a:cs typeface="Calibri" panose="020F0502020204030204" pitchFamily="34" charset="0"/>
                      </a:rPr>
                      <m:t>2</m:t>
                    </m:r>
                    <m:r>
                      <a:rPr lang="en-US" sz="2400" i="1">
                        <a:solidFill>
                          <a:srgbClr val="FF0000"/>
                        </a:solidFill>
                        <a:latin typeface="Cambria Math" panose="02040503050406030204" pitchFamily="18" charset="0"/>
                        <a:cs typeface="Calibri" panose="020F0502020204030204" pitchFamily="34" charset="0"/>
                      </a:rPr>
                      <m:t>𝑚</m:t>
                    </m:r>
                    <m:r>
                      <a:rPr lang="en-US" sz="2400" i="1">
                        <a:solidFill>
                          <a:srgbClr val="FF0000"/>
                        </a:solidFill>
                        <a:latin typeface="Cambria Math" panose="02040503050406030204" pitchFamily="18" charset="0"/>
                        <a:cs typeface="Calibri" panose="020F0502020204030204" pitchFamily="34" charset="0"/>
                      </a:rPr>
                      <m:t>/4</m:t>
                    </m:r>
                    <m:r>
                      <a:rPr lang="en-US" sz="2400" i="1">
                        <a:solidFill>
                          <a:srgbClr val="FF0000"/>
                        </a:solidFill>
                        <a:latin typeface="Cambria Math" panose="02040503050406030204" pitchFamily="18" charset="0"/>
                        <a:cs typeface="Calibri" panose="020F0502020204030204" pitchFamily="34" charset="0"/>
                      </a:rPr>
                      <m:t>𝑚</m:t>
                    </m:r>
                  </m:oMath>
                </a14:m>
                <a:r>
                  <a:rPr lang="en-US" sz="2400">
                    <a:solidFill>
                      <a:srgbClr val="FF0000"/>
                    </a:solidFill>
                    <a:latin typeface="Calibri" panose="020F0502020204030204" pitchFamily="34" charset="0"/>
                    <a:cs typeface="Calibri" panose="020F0502020204030204" pitchFamily="34" charset="0"/>
                  </a:rPr>
                  <a:t> quantum evaluations for a single gradient!</a:t>
                </a:r>
              </a:p>
            </p:txBody>
          </p:sp>
        </mc:Choice>
        <mc:Fallback>
          <p:sp>
            <p:nvSpPr>
              <p:cNvPr id="6" name="TextBox 5">
                <a:extLst>
                  <a:ext uri="{FF2B5EF4-FFF2-40B4-BE49-F238E27FC236}">
                    <a16:creationId xmlns:a16="http://schemas.microsoft.com/office/drawing/2014/main" id="{99B2FD6E-5A76-47A8-D011-5D3BEEC40559}"/>
                  </a:ext>
                </a:extLst>
              </p:cNvPr>
              <p:cNvSpPr txBox="1">
                <a:spLocks noRot="1" noChangeAspect="1" noMove="1" noResize="1" noEditPoints="1" noAdjustHandles="1" noChangeArrowheads="1" noChangeShapeType="1" noTextEdit="1"/>
              </p:cNvSpPr>
              <p:nvPr/>
            </p:nvSpPr>
            <p:spPr>
              <a:xfrm>
                <a:off x="6924665" y="5011455"/>
                <a:ext cx="4567043" cy="830997"/>
              </a:xfrm>
              <a:prstGeom prst="rect">
                <a:avLst/>
              </a:prstGeom>
              <a:blipFill>
                <a:blip r:embed="rId6"/>
                <a:stretch>
                  <a:fillRect l="-2222" t="-4545" r="-2222" b="-15152"/>
                </a:stretch>
              </a:blipFill>
            </p:spPr>
            <p:txBody>
              <a:bodyPr/>
              <a:lstStyle/>
              <a:p>
                <a:r>
                  <a:rPr lang="en-VN">
                    <a:noFill/>
                  </a:rPr>
                  <a:t> </a:t>
                </a:r>
              </a:p>
            </p:txBody>
          </p:sp>
        </mc:Fallback>
      </mc:AlternateContent>
      <p:sp>
        <p:nvSpPr>
          <p:cNvPr id="8" name="Rectangle 7">
            <a:extLst>
              <a:ext uri="{FF2B5EF4-FFF2-40B4-BE49-F238E27FC236}">
                <a16:creationId xmlns:a16="http://schemas.microsoft.com/office/drawing/2014/main" id="{F40D508D-9D4D-2AF1-C4FF-8842364FACE4}"/>
              </a:ext>
            </a:extLst>
          </p:cNvPr>
          <p:cNvSpPr/>
          <p:nvPr/>
        </p:nvSpPr>
        <p:spPr>
          <a:xfrm>
            <a:off x="2675467" y="1944543"/>
            <a:ext cx="3497420" cy="136595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9B68063-D87D-E6CA-58C7-A6FF72DAECA3}"/>
                  </a:ext>
                </a:extLst>
              </p:cNvPr>
              <p:cNvSpPr txBox="1"/>
              <p:nvPr/>
            </p:nvSpPr>
            <p:spPr>
              <a:xfrm>
                <a:off x="6656174" y="1348695"/>
                <a:ext cx="4955823" cy="830997"/>
              </a:xfrm>
              <a:prstGeom prst="rect">
                <a:avLst/>
              </a:prstGeom>
              <a:noFill/>
            </p:spPr>
            <p:txBody>
              <a:bodyPr wrap="square" rtlCol="0">
                <a:spAutoFit/>
              </a:bodyPr>
              <a:lstStyle/>
              <a:p>
                <a:r>
                  <a:rPr lang="en-US" sz="2400"/>
                  <a:t>Commonly, we only use 2term-PSR,</a:t>
                </a:r>
              </a:p>
              <a:p>
                <a:r>
                  <a:rPr lang="en-US" sz="2400"/>
                  <a:t>in case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𝑖</m:t>
                        </m:r>
                      </m:sub>
                    </m:sSub>
                  </m:oMath>
                </a14:m>
                <a:r>
                  <a:rPr lang="en-US" sz="2400">
                    <a:latin typeface="+mj-lt"/>
                  </a:rPr>
                  <a:t>.</a:t>
                </a:r>
                <a:endParaRPr lang="vi-VN" sz="2400"/>
              </a:p>
            </p:txBody>
          </p:sp>
        </mc:Choice>
        <mc:Fallback>
          <p:sp>
            <p:nvSpPr>
              <p:cNvPr id="3" name="TextBox 2">
                <a:extLst>
                  <a:ext uri="{FF2B5EF4-FFF2-40B4-BE49-F238E27FC236}">
                    <a16:creationId xmlns:a16="http://schemas.microsoft.com/office/drawing/2014/main" id="{B9B68063-D87D-E6CA-58C7-A6FF72DAECA3}"/>
                  </a:ext>
                </a:extLst>
              </p:cNvPr>
              <p:cNvSpPr txBox="1">
                <a:spLocks noRot="1" noChangeAspect="1" noMove="1" noResize="1" noEditPoints="1" noAdjustHandles="1" noChangeArrowheads="1" noChangeShapeType="1" noTextEdit="1"/>
              </p:cNvSpPr>
              <p:nvPr/>
            </p:nvSpPr>
            <p:spPr>
              <a:xfrm>
                <a:off x="6656174" y="1348695"/>
                <a:ext cx="4955823" cy="830997"/>
              </a:xfrm>
              <a:prstGeom prst="rect">
                <a:avLst/>
              </a:prstGeom>
              <a:blipFill>
                <a:blip r:embed="rId7"/>
                <a:stretch>
                  <a:fillRect l="-2046" t="-6061" b="-1666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Chỗ dành sẵn cho Nội dung 2">
                <a:extLst>
                  <a:ext uri="{FF2B5EF4-FFF2-40B4-BE49-F238E27FC236}">
                    <a16:creationId xmlns:a16="http://schemas.microsoft.com/office/drawing/2014/main" id="{662740E1-3610-913A-3202-1E8FB0CE5C58}"/>
                  </a:ext>
                </a:extLst>
              </p:cNvPr>
              <p:cNvSpPr txBox="1">
                <a:spLocks/>
              </p:cNvSpPr>
              <p:nvPr/>
            </p:nvSpPr>
            <p:spPr>
              <a:xfrm>
                <a:off x="7014862" y="3686697"/>
                <a:ext cx="5177137" cy="1658500"/>
              </a:xfrm>
              <a:prstGeom prst="rect">
                <a:avLst/>
              </a:prstGeom>
            </p:spPr>
            <p:txBody>
              <a:bodyPr vert="horz" lIns="121920" tIns="60960" rIns="121920" bIns="6096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b>
                      <m:sSubPr>
                        <m:ctrlPr>
                          <a:rPr lang="vi-VN" sz="2400" i="1">
                            <a:latin typeface="Cambria Math" panose="02040503050406030204" pitchFamily="18" charset="0"/>
                          </a:rPr>
                        </m:ctrlPr>
                      </m:sSubPr>
                      <m:e>
                        <m:r>
                          <a:rPr lang="en-US" sz="2400" i="1">
                            <a:latin typeface="Cambria Math" panose="02040503050406030204" pitchFamily="18" charset="0"/>
                          </a:rPr>
                          <m:t>𝜕</m:t>
                        </m:r>
                      </m:e>
                      <m:sub>
                        <m:sSub>
                          <m:sSubPr>
                            <m:ctrlPr>
                              <a:rPr lang="vi-VN" sz="2400" i="1">
                                <a:latin typeface="Cambria Math" panose="02040503050406030204" pitchFamily="18" charset="0"/>
                              </a:rPr>
                            </m:ctrlPr>
                          </m:sSubPr>
                          <m:e>
                            <m:r>
                              <a:rPr lang="vi-VN" sz="2400" i="1">
                                <a:latin typeface="Cambria Math" panose="02040503050406030204" pitchFamily="18" charset="0"/>
                              </a:rPr>
                              <m:t>𝜃</m:t>
                            </m:r>
                          </m:e>
                          <m:sub>
                            <m:r>
                              <a:rPr lang="en-US" sz="2400" i="1">
                                <a:latin typeface="Cambria Math" panose="02040503050406030204" pitchFamily="18" charset="0"/>
                              </a:rPr>
                              <m:t>𝑗</m:t>
                            </m:r>
                          </m:sub>
                        </m:sSub>
                      </m:sub>
                    </m:sSub>
                    <m:r>
                      <a:rPr lang="en-US" sz="2400" i="1">
                        <a:latin typeface="Cambria Math" panose="02040503050406030204" pitchFamily="18" charset="0"/>
                      </a:rPr>
                      <m:t>𝐶</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𝑑</m:t>
                        </m:r>
                      </m:e>
                      <m:sup>
                        <m:r>
                          <a:rPr lang="en-US" sz="2400" i="1">
                            <a:latin typeface="Cambria Math" panose="02040503050406030204" pitchFamily="18" charset="0"/>
                          </a:rPr>
                          <m:t>+</m:t>
                        </m:r>
                      </m:sup>
                    </m:sSup>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en-US" sz="2400" i="1">
                                    <a:latin typeface="Cambria Math" panose="02040503050406030204" pitchFamily="18" charset="0"/>
                                  </a:rPr>
                                  <m:t>+</m:t>
                                </m:r>
                                <m:r>
                                  <a:rPr lang="en-US" sz="2400" i="1">
                                    <a:latin typeface="Cambria Math" panose="02040503050406030204" pitchFamily="18" charset="0"/>
                                  </a:rPr>
                                  <m:t>𝛼</m:t>
                                </m:r>
                              </m:sup>
                            </m:sSubSup>
                          </m:e>
                        </m:d>
                        <m:r>
                          <a:rPr lang="en-US" sz="2400" i="1">
                            <a:latin typeface="Cambria Math" panose="02040503050406030204" pitchFamily="18" charset="0"/>
                          </a:rPr>
                          <m:t>−</m:t>
                        </m:r>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en-US" sz="2400" i="1">
                                    <a:latin typeface="Cambria Math" panose="02040503050406030204" pitchFamily="18" charset="0"/>
                                  </a:rPr>
                                  <m:t>−</m:t>
                                </m:r>
                                <m:r>
                                  <a:rPr lang="en-US" sz="2400" i="1">
                                    <a:latin typeface="Cambria Math" panose="02040503050406030204" pitchFamily="18" charset="0"/>
                                  </a:rPr>
                                  <m:t>𝛼</m:t>
                                </m:r>
                              </m:sup>
                            </m:sSubSup>
                          </m:e>
                        </m:d>
                      </m:e>
                    </m:d>
                  </m:oMath>
                </a14:m>
                <a:r>
                  <a:rPr lang="en-US" sz="2400"/>
                  <a:t> </a:t>
                </a:r>
              </a:p>
              <a:p>
                <a:pPr marL="0" indent="0">
                  <a:buNone/>
                </a:pPr>
                <a:r>
                  <a:rPr lang="en-US" sz="2400"/>
                  <a:t>           </a:t>
                </a:r>
                <a14:m>
                  <m:oMath xmlns:m="http://schemas.openxmlformats.org/officeDocument/2006/math">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𝑑</m:t>
                        </m:r>
                      </m:e>
                      <m:sup>
                        <m:r>
                          <a:rPr lang="en-US" sz="2400" i="1">
                            <a:latin typeface="Cambria Math" panose="02040503050406030204" pitchFamily="18" charset="0"/>
                          </a:rPr>
                          <m:t>−</m:t>
                        </m:r>
                      </m:sup>
                    </m:sSup>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vi-VN" sz="2400" i="1">
                                    <a:latin typeface="Cambria Math" panose="02040503050406030204" pitchFamily="18" charset="0"/>
                                  </a:rPr>
                                  <m:t>+</m:t>
                                </m:r>
                                <m:r>
                                  <a:rPr lang="en-US" sz="2400" i="1">
                                    <a:latin typeface="Cambria Math" panose="02040503050406030204" pitchFamily="18" charset="0"/>
                                  </a:rPr>
                                  <m:t>𝛽</m:t>
                                </m:r>
                              </m:sup>
                            </m:sSubSup>
                          </m:e>
                        </m:d>
                        <m:r>
                          <a:rPr lang="en-US" sz="2400" i="1">
                            <a:latin typeface="Cambria Math" panose="02040503050406030204" pitchFamily="18" charset="0"/>
                          </a:rPr>
                          <m:t>−</m:t>
                        </m:r>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en-US" sz="2400" i="1">
                                    <a:latin typeface="Cambria Math" panose="02040503050406030204" pitchFamily="18" charset="0"/>
                                  </a:rPr>
                                  <m:t>−</m:t>
                                </m:r>
                                <m:r>
                                  <a:rPr lang="en-US" sz="2400" i="1">
                                    <a:latin typeface="Cambria Math" panose="02040503050406030204" pitchFamily="18" charset="0"/>
                                  </a:rPr>
                                  <m:t>𝛽</m:t>
                                </m:r>
                              </m:sup>
                            </m:sSubSup>
                          </m:e>
                        </m:d>
                      </m:e>
                    </m:d>
                  </m:oMath>
                </a14:m>
                <a:r>
                  <a:rPr lang="en-US" sz="2400"/>
                  <a:t> </a:t>
                </a:r>
              </a:p>
            </p:txBody>
          </p:sp>
        </mc:Choice>
        <mc:Fallback>
          <p:sp>
            <p:nvSpPr>
              <p:cNvPr id="7" name="Chỗ dành sẵn cho Nội dung 2">
                <a:extLst>
                  <a:ext uri="{FF2B5EF4-FFF2-40B4-BE49-F238E27FC236}">
                    <a16:creationId xmlns:a16="http://schemas.microsoft.com/office/drawing/2014/main" id="{662740E1-3610-913A-3202-1E8FB0CE5C58}"/>
                  </a:ext>
                </a:extLst>
              </p:cNvPr>
              <p:cNvSpPr txBox="1">
                <a:spLocks noRot="1" noChangeAspect="1" noMove="1" noResize="1" noEditPoints="1" noAdjustHandles="1" noChangeArrowheads="1" noChangeShapeType="1" noTextEdit="1"/>
              </p:cNvSpPr>
              <p:nvPr/>
            </p:nvSpPr>
            <p:spPr>
              <a:xfrm>
                <a:off x="7014862" y="3686697"/>
                <a:ext cx="5177137" cy="1658500"/>
              </a:xfrm>
              <a:prstGeom prst="rect">
                <a:avLst/>
              </a:prstGeom>
              <a:blipFill>
                <a:blip r:embed="rId8"/>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623DB6F-BA95-2DA5-756D-58550FB8AD2F}"/>
                  </a:ext>
                </a:extLst>
              </p:cNvPr>
              <p:cNvSpPr txBox="1"/>
              <p:nvPr/>
            </p:nvSpPr>
            <p:spPr>
              <a:xfrm>
                <a:off x="6656174" y="3165690"/>
                <a:ext cx="5405197" cy="461665"/>
              </a:xfrm>
              <a:prstGeom prst="rect">
                <a:avLst/>
              </a:prstGeom>
              <a:noFill/>
            </p:spPr>
            <p:txBody>
              <a:bodyPr wrap="square" rtlCol="0">
                <a:spAutoFit/>
              </a:bodyPr>
              <a:lstStyle/>
              <a:p>
                <a:r>
                  <a:rPr lang="en-US" sz="2400"/>
                  <a:t>4term-PSR is used in case control-</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𝑖</m:t>
                        </m:r>
                      </m:sub>
                    </m:sSub>
                  </m:oMath>
                </a14:m>
                <a:r>
                  <a:rPr lang="en-US" sz="2400">
                    <a:latin typeface="+mj-lt"/>
                  </a:rPr>
                  <a:t>.</a:t>
                </a:r>
                <a:endParaRPr lang="vi-VN" sz="2400"/>
              </a:p>
            </p:txBody>
          </p:sp>
        </mc:Choice>
        <mc:Fallback>
          <p:sp>
            <p:nvSpPr>
              <p:cNvPr id="9" name="TextBox 8">
                <a:extLst>
                  <a:ext uri="{FF2B5EF4-FFF2-40B4-BE49-F238E27FC236}">
                    <a16:creationId xmlns:a16="http://schemas.microsoft.com/office/drawing/2014/main" id="{1623DB6F-BA95-2DA5-756D-58550FB8AD2F}"/>
                  </a:ext>
                </a:extLst>
              </p:cNvPr>
              <p:cNvSpPr txBox="1">
                <a:spLocks noRot="1" noChangeAspect="1" noMove="1" noResize="1" noEditPoints="1" noAdjustHandles="1" noChangeArrowheads="1" noChangeShapeType="1" noTextEdit="1"/>
              </p:cNvSpPr>
              <p:nvPr/>
            </p:nvSpPr>
            <p:spPr>
              <a:xfrm>
                <a:off x="6656174" y="3165690"/>
                <a:ext cx="5405197" cy="461665"/>
              </a:xfrm>
              <a:prstGeom prst="rect">
                <a:avLst/>
              </a:prstGeom>
              <a:blipFill>
                <a:blip r:embed="rId9"/>
                <a:stretch>
                  <a:fillRect l="-1878" t="-10811" b="-29730"/>
                </a:stretch>
              </a:blipFill>
            </p:spPr>
            <p:txBody>
              <a:bodyPr/>
              <a:lstStyle/>
              <a:p>
                <a:r>
                  <a:rPr lang="en-VN">
                    <a:noFill/>
                  </a:rPr>
                  <a:t> </a:t>
                </a:r>
              </a:p>
            </p:txBody>
          </p:sp>
        </mc:Fallback>
      </mc:AlternateContent>
      <p:cxnSp>
        <p:nvCxnSpPr>
          <p:cNvPr id="12" name="Straight Arrow Connector 11">
            <a:extLst>
              <a:ext uri="{FF2B5EF4-FFF2-40B4-BE49-F238E27FC236}">
                <a16:creationId xmlns:a16="http://schemas.microsoft.com/office/drawing/2014/main" id="{01F0958B-EE57-B837-B74B-A6E8A5ABD6F1}"/>
              </a:ext>
            </a:extLst>
          </p:cNvPr>
          <p:cNvCxnSpPr>
            <a:cxnSpLocks/>
            <a:endCxn id="10" idx="1"/>
          </p:cNvCxnSpPr>
          <p:nvPr/>
        </p:nvCxnSpPr>
        <p:spPr>
          <a:xfrm>
            <a:off x="6172887" y="2622767"/>
            <a:ext cx="841976"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F3AD2E2-3792-0706-0D35-D90D846BBCD6}"/>
              </a:ext>
            </a:extLst>
          </p:cNvPr>
          <p:cNvSpPr/>
          <p:nvPr/>
        </p:nvSpPr>
        <p:spPr>
          <a:xfrm>
            <a:off x="7062573" y="2190313"/>
            <a:ext cx="4113427" cy="8819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p>
        </p:txBody>
      </p:sp>
      <p:sp>
        <p:nvSpPr>
          <p:cNvPr id="15" name="Rectangle 14">
            <a:extLst>
              <a:ext uri="{FF2B5EF4-FFF2-40B4-BE49-F238E27FC236}">
                <a16:creationId xmlns:a16="http://schemas.microsoft.com/office/drawing/2014/main" id="{8D8C625B-5804-CC52-AD93-32295340BA4E}"/>
              </a:ext>
            </a:extLst>
          </p:cNvPr>
          <p:cNvSpPr/>
          <p:nvPr/>
        </p:nvSpPr>
        <p:spPr>
          <a:xfrm>
            <a:off x="7062573" y="3658132"/>
            <a:ext cx="4291227" cy="13181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p>
        </p:txBody>
      </p:sp>
      <p:sp>
        <p:nvSpPr>
          <p:cNvPr id="18" name="Rectangle 17">
            <a:extLst>
              <a:ext uri="{FF2B5EF4-FFF2-40B4-BE49-F238E27FC236}">
                <a16:creationId xmlns:a16="http://schemas.microsoft.com/office/drawing/2014/main" id="{93E2A76C-709C-4A66-8CC1-F15CAE98D216}"/>
              </a:ext>
            </a:extLst>
          </p:cNvPr>
          <p:cNvSpPr/>
          <p:nvPr/>
        </p:nvSpPr>
        <p:spPr>
          <a:xfrm>
            <a:off x="1286934" y="1944543"/>
            <a:ext cx="1340823" cy="136595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p>
        </p:txBody>
      </p:sp>
      <p:cxnSp>
        <p:nvCxnSpPr>
          <p:cNvPr id="20" name="Connector: Curved 19">
            <a:extLst>
              <a:ext uri="{FF2B5EF4-FFF2-40B4-BE49-F238E27FC236}">
                <a16:creationId xmlns:a16="http://schemas.microsoft.com/office/drawing/2014/main" id="{FCB3A05A-5A96-A1CD-ABD0-2A75B740BEF1}"/>
              </a:ext>
            </a:extLst>
          </p:cNvPr>
          <p:cNvCxnSpPr>
            <a:cxnSpLocks/>
            <a:stCxn id="18" idx="2"/>
            <a:endCxn id="15" idx="1"/>
          </p:cNvCxnSpPr>
          <p:nvPr/>
        </p:nvCxnSpPr>
        <p:spPr>
          <a:xfrm rot="16200000" flipH="1">
            <a:off x="4006614" y="1261230"/>
            <a:ext cx="1006692" cy="5105228"/>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497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1043459" y="5349103"/>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US"/>
              <a:t>1.6</a:t>
            </a:r>
            <a:r>
              <a:rPr lang="en-VN"/>
              <a:t>. </a:t>
            </a:r>
            <a:r>
              <a:rPr lang="en-US"/>
              <a:t>Quantum optimization</a:t>
            </a:r>
            <a:endParaRPr lang="en-VN"/>
          </a:p>
        </p:txBody>
      </p:sp>
      <mc:AlternateContent xmlns:mc="http://schemas.openxmlformats.org/markup-compatibility/2006">
        <mc:Choice xmlns:a14="http://schemas.microsoft.com/office/drawing/2010/main" Requires="a14">
          <p:sp>
            <p:nvSpPr>
              <p:cNvPr id="50" name="Rectangle 49">
                <a:extLst>
                  <a:ext uri="{FF2B5EF4-FFF2-40B4-BE49-F238E27FC236}">
                    <a16:creationId xmlns:a16="http://schemas.microsoft.com/office/drawing/2014/main" id="{5D21E891-5D4C-C534-335C-0F82247E7E6C}"/>
                  </a:ext>
                </a:extLst>
              </p:cNvPr>
              <p:cNvSpPr/>
              <p:nvPr/>
            </p:nvSpPr>
            <p:spPr>
              <a:xfrm>
                <a:off x="838200" y="1441622"/>
                <a:ext cx="8772611" cy="12137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a:t>
                </a:r>
                <a:r>
                  <a:rPr lang="vi-VN" sz="2800">
                    <a:solidFill>
                      <a:srgbClr val="FF0000"/>
                    </a:solidFill>
                    <a:latin typeface="Calibri" panose="020F0502020204030204" pitchFamily="34" charset="0"/>
                    <a:ea typeface="Cambria Math" panose="02040503050406030204" pitchFamily="18" charset="0"/>
                    <a:cs typeface="Calibri" panose="020F0502020204030204" pitchFamily="34" charset="0"/>
                  </a:rPr>
                  <a:t>PQC</a:t>
                </a:r>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pPr lvl="1"/>
                <a14:m>
                  <m:oMath xmlns:m="http://schemas.openxmlformats.org/officeDocument/2006/math">
                    <m:r>
                      <a:rPr lang="vi-VN" sz="2800" i="1">
                        <a:solidFill>
                          <a:srgbClr val="FF0000"/>
                        </a:solidFill>
                        <a:latin typeface="Cambria Math" panose="02040503050406030204" pitchFamily="18" charset="0"/>
                        <a:ea typeface="Cambria Math" panose="02040503050406030204" pitchFamily="18" charset="0"/>
                      </a:rPr>
                      <m:t>𝑈</m:t>
                    </m:r>
                    <m:d>
                      <m:dPr>
                        <m:ctrlPr>
                          <a:rPr lang="vi-VN" sz="2800" i="1">
                            <a:solidFill>
                              <a:srgbClr val="FF0000"/>
                            </a:solidFill>
                            <a:latin typeface="Cambria Math" panose="02040503050406030204" pitchFamily="18" charset="0"/>
                            <a:ea typeface="Cambria Math" panose="02040503050406030204" pitchFamily="18" charset="0"/>
                          </a:rPr>
                        </m:ctrlPr>
                      </m:dPr>
                      <m:e>
                        <m:r>
                          <a:rPr lang="vi-VN" sz="2800" b="1" i="1">
                            <a:solidFill>
                              <a:srgbClr val="FF0000"/>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−1</m:t>
                        </m:r>
                      </m:sub>
                    </m:sSub>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−2</m:t>
                        </m:r>
                      </m:sub>
                    </m:sSub>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0</m:t>
                        </m:r>
                      </m:sub>
                    </m:sSub>
                  </m:oMath>
                </a14:m>
                <a:r>
                  <a:rPr lang="en-VN" i="1">
                    <a:solidFill>
                      <a:schemeClr val="tx1"/>
                    </a:solidFill>
                    <a:latin typeface="Calibri" panose="020F0502020204030204" pitchFamily="34" charset="0"/>
                    <a:cs typeface="Calibri" panose="020F0502020204030204" pitchFamily="34" charset="0"/>
                  </a:rPr>
                  <a:t> </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can be splitted into </a:t>
                </a:r>
                <a14:m>
                  <m:oMath xmlns:m="http://schemas.openxmlformats.org/officeDocument/2006/math">
                    <m:r>
                      <a:rPr lang="vi-VN" sz="2800" i="1">
                        <a:solidFill>
                          <a:schemeClr val="tx1"/>
                        </a:solidFill>
                        <a:latin typeface="Cambria Math" panose="02040503050406030204" pitchFamily="18" charset="0"/>
                        <a:ea typeface="Cambria Math" panose="02040503050406030204" pitchFamily="18" charset="0"/>
                      </a:rPr>
                      <m:t>𝑚</m:t>
                    </m:r>
                  </m:oMath>
                </a14:m>
                <a:r>
                  <a:rPr lang="en-VN" sz="2800" i="1">
                    <a:solidFill>
                      <a:schemeClr val="tx1"/>
                    </a:solidFill>
                    <a:latin typeface="Calibri" panose="020F0502020204030204" pitchFamily="34" charset="0"/>
                    <a:cs typeface="Calibri" panose="020F0502020204030204" pitchFamily="34" charset="0"/>
                  </a:rPr>
                  <a:t> </a:t>
                </a:r>
                <a:r>
                  <a:rPr lang="en-VN" sz="2800">
                    <a:solidFill>
                      <a:schemeClr val="tx1"/>
                    </a:solidFill>
                    <a:latin typeface="Calibri" panose="020F0502020204030204" pitchFamily="34" charset="0"/>
                    <a:cs typeface="Calibri" panose="020F0502020204030204" pitchFamily="34" charset="0"/>
                  </a:rPr>
                  <a:t>sub-circuit with </a:t>
                </a:r>
                <a14:m>
                  <m:oMath xmlns:m="http://schemas.openxmlformats.org/officeDocument/2006/math">
                    <m:d>
                      <m:dPr>
                        <m:begChr m:val="|"/>
                        <m:endChr m:val="|"/>
                        <m:ctrlPr>
                          <a:rPr lang="vi-VN" sz="2800"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r>
                      <a:rPr lang="vi-VN" sz="2800" i="1">
                        <a:solidFill>
                          <a:schemeClr val="tx1"/>
                        </a:solidFill>
                        <a:latin typeface="Cambria Math" panose="02040503050406030204" pitchFamily="18" charset="0"/>
                      </a:rPr>
                      <m:t>=</m:t>
                    </m:r>
                    <m:r>
                      <a:rPr lang="vi-VN" sz="2800" i="1">
                        <a:solidFill>
                          <a:schemeClr val="tx1"/>
                        </a:solidFill>
                        <a:latin typeface="Cambria Math" panose="02040503050406030204" pitchFamily="18" charset="0"/>
                      </a:rPr>
                      <m:t>𝑚</m:t>
                    </m:r>
                  </m:oMath>
                </a14:m>
                <a:endParaRPr lang="en-VN" sz="2800" i="1">
                  <a:solidFill>
                    <a:schemeClr val="tx1"/>
                  </a:solidFill>
                  <a:latin typeface="Calibri" panose="020F0502020204030204" pitchFamily="34" charset="0"/>
                  <a:cs typeface="Calibri" panose="020F0502020204030204" pitchFamily="34" charset="0"/>
                </a:endParaRP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and </a:t>
                </a:r>
                <a:r>
                  <a:rPr lang="vi-VN" sz="2800">
                    <a:solidFill>
                      <a:srgbClr val="FF0000"/>
                    </a:solidFill>
                    <a:latin typeface="Calibri" panose="020F0502020204030204" pitchFamily="34" charset="0"/>
                    <a:ea typeface="Cambria Math" panose="02040503050406030204" pitchFamily="18" charset="0"/>
                    <a:cs typeface="Calibri" panose="020F0502020204030204" pitchFamily="34" charset="0"/>
                  </a:rPr>
                  <a:t>cost function</a:t>
                </a:r>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800" i="1">
                        <a:solidFill>
                          <a:srgbClr val="FF0000"/>
                        </a:solidFill>
                        <a:latin typeface="Cambria Math" panose="02040503050406030204" pitchFamily="18" charset="0"/>
                        <a:ea typeface="Cambria Math" panose="02040503050406030204" pitchFamily="18" charset="0"/>
                      </a:rPr>
                      <m:t>𝐶</m:t>
                    </m:r>
                    <m:d>
                      <m:dPr>
                        <m:ctrlPr>
                          <a:rPr lang="vi-VN" sz="2800" i="1">
                            <a:solidFill>
                              <a:srgbClr val="FF0000"/>
                            </a:solidFill>
                            <a:latin typeface="Cambria Math" panose="02040503050406030204" pitchFamily="18" charset="0"/>
                            <a:ea typeface="Cambria Math" panose="02040503050406030204" pitchFamily="18" charset="0"/>
                          </a:rPr>
                        </m:ctrlPr>
                      </m:dPr>
                      <m:e>
                        <m:r>
                          <a:rPr lang="vi-VN" sz="2800" b="1" i="1">
                            <a:solidFill>
                              <a:srgbClr val="FF0000"/>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r>
                      <a:rPr lang="vi-VN" sz="2800" b="1" i="1">
                        <a:solidFill>
                          <a:schemeClr val="tx1"/>
                        </a:solidFill>
                        <a:latin typeface="Cambria Math" panose="02040503050406030204" pitchFamily="18" charset="0"/>
                        <a:ea typeface="Cambria Math" panose="02040503050406030204" pitchFamily="18" charset="0"/>
                      </a:rPr>
                      <m:t>𝟎</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sSup>
                          <m:sSupPr>
                            <m:ctrlPr>
                              <a:rPr lang="vi-VN" sz="2800" i="1">
                                <a:solidFill>
                                  <a:schemeClr val="tx1"/>
                                </a:solidFill>
                                <a:latin typeface="Cambria Math" panose="02040503050406030204" pitchFamily="18" charset="0"/>
                                <a:ea typeface="Cambria Math" panose="02040503050406030204" pitchFamily="18" charset="0"/>
                              </a:rPr>
                            </m:ctrlPr>
                          </m:sSupPr>
                          <m:e>
                            <m:r>
                              <a:rPr lang="vi-VN" sz="2800" i="1">
                                <a:solidFill>
                                  <a:schemeClr val="tx1"/>
                                </a:solidFill>
                                <a:latin typeface="Cambria Math" panose="02040503050406030204" pitchFamily="18" charset="0"/>
                                <a:ea typeface="Cambria Math" panose="02040503050406030204" pitchFamily="18" charset="0"/>
                              </a:rPr>
                              <m:t>𝑈</m:t>
                            </m:r>
                          </m:e>
                          <m:sup>
                            <m:r>
                              <a:rPr lang="vi-VN" sz="2800" i="1">
                                <a:solidFill>
                                  <a:schemeClr val="tx1"/>
                                </a:solidFill>
                                <a:latin typeface="Cambria Math" panose="02040503050406030204" pitchFamily="18" charset="0"/>
                                <a:ea typeface="Cambria Math" panose="02040503050406030204" pitchFamily="18" charset="0"/>
                              </a:rPr>
                              <m:t>†</m:t>
                            </m:r>
                          </m:sup>
                        </m:sSup>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acc>
                          <m:accPr>
                            <m:chr m:val="̂"/>
                            <m:ctrlPr>
                              <a:rPr lang="vi-VN" sz="2800" i="1">
                                <a:solidFill>
                                  <a:schemeClr val="tx1"/>
                                </a:solidFill>
                                <a:latin typeface="Cambria Math" panose="02040503050406030204" pitchFamily="18" charset="0"/>
                                <a:ea typeface="Cambria Math" panose="02040503050406030204" pitchFamily="18" charset="0"/>
                              </a:rPr>
                            </m:ctrlPr>
                          </m:accPr>
                          <m:e>
                            <m:r>
                              <a:rPr lang="vi-VN" sz="2800" i="1">
                                <a:solidFill>
                                  <a:schemeClr val="tx1"/>
                                </a:solidFill>
                                <a:latin typeface="Cambria Math" panose="02040503050406030204" pitchFamily="18" charset="0"/>
                                <a:ea typeface="Cambria Math" panose="02040503050406030204" pitchFamily="18" charset="0"/>
                              </a:rPr>
                              <m:t>𝐵</m:t>
                            </m:r>
                          </m:e>
                        </m:acc>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e>
                    </m:d>
                    <m:r>
                      <a:rPr lang="vi-VN" sz="2800" b="1" i="1">
                        <a:solidFill>
                          <a:schemeClr val="tx1"/>
                        </a:solidFill>
                        <a:latin typeface="Cambria Math" panose="02040503050406030204" pitchFamily="18" charset="0"/>
                        <a:ea typeface="Cambria Math" panose="02040503050406030204" pitchFamily="18" charset="0"/>
                      </a:rPr>
                      <m:t>𝟎</m:t>
                    </m:r>
                    <m:r>
                      <a:rPr lang="vi-VN" sz="2800" i="1">
                        <a:solidFill>
                          <a:schemeClr val="tx1"/>
                        </a:solidFill>
                        <a:latin typeface="Cambria Math" panose="02040503050406030204" pitchFamily="18" charset="0"/>
                        <a:ea typeface="Cambria Math" panose="02040503050406030204" pitchFamily="18" charset="0"/>
                      </a:rPr>
                      <m:t>⟩</m:t>
                    </m:r>
                  </m:oMath>
                </a14:m>
                <a:endParaRPr lang="en-VN" sz="2800" b="1" i="1">
                  <a:solidFill>
                    <a:schemeClr val="tx1"/>
                  </a:solidFill>
                  <a:latin typeface="Calibri" panose="020F0502020204030204" pitchFamily="34" charset="0"/>
                  <a:cs typeface="Calibri" panose="020F0502020204030204" pitchFamily="34" charset="0"/>
                </a:endParaRPr>
              </a:p>
              <a:p>
                <a:r>
                  <a:rPr lang="en-VN" sz="28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800" b="1" i="1">
                            <a:solidFill>
                              <a:schemeClr val="tx1"/>
                            </a:solidFill>
                            <a:latin typeface="Cambria Math" panose="02040503050406030204" pitchFamily="18" charset="0"/>
                          </a:rPr>
                        </m:ctrlPr>
                      </m:sSupPr>
                      <m:e>
                        <m:r>
                          <a:rPr lang="vi-VN" sz="2800" b="1" i="1">
                            <a:solidFill>
                              <a:schemeClr val="tx1"/>
                            </a:solidFill>
                            <a:latin typeface="Cambria Math" panose="02040503050406030204" pitchFamily="18" charset="0"/>
                          </a:rPr>
                          <m:t>𝜽</m:t>
                        </m:r>
                      </m:e>
                      <m:sup>
                        <m:r>
                          <a:rPr lang="vi-VN" sz="2800" b="1" i="1">
                            <a:solidFill>
                              <a:schemeClr val="tx1"/>
                            </a:solidFill>
                            <a:latin typeface="Cambria Math" panose="02040503050406030204" pitchFamily="18" charset="0"/>
                          </a:rPr>
                          <m:t>∗</m:t>
                        </m:r>
                      </m:sup>
                    </m:sSup>
                    <m:r>
                      <a:rPr lang="vi-VN" sz="2800" b="1" i="1">
                        <a:solidFill>
                          <a:schemeClr val="tx1"/>
                        </a:solidFill>
                        <a:latin typeface="Cambria Math" panose="02040503050406030204" pitchFamily="18" charset="0"/>
                      </a:rPr>
                      <m:t>=</m:t>
                    </m:r>
                    <m:sSub>
                      <m:sSubPr>
                        <m:ctrlPr>
                          <a:rPr lang="vi-VN" sz="2800" i="1">
                            <a:solidFill>
                              <a:schemeClr val="tx1"/>
                            </a:solidFill>
                            <a:latin typeface="Cambria Math" panose="02040503050406030204" pitchFamily="18" charset="0"/>
                          </a:rPr>
                        </m:ctrlPr>
                      </m:sSubPr>
                      <m:e>
                        <m:r>
                          <m:rPr>
                            <m:sty m:val="p"/>
                          </m:rPr>
                          <a:rPr lang="vi-VN" sz="2800">
                            <a:solidFill>
                              <a:schemeClr val="tx1"/>
                            </a:solidFill>
                            <a:latin typeface="Cambria Math" panose="02040503050406030204" pitchFamily="18" charset="0"/>
                          </a:rPr>
                          <m:t>argmin</m:t>
                        </m:r>
                      </m:e>
                      <m:sub>
                        <m:r>
                          <a:rPr lang="vi-VN" sz="2800" b="1" i="1">
                            <a:solidFill>
                              <a:schemeClr val="tx1"/>
                            </a:solidFill>
                            <a:latin typeface="Cambria Math" panose="02040503050406030204" pitchFamily="18" charset="0"/>
                          </a:rPr>
                          <m:t>𝜽</m:t>
                        </m:r>
                      </m:sub>
                    </m:sSub>
                    <m:r>
                      <a:rPr lang="vi-VN" sz="2800" i="1">
                        <a:solidFill>
                          <a:schemeClr val="tx1"/>
                        </a:solidFill>
                        <a:latin typeface="Cambria Math" panose="02040503050406030204" pitchFamily="18" charset="0"/>
                      </a:rPr>
                      <m:t>𝐶</m:t>
                    </m:r>
                    <m:d>
                      <m:dPr>
                        <m:ctrlPr>
                          <a:rPr lang="vi-VN" sz="2800" b="1"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oMath>
                </a14:m>
                <a:r>
                  <a:rPr lang="en-VN" sz="2800" b="1" i="1">
                    <a:solidFill>
                      <a:schemeClr val="tx1"/>
                    </a:solidFill>
                    <a:latin typeface="Calibri" panose="020F0502020204030204" pitchFamily="34" charset="0"/>
                    <a:cs typeface="Calibri" panose="020F0502020204030204" pitchFamily="34" charset="0"/>
                  </a:rPr>
                  <a:t> </a:t>
                </a:r>
              </a:p>
              <a:p>
                <a:r>
                  <a:rPr lang="en-VN" sz="2800" i="1">
                    <a:solidFill>
                      <a:schemeClr val="tx1"/>
                    </a:solidFill>
                    <a:latin typeface="Calibri" panose="020F0502020204030204" pitchFamily="34" charset="0"/>
                    <a:cs typeface="Calibri" panose="020F0502020204030204" pitchFamily="34" charset="0"/>
                  </a:rPr>
                  <a:t> </a:t>
                </a:r>
              </a:p>
            </p:txBody>
          </p:sp>
        </mc:Choice>
        <mc:Fallback>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838200" y="1441622"/>
                <a:ext cx="8772611" cy="1213764"/>
              </a:xfrm>
              <a:prstGeom prst="rect">
                <a:avLst/>
              </a:prstGeom>
              <a:blipFill>
                <a:blip r:embed="rId2"/>
                <a:stretch>
                  <a:fillRect l="-1447" t="-5155" b="-161856"/>
                </a:stretch>
              </a:blipFill>
              <a:ln>
                <a:noFill/>
              </a:ln>
            </p:spPr>
            <p:txBody>
              <a:bodyPr/>
              <a:lstStyle/>
              <a:p>
                <a:r>
                  <a:rPr lang="en-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10</a:t>
            </a:fld>
            <a:endParaRPr lang="en-VN"/>
          </a:p>
        </p:txBody>
      </p:sp>
      <mc:AlternateContent xmlns:mc="http://schemas.openxmlformats.org/markup-compatibility/2006">
        <mc:Choice xmlns:a14="http://schemas.microsoft.com/office/drawing/2010/main" Requires="a14">
          <p:sp>
            <p:nvSpPr>
              <p:cNvPr id="46" name="Rectangle 45">
                <a:extLst>
                  <a:ext uri="{FF2B5EF4-FFF2-40B4-BE49-F238E27FC236}">
                    <a16:creationId xmlns:a16="http://schemas.microsoft.com/office/drawing/2014/main" id="{A8A39BA6-8714-E404-42DE-F41BAB3062DD}"/>
                  </a:ext>
                </a:extLst>
              </p:cNvPr>
              <p:cNvSpPr/>
              <p:nvPr/>
            </p:nvSpPr>
            <p:spPr>
              <a:xfrm>
                <a:off x="1548716" y="4924383"/>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548716" y="4924383"/>
                <a:ext cx="1691501"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3943180" y="514448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4017441" y="5337280"/>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4089730" y="5233775"/>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1213708" y="5222791"/>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3532721" y="521744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4" name="TextBox 63">
                <a:extLst>
                  <a:ext uri="{FF2B5EF4-FFF2-40B4-BE49-F238E27FC236}">
                    <a16:creationId xmlns:a16="http://schemas.microsoft.com/office/drawing/2014/main" id="{7708B677-147A-6A63-0034-BADA4C3CE1A8}"/>
                  </a:ext>
                </a:extLst>
              </p:cNvPr>
              <p:cNvSpPr txBox="1"/>
              <p:nvPr/>
            </p:nvSpPr>
            <p:spPr>
              <a:xfrm>
                <a:off x="4887780" y="5112021"/>
                <a:ext cx="911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oMath>
                  </m:oMathPara>
                </a14:m>
                <a:endParaRPr lang="en-VN" sz="2400"/>
              </a:p>
            </p:txBody>
          </p:sp>
        </mc:Choice>
        <mc:Fallback>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4887780" y="5112021"/>
                <a:ext cx="911656" cy="461665"/>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flipV="1">
            <a:off x="4351605" y="5342854"/>
            <a:ext cx="536175" cy="62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B780FC65-407E-2595-D7CC-35B757880195}"/>
                  </a:ext>
                </a:extLst>
              </p:cNvPr>
              <p:cNvSpPr txBox="1"/>
              <p:nvPr/>
            </p:nvSpPr>
            <p:spPr>
              <a:xfrm>
                <a:off x="6365938" y="5112172"/>
                <a:ext cx="10544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2400">
                          <a:latin typeface="Cambria Math" panose="02040503050406030204" pitchFamily="18" charset="0"/>
                          <a:ea typeface="Cambria Math" panose="02040503050406030204" pitchFamily="18" charset="0"/>
                        </a:rPr>
                        <m:t>∇</m:t>
                      </m:r>
                      <m:r>
                        <a:rPr lang="vi-VN" sz="2400" i="1">
                          <a:latin typeface="Cambria Math" panose="02040503050406030204" pitchFamily="18" charset="0"/>
                          <a:ea typeface="Cambria Math" panose="02040503050406030204" pitchFamily="18" charset="0"/>
                        </a:rPr>
                        <m:t>𝐶</m:t>
                      </m:r>
                    </m:oMath>
                  </m:oMathPara>
                </a14:m>
                <a:endParaRPr lang="en-VN" sz="2400"/>
              </a:p>
            </p:txBody>
          </p:sp>
        </mc:Choice>
        <mc:Fallback>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6365938" y="5112172"/>
                <a:ext cx="1054447" cy="461665"/>
              </a:xfrm>
              <a:prstGeom prst="rect">
                <a:avLst/>
              </a:prstGeom>
              <a:blipFill>
                <a:blip r:embed="rId5"/>
                <a:stretch>
                  <a:fillRect/>
                </a:stretch>
              </a:blipFill>
            </p:spPr>
            <p:txBody>
              <a:bodyPr/>
              <a:lstStyle/>
              <a:p>
                <a:r>
                  <a:rPr lang="en-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5799436" y="5342854"/>
            <a:ext cx="566502" cy="15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01143910-BC54-FA73-56ED-84D98CB4DBBD}"/>
                  </a:ext>
                </a:extLst>
              </p:cNvPr>
              <p:cNvSpPr txBox="1"/>
              <p:nvPr/>
            </p:nvSpPr>
            <p:spPr>
              <a:xfrm>
                <a:off x="7952258" y="5119509"/>
                <a:ext cx="3401543" cy="461665"/>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sz="2400" i="1">
                            <a:latin typeface="Cambria Math" panose="02040503050406030204" pitchFamily="18" charset="0"/>
                          </a:rPr>
                        </m:ctrlPr>
                      </m:sSupPr>
                      <m:e>
                        <m:r>
                          <a:rPr lang="vi-VN" sz="2400" b="1" i="1">
                            <a:latin typeface="Cambria Math" panose="02040503050406030204" pitchFamily="18" charset="0"/>
                          </a:rPr>
                          <m:t>𝜽</m:t>
                        </m:r>
                      </m:e>
                      <m:sup>
                        <m:r>
                          <m:rPr>
                            <m:sty m:val="p"/>
                          </m:rPr>
                          <a:rPr lang="vi-VN" sz="2400" i="1">
                            <a:latin typeface="Cambria Math" panose="02040503050406030204" pitchFamily="18" charset="0"/>
                          </a:rPr>
                          <m:t>t</m:t>
                        </m:r>
                        <m:r>
                          <a:rPr lang="vi-VN" sz="2400" i="1">
                            <a:latin typeface="Cambria Math" panose="02040503050406030204" pitchFamily="18" charset="0"/>
                          </a:rPr>
                          <m:t>+1</m:t>
                        </m:r>
                      </m:sup>
                    </m:sSup>
                    <m:r>
                      <a:rPr lang="vi-VN" sz="2400" i="1">
                        <a:latin typeface="Cambria Math" panose="02040503050406030204" pitchFamily="18" charset="0"/>
                      </a:rPr>
                      <m:t>←</m:t>
                    </m:r>
                  </m:oMath>
                </a14:m>
                <a:r>
                  <a:rPr lang="en-VN" sz="2400"/>
                  <a:t> </a:t>
                </a:r>
                <a:r>
                  <a:rPr lang="en-VN" sz="2400">
                    <a:solidFill>
                      <a:srgbClr val="FF0000"/>
                    </a:solidFill>
                  </a:rPr>
                  <a:t>Optimizer</a:t>
                </a:r>
                <a14:m>
                  <m:oMath xmlns:m="http://schemas.openxmlformats.org/officeDocument/2006/math">
                    <m:r>
                      <a:rPr lang="en-VN" sz="2400" i="1">
                        <a:latin typeface="Cambria Math" panose="02040503050406030204" pitchFamily="18" charset="0"/>
                      </a:rPr>
                      <m:t>(</m:t>
                    </m:r>
                    <m:r>
                      <a:rPr lang="vi-VN" sz="2400" b="1" i="1">
                        <a:latin typeface="Cambria Math" panose="02040503050406030204" pitchFamily="18" charset="0"/>
                      </a:rPr>
                      <m:t>𝜽</m:t>
                    </m:r>
                    <m:r>
                      <a:rPr lang="vi-VN" sz="2400" i="1">
                        <a:latin typeface="Cambria Math" panose="02040503050406030204" pitchFamily="18" charset="0"/>
                      </a:rPr>
                      <m:t>,</m:t>
                    </m:r>
                    <m:r>
                      <m:rPr>
                        <m:sty m:val="p"/>
                      </m:rPr>
                      <a:rPr lang="vi-VN" sz="2400">
                        <a:latin typeface="Cambria Math" panose="02040503050406030204" pitchFamily="18" charset="0"/>
                      </a:rPr>
                      <m:t>∇</m:t>
                    </m:r>
                    <m:r>
                      <a:rPr lang="vi-VN" sz="2400" i="1">
                        <a:latin typeface="Cambria Math" panose="02040503050406030204" pitchFamily="18" charset="0"/>
                      </a:rPr>
                      <m:t>𝐶</m:t>
                    </m:r>
                    <m:r>
                      <a:rPr lang="en-VN" sz="2400" i="1">
                        <a:latin typeface="Cambria Math" panose="02040503050406030204" pitchFamily="18" charset="0"/>
                      </a:rPr>
                      <m:t>)</m:t>
                    </m:r>
                  </m:oMath>
                </a14:m>
                <a:endParaRPr lang="en-VN" sz="2400"/>
              </a:p>
            </p:txBody>
          </p:sp>
        </mc:Choice>
        <mc:Fallback>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7952258" y="5119509"/>
                <a:ext cx="3401543" cy="461665"/>
              </a:xfrm>
              <a:prstGeom prst="rect">
                <a:avLst/>
              </a:prstGeom>
              <a:blipFill>
                <a:blip r:embed="rId6"/>
                <a:stretch>
                  <a:fillRect l="-370" t="-7692" r="-1111" b="-25641"/>
                </a:stretch>
              </a:blipFill>
              <a:ln>
                <a:solidFill>
                  <a:schemeClr val="tx1"/>
                </a:solidFill>
                <a:prstDash val="dash"/>
              </a:ln>
            </p:spPr>
            <p:txBody>
              <a:bodyPr/>
              <a:lstStyle/>
              <a:p>
                <a:r>
                  <a:rPr lang="en-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7420385" y="5343005"/>
            <a:ext cx="531873" cy="733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5918285" y="2057357"/>
            <a:ext cx="210928" cy="7258563"/>
          </a:xfrm>
          <a:prstGeom prst="bentConnector3">
            <a:avLst>
              <a:gd name="adj1" fmla="val 208378"/>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A50D1D80-D9B7-5ED7-3B35-6399690675AF}"/>
                  </a:ext>
                </a:extLst>
              </p:cNvPr>
              <p:cNvSpPr txBox="1"/>
              <p:nvPr/>
            </p:nvSpPr>
            <p:spPr>
              <a:xfrm>
                <a:off x="4492370" y="5640366"/>
                <a:ext cx="4613189" cy="461665"/>
              </a:xfrm>
              <a:prstGeom prst="rect">
                <a:avLst/>
              </a:prstGeom>
              <a:noFill/>
            </p:spPr>
            <p:txBody>
              <a:bodyPr wrap="square" rtlCol="0">
                <a:spAutoFit/>
              </a:bodyPr>
              <a:lstStyle/>
              <a:p>
                <a:r>
                  <a:rPr lang="en-VN" sz="2400"/>
                  <a:t>Update </a:t>
                </a:r>
                <a14:m>
                  <m:oMath xmlns:m="http://schemas.openxmlformats.org/officeDocument/2006/math">
                    <m:r>
                      <a:rPr lang="en-VN" sz="2400" b="1" i="1">
                        <a:latin typeface="Cambria Math" panose="02040503050406030204" pitchFamily="18" charset="0"/>
                      </a:rPr>
                      <m:t>𝜽</m:t>
                    </m:r>
                  </m:oMath>
                </a14:m>
                <a:r>
                  <a:rPr lang="en-VN" sz="2400" b="1"/>
                  <a:t> </a:t>
                </a:r>
                <a:r>
                  <a:rPr lang="en-VN" sz="2400"/>
                  <a:t>until </a:t>
                </a:r>
                <a14:m>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r>
                      <a:rPr lang="vi-VN" sz="2400" b="1" i="1">
                        <a:latin typeface="Cambria Math" panose="02040503050406030204" pitchFamily="18" charset="0"/>
                        <a:ea typeface="Cambria Math" panose="02040503050406030204" pitchFamily="18" charset="0"/>
                      </a:rPr>
                      <m:t>&lt;</m:t>
                    </m:r>
                    <m:r>
                      <a:rPr lang="vi-VN" sz="2400" i="1">
                        <a:latin typeface="Cambria Math" panose="02040503050406030204" pitchFamily="18" charset="0"/>
                        <a:ea typeface="Cambria Math" panose="02040503050406030204" pitchFamily="18" charset="0"/>
                      </a:rPr>
                      <m:t>𝜏</m:t>
                    </m:r>
                  </m:oMath>
                </a14:m>
                <a:endParaRPr lang="en-VN" sz="2400"/>
              </a:p>
            </p:txBody>
          </p:sp>
        </mc:Choice>
        <mc:Fallback>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4492370" y="5640366"/>
                <a:ext cx="4613189" cy="461665"/>
              </a:xfrm>
              <a:prstGeom prst="rect">
                <a:avLst/>
              </a:prstGeom>
              <a:blipFill>
                <a:blip r:embed="rId7"/>
                <a:stretch>
                  <a:fillRect l="-1918" t="-10811" b="-29730"/>
                </a:stretch>
              </a:blipFill>
            </p:spPr>
            <p:txBody>
              <a:bodyPr/>
              <a:lstStyle/>
              <a:p>
                <a:r>
                  <a:rPr lang="en-VN">
                    <a:noFill/>
                  </a:rPr>
                  <a:t> </a:t>
                </a:r>
              </a:p>
            </p:txBody>
          </p:sp>
        </mc:Fallback>
      </mc:AlternateContent>
      <p:sp>
        <p:nvSpPr>
          <p:cNvPr id="6" name="Rectangle 5">
            <a:extLst>
              <a:ext uri="{FF2B5EF4-FFF2-40B4-BE49-F238E27FC236}">
                <a16:creationId xmlns:a16="http://schemas.microsoft.com/office/drawing/2014/main" id="{A2A43D14-B38A-7BA4-101F-1EF021714EE1}"/>
              </a:ext>
            </a:extLst>
          </p:cNvPr>
          <p:cNvSpPr/>
          <p:nvPr/>
        </p:nvSpPr>
        <p:spPr>
          <a:xfrm>
            <a:off x="6468533" y="2201334"/>
            <a:ext cx="1354667" cy="7055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7" name="TextBox 6">
            <a:extLst>
              <a:ext uri="{FF2B5EF4-FFF2-40B4-BE49-F238E27FC236}">
                <a16:creationId xmlns:a16="http://schemas.microsoft.com/office/drawing/2014/main" id="{5D4F94FE-75C5-38EE-2508-AE4FAA037C1F}"/>
              </a:ext>
            </a:extLst>
          </p:cNvPr>
          <p:cNvSpPr txBox="1"/>
          <p:nvPr/>
        </p:nvSpPr>
        <p:spPr>
          <a:xfrm>
            <a:off x="8307591" y="2307890"/>
            <a:ext cx="2963333" cy="461665"/>
          </a:xfrm>
          <a:prstGeom prst="rect">
            <a:avLst/>
          </a:prstGeom>
          <a:noFill/>
        </p:spPr>
        <p:txBody>
          <a:bodyPr wrap="square" rtlCol="0">
            <a:spAutoFit/>
          </a:bodyPr>
          <a:lstStyle/>
          <a:p>
            <a:r>
              <a:rPr lang="en-US" sz="2400">
                <a:solidFill>
                  <a:srgbClr val="FF0000"/>
                </a:solidFill>
              </a:rPr>
              <a:t>Trainable parameters</a:t>
            </a:r>
            <a:endParaRPr lang="en-VN" sz="2400">
              <a:solidFill>
                <a:srgbClr val="FF0000"/>
              </a:solidFill>
            </a:endParaRPr>
          </a:p>
        </p:txBody>
      </p:sp>
      <p:sp>
        <p:nvSpPr>
          <p:cNvPr id="8" name="TextBox 7">
            <a:extLst>
              <a:ext uri="{FF2B5EF4-FFF2-40B4-BE49-F238E27FC236}">
                <a16:creationId xmlns:a16="http://schemas.microsoft.com/office/drawing/2014/main" id="{60B90AA3-0B5D-988B-9767-7A6B473D0B91}"/>
              </a:ext>
            </a:extLst>
          </p:cNvPr>
          <p:cNvSpPr txBox="1"/>
          <p:nvPr/>
        </p:nvSpPr>
        <p:spPr>
          <a:xfrm>
            <a:off x="8307591" y="3040316"/>
            <a:ext cx="3401543" cy="830997"/>
          </a:xfrm>
          <a:prstGeom prst="rect">
            <a:avLst/>
          </a:prstGeom>
          <a:noFill/>
        </p:spPr>
        <p:txBody>
          <a:bodyPr wrap="square" rtlCol="0">
            <a:spAutoFit/>
          </a:bodyPr>
          <a:lstStyle/>
          <a:p>
            <a:r>
              <a:rPr lang="en-US" sz="2400">
                <a:solidFill>
                  <a:srgbClr val="FF0000"/>
                </a:solidFill>
              </a:rPr>
              <a:t>Objective associated with expectation values</a:t>
            </a:r>
            <a:endParaRPr lang="en-VN" sz="2400">
              <a:solidFill>
                <a:srgbClr val="FF0000"/>
              </a:solidFill>
            </a:endParaRPr>
          </a:p>
        </p:txBody>
      </p:sp>
      <p:sp>
        <p:nvSpPr>
          <p:cNvPr id="9" name="Rectangle 8">
            <a:extLst>
              <a:ext uri="{FF2B5EF4-FFF2-40B4-BE49-F238E27FC236}">
                <a16:creationId xmlns:a16="http://schemas.microsoft.com/office/drawing/2014/main" id="{A53AD4C7-4814-A909-94F3-B3A04E55034E}"/>
              </a:ext>
            </a:extLst>
          </p:cNvPr>
          <p:cNvSpPr/>
          <p:nvPr/>
        </p:nvSpPr>
        <p:spPr>
          <a:xfrm>
            <a:off x="1478845" y="3184000"/>
            <a:ext cx="4238977" cy="546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0" name="Rectangle 9">
            <a:extLst>
              <a:ext uri="{FF2B5EF4-FFF2-40B4-BE49-F238E27FC236}">
                <a16:creationId xmlns:a16="http://schemas.microsoft.com/office/drawing/2014/main" id="{351D5153-17DB-D23D-CE98-EB34709A72AA}"/>
              </a:ext>
            </a:extLst>
          </p:cNvPr>
          <p:cNvSpPr/>
          <p:nvPr/>
        </p:nvSpPr>
        <p:spPr>
          <a:xfrm>
            <a:off x="1213708" y="4083577"/>
            <a:ext cx="3352649" cy="546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1" name="TextBox 10">
            <a:extLst>
              <a:ext uri="{FF2B5EF4-FFF2-40B4-BE49-F238E27FC236}">
                <a16:creationId xmlns:a16="http://schemas.microsoft.com/office/drawing/2014/main" id="{DCB6FF76-2AC9-802B-8F69-14D057DCDAA6}"/>
              </a:ext>
            </a:extLst>
          </p:cNvPr>
          <p:cNvSpPr txBox="1"/>
          <p:nvPr/>
        </p:nvSpPr>
        <p:spPr>
          <a:xfrm>
            <a:off x="8390467" y="4110846"/>
            <a:ext cx="2963333" cy="461665"/>
          </a:xfrm>
          <a:prstGeom prst="rect">
            <a:avLst/>
          </a:prstGeom>
          <a:noFill/>
        </p:spPr>
        <p:txBody>
          <a:bodyPr wrap="square" rtlCol="0">
            <a:spAutoFit/>
          </a:bodyPr>
          <a:lstStyle/>
          <a:p>
            <a:r>
              <a:rPr lang="en-US" sz="2400">
                <a:solidFill>
                  <a:srgbClr val="FF0000"/>
                </a:solidFill>
              </a:rPr>
              <a:t>Optimal parameters</a:t>
            </a:r>
            <a:endParaRPr lang="en-VN" sz="2400">
              <a:solidFill>
                <a:srgbClr val="FF0000"/>
              </a:solidFill>
            </a:endParaRPr>
          </a:p>
        </p:txBody>
      </p:sp>
      <p:cxnSp>
        <p:nvCxnSpPr>
          <p:cNvPr id="12" name="Straight Arrow Connector 11">
            <a:extLst>
              <a:ext uri="{FF2B5EF4-FFF2-40B4-BE49-F238E27FC236}">
                <a16:creationId xmlns:a16="http://schemas.microsoft.com/office/drawing/2014/main" id="{4C25EA65-4172-C59A-63A6-31FD040BC78C}"/>
              </a:ext>
            </a:extLst>
          </p:cNvPr>
          <p:cNvCxnSpPr>
            <a:cxnSpLocks/>
            <a:stCxn id="6" idx="3"/>
            <a:endCxn id="7" idx="1"/>
          </p:cNvCxnSpPr>
          <p:nvPr/>
        </p:nvCxnSpPr>
        <p:spPr>
          <a:xfrm flipV="1">
            <a:off x="7823200" y="2538723"/>
            <a:ext cx="484391" cy="15389"/>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94D54A-916E-DE73-58CD-AD75DC9B88A7}"/>
              </a:ext>
            </a:extLst>
          </p:cNvPr>
          <p:cNvCxnSpPr>
            <a:cxnSpLocks/>
            <a:stCxn id="9" idx="3"/>
            <a:endCxn id="8" idx="1"/>
          </p:cNvCxnSpPr>
          <p:nvPr/>
        </p:nvCxnSpPr>
        <p:spPr>
          <a:xfrm flipV="1">
            <a:off x="5717822" y="3455815"/>
            <a:ext cx="2589769" cy="1675"/>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9ED62C-BA76-35F3-7535-A4F39DAB0BD4}"/>
              </a:ext>
            </a:extLst>
          </p:cNvPr>
          <p:cNvCxnSpPr>
            <a:cxnSpLocks/>
            <a:stCxn id="10" idx="3"/>
            <a:endCxn id="11" idx="1"/>
          </p:cNvCxnSpPr>
          <p:nvPr/>
        </p:nvCxnSpPr>
        <p:spPr>
          <a:xfrm flipV="1">
            <a:off x="4566357" y="4341679"/>
            <a:ext cx="3824110" cy="15388"/>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D5C6F1A-6163-519A-A13B-16C9EA2B56CE}"/>
              </a:ext>
            </a:extLst>
          </p:cNvPr>
          <p:cNvSpPr txBox="1"/>
          <p:nvPr/>
        </p:nvSpPr>
        <p:spPr>
          <a:xfrm>
            <a:off x="838199" y="6378536"/>
            <a:ext cx="3575756" cy="338554"/>
          </a:xfrm>
          <a:prstGeom prst="rect">
            <a:avLst/>
          </a:prstGeom>
          <a:noFill/>
        </p:spPr>
        <p:txBody>
          <a:bodyPr wrap="square" rtlCol="0">
            <a:spAutoFit/>
          </a:bodyPr>
          <a:lstStyle/>
          <a:p>
            <a:pPr algn="ctr"/>
            <a:r>
              <a:rPr lang="en-US" sz="1600"/>
              <a:t>Quantum computer</a:t>
            </a:r>
            <a:endParaRPr lang="en-VN" sz="1600"/>
          </a:p>
        </p:txBody>
      </p:sp>
      <p:sp>
        <p:nvSpPr>
          <p:cNvPr id="28" name="TextBox 27">
            <a:extLst>
              <a:ext uri="{FF2B5EF4-FFF2-40B4-BE49-F238E27FC236}">
                <a16:creationId xmlns:a16="http://schemas.microsoft.com/office/drawing/2014/main" id="{24720B65-445F-C30A-B878-7B4FE3B5EB6C}"/>
              </a:ext>
            </a:extLst>
          </p:cNvPr>
          <p:cNvSpPr txBox="1"/>
          <p:nvPr/>
        </p:nvSpPr>
        <p:spPr>
          <a:xfrm>
            <a:off x="4492370" y="6378536"/>
            <a:ext cx="6977001" cy="338554"/>
          </a:xfrm>
          <a:prstGeom prst="rect">
            <a:avLst/>
          </a:prstGeom>
          <a:noFill/>
        </p:spPr>
        <p:txBody>
          <a:bodyPr wrap="square" rtlCol="0">
            <a:spAutoFit/>
          </a:bodyPr>
          <a:lstStyle/>
          <a:p>
            <a:pPr algn="ctr"/>
            <a:r>
              <a:rPr lang="en-US" sz="1600"/>
              <a:t>Classical computer</a:t>
            </a:r>
            <a:endParaRPr lang="en-VN" sz="1600"/>
          </a:p>
        </p:txBody>
      </p:sp>
      <p:cxnSp>
        <p:nvCxnSpPr>
          <p:cNvPr id="30" name="Straight Connector 29">
            <a:extLst>
              <a:ext uri="{FF2B5EF4-FFF2-40B4-BE49-F238E27FC236}">
                <a16:creationId xmlns:a16="http://schemas.microsoft.com/office/drawing/2014/main" id="{18C54759-6889-BF0B-1E06-0D5F8880378B}"/>
              </a:ext>
            </a:extLst>
          </p:cNvPr>
          <p:cNvCxnSpPr>
            <a:cxnSpLocks/>
          </p:cNvCxnSpPr>
          <p:nvPr/>
        </p:nvCxnSpPr>
        <p:spPr>
          <a:xfrm>
            <a:off x="4470395" y="4924383"/>
            <a:ext cx="0" cy="17970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875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1C996-B951-FE32-99A5-431F469D45B5}"/>
              </a:ext>
            </a:extLst>
          </p:cNvPr>
          <p:cNvSpPr>
            <a:spLocks noGrp="1"/>
          </p:cNvSpPr>
          <p:nvPr>
            <p:ph type="title"/>
          </p:nvPr>
        </p:nvSpPr>
        <p:spPr/>
        <p:txBody>
          <a:bodyPr>
            <a:normAutofit/>
          </a:bodyPr>
          <a:lstStyle/>
          <a:p>
            <a:r>
              <a:rPr lang="en-US"/>
              <a:t>1.6</a:t>
            </a:r>
            <a:r>
              <a:rPr lang="en-VN"/>
              <a:t>.</a:t>
            </a:r>
            <a:r>
              <a:rPr lang="en-US"/>
              <a:t>1.</a:t>
            </a:r>
            <a:r>
              <a:rPr lang="en-VN"/>
              <a:t> </a:t>
            </a:r>
            <a:r>
              <a:rPr lang="en-US"/>
              <a:t>Quantum optimization</a:t>
            </a:r>
            <a:br>
              <a:rPr lang="en-US"/>
            </a:br>
            <a:r>
              <a:rPr lang="en-US" sz="2667"/>
              <a:t>Variational Quantum Eigensolver (VQE)</a:t>
            </a:r>
            <a:endParaRPr lang="vi-VN" sz="2667"/>
          </a:p>
        </p:txBody>
      </p:sp>
      <p:sp>
        <p:nvSpPr>
          <p:cNvPr id="4" name="Slide Number Placeholder 3">
            <a:extLst>
              <a:ext uri="{FF2B5EF4-FFF2-40B4-BE49-F238E27FC236}">
                <a16:creationId xmlns:a16="http://schemas.microsoft.com/office/drawing/2014/main" id="{093703F6-E00B-6E81-CBF4-79BB7682401E}"/>
              </a:ext>
            </a:extLst>
          </p:cNvPr>
          <p:cNvSpPr>
            <a:spLocks noGrp="1"/>
          </p:cNvSpPr>
          <p:nvPr>
            <p:ph type="sldNum" sz="quarter" idx="12"/>
          </p:nvPr>
        </p:nvSpPr>
        <p:spPr/>
        <p:txBody>
          <a:bodyPr/>
          <a:lstStyle/>
          <a:p>
            <a:fld id="{6A45828D-F580-42DE-B77E-860980F07F32}" type="slidenum">
              <a:rPr lang="vi-VN" smtClean="0"/>
              <a:t>11</a:t>
            </a:fld>
            <a:endParaRPr lang="vi-VN"/>
          </a:p>
        </p:txBody>
      </p:sp>
      <p:cxnSp>
        <p:nvCxnSpPr>
          <p:cNvPr id="5" name="Straight Connector 4">
            <a:extLst>
              <a:ext uri="{FF2B5EF4-FFF2-40B4-BE49-F238E27FC236}">
                <a16:creationId xmlns:a16="http://schemas.microsoft.com/office/drawing/2014/main" id="{5A319F40-02AC-0D00-0265-DF403E54AAA9}"/>
              </a:ext>
            </a:extLst>
          </p:cNvPr>
          <p:cNvCxnSpPr/>
          <p:nvPr/>
        </p:nvCxnSpPr>
        <p:spPr>
          <a:xfrm>
            <a:off x="5218941" y="2355993"/>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3DF555FD-E0F5-F00E-F8C6-C79B6998AE7A}"/>
                  </a:ext>
                </a:extLst>
              </p:cNvPr>
              <p:cNvSpPr/>
              <p:nvPr/>
            </p:nvSpPr>
            <p:spPr>
              <a:xfrm>
                <a:off x="5724199" y="1931274"/>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p:sp>
            <p:nvSpPr>
              <p:cNvPr id="6" name="Rectangle 5">
                <a:extLst>
                  <a:ext uri="{FF2B5EF4-FFF2-40B4-BE49-F238E27FC236}">
                    <a16:creationId xmlns:a16="http://schemas.microsoft.com/office/drawing/2014/main" id="{3DF555FD-E0F5-F00E-F8C6-C79B6998AE7A}"/>
                  </a:ext>
                </a:extLst>
              </p:cNvPr>
              <p:cNvSpPr>
                <a:spLocks noRot="1" noChangeAspect="1" noMove="1" noResize="1" noEditPoints="1" noAdjustHandles="1" noChangeArrowheads="1" noChangeShapeType="1" noTextEdit="1"/>
              </p:cNvSpPr>
              <p:nvPr/>
            </p:nvSpPr>
            <p:spPr>
              <a:xfrm>
                <a:off x="5724199" y="1931274"/>
                <a:ext cx="1691501" cy="867719"/>
              </a:xfrm>
              <a:prstGeom prst="rect">
                <a:avLst/>
              </a:prstGeom>
              <a:blipFill>
                <a:blip r:embed="rId2"/>
                <a:stretch>
                  <a:fillRect/>
                </a:stretch>
              </a:blipFill>
              <a:ln>
                <a:solidFill>
                  <a:schemeClr val="tx1"/>
                </a:solidFill>
              </a:ln>
            </p:spPr>
            <p:txBody>
              <a:bodyPr/>
              <a:lstStyle/>
              <a:p>
                <a:r>
                  <a:rPr lang="en-VN">
                    <a:noFill/>
                  </a:rPr>
                  <a:t> </a:t>
                </a:r>
              </a:p>
            </p:txBody>
          </p:sp>
        </mc:Fallback>
      </mc:AlternateContent>
      <p:sp>
        <p:nvSpPr>
          <p:cNvPr id="7" name="Hình chữ nhật 93">
            <a:extLst>
              <a:ext uri="{FF2B5EF4-FFF2-40B4-BE49-F238E27FC236}">
                <a16:creationId xmlns:a16="http://schemas.microsoft.com/office/drawing/2014/main" id="{25D494E2-7AD4-7F84-FCFE-68D145370F3C}"/>
              </a:ext>
            </a:extLst>
          </p:cNvPr>
          <p:cNvSpPr/>
          <p:nvPr/>
        </p:nvSpPr>
        <p:spPr>
          <a:xfrm>
            <a:off x="8118662" y="215137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8" name="Arc 7">
            <a:extLst>
              <a:ext uri="{FF2B5EF4-FFF2-40B4-BE49-F238E27FC236}">
                <a16:creationId xmlns:a16="http://schemas.microsoft.com/office/drawing/2014/main" id="{F114E5C3-B9D3-999B-276D-1169B6E721BE}"/>
              </a:ext>
            </a:extLst>
          </p:cNvPr>
          <p:cNvSpPr/>
          <p:nvPr/>
        </p:nvSpPr>
        <p:spPr>
          <a:xfrm>
            <a:off x="8192924" y="2344171"/>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9" name="Straight Arrow Connector 8">
            <a:extLst>
              <a:ext uri="{FF2B5EF4-FFF2-40B4-BE49-F238E27FC236}">
                <a16:creationId xmlns:a16="http://schemas.microsoft.com/office/drawing/2014/main" id="{B580055A-6727-C9DE-F3B9-02D7F03FA658}"/>
              </a:ext>
            </a:extLst>
          </p:cNvPr>
          <p:cNvCxnSpPr>
            <a:cxnSpLocks/>
          </p:cNvCxnSpPr>
          <p:nvPr/>
        </p:nvCxnSpPr>
        <p:spPr>
          <a:xfrm flipV="1">
            <a:off x="8265213" y="2240666"/>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AC90F36-81FF-7F50-EE0D-F6D07DE791B1}"/>
              </a:ext>
            </a:extLst>
          </p:cNvPr>
          <p:cNvCxnSpPr>
            <a:cxnSpLocks/>
          </p:cNvCxnSpPr>
          <p:nvPr/>
        </p:nvCxnSpPr>
        <p:spPr>
          <a:xfrm flipV="1">
            <a:off x="5389190" y="2229681"/>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A3DEFD6-BB2A-8A32-877E-18FC8A9C272F}"/>
              </a:ext>
            </a:extLst>
          </p:cNvPr>
          <p:cNvCxnSpPr>
            <a:cxnSpLocks/>
          </p:cNvCxnSpPr>
          <p:nvPr/>
        </p:nvCxnSpPr>
        <p:spPr>
          <a:xfrm flipV="1">
            <a:off x="7708204" y="2224340"/>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45CCDE0-BAFD-7305-DC05-5743A15A2369}"/>
                  </a:ext>
                </a:extLst>
              </p:cNvPr>
              <p:cNvSpPr txBox="1"/>
              <p:nvPr/>
            </p:nvSpPr>
            <p:spPr>
              <a:xfrm>
                <a:off x="9118237" y="2166539"/>
                <a:ext cx="920573" cy="378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0</m:t>
                          </m:r>
                        </m:sub>
                      </m:sSub>
                      <m:r>
                        <a:rPr lang="en-US" sz="2400" i="1">
                          <a:latin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0</m:t>
                              </m:r>
                            </m:sub>
                          </m:sSub>
                        </m:e>
                      </m:acc>
                      <m:r>
                        <a:rPr lang="en-US" sz="2400" i="1">
                          <a:latin typeface="Cambria Math" panose="02040503050406030204" pitchFamily="18" charset="0"/>
                        </a:rPr>
                        <m:t>⟩</m:t>
                      </m:r>
                    </m:oMath>
                  </m:oMathPara>
                </a14:m>
                <a:endParaRPr lang="vi-VN" sz="2400" i="1"/>
              </a:p>
            </p:txBody>
          </p:sp>
        </mc:Choice>
        <mc:Fallback>
          <p:sp>
            <p:nvSpPr>
              <p:cNvPr id="12" name="TextBox 11">
                <a:extLst>
                  <a:ext uri="{FF2B5EF4-FFF2-40B4-BE49-F238E27FC236}">
                    <a16:creationId xmlns:a16="http://schemas.microsoft.com/office/drawing/2014/main" id="{945CCDE0-BAFD-7305-DC05-5743A15A2369}"/>
                  </a:ext>
                </a:extLst>
              </p:cNvPr>
              <p:cNvSpPr txBox="1">
                <a:spLocks noRot="1" noChangeAspect="1" noMove="1" noResize="1" noEditPoints="1" noAdjustHandles="1" noChangeArrowheads="1" noChangeShapeType="1" noTextEdit="1"/>
              </p:cNvSpPr>
              <p:nvPr/>
            </p:nvSpPr>
            <p:spPr>
              <a:xfrm>
                <a:off x="9118237" y="2166539"/>
                <a:ext cx="920573" cy="378950"/>
              </a:xfrm>
              <a:prstGeom prst="rect">
                <a:avLst/>
              </a:prstGeom>
              <a:blipFill>
                <a:blip r:embed="rId3"/>
                <a:stretch>
                  <a:fillRect l="-8219" t="-22581" r="-9589" b="-32258"/>
                </a:stretch>
              </a:blipFill>
            </p:spPr>
            <p:txBody>
              <a:bodyPr/>
              <a:lstStyle/>
              <a:p>
                <a:r>
                  <a:rPr lang="en-VN">
                    <a:noFill/>
                  </a:rPr>
                  <a:t> </a:t>
                </a:r>
              </a:p>
            </p:txBody>
          </p:sp>
        </mc:Fallback>
      </mc:AlternateContent>
      <p:cxnSp>
        <p:nvCxnSpPr>
          <p:cNvPr id="13" name="Straight Arrow Connector 12">
            <a:extLst>
              <a:ext uri="{FF2B5EF4-FFF2-40B4-BE49-F238E27FC236}">
                <a16:creationId xmlns:a16="http://schemas.microsoft.com/office/drawing/2014/main" id="{5DC11A64-4780-53EF-EC65-7244024188D0}"/>
              </a:ext>
            </a:extLst>
          </p:cNvPr>
          <p:cNvCxnSpPr>
            <a:cxnSpLocks/>
            <a:stCxn id="7" idx="3"/>
            <a:endCxn id="12" idx="1"/>
          </p:cNvCxnSpPr>
          <p:nvPr/>
        </p:nvCxnSpPr>
        <p:spPr>
          <a:xfrm>
            <a:off x="8527087" y="2355993"/>
            <a:ext cx="591150" cy="2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310B685-4FAA-385C-BF1F-E7D0DDCD8094}"/>
              </a:ext>
            </a:extLst>
          </p:cNvPr>
          <p:cNvCxnSpPr/>
          <p:nvPr/>
        </p:nvCxnSpPr>
        <p:spPr>
          <a:xfrm>
            <a:off x="5218941" y="3786480"/>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88BED5BC-3C15-BBBE-046D-9EF5F3A2E747}"/>
                  </a:ext>
                </a:extLst>
              </p:cNvPr>
              <p:cNvSpPr/>
              <p:nvPr/>
            </p:nvSpPr>
            <p:spPr>
              <a:xfrm>
                <a:off x="5724199" y="3361761"/>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p:sp>
            <p:nvSpPr>
              <p:cNvPr id="18" name="Rectangle 17">
                <a:extLst>
                  <a:ext uri="{FF2B5EF4-FFF2-40B4-BE49-F238E27FC236}">
                    <a16:creationId xmlns:a16="http://schemas.microsoft.com/office/drawing/2014/main" id="{88BED5BC-3C15-BBBE-046D-9EF5F3A2E747}"/>
                  </a:ext>
                </a:extLst>
              </p:cNvPr>
              <p:cNvSpPr>
                <a:spLocks noRot="1" noChangeAspect="1" noMove="1" noResize="1" noEditPoints="1" noAdjustHandles="1" noChangeArrowheads="1" noChangeShapeType="1" noTextEdit="1"/>
              </p:cNvSpPr>
              <p:nvPr/>
            </p:nvSpPr>
            <p:spPr>
              <a:xfrm>
                <a:off x="5724199" y="3361761"/>
                <a:ext cx="1691501" cy="867719"/>
              </a:xfrm>
              <a:prstGeom prst="rect">
                <a:avLst/>
              </a:prstGeom>
              <a:blipFill>
                <a:blip r:embed="rId4"/>
                <a:stretch>
                  <a:fillRect/>
                </a:stretch>
              </a:blipFill>
              <a:ln>
                <a:solidFill>
                  <a:schemeClr val="tx1"/>
                </a:solidFill>
              </a:ln>
            </p:spPr>
            <p:txBody>
              <a:bodyPr/>
              <a:lstStyle/>
              <a:p>
                <a:r>
                  <a:rPr lang="en-VN">
                    <a:noFill/>
                  </a:rPr>
                  <a:t> </a:t>
                </a:r>
              </a:p>
            </p:txBody>
          </p:sp>
        </mc:Fallback>
      </mc:AlternateContent>
      <p:sp>
        <p:nvSpPr>
          <p:cNvPr id="19" name="Hình chữ nhật 93">
            <a:extLst>
              <a:ext uri="{FF2B5EF4-FFF2-40B4-BE49-F238E27FC236}">
                <a16:creationId xmlns:a16="http://schemas.microsoft.com/office/drawing/2014/main" id="{006C5A52-4193-3088-768D-6DB69FA32471}"/>
              </a:ext>
            </a:extLst>
          </p:cNvPr>
          <p:cNvSpPr/>
          <p:nvPr/>
        </p:nvSpPr>
        <p:spPr>
          <a:xfrm>
            <a:off x="8118662" y="3581858"/>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20" name="Arc 19">
            <a:extLst>
              <a:ext uri="{FF2B5EF4-FFF2-40B4-BE49-F238E27FC236}">
                <a16:creationId xmlns:a16="http://schemas.microsoft.com/office/drawing/2014/main" id="{B0359465-B52D-0A08-7090-B67CF97F1B3F}"/>
              </a:ext>
            </a:extLst>
          </p:cNvPr>
          <p:cNvSpPr/>
          <p:nvPr/>
        </p:nvSpPr>
        <p:spPr>
          <a:xfrm>
            <a:off x="8192924" y="3774657"/>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21" name="Straight Arrow Connector 20">
            <a:extLst>
              <a:ext uri="{FF2B5EF4-FFF2-40B4-BE49-F238E27FC236}">
                <a16:creationId xmlns:a16="http://schemas.microsoft.com/office/drawing/2014/main" id="{32B7DAF1-98F5-D63D-AC90-ADDFE6DCE168}"/>
              </a:ext>
            </a:extLst>
          </p:cNvPr>
          <p:cNvCxnSpPr>
            <a:cxnSpLocks/>
          </p:cNvCxnSpPr>
          <p:nvPr/>
        </p:nvCxnSpPr>
        <p:spPr>
          <a:xfrm flipV="1">
            <a:off x="8265213" y="3671152"/>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7A0B039-0940-0FCC-63F3-71CCE9E855AA}"/>
              </a:ext>
            </a:extLst>
          </p:cNvPr>
          <p:cNvCxnSpPr>
            <a:cxnSpLocks/>
          </p:cNvCxnSpPr>
          <p:nvPr/>
        </p:nvCxnSpPr>
        <p:spPr>
          <a:xfrm flipV="1">
            <a:off x="5389190" y="3660168"/>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9EB556C-D370-B9B4-CD34-F2095473A844}"/>
              </a:ext>
            </a:extLst>
          </p:cNvPr>
          <p:cNvCxnSpPr>
            <a:cxnSpLocks/>
          </p:cNvCxnSpPr>
          <p:nvPr/>
        </p:nvCxnSpPr>
        <p:spPr>
          <a:xfrm flipV="1">
            <a:off x="7708204" y="3654827"/>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DF344311-6C30-103F-65EC-4CD1562525BA}"/>
                  </a:ext>
                </a:extLst>
              </p:cNvPr>
              <p:cNvSpPr txBox="1"/>
              <p:nvPr/>
            </p:nvSpPr>
            <p:spPr>
              <a:xfrm>
                <a:off x="9118236" y="3597025"/>
                <a:ext cx="1066126" cy="378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𝑀</m:t>
                          </m:r>
                        </m:sub>
                      </m:sSub>
                      <m:r>
                        <a:rPr lang="en-US" sz="2400" i="1">
                          <a:latin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𝑀</m:t>
                              </m:r>
                            </m:sub>
                          </m:sSub>
                        </m:e>
                      </m:acc>
                      <m:r>
                        <a:rPr lang="en-US" sz="2400" i="1">
                          <a:latin typeface="Cambria Math" panose="02040503050406030204" pitchFamily="18" charset="0"/>
                        </a:rPr>
                        <m:t>⟩</m:t>
                      </m:r>
                    </m:oMath>
                  </m:oMathPara>
                </a14:m>
                <a:endParaRPr lang="vi-VN" sz="2400" i="1"/>
              </a:p>
            </p:txBody>
          </p:sp>
        </mc:Choice>
        <mc:Fallback>
          <p:sp>
            <p:nvSpPr>
              <p:cNvPr id="24" name="TextBox 23">
                <a:extLst>
                  <a:ext uri="{FF2B5EF4-FFF2-40B4-BE49-F238E27FC236}">
                    <a16:creationId xmlns:a16="http://schemas.microsoft.com/office/drawing/2014/main" id="{DF344311-6C30-103F-65EC-4CD1562525BA}"/>
                  </a:ext>
                </a:extLst>
              </p:cNvPr>
              <p:cNvSpPr txBox="1">
                <a:spLocks noRot="1" noChangeAspect="1" noMove="1" noResize="1" noEditPoints="1" noAdjustHandles="1" noChangeArrowheads="1" noChangeShapeType="1" noTextEdit="1"/>
              </p:cNvSpPr>
              <p:nvPr/>
            </p:nvSpPr>
            <p:spPr>
              <a:xfrm>
                <a:off x="9118236" y="3597025"/>
                <a:ext cx="1066126" cy="378950"/>
              </a:xfrm>
              <a:prstGeom prst="rect">
                <a:avLst/>
              </a:prstGeom>
              <a:blipFill>
                <a:blip r:embed="rId5"/>
                <a:stretch>
                  <a:fillRect l="-7059" t="-23333" r="-8235" b="-36667"/>
                </a:stretch>
              </a:blipFill>
            </p:spPr>
            <p:txBody>
              <a:bodyPr/>
              <a:lstStyle/>
              <a:p>
                <a:r>
                  <a:rPr lang="en-VN">
                    <a:noFill/>
                  </a:rPr>
                  <a:t> </a:t>
                </a:r>
              </a:p>
            </p:txBody>
          </p:sp>
        </mc:Fallback>
      </mc:AlternateContent>
      <p:cxnSp>
        <p:nvCxnSpPr>
          <p:cNvPr id="25" name="Straight Arrow Connector 24">
            <a:extLst>
              <a:ext uri="{FF2B5EF4-FFF2-40B4-BE49-F238E27FC236}">
                <a16:creationId xmlns:a16="http://schemas.microsoft.com/office/drawing/2014/main" id="{012EC52E-025F-368B-A01E-385E4507A0F5}"/>
              </a:ext>
            </a:extLst>
          </p:cNvPr>
          <p:cNvCxnSpPr>
            <a:cxnSpLocks/>
            <a:stCxn id="19" idx="3"/>
            <a:endCxn id="24" idx="1"/>
          </p:cNvCxnSpPr>
          <p:nvPr/>
        </p:nvCxnSpPr>
        <p:spPr>
          <a:xfrm>
            <a:off x="8527087" y="3786480"/>
            <a:ext cx="591149" cy="2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5F7B2C0C-1687-C70B-B8A2-01E14B9C19BD}"/>
                  </a:ext>
                </a:extLst>
              </p:cNvPr>
              <p:cNvSpPr txBox="1"/>
              <p:nvPr/>
            </p:nvSpPr>
            <p:spPr>
              <a:xfrm>
                <a:off x="6493753" y="2910752"/>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vi-VN" sz="2400"/>
              </a:p>
            </p:txBody>
          </p:sp>
        </mc:Choice>
        <mc:Fallback>
          <p:sp>
            <p:nvSpPr>
              <p:cNvPr id="26" name="TextBox 25">
                <a:extLst>
                  <a:ext uri="{FF2B5EF4-FFF2-40B4-BE49-F238E27FC236}">
                    <a16:creationId xmlns:a16="http://schemas.microsoft.com/office/drawing/2014/main" id="{5F7B2C0C-1687-C70B-B8A2-01E14B9C19BD}"/>
                  </a:ext>
                </a:extLst>
              </p:cNvPr>
              <p:cNvSpPr txBox="1">
                <a:spLocks noRot="1" noChangeAspect="1" noMove="1" noResize="1" noEditPoints="1" noAdjustHandles="1" noChangeArrowheads="1" noChangeShapeType="1" noTextEdit="1"/>
              </p:cNvSpPr>
              <p:nvPr/>
            </p:nvSpPr>
            <p:spPr>
              <a:xfrm>
                <a:off x="6493753" y="2910752"/>
                <a:ext cx="181140" cy="369332"/>
              </a:xfrm>
              <a:prstGeom prst="rect">
                <a:avLst/>
              </a:prstGeom>
              <a:blipFill>
                <a:blip r:embed="rId6"/>
                <a:stretch>
                  <a:fillRect l="-33333" r="-26667" b="-645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0A83B9BC-09A0-8570-E329-9FF6AEB79E73}"/>
                  </a:ext>
                </a:extLst>
              </p:cNvPr>
              <p:cNvSpPr txBox="1"/>
              <p:nvPr/>
            </p:nvSpPr>
            <p:spPr>
              <a:xfrm>
                <a:off x="9454665" y="2910752"/>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vi-VN" sz="2400"/>
              </a:p>
            </p:txBody>
          </p:sp>
        </mc:Choice>
        <mc:Fallback>
          <p:sp>
            <p:nvSpPr>
              <p:cNvPr id="27" name="TextBox 26">
                <a:extLst>
                  <a:ext uri="{FF2B5EF4-FFF2-40B4-BE49-F238E27FC236}">
                    <a16:creationId xmlns:a16="http://schemas.microsoft.com/office/drawing/2014/main" id="{0A83B9BC-09A0-8570-E329-9FF6AEB79E73}"/>
                  </a:ext>
                </a:extLst>
              </p:cNvPr>
              <p:cNvSpPr txBox="1">
                <a:spLocks noRot="1" noChangeAspect="1" noMove="1" noResize="1" noEditPoints="1" noAdjustHandles="1" noChangeArrowheads="1" noChangeShapeType="1" noTextEdit="1"/>
              </p:cNvSpPr>
              <p:nvPr/>
            </p:nvSpPr>
            <p:spPr>
              <a:xfrm>
                <a:off x="9454665" y="2910752"/>
                <a:ext cx="181140" cy="369332"/>
              </a:xfrm>
              <a:prstGeom prst="rect">
                <a:avLst/>
              </a:prstGeom>
              <a:blipFill>
                <a:blip r:embed="rId7"/>
                <a:stretch>
                  <a:fillRect l="-26667" r="-33333" b="-645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5E0C1DCA-75B0-73F4-1F34-B687AC6505C5}"/>
                  </a:ext>
                </a:extLst>
              </p:cNvPr>
              <p:cNvSpPr txBox="1"/>
              <p:nvPr/>
            </p:nvSpPr>
            <p:spPr>
              <a:xfrm>
                <a:off x="9387339" y="2582523"/>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p>
            </p:txBody>
          </p:sp>
        </mc:Choice>
        <mc:Fallback>
          <p:sp>
            <p:nvSpPr>
              <p:cNvPr id="28" name="TextBox 27">
                <a:extLst>
                  <a:ext uri="{FF2B5EF4-FFF2-40B4-BE49-F238E27FC236}">
                    <a16:creationId xmlns:a16="http://schemas.microsoft.com/office/drawing/2014/main" id="{5E0C1DCA-75B0-73F4-1F34-B687AC6505C5}"/>
                  </a:ext>
                </a:extLst>
              </p:cNvPr>
              <p:cNvSpPr txBox="1">
                <a:spLocks noRot="1" noChangeAspect="1" noMove="1" noResize="1" noEditPoints="1" noAdjustHandles="1" noChangeArrowheads="1" noChangeShapeType="1" noTextEdit="1"/>
              </p:cNvSpPr>
              <p:nvPr/>
            </p:nvSpPr>
            <p:spPr>
              <a:xfrm>
                <a:off x="9387339" y="2582523"/>
                <a:ext cx="314189" cy="369332"/>
              </a:xfrm>
              <a:prstGeom prst="rect">
                <a:avLst/>
              </a:prstGeom>
              <a:blipFill>
                <a:blip r:embed="rId8"/>
                <a:stretch>
                  <a:fillRect l="-20000" r="-16000" b="-10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B0A15701-9582-7078-9F3F-901979BEAC06}"/>
                  </a:ext>
                </a:extLst>
              </p:cNvPr>
              <p:cNvSpPr txBox="1"/>
              <p:nvPr/>
            </p:nvSpPr>
            <p:spPr>
              <a:xfrm>
                <a:off x="9387339" y="3245423"/>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p>
            </p:txBody>
          </p:sp>
        </mc:Choice>
        <mc:Fallback>
          <p:sp>
            <p:nvSpPr>
              <p:cNvPr id="29" name="TextBox 28">
                <a:extLst>
                  <a:ext uri="{FF2B5EF4-FFF2-40B4-BE49-F238E27FC236}">
                    <a16:creationId xmlns:a16="http://schemas.microsoft.com/office/drawing/2014/main" id="{B0A15701-9582-7078-9F3F-901979BEAC06}"/>
                  </a:ext>
                </a:extLst>
              </p:cNvPr>
              <p:cNvSpPr txBox="1">
                <a:spLocks noRot="1" noChangeAspect="1" noMove="1" noResize="1" noEditPoints="1" noAdjustHandles="1" noChangeArrowheads="1" noChangeShapeType="1" noTextEdit="1"/>
              </p:cNvSpPr>
              <p:nvPr/>
            </p:nvSpPr>
            <p:spPr>
              <a:xfrm>
                <a:off x="9387339" y="3245423"/>
                <a:ext cx="314189" cy="369332"/>
              </a:xfrm>
              <a:prstGeom prst="rect">
                <a:avLst/>
              </a:prstGeom>
              <a:blipFill>
                <a:blip r:embed="rId8"/>
                <a:stretch>
                  <a:fillRect l="-20000" r="-16000" b="-10000"/>
                </a:stretch>
              </a:blipFill>
            </p:spPr>
            <p:txBody>
              <a:bodyPr/>
              <a:lstStyle/>
              <a:p>
                <a:r>
                  <a:rPr lang="en-VN">
                    <a:noFill/>
                  </a:rPr>
                  <a:t> </a:t>
                </a:r>
              </a:p>
            </p:txBody>
          </p:sp>
        </mc:Fallback>
      </mc:AlternateContent>
      <p:sp>
        <p:nvSpPr>
          <p:cNvPr id="30" name="Rectangle 29">
            <a:extLst>
              <a:ext uri="{FF2B5EF4-FFF2-40B4-BE49-F238E27FC236}">
                <a16:creationId xmlns:a16="http://schemas.microsoft.com/office/drawing/2014/main" id="{2EADE7BD-A172-6706-59CE-85BEEA2A1F1C}"/>
              </a:ext>
            </a:extLst>
          </p:cNvPr>
          <p:cNvSpPr/>
          <p:nvPr/>
        </p:nvSpPr>
        <p:spPr>
          <a:xfrm rot="16200000">
            <a:off x="3429023" y="2958353"/>
            <a:ext cx="2697484" cy="46236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Quantum state preparation</a:t>
            </a:r>
            <a:endParaRPr sz="1600">
              <a:solidFill>
                <a:schemeClr val="tx1"/>
              </a:solidFill>
            </a:endParaRPr>
          </a:p>
        </p:txBody>
      </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6E953515-DA8D-F480-F80A-78A0E5179560}"/>
                  </a:ext>
                </a:extLst>
              </p:cNvPr>
              <p:cNvSpPr txBox="1"/>
              <p:nvPr/>
            </p:nvSpPr>
            <p:spPr>
              <a:xfrm>
                <a:off x="5096432" y="2943313"/>
                <a:ext cx="46968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vi-VN" sz="3200"/>
              </a:p>
            </p:txBody>
          </p:sp>
        </mc:Choice>
        <mc:Fallback>
          <p:sp>
            <p:nvSpPr>
              <p:cNvPr id="31" name="TextBox 30">
                <a:extLst>
                  <a:ext uri="{FF2B5EF4-FFF2-40B4-BE49-F238E27FC236}">
                    <a16:creationId xmlns:a16="http://schemas.microsoft.com/office/drawing/2014/main" id="{6E953515-DA8D-F480-F80A-78A0E5179560}"/>
                  </a:ext>
                </a:extLst>
              </p:cNvPr>
              <p:cNvSpPr txBox="1">
                <a:spLocks noRot="1" noChangeAspect="1" noMove="1" noResize="1" noEditPoints="1" noAdjustHandles="1" noChangeArrowheads="1" noChangeShapeType="1" noTextEdit="1"/>
              </p:cNvSpPr>
              <p:nvPr/>
            </p:nvSpPr>
            <p:spPr>
              <a:xfrm>
                <a:off x="5096432" y="2943313"/>
                <a:ext cx="469680" cy="492443"/>
              </a:xfrm>
              <a:prstGeom prst="rect">
                <a:avLst/>
              </a:prstGeom>
              <a:blipFill>
                <a:blip r:embed="rId9"/>
                <a:stretch>
                  <a:fillRect l="-13158" r="-10526" b="-2500"/>
                </a:stretch>
              </a:blipFill>
            </p:spPr>
            <p:txBody>
              <a:bodyPr/>
              <a:lstStyle/>
              <a:p>
                <a:r>
                  <a:rPr lang="en-VN">
                    <a:noFill/>
                  </a:rPr>
                  <a:t> </a:t>
                </a:r>
              </a:p>
            </p:txBody>
          </p:sp>
        </mc:Fallback>
      </mc:AlternateContent>
      <p:sp>
        <p:nvSpPr>
          <p:cNvPr id="32" name="Rectangle 31">
            <a:extLst>
              <a:ext uri="{FF2B5EF4-FFF2-40B4-BE49-F238E27FC236}">
                <a16:creationId xmlns:a16="http://schemas.microsoft.com/office/drawing/2014/main" id="{486AFC1B-AB4F-3577-0828-AC07A52666F1}"/>
              </a:ext>
            </a:extLst>
          </p:cNvPr>
          <p:cNvSpPr/>
          <p:nvPr/>
        </p:nvSpPr>
        <p:spPr>
          <a:xfrm>
            <a:off x="5673630" y="1876967"/>
            <a:ext cx="1810687" cy="240152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7CCA5E37-3DFC-FCF0-0E1E-FDE5BCFBD945}"/>
                  </a:ext>
                </a:extLst>
              </p:cNvPr>
              <p:cNvSpPr txBox="1"/>
              <p:nvPr/>
            </p:nvSpPr>
            <p:spPr>
              <a:xfrm>
                <a:off x="10458470" y="2910752"/>
                <a:ext cx="2893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𝐸</m:t>
                      </m:r>
                    </m:oMath>
                  </m:oMathPara>
                </a14:m>
                <a:endParaRPr lang="vi-VN" sz="2400" i="1"/>
              </a:p>
            </p:txBody>
          </p:sp>
        </mc:Choice>
        <mc:Fallback>
          <p:sp>
            <p:nvSpPr>
              <p:cNvPr id="33" name="TextBox 32">
                <a:extLst>
                  <a:ext uri="{FF2B5EF4-FFF2-40B4-BE49-F238E27FC236}">
                    <a16:creationId xmlns:a16="http://schemas.microsoft.com/office/drawing/2014/main" id="{7CCA5E37-3DFC-FCF0-0E1E-FDE5BCFBD945}"/>
                  </a:ext>
                </a:extLst>
              </p:cNvPr>
              <p:cNvSpPr txBox="1">
                <a:spLocks noRot="1" noChangeAspect="1" noMove="1" noResize="1" noEditPoints="1" noAdjustHandles="1" noChangeArrowheads="1" noChangeShapeType="1" noTextEdit="1"/>
              </p:cNvSpPr>
              <p:nvPr/>
            </p:nvSpPr>
            <p:spPr>
              <a:xfrm>
                <a:off x="10458470" y="2910752"/>
                <a:ext cx="289374" cy="369332"/>
              </a:xfrm>
              <a:prstGeom prst="rect">
                <a:avLst/>
              </a:prstGeom>
              <a:blipFill>
                <a:blip r:embed="rId10"/>
                <a:stretch>
                  <a:fillRect l="-20833" r="-16667" b="-6452"/>
                </a:stretch>
              </a:blipFill>
            </p:spPr>
            <p:txBody>
              <a:bodyPr/>
              <a:lstStyle/>
              <a:p>
                <a:r>
                  <a:rPr lang="en-VN">
                    <a:noFill/>
                  </a:rPr>
                  <a:t> </a:t>
                </a:r>
              </a:p>
            </p:txBody>
          </p:sp>
        </mc:Fallback>
      </mc:AlternateContent>
      <p:cxnSp>
        <p:nvCxnSpPr>
          <p:cNvPr id="35" name="Straight Arrow Connector 34">
            <a:extLst>
              <a:ext uri="{FF2B5EF4-FFF2-40B4-BE49-F238E27FC236}">
                <a16:creationId xmlns:a16="http://schemas.microsoft.com/office/drawing/2014/main" id="{64283286-9B96-5D6A-379D-ED57A9202B0C}"/>
              </a:ext>
            </a:extLst>
          </p:cNvPr>
          <p:cNvCxnSpPr>
            <a:stCxn id="27" idx="3"/>
            <a:endCxn id="33" idx="1"/>
          </p:cNvCxnSpPr>
          <p:nvPr/>
        </p:nvCxnSpPr>
        <p:spPr>
          <a:xfrm>
            <a:off x="9635805" y="3095418"/>
            <a:ext cx="822665"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54919D28-7BEF-EB8A-B11A-001F434C1199}"/>
                  </a:ext>
                </a:extLst>
              </p:cNvPr>
              <p:cNvSpPr txBox="1"/>
              <p:nvPr/>
            </p:nvSpPr>
            <p:spPr>
              <a:xfrm>
                <a:off x="10947676" y="2910752"/>
                <a:ext cx="11394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𝐸</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i="1">
                              <a:latin typeface="Cambria Math" panose="02040503050406030204" pitchFamily="18" charset="0"/>
                            </a:rPr>
                            <m:t>0</m:t>
                          </m:r>
                        </m:sub>
                      </m:sSub>
                      <m:r>
                        <a:rPr lang="en-US" sz="2400" i="1">
                          <a:latin typeface="Cambria Math" panose="02040503050406030204" pitchFamily="18" charset="0"/>
                        </a:rPr>
                        <m:t>?</m:t>
                      </m:r>
                    </m:oMath>
                  </m:oMathPara>
                </a14:m>
                <a:endParaRPr lang="vi-VN" sz="2400" i="1"/>
              </a:p>
            </p:txBody>
          </p:sp>
        </mc:Choice>
        <mc:Fallback>
          <p:sp>
            <p:nvSpPr>
              <p:cNvPr id="37" name="TextBox 36">
                <a:extLst>
                  <a:ext uri="{FF2B5EF4-FFF2-40B4-BE49-F238E27FC236}">
                    <a16:creationId xmlns:a16="http://schemas.microsoft.com/office/drawing/2014/main" id="{54919D28-7BEF-EB8A-B11A-001F434C1199}"/>
                  </a:ext>
                </a:extLst>
              </p:cNvPr>
              <p:cNvSpPr txBox="1">
                <a:spLocks noRot="1" noChangeAspect="1" noMove="1" noResize="1" noEditPoints="1" noAdjustHandles="1" noChangeArrowheads="1" noChangeShapeType="1" noTextEdit="1"/>
              </p:cNvSpPr>
              <p:nvPr/>
            </p:nvSpPr>
            <p:spPr>
              <a:xfrm>
                <a:off x="10947676" y="2910752"/>
                <a:ext cx="1139414" cy="369332"/>
              </a:xfrm>
              <a:prstGeom prst="rect">
                <a:avLst/>
              </a:prstGeom>
              <a:blipFill>
                <a:blip r:embed="rId11"/>
                <a:stretch>
                  <a:fillRect l="-5556" r="-5556" b="-16129"/>
                </a:stretch>
              </a:blipFill>
            </p:spPr>
            <p:txBody>
              <a:bodyPr/>
              <a:lstStyle/>
              <a:p>
                <a:r>
                  <a:rPr lang="en-VN">
                    <a:noFill/>
                  </a:rPr>
                  <a:t> </a:t>
                </a:r>
              </a:p>
            </p:txBody>
          </p:sp>
        </mc:Fallback>
      </mc:AlternateContent>
      <p:cxnSp>
        <p:nvCxnSpPr>
          <p:cNvPr id="38" name="Straight Arrow Connector 37">
            <a:extLst>
              <a:ext uri="{FF2B5EF4-FFF2-40B4-BE49-F238E27FC236}">
                <a16:creationId xmlns:a16="http://schemas.microsoft.com/office/drawing/2014/main" id="{B761B96C-4BEE-DFD0-874E-0566F1E12F7A}"/>
              </a:ext>
            </a:extLst>
          </p:cNvPr>
          <p:cNvCxnSpPr>
            <a:cxnSpLocks/>
            <a:stCxn id="33" idx="3"/>
            <a:endCxn id="37" idx="1"/>
          </p:cNvCxnSpPr>
          <p:nvPr/>
        </p:nvCxnSpPr>
        <p:spPr>
          <a:xfrm>
            <a:off x="10747844" y="3095418"/>
            <a:ext cx="199832"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2" name="Connector: Elbow 41">
            <a:extLst>
              <a:ext uri="{FF2B5EF4-FFF2-40B4-BE49-F238E27FC236}">
                <a16:creationId xmlns:a16="http://schemas.microsoft.com/office/drawing/2014/main" id="{87B09878-D941-D678-9B42-C11CF034DCC8}"/>
              </a:ext>
            </a:extLst>
          </p:cNvPr>
          <p:cNvCxnSpPr>
            <a:stCxn id="37" idx="2"/>
            <a:endCxn id="32" idx="2"/>
          </p:cNvCxnSpPr>
          <p:nvPr/>
        </p:nvCxnSpPr>
        <p:spPr>
          <a:xfrm rot="5400000">
            <a:off x="8548976" y="1310083"/>
            <a:ext cx="998406" cy="4938409"/>
          </a:xfrm>
          <a:prstGeom prst="bentConnector3">
            <a:avLst>
              <a:gd name="adj1" fmla="val 122896"/>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99DF7D80-9422-EC91-A8FE-E94EA78C1F6B}"/>
              </a:ext>
            </a:extLst>
          </p:cNvPr>
          <p:cNvSpPr txBox="1"/>
          <p:nvPr/>
        </p:nvSpPr>
        <p:spPr>
          <a:xfrm>
            <a:off x="10847290" y="3277727"/>
            <a:ext cx="727855" cy="338554"/>
          </a:xfrm>
          <a:prstGeom prst="rect">
            <a:avLst/>
          </a:prstGeom>
          <a:noFill/>
        </p:spPr>
        <p:txBody>
          <a:bodyPr wrap="square" rtlCol="0">
            <a:spAutoFit/>
          </a:bodyPr>
          <a:lstStyle/>
          <a:p>
            <a:r>
              <a:rPr lang="en-US" sz="1600">
                <a:solidFill>
                  <a:srgbClr val="FF0000"/>
                </a:solidFill>
              </a:rPr>
              <a:t>False</a:t>
            </a:r>
            <a:endParaRPr lang="vi-VN" sz="1600">
              <a:solidFill>
                <a:srgbClr val="FF0000"/>
              </a:solidFill>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F308967-D9C4-0207-5952-997A1507DF18}"/>
                  </a:ext>
                </a:extLst>
              </p:cNvPr>
              <p:cNvSpPr txBox="1"/>
              <p:nvPr/>
            </p:nvSpPr>
            <p:spPr>
              <a:xfrm>
                <a:off x="10471786" y="4219043"/>
                <a:ext cx="1160284" cy="338554"/>
              </a:xfrm>
              <a:prstGeom prst="rect">
                <a:avLst/>
              </a:prstGeom>
              <a:noFill/>
            </p:spPr>
            <p:txBody>
              <a:bodyPr wrap="square" rtlCol="0">
                <a:spAutoFit/>
              </a:bodyPr>
              <a:lstStyle/>
              <a:p>
                <a:r>
                  <a:rPr lang="en-US" sz="1600"/>
                  <a:t>Update </a:t>
                </a:r>
                <a14:m>
                  <m:oMath xmlns:m="http://schemas.openxmlformats.org/officeDocument/2006/math">
                    <m:r>
                      <a:rPr lang="en-US" sz="1600" b="1" i="1">
                        <a:latin typeface="Cambria Math" panose="02040503050406030204" pitchFamily="18" charset="0"/>
                      </a:rPr>
                      <m:t>𝜽</m:t>
                    </m:r>
                  </m:oMath>
                </a14:m>
                <a:endParaRPr lang="vi-VN" sz="1600" b="1"/>
              </a:p>
            </p:txBody>
          </p:sp>
        </mc:Choice>
        <mc:Fallback>
          <p:sp>
            <p:nvSpPr>
              <p:cNvPr id="44" name="TextBox 43">
                <a:extLst>
                  <a:ext uri="{FF2B5EF4-FFF2-40B4-BE49-F238E27FC236}">
                    <a16:creationId xmlns:a16="http://schemas.microsoft.com/office/drawing/2014/main" id="{9F308967-D9C4-0207-5952-997A1507DF18}"/>
                  </a:ext>
                </a:extLst>
              </p:cNvPr>
              <p:cNvSpPr txBox="1">
                <a:spLocks noRot="1" noChangeAspect="1" noMove="1" noResize="1" noEditPoints="1" noAdjustHandles="1" noChangeArrowheads="1" noChangeShapeType="1" noTextEdit="1"/>
              </p:cNvSpPr>
              <p:nvPr/>
            </p:nvSpPr>
            <p:spPr>
              <a:xfrm>
                <a:off x="10471786" y="4219043"/>
                <a:ext cx="1160284" cy="338554"/>
              </a:xfrm>
              <a:prstGeom prst="rect">
                <a:avLst/>
              </a:prstGeom>
              <a:blipFill>
                <a:blip r:embed="rId12"/>
                <a:stretch>
                  <a:fillRect l="-2174" t="-7143" b="-1785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B4221FEF-D4C9-B7DC-99EC-02CCF2F38B22}"/>
                  </a:ext>
                </a:extLst>
              </p:cNvPr>
              <p:cNvSpPr txBox="1"/>
              <p:nvPr/>
            </p:nvSpPr>
            <p:spPr>
              <a:xfrm>
                <a:off x="8232036" y="2910752"/>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vi-VN" sz="2400"/>
              </a:p>
            </p:txBody>
          </p:sp>
        </mc:Choice>
        <mc:Fallback>
          <p:sp>
            <p:nvSpPr>
              <p:cNvPr id="45" name="TextBox 44">
                <a:extLst>
                  <a:ext uri="{FF2B5EF4-FFF2-40B4-BE49-F238E27FC236}">
                    <a16:creationId xmlns:a16="http://schemas.microsoft.com/office/drawing/2014/main" id="{B4221FEF-D4C9-B7DC-99EC-02CCF2F38B22}"/>
                  </a:ext>
                </a:extLst>
              </p:cNvPr>
              <p:cNvSpPr txBox="1">
                <a:spLocks noRot="1" noChangeAspect="1" noMove="1" noResize="1" noEditPoints="1" noAdjustHandles="1" noChangeArrowheads="1" noChangeShapeType="1" noTextEdit="1"/>
              </p:cNvSpPr>
              <p:nvPr/>
            </p:nvSpPr>
            <p:spPr>
              <a:xfrm>
                <a:off x="8232036" y="2910752"/>
                <a:ext cx="181140" cy="369332"/>
              </a:xfrm>
              <a:prstGeom prst="rect">
                <a:avLst/>
              </a:prstGeom>
              <a:blipFill>
                <a:blip r:embed="rId13"/>
                <a:stretch>
                  <a:fillRect l="-33333" r="-26667" b="-6452"/>
                </a:stretch>
              </a:blipFill>
            </p:spPr>
            <p:txBody>
              <a:bodyPr/>
              <a:lstStyle/>
              <a:p>
                <a:r>
                  <a:rPr lang="en-VN">
                    <a:noFill/>
                  </a:rPr>
                  <a:t> </a:t>
                </a:r>
              </a:p>
            </p:txBody>
          </p:sp>
        </mc:Fallback>
      </mc:AlternateContent>
      <p:sp>
        <p:nvSpPr>
          <p:cNvPr id="46" name="Rectangle 45">
            <a:extLst>
              <a:ext uri="{FF2B5EF4-FFF2-40B4-BE49-F238E27FC236}">
                <a16:creationId xmlns:a16="http://schemas.microsoft.com/office/drawing/2014/main" id="{DC53F2DA-6CF2-3D05-862F-6EC4FB14DA27}"/>
              </a:ext>
            </a:extLst>
          </p:cNvPr>
          <p:cNvSpPr/>
          <p:nvPr/>
        </p:nvSpPr>
        <p:spPr>
          <a:xfrm>
            <a:off x="9118185" y="1870760"/>
            <a:ext cx="1141083" cy="24015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59946A96-8842-4A41-E13D-004615ECCB9B}"/>
                  </a:ext>
                </a:extLst>
              </p:cNvPr>
              <p:cNvSpPr txBox="1"/>
              <p:nvPr/>
            </p:nvSpPr>
            <p:spPr>
              <a:xfrm>
                <a:off x="8970816" y="1216063"/>
                <a:ext cx="2604328" cy="598497"/>
              </a:xfrm>
              <a:prstGeom prst="rect">
                <a:avLst/>
              </a:prstGeom>
              <a:noFill/>
            </p:spPr>
            <p:txBody>
              <a:bodyPr wrap="square" rtlCol="0">
                <a:spAutoFit/>
              </a:bodyPr>
              <a:lstStyle/>
              <a:p>
                <a:r>
                  <a:rPr lang="en-US" sz="1600"/>
                  <a:t>associated with Hamiltonian </a:t>
                </a:r>
                <a14:m>
                  <m:oMath xmlns:m="http://schemas.openxmlformats.org/officeDocument/2006/math">
                    <m:r>
                      <a:rPr lang="en-US" sz="1600" i="1">
                        <a:latin typeface="Cambria Math" panose="02040503050406030204" pitchFamily="18" charset="0"/>
                      </a:rPr>
                      <m:t>𝐻</m:t>
                    </m:r>
                    <m:r>
                      <a:rPr lang="en-US" sz="1600" i="1">
                        <a:latin typeface="Cambria Math" panose="02040503050406030204" pitchFamily="18" charset="0"/>
                      </a:rPr>
                      <m:t>=</m:t>
                    </m:r>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m:t>
                        </m:r>
                        <m:r>
                          <m:rPr>
                            <m:brk m:alnAt="23"/>
                          </m:rPr>
                          <a:rPr lang="en-US" sz="1600" i="1">
                            <a:latin typeface="Cambria Math" panose="02040503050406030204" pitchFamily="18" charset="0"/>
                          </a:rPr>
                          <m:t>0</m:t>
                        </m:r>
                      </m:sub>
                      <m:sup>
                        <m:r>
                          <a:rPr lang="en-US" sz="1600" i="1">
                            <a:latin typeface="Cambria Math" panose="02040503050406030204" pitchFamily="18" charset="0"/>
                          </a:rPr>
                          <m:t>𝑀</m:t>
                        </m:r>
                      </m:sup>
                      <m:e>
                        <m:sSub>
                          <m:sSubPr>
                            <m:ctrlPr>
                              <a:rPr lang="en-US" sz="1600" i="1">
                                <a:latin typeface="Cambria Math" panose="02040503050406030204" pitchFamily="18" charset="0"/>
                              </a:rPr>
                            </m:ctrlPr>
                          </m:sSubPr>
                          <m:e>
                            <m:r>
                              <a:rPr lang="en-US" sz="1600" i="1">
                                <a:latin typeface="Cambria Math" panose="02040503050406030204" pitchFamily="18" charset="0"/>
                              </a:rPr>
                              <m:t>h</m:t>
                            </m:r>
                          </m:e>
                          <m:sub>
                            <m:r>
                              <a:rPr lang="en-US" sz="1600" i="1">
                                <a:latin typeface="Cambria Math" panose="02040503050406030204" pitchFamily="18" charset="0"/>
                              </a:rPr>
                              <m:t>𝑖</m:t>
                            </m:r>
                          </m:sub>
                        </m:sSub>
                      </m:e>
                    </m:nary>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𝐼</m:t>
                        </m:r>
                      </m:sub>
                    </m:sSub>
                  </m:oMath>
                </a14:m>
                <a:endParaRPr lang="vi-VN" sz="1600" b="1"/>
              </a:p>
            </p:txBody>
          </p:sp>
        </mc:Choice>
        <mc:Fallback>
          <p:sp>
            <p:nvSpPr>
              <p:cNvPr id="47" name="TextBox 46">
                <a:extLst>
                  <a:ext uri="{FF2B5EF4-FFF2-40B4-BE49-F238E27FC236}">
                    <a16:creationId xmlns:a16="http://schemas.microsoft.com/office/drawing/2014/main" id="{59946A96-8842-4A41-E13D-004615ECCB9B}"/>
                  </a:ext>
                </a:extLst>
              </p:cNvPr>
              <p:cNvSpPr txBox="1">
                <a:spLocks noRot="1" noChangeAspect="1" noMove="1" noResize="1" noEditPoints="1" noAdjustHandles="1" noChangeArrowheads="1" noChangeShapeType="1" noTextEdit="1"/>
              </p:cNvSpPr>
              <p:nvPr/>
            </p:nvSpPr>
            <p:spPr>
              <a:xfrm>
                <a:off x="8970816" y="1216063"/>
                <a:ext cx="2604328" cy="598497"/>
              </a:xfrm>
              <a:prstGeom prst="rect">
                <a:avLst/>
              </a:prstGeom>
              <a:blipFill>
                <a:blip r:embed="rId14"/>
                <a:stretch>
                  <a:fillRect l="-1456" t="-20408" b="-97959"/>
                </a:stretch>
              </a:blipFill>
            </p:spPr>
            <p:txBody>
              <a:bodyPr/>
              <a:lstStyle/>
              <a:p>
                <a:r>
                  <a:rPr lang="en-VN">
                    <a:noFill/>
                  </a:rPr>
                  <a:t> </a:t>
                </a:r>
              </a:p>
            </p:txBody>
          </p:sp>
        </mc:Fallback>
      </mc:AlternateContent>
      <p:cxnSp>
        <p:nvCxnSpPr>
          <p:cNvPr id="48" name="Straight Connector 47">
            <a:extLst>
              <a:ext uri="{FF2B5EF4-FFF2-40B4-BE49-F238E27FC236}">
                <a16:creationId xmlns:a16="http://schemas.microsoft.com/office/drawing/2014/main" id="{E48D67C1-98B8-3C26-73B4-991E5CCC4C0E}"/>
              </a:ext>
            </a:extLst>
          </p:cNvPr>
          <p:cNvCxnSpPr>
            <a:cxnSpLocks/>
          </p:cNvCxnSpPr>
          <p:nvPr/>
        </p:nvCxnSpPr>
        <p:spPr>
          <a:xfrm>
            <a:off x="8794025" y="1377244"/>
            <a:ext cx="0" cy="3302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7881A197-31AB-2518-849B-3036E774A63E}"/>
                  </a:ext>
                </a:extLst>
              </p:cNvPr>
              <p:cNvSpPr txBox="1"/>
              <p:nvPr/>
            </p:nvSpPr>
            <p:spPr>
              <a:xfrm>
                <a:off x="4415109" y="4673972"/>
                <a:ext cx="7216960" cy="510140"/>
              </a:xfrm>
              <a:prstGeom prst="rect">
                <a:avLst/>
              </a:prstGeom>
              <a:noFill/>
            </p:spPr>
            <p:txBody>
              <a:bodyPr wrap="square">
                <a:spAutoFit/>
              </a:bodyPr>
              <a:lstStyle/>
              <a:p>
                <a:r>
                  <a:rPr lang="en-US" sz="2400"/>
                  <a:t>Simple Hamiltonian: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vi-VN" sz="2400" i="1">
                                <a:latin typeface="Cambria Math" panose="02040503050406030204" pitchFamily="18" charset="0"/>
                              </a:rPr>
                              <m:t>​</m:t>
                            </m:r>
                            <m:r>
                              <a:rPr lang="en-US" sz="2400" i="1">
                                <a:latin typeface="Cambria Math" panose="02040503050406030204" pitchFamily="18" charset="0"/>
                              </a:rPr>
                              <m:t>𝐻</m:t>
                            </m:r>
                          </m:e>
                        </m:acc>
                      </m:e>
                      <m:sub>
                        <m:r>
                          <a:rPr lang="en-US" sz="2400" i="1">
                            <a:latin typeface="Cambria Math" panose="02040503050406030204" pitchFamily="18" charset="0"/>
                          </a:rPr>
                          <m:t>𝐼𝑠𝑖𝑛𝑔</m:t>
                        </m:r>
                      </m:sub>
                    </m:sSub>
                    <m:r>
                      <a:rPr lang="vi-VN" sz="2400" i="1">
                        <a:latin typeface="Cambria Math" panose="02040503050406030204" pitchFamily="18" charset="0"/>
                      </a:rPr>
                      <m:t>=−</m:t>
                    </m:r>
                    <m:nary>
                      <m:naryPr>
                        <m:chr m:val="∑"/>
                        <m:supHide m:val="on"/>
                        <m:ctrlPr>
                          <a:rPr lang="vi-VN"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vi-VN" sz="2400" i="1">
                                <a:latin typeface="Cambria Math" panose="02040503050406030204" pitchFamily="18" charset="0"/>
                              </a:rPr>
                              <m:t>𝐽</m:t>
                            </m:r>
                          </m:e>
                          <m:sub>
                            <m:r>
                              <a:rPr lang="vi-VN" sz="2400" i="1">
                                <a:latin typeface="Cambria Math" panose="02040503050406030204" pitchFamily="18" charset="0"/>
                              </a:rPr>
                              <m:t>𝑖</m:t>
                            </m:r>
                          </m:sub>
                        </m:sSub>
                        <m:r>
                          <a:rPr lang="vi-VN" sz="2400" i="1">
                            <a:latin typeface="Cambria Math" panose="02040503050406030204" pitchFamily="18" charset="0"/>
                          </a:rPr>
                          <m:t>​</m:t>
                        </m:r>
                        <m:sSub>
                          <m:sSubPr>
                            <m:ctrlPr>
                              <a:rPr lang="en-US" sz="2400" i="1">
                                <a:latin typeface="Cambria Math" panose="02040503050406030204" pitchFamily="18" charset="0"/>
                              </a:rPr>
                            </m:ctrlPr>
                          </m:sSubPr>
                          <m:e>
                            <m:r>
                              <a:rPr lang="vi-VN" sz="2400" i="1">
                                <a:latin typeface="Cambria Math" panose="02040503050406030204" pitchFamily="18" charset="0"/>
                              </a:rPr>
                              <m:t>𝑍</m:t>
                            </m:r>
                          </m:e>
                          <m:sub>
                            <m:r>
                              <a:rPr lang="vi-VN" sz="2400" i="1">
                                <a:latin typeface="Cambria Math" panose="02040503050406030204" pitchFamily="18" charset="0"/>
                              </a:rPr>
                              <m:t>𝑖</m:t>
                            </m:r>
                          </m:sub>
                        </m:sSub>
                        <m:r>
                          <a:rPr lang="vi-VN" sz="2400" i="1">
                            <a:latin typeface="Cambria Math" panose="02040503050406030204" pitchFamily="18" charset="0"/>
                          </a:rPr>
                          <m:t>​</m:t>
                        </m:r>
                        <m:sSub>
                          <m:sSubPr>
                            <m:ctrlPr>
                              <a:rPr lang="en-US" sz="2400" i="1">
                                <a:latin typeface="Cambria Math" panose="02040503050406030204" pitchFamily="18" charset="0"/>
                              </a:rPr>
                            </m:ctrlPr>
                          </m:sSubPr>
                          <m:e>
                            <m:r>
                              <a:rPr lang="vi-VN" sz="2400" i="1">
                                <a:latin typeface="Cambria Math" panose="02040503050406030204" pitchFamily="18" charset="0"/>
                              </a:rPr>
                              <m:t>𝑍</m:t>
                            </m:r>
                          </m:e>
                          <m:sub>
                            <m:r>
                              <a:rPr lang="vi-VN" sz="2400" i="1">
                                <a:latin typeface="Cambria Math" panose="02040503050406030204" pitchFamily="18" charset="0"/>
                              </a:rPr>
                              <m:t>𝑖</m:t>
                            </m:r>
                            <m:r>
                              <a:rPr lang="en-US" sz="2400" i="1">
                                <a:latin typeface="Cambria Math" panose="02040503050406030204" pitchFamily="18" charset="0"/>
                              </a:rPr>
                              <m:t>+1</m:t>
                            </m:r>
                          </m:sub>
                        </m:sSub>
                      </m:e>
                    </m:nary>
                  </m:oMath>
                </a14:m>
                <a:r>
                  <a:rPr lang="en-US" sz="2400"/>
                  <a:t> </a:t>
                </a:r>
                <a14:m>
                  <m:oMath xmlns:m="http://schemas.openxmlformats.org/officeDocument/2006/math">
                    <m:r>
                      <a:rPr lang="vi-VN" sz="2400" i="1">
                        <a:latin typeface="Cambria Math" panose="02040503050406030204" pitchFamily="18" charset="0"/>
                      </a:rPr>
                      <m:t>​−</m:t>
                    </m:r>
                    <m:nary>
                      <m:naryPr>
                        <m:chr m:val="∑"/>
                        <m:supHide m:val="on"/>
                        <m:ctrlPr>
                          <a:rPr lang="vi-VN"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vi-VN" sz="2400" i="1">
                                    <a:latin typeface="Cambria Math" panose="02040503050406030204" pitchFamily="18" charset="0"/>
                                  </a:rPr>
                                  <m:t>h</m:t>
                                </m:r>
                              </m:e>
                              <m:sub>
                                <m:r>
                                  <a:rPr lang="vi-VN" sz="2400" i="1">
                                    <a:latin typeface="Cambria Math" panose="02040503050406030204" pitchFamily="18" charset="0"/>
                                  </a:rPr>
                                  <m:t>𝑖</m:t>
                                </m:r>
                              </m:sub>
                            </m:sSub>
                            <m:r>
                              <a:rPr lang="vi-VN" sz="2400" i="1">
                                <a:latin typeface="Cambria Math" panose="02040503050406030204" pitchFamily="18" charset="0"/>
                              </a:rPr>
                              <m:t>𝑋</m:t>
                            </m:r>
                          </m:e>
                          <m:sub>
                            <m:r>
                              <a:rPr lang="vi-VN" sz="2400" i="1">
                                <a:latin typeface="Cambria Math" panose="02040503050406030204" pitchFamily="18" charset="0"/>
                              </a:rPr>
                              <m:t>𝑖</m:t>
                            </m:r>
                          </m:sub>
                        </m:sSub>
                      </m:e>
                    </m:nary>
                    <m:r>
                      <a:rPr lang="vi-VN" sz="2400" i="1">
                        <a:latin typeface="Cambria Math" panose="02040503050406030204" pitchFamily="18" charset="0"/>
                      </a:rPr>
                      <m:t>​</m:t>
                    </m:r>
                  </m:oMath>
                </a14:m>
                <a:endParaRPr lang="vi-VN" sz="2400"/>
              </a:p>
            </p:txBody>
          </p:sp>
        </mc:Choice>
        <mc:Fallback>
          <p:sp>
            <p:nvSpPr>
              <p:cNvPr id="52" name="TextBox 51">
                <a:extLst>
                  <a:ext uri="{FF2B5EF4-FFF2-40B4-BE49-F238E27FC236}">
                    <a16:creationId xmlns:a16="http://schemas.microsoft.com/office/drawing/2014/main" id="{7881A197-31AB-2518-849B-3036E774A63E}"/>
                  </a:ext>
                </a:extLst>
              </p:cNvPr>
              <p:cNvSpPr txBox="1">
                <a:spLocks noRot="1" noChangeAspect="1" noMove="1" noResize="1" noEditPoints="1" noAdjustHandles="1" noChangeArrowheads="1" noChangeShapeType="1" noTextEdit="1"/>
              </p:cNvSpPr>
              <p:nvPr/>
            </p:nvSpPr>
            <p:spPr>
              <a:xfrm>
                <a:off x="4415109" y="4673972"/>
                <a:ext cx="7216960" cy="510140"/>
              </a:xfrm>
              <a:prstGeom prst="rect">
                <a:avLst/>
              </a:prstGeom>
              <a:blipFill>
                <a:blip r:embed="rId15"/>
                <a:stretch>
                  <a:fillRect l="-1230" t="-112195" b="-165854"/>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32188B1D-0475-5CDD-33E9-BE1100D331BD}"/>
                  </a:ext>
                </a:extLst>
              </p:cNvPr>
              <p:cNvSpPr txBox="1"/>
              <p:nvPr/>
            </p:nvSpPr>
            <p:spPr>
              <a:xfrm>
                <a:off x="4415110" y="5140254"/>
                <a:ext cx="7579335" cy="1210203"/>
              </a:xfrm>
              <a:prstGeom prst="rect">
                <a:avLst/>
              </a:prstGeom>
              <a:noFill/>
            </p:spPr>
            <p:txBody>
              <a:bodyPr wrap="square">
                <a:spAutoFit/>
              </a:bodyPr>
              <a:lstStyle/>
              <a:p>
                <a:r>
                  <a:rPr lang="vi-VN" sz="2400">
                    <a:latin typeface="Calibri (Body)"/>
                  </a:rPr>
                  <a:t>Electronic structure</a:t>
                </a:r>
                <a:r>
                  <a:rPr lang="en-US" sz="2400">
                    <a:latin typeface="Calibri (Body)"/>
                  </a:rPr>
                  <a:t> </a:t>
                </a:r>
                <a14:m>
                  <m:oMath xmlns:m="http://schemas.openxmlformats.org/officeDocument/2006/math">
                    <m:r>
                      <a:rPr lang="en-US" sz="2400" i="1">
                        <a:latin typeface="Cambria Math" panose="02040503050406030204" pitchFamily="18" charset="0"/>
                      </a:rPr>
                      <m:t>→</m:t>
                    </m:r>
                    <m:r>
                      <m:rPr>
                        <m:nor/>
                      </m:rPr>
                      <a:rPr lang="vi-VN" sz="2400">
                        <a:latin typeface="Calibri (Body)"/>
                      </a:rPr>
                      <m:t>Basis</m:t>
                    </m:r>
                    <m:r>
                      <m:rPr>
                        <m:nor/>
                      </m:rPr>
                      <a:rPr lang="vi-VN" sz="2400">
                        <a:latin typeface="Calibri (Body)"/>
                      </a:rPr>
                      <m:t> </m:t>
                    </m:r>
                    <m:r>
                      <m:rPr>
                        <m:nor/>
                      </m:rPr>
                      <a:rPr lang="vi-VN" sz="2400">
                        <a:latin typeface="Calibri (Body)"/>
                      </a:rPr>
                      <m:t>set</m:t>
                    </m:r>
                    <m:r>
                      <m:rPr>
                        <m:nor/>
                      </m:rPr>
                      <a:rPr lang="vi-VN" sz="2400">
                        <a:latin typeface="Calibri (Body)"/>
                      </a:rPr>
                      <m:t> </m:t>
                    </m:r>
                    <m:r>
                      <m:rPr>
                        <m:nor/>
                      </m:rPr>
                      <a:rPr lang="vi-VN" sz="2400">
                        <a:latin typeface="Calibri (Body)"/>
                      </a:rPr>
                      <m:t>expansion</m:t>
                    </m:r>
                    <m:r>
                      <m:rPr>
                        <m:nor/>
                      </m:rPr>
                      <a:rPr lang="en-US" sz="2400">
                        <a:latin typeface="Calibri (Body)"/>
                      </a:rPr>
                      <m:t> (</m:t>
                    </m:r>
                    <m:r>
                      <m:rPr>
                        <m:nor/>
                      </m:rPr>
                      <a:rPr lang="en-US" sz="2400">
                        <a:latin typeface="Calibri (Body)"/>
                      </a:rPr>
                      <m:t>ex</m:t>
                    </m:r>
                    <m:r>
                      <m:rPr>
                        <m:nor/>
                      </m:rPr>
                      <a:rPr lang="en-US" sz="2400">
                        <a:latin typeface="Calibri (Body)"/>
                      </a:rPr>
                      <m:t>: </m:t>
                    </m:r>
                    <m:r>
                      <m:rPr>
                        <m:nor/>
                      </m:rPr>
                      <a:rPr lang="en-US" sz="2400">
                        <a:latin typeface="Calibri (Body)"/>
                      </a:rPr>
                      <m:t>sto</m:t>
                    </m:r>
                    <m:r>
                      <m:rPr>
                        <m:nor/>
                      </m:rPr>
                      <a:rPr lang="en-US" sz="2400">
                        <a:latin typeface="Calibri (Body)"/>
                      </a:rPr>
                      <m:t>3</m:t>
                    </m:r>
                    <m:r>
                      <m:rPr>
                        <m:nor/>
                      </m:rPr>
                      <a:rPr lang="en-US" sz="2400">
                        <a:latin typeface="Calibri (Body)"/>
                      </a:rPr>
                      <m:t>g</m:t>
                    </m:r>
                    <m:r>
                      <m:rPr>
                        <m:nor/>
                      </m:rPr>
                      <a:rPr lang="en-US" sz="2400">
                        <a:latin typeface="Calibri (Body)"/>
                      </a:rPr>
                      <m:t>)</m:t>
                    </m:r>
                  </m:oMath>
                </a14:m>
                <a:endParaRPr lang="en-US" sz="2400">
                  <a:latin typeface="Calibri (Body)"/>
                </a:endParaRPr>
              </a:p>
              <a:p>
                <a14:m>
                  <m:oMath xmlns:m="http://schemas.openxmlformats.org/officeDocument/2006/math">
                    <m:r>
                      <a:rPr lang="en-US" sz="2400" i="1">
                        <a:latin typeface="Cambria Math" panose="02040503050406030204" pitchFamily="18" charset="0"/>
                      </a:rPr>
                      <m:t>→</m:t>
                    </m:r>
                  </m:oMath>
                </a14:m>
                <a:r>
                  <a:rPr lang="en-US" sz="2400">
                    <a:latin typeface="Calibri (Body)"/>
                  </a:rPr>
                  <a:t> </a:t>
                </a:r>
                <a:r>
                  <a:rPr lang="vi-VN" sz="2400">
                    <a:latin typeface="Calibri (Body)"/>
                  </a:rPr>
                  <a:t>Mapping to qubits</a:t>
                </a:r>
                <a:r>
                  <a:rPr lang="en-US" sz="2400">
                    <a:latin typeface="Calibri (Body)"/>
                  </a:rPr>
                  <a:t> (ex: JW transform) </a:t>
                </a:r>
                <a:endParaRPr lang="en-US" sz="2400" i="1">
                  <a:latin typeface="Calibri (Body)"/>
                </a:endParaRPr>
              </a:p>
              <a:p>
                <a14:m>
                  <m:oMath xmlns:m="http://schemas.openxmlformats.org/officeDocument/2006/math">
                    <m:r>
                      <a:rPr lang="en-US" sz="2400" i="1">
                        <a:latin typeface="Cambria Math" panose="02040503050406030204" pitchFamily="18" charset="0"/>
                      </a:rPr>
                      <m:t>→</m:t>
                    </m:r>
                  </m:oMath>
                </a14:m>
                <a:r>
                  <a:rPr lang="en-US" sz="2400">
                    <a:latin typeface="Calibri (Body)"/>
                  </a:rPr>
                  <a:t> Pauli decomposition </a:t>
                </a:r>
                <a14:m>
                  <m:oMath xmlns:m="http://schemas.openxmlformats.org/officeDocument/2006/math">
                    <m:r>
                      <a:rPr lang="en-US" sz="2400" i="1">
                        <a:latin typeface="Cambria Math" panose="02040503050406030204" pitchFamily="18" charset="0"/>
                      </a:rPr>
                      <m:t>→</m:t>
                    </m:r>
                  </m:oMath>
                </a14:m>
                <a:r>
                  <a:rPr lang="en-US" sz="2400">
                    <a:latin typeface="Calibri (Body)"/>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𝐻</m:t>
                        </m:r>
                      </m:e>
                    </m:acc>
                  </m:oMath>
                </a14:m>
                <a:endParaRPr lang="vi-VN" sz="2400">
                  <a:latin typeface="Calibri (Body)"/>
                </a:endParaRPr>
              </a:p>
            </p:txBody>
          </p:sp>
        </mc:Choice>
        <mc:Fallback>
          <p:sp>
            <p:nvSpPr>
              <p:cNvPr id="54" name="TextBox 53">
                <a:extLst>
                  <a:ext uri="{FF2B5EF4-FFF2-40B4-BE49-F238E27FC236}">
                    <a16:creationId xmlns:a16="http://schemas.microsoft.com/office/drawing/2014/main" id="{32188B1D-0475-5CDD-33E9-BE1100D331BD}"/>
                  </a:ext>
                </a:extLst>
              </p:cNvPr>
              <p:cNvSpPr txBox="1">
                <a:spLocks noRot="1" noChangeAspect="1" noMove="1" noResize="1" noEditPoints="1" noAdjustHandles="1" noChangeArrowheads="1" noChangeShapeType="1" noTextEdit="1"/>
              </p:cNvSpPr>
              <p:nvPr/>
            </p:nvSpPr>
            <p:spPr>
              <a:xfrm>
                <a:off x="4415110" y="5140254"/>
                <a:ext cx="7579335" cy="1210203"/>
              </a:xfrm>
              <a:prstGeom prst="rect">
                <a:avLst/>
              </a:prstGeom>
              <a:blipFill>
                <a:blip r:embed="rId16"/>
                <a:stretch>
                  <a:fillRect l="-1171" t="-3093" b="-10309"/>
                </a:stretch>
              </a:blipFill>
            </p:spPr>
            <p:txBody>
              <a:bodyPr/>
              <a:lstStyle/>
              <a:p>
                <a:r>
                  <a:rPr lang="en-VN">
                    <a:noFill/>
                  </a:rPr>
                  <a:t> </a:t>
                </a:r>
              </a:p>
            </p:txBody>
          </p:sp>
        </mc:Fallback>
      </mc:AlternateContent>
      <p:pic>
        <p:nvPicPr>
          <p:cNvPr id="9220" name="Picture 4" descr="tutorial vqe">
            <a:extLst>
              <a:ext uri="{FF2B5EF4-FFF2-40B4-BE49-F238E27FC236}">
                <a16:creationId xmlns:a16="http://schemas.microsoft.com/office/drawing/2014/main" id="{937B2CFE-5E65-3D90-20EA-5136EF7EBA27}"/>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4274" t="11489" r="53764" b="8903"/>
          <a:stretch/>
        </p:blipFill>
        <p:spPr bwMode="auto">
          <a:xfrm>
            <a:off x="113052" y="3014425"/>
            <a:ext cx="4297000" cy="3396665"/>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7263D2D7-15DC-8D89-856F-3E755896BA6D}"/>
              </a:ext>
            </a:extLst>
          </p:cNvPr>
          <p:cNvSpPr txBox="1"/>
          <p:nvPr/>
        </p:nvSpPr>
        <p:spPr>
          <a:xfrm>
            <a:off x="767624" y="6472950"/>
            <a:ext cx="8353797" cy="297454"/>
          </a:xfrm>
          <a:prstGeom prst="rect">
            <a:avLst/>
          </a:prstGeom>
          <a:noFill/>
        </p:spPr>
        <p:txBody>
          <a:bodyPr wrap="square">
            <a:spAutoFit/>
          </a:bodyPr>
          <a:lstStyle/>
          <a:p>
            <a:r>
              <a:rPr lang="en-US" sz="1333" b="1"/>
              <a:t>[1.31]</a:t>
            </a:r>
            <a:r>
              <a:rPr lang="en-US" sz="1333"/>
              <a:t> </a:t>
            </a:r>
            <a:r>
              <a:rPr lang="vi-VN" sz="1333"/>
              <a:t>https://pennylane.ai/qml/demos/tutorial_</a:t>
            </a:r>
            <a:r>
              <a:rPr lang="en-US" sz="1333"/>
              <a:t>vqe</a:t>
            </a:r>
            <a:r>
              <a:rPr lang="vi-VN" sz="1333"/>
              <a:t>_intro</a:t>
            </a:r>
          </a:p>
        </p:txBody>
      </p: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9D2EEF5D-F72E-87CC-3727-1032536CB94E}"/>
                  </a:ext>
                </a:extLst>
              </p:cNvPr>
              <p:cNvSpPr txBox="1"/>
              <p:nvPr/>
            </p:nvSpPr>
            <p:spPr>
              <a:xfrm>
                <a:off x="759072" y="1844246"/>
                <a:ext cx="3729848" cy="584775"/>
              </a:xfrm>
              <a:prstGeom prst="rect">
                <a:avLst/>
              </a:prstGeom>
              <a:noFill/>
            </p:spPr>
            <p:txBody>
              <a:bodyPr wrap="square">
                <a:spAutoFit/>
              </a:bodyPr>
              <a:lstStyle/>
              <a:p>
                <a:r>
                  <a:rPr lang="en-US" sz="1600">
                    <a:solidFill>
                      <a:srgbClr val="FF0000"/>
                    </a:solidFill>
                  </a:rPr>
                  <a:t>Finding ground energy </a:t>
                </a:r>
                <a14:m>
                  <m:oMath xmlns:m="http://schemas.openxmlformats.org/officeDocument/2006/math">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𝐸</m:t>
                        </m:r>
                      </m:e>
                      <m:sub>
                        <m:r>
                          <a:rPr lang="en-US" sz="1600" i="1">
                            <a:solidFill>
                              <a:srgbClr val="FF0000"/>
                            </a:solidFill>
                            <a:latin typeface="Cambria Math" panose="02040503050406030204" pitchFamily="18" charset="0"/>
                          </a:rPr>
                          <m:t>0</m:t>
                        </m:r>
                      </m:sub>
                    </m:sSub>
                  </m:oMath>
                </a14:m>
                <a:r>
                  <a:rPr lang="en-US" sz="1600">
                    <a:solidFill>
                      <a:srgbClr val="FF0000"/>
                    </a:solidFill>
                  </a:rPr>
                  <a:t> corresponding to ground state </a:t>
                </a:r>
                <a14:m>
                  <m:oMath xmlns:m="http://schemas.openxmlformats.org/officeDocument/2006/math">
                    <m:d>
                      <m:dPr>
                        <m:begChr m:val="|"/>
                        <m:endChr m:val="⟩"/>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𝜓</m:t>
                            </m:r>
                          </m:e>
                          <m:sub>
                            <m:r>
                              <a:rPr lang="en-US" sz="1600" i="1">
                                <a:solidFill>
                                  <a:srgbClr val="FF0000"/>
                                </a:solidFill>
                                <a:latin typeface="Cambria Math" panose="02040503050406030204" pitchFamily="18" charset="0"/>
                              </a:rPr>
                              <m:t>0</m:t>
                            </m:r>
                          </m:sub>
                        </m:sSub>
                      </m:e>
                    </m:d>
                  </m:oMath>
                </a14:m>
                <a:r>
                  <a:rPr lang="en-US" sz="1600">
                    <a:solidFill>
                      <a:srgbClr val="FF0000"/>
                    </a:solidFill>
                  </a:rPr>
                  <a:t> of Hamiltonian </a:t>
                </a:r>
                <a14:m>
                  <m:oMath xmlns:m="http://schemas.openxmlformats.org/officeDocument/2006/math">
                    <m:r>
                      <a:rPr lang="en-US" sz="1600" i="1">
                        <a:solidFill>
                          <a:srgbClr val="FF0000"/>
                        </a:solidFill>
                        <a:latin typeface="Cambria Math" panose="02040503050406030204" pitchFamily="18" charset="0"/>
                      </a:rPr>
                      <m:t>𝐻</m:t>
                    </m:r>
                  </m:oMath>
                </a14:m>
                <a:r>
                  <a:rPr lang="en-US" sz="1600">
                    <a:solidFill>
                      <a:srgbClr val="FF0000"/>
                    </a:solidFill>
                  </a:rPr>
                  <a:t> </a:t>
                </a:r>
                <a:endParaRPr lang="vi-VN" sz="1600">
                  <a:solidFill>
                    <a:srgbClr val="FF0000"/>
                  </a:solidFill>
                </a:endParaRPr>
              </a:p>
            </p:txBody>
          </p:sp>
        </mc:Choice>
        <mc:Fallback>
          <p:sp>
            <p:nvSpPr>
              <p:cNvPr id="60" name="TextBox 59">
                <a:extLst>
                  <a:ext uri="{FF2B5EF4-FFF2-40B4-BE49-F238E27FC236}">
                    <a16:creationId xmlns:a16="http://schemas.microsoft.com/office/drawing/2014/main" id="{9D2EEF5D-F72E-87CC-3727-1032536CB94E}"/>
                  </a:ext>
                </a:extLst>
              </p:cNvPr>
              <p:cNvSpPr txBox="1">
                <a:spLocks noRot="1" noChangeAspect="1" noMove="1" noResize="1" noEditPoints="1" noAdjustHandles="1" noChangeArrowheads="1" noChangeShapeType="1" noTextEdit="1"/>
              </p:cNvSpPr>
              <p:nvPr/>
            </p:nvSpPr>
            <p:spPr>
              <a:xfrm>
                <a:off x="759072" y="1844246"/>
                <a:ext cx="3729848" cy="584775"/>
              </a:xfrm>
              <a:prstGeom prst="rect">
                <a:avLst/>
              </a:prstGeom>
              <a:blipFill>
                <a:blip r:embed="rId18"/>
                <a:stretch>
                  <a:fillRect l="-1020" t="-2128" r="-340" b="-1063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F544E1D6-C30C-BA26-B485-9A6FBC1A5C73}"/>
                  </a:ext>
                </a:extLst>
              </p:cNvPr>
              <p:cNvSpPr txBox="1"/>
              <p:nvPr/>
            </p:nvSpPr>
            <p:spPr>
              <a:xfrm>
                <a:off x="1208928" y="2413085"/>
                <a:ext cx="226549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a:solidFill>
                            <a:srgbClr val="FF0000"/>
                          </a:solidFill>
                          <a:latin typeface="Cambria Math" panose="02040503050406030204" pitchFamily="18" charset="0"/>
                        </a:rPr>
                        <m:t>𝑯</m:t>
                      </m:r>
                      <m:d>
                        <m:dPr>
                          <m:begChr m:val="|"/>
                          <m:endChr m:val="⟩"/>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𝝍</m:t>
                              </m:r>
                            </m:e>
                            <m:sub>
                              <m:r>
                                <a:rPr lang="en-US" sz="2400" b="1" i="1">
                                  <a:solidFill>
                                    <a:srgbClr val="FF0000"/>
                                  </a:solidFill>
                                  <a:latin typeface="Cambria Math" panose="02040503050406030204" pitchFamily="18" charset="0"/>
                                </a:rPr>
                                <m:t>𝟎</m:t>
                              </m:r>
                            </m:sub>
                          </m:sSub>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𝑬</m:t>
                          </m:r>
                        </m:e>
                        <m:sub>
                          <m:r>
                            <a:rPr lang="en-US" sz="2400" b="1" i="1">
                              <a:solidFill>
                                <a:srgbClr val="FF0000"/>
                              </a:solidFill>
                              <a:latin typeface="Cambria Math" panose="02040503050406030204" pitchFamily="18" charset="0"/>
                            </a:rPr>
                            <m:t>𝟎</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𝝍</m:t>
                          </m:r>
                        </m:e>
                        <m:sub>
                          <m:r>
                            <a:rPr lang="en-US" sz="2400" b="1" i="1">
                              <a:solidFill>
                                <a:srgbClr val="FF0000"/>
                              </a:solidFill>
                              <a:latin typeface="Cambria Math" panose="02040503050406030204" pitchFamily="18" charset="0"/>
                            </a:rPr>
                            <m:t>𝟎</m:t>
                          </m:r>
                        </m:sub>
                      </m:sSub>
                      <m:r>
                        <a:rPr lang="en-US" sz="2400" b="1" i="1">
                          <a:solidFill>
                            <a:srgbClr val="FF0000"/>
                          </a:solidFill>
                          <a:latin typeface="Cambria Math" panose="02040503050406030204" pitchFamily="18" charset="0"/>
                        </a:rPr>
                        <m:t>⟩</m:t>
                      </m:r>
                    </m:oMath>
                  </m:oMathPara>
                </a14:m>
                <a:endParaRPr lang="vi-VN" sz="2400" b="1">
                  <a:solidFill>
                    <a:srgbClr val="FF0000"/>
                  </a:solidFill>
                </a:endParaRPr>
              </a:p>
            </p:txBody>
          </p:sp>
        </mc:Choice>
        <mc:Fallback>
          <p:sp>
            <p:nvSpPr>
              <p:cNvPr id="61" name="TextBox 60">
                <a:extLst>
                  <a:ext uri="{FF2B5EF4-FFF2-40B4-BE49-F238E27FC236}">
                    <a16:creationId xmlns:a16="http://schemas.microsoft.com/office/drawing/2014/main" id="{F544E1D6-C30C-BA26-B485-9A6FBC1A5C73}"/>
                  </a:ext>
                </a:extLst>
              </p:cNvPr>
              <p:cNvSpPr txBox="1">
                <a:spLocks noRot="1" noChangeAspect="1" noMove="1" noResize="1" noEditPoints="1" noAdjustHandles="1" noChangeArrowheads="1" noChangeShapeType="1" noTextEdit="1"/>
              </p:cNvSpPr>
              <p:nvPr/>
            </p:nvSpPr>
            <p:spPr>
              <a:xfrm>
                <a:off x="1208928" y="2413085"/>
                <a:ext cx="2265492" cy="369332"/>
              </a:xfrm>
              <a:prstGeom prst="rect">
                <a:avLst/>
              </a:prstGeom>
              <a:blipFill>
                <a:blip r:embed="rId19"/>
                <a:stretch>
                  <a:fillRect l="-2235" r="-3911" b="-37931"/>
                </a:stretch>
              </a:blipFill>
            </p:spPr>
            <p:txBody>
              <a:bodyPr/>
              <a:lstStyle/>
              <a:p>
                <a:r>
                  <a:rPr lang="en-VN">
                    <a:noFill/>
                  </a:rPr>
                  <a:t> </a:t>
                </a:r>
              </a:p>
            </p:txBody>
          </p:sp>
        </mc:Fallback>
      </mc:AlternateContent>
      <p:sp>
        <p:nvSpPr>
          <p:cNvPr id="62" name="Rectangle 61">
            <a:extLst>
              <a:ext uri="{FF2B5EF4-FFF2-40B4-BE49-F238E27FC236}">
                <a16:creationId xmlns:a16="http://schemas.microsoft.com/office/drawing/2014/main" id="{E1375B63-EAB5-462B-719B-D84FA2D5EA95}"/>
              </a:ext>
            </a:extLst>
          </p:cNvPr>
          <p:cNvSpPr/>
          <p:nvPr/>
        </p:nvSpPr>
        <p:spPr>
          <a:xfrm>
            <a:off x="767625" y="1840790"/>
            <a:ext cx="3642428" cy="1073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63" name="Straight Arrow Connector 62">
            <a:extLst>
              <a:ext uri="{FF2B5EF4-FFF2-40B4-BE49-F238E27FC236}">
                <a16:creationId xmlns:a16="http://schemas.microsoft.com/office/drawing/2014/main" id="{2D7CC0BC-5E5F-12D0-0B98-93A8A88E8604}"/>
              </a:ext>
            </a:extLst>
          </p:cNvPr>
          <p:cNvCxnSpPr>
            <a:cxnSpLocks/>
            <a:stCxn id="37" idx="0"/>
          </p:cNvCxnSpPr>
          <p:nvPr/>
        </p:nvCxnSpPr>
        <p:spPr>
          <a:xfrm flipV="1">
            <a:off x="11517383" y="2281349"/>
            <a:ext cx="835" cy="6294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219" name="TextBox 9218">
            <a:extLst>
              <a:ext uri="{FF2B5EF4-FFF2-40B4-BE49-F238E27FC236}">
                <a16:creationId xmlns:a16="http://schemas.microsoft.com/office/drawing/2014/main" id="{152DB7B6-9F10-42D9-8E70-B11D1FF21BB9}"/>
              </a:ext>
            </a:extLst>
          </p:cNvPr>
          <p:cNvSpPr txBox="1"/>
          <p:nvPr/>
        </p:nvSpPr>
        <p:spPr>
          <a:xfrm>
            <a:off x="10851803" y="2550071"/>
            <a:ext cx="727855" cy="338554"/>
          </a:xfrm>
          <a:prstGeom prst="rect">
            <a:avLst/>
          </a:prstGeom>
          <a:noFill/>
        </p:spPr>
        <p:txBody>
          <a:bodyPr wrap="square" rtlCol="0">
            <a:spAutoFit/>
          </a:bodyPr>
          <a:lstStyle/>
          <a:p>
            <a:r>
              <a:rPr lang="en-US" sz="1600">
                <a:solidFill>
                  <a:srgbClr val="00B050"/>
                </a:solidFill>
              </a:rPr>
              <a:t>True</a:t>
            </a:r>
            <a:endParaRPr lang="vi-VN" sz="1600">
              <a:solidFill>
                <a:srgbClr val="00B050"/>
              </a:solidFill>
            </a:endParaRPr>
          </a:p>
        </p:txBody>
      </p:sp>
      <p:sp>
        <p:nvSpPr>
          <p:cNvPr id="9221" name="TextBox 9220">
            <a:extLst>
              <a:ext uri="{FF2B5EF4-FFF2-40B4-BE49-F238E27FC236}">
                <a16:creationId xmlns:a16="http://schemas.microsoft.com/office/drawing/2014/main" id="{B64221EB-1EE8-221E-E2F4-E9E723DD2999}"/>
              </a:ext>
            </a:extLst>
          </p:cNvPr>
          <p:cNvSpPr txBox="1"/>
          <p:nvPr/>
        </p:nvSpPr>
        <p:spPr>
          <a:xfrm>
            <a:off x="11009079" y="1887275"/>
            <a:ext cx="1150712" cy="338554"/>
          </a:xfrm>
          <a:prstGeom prst="rect">
            <a:avLst/>
          </a:prstGeom>
          <a:noFill/>
        </p:spPr>
        <p:txBody>
          <a:bodyPr wrap="square" rtlCol="0">
            <a:spAutoFit/>
          </a:bodyPr>
          <a:lstStyle/>
          <a:p>
            <a:r>
              <a:rPr lang="en-US" sz="1600"/>
              <a:t>Solution!</a:t>
            </a:r>
            <a:endParaRPr lang="vi-VN" sz="1600" b="1"/>
          </a:p>
        </p:txBody>
      </p:sp>
    </p:spTree>
    <p:extLst>
      <p:ext uri="{BB962C8B-B14F-4D97-AF65-F5344CB8AC3E}">
        <p14:creationId xmlns:p14="http://schemas.microsoft.com/office/powerpoint/2010/main" val="3924271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1" name="Straight Connector 120">
            <a:extLst>
              <a:ext uri="{FF2B5EF4-FFF2-40B4-BE49-F238E27FC236}">
                <a16:creationId xmlns:a16="http://schemas.microsoft.com/office/drawing/2014/main" id="{4144F2B5-2B4A-2F5D-AF2E-ADABDC6FD472}"/>
              </a:ext>
            </a:extLst>
          </p:cNvPr>
          <p:cNvCxnSpPr>
            <a:cxnSpLocks/>
          </p:cNvCxnSpPr>
          <p:nvPr/>
        </p:nvCxnSpPr>
        <p:spPr>
          <a:xfrm>
            <a:off x="3396965" y="4293763"/>
            <a:ext cx="1337587" cy="1942035"/>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1FE4D114-2AA0-BE56-8687-BEF0C9D3E0EA}"/>
              </a:ext>
            </a:extLst>
          </p:cNvPr>
          <p:cNvSpPr/>
          <p:nvPr/>
        </p:nvSpPr>
        <p:spPr>
          <a:xfrm>
            <a:off x="1256801" y="4747941"/>
            <a:ext cx="2581415" cy="1103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7118CA2-50E3-A26F-8881-F5068712C504}"/>
                  </a:ext>
                </a:extLst>
              </p:cNvPr>
              <p:cNvSpPr>
                <a:spLocks noGrp="1"/>
              </p:cNvSpPr>
              <p:nvPr>
                <p:ph type="title"/>
              </p:nvPr>
            </p:nvSpPr>
            <p:spPr/>
            <p:txBody>
              <a:bodyPr>
                <a:normAutofit/>
              </a:bodyPr>
              <a:lstStyle/>
              <a:p>
                <a:r>
                  <a:rPr lang="en-US"/>
                  <a:t>1.6.1</a:t>
                </a:r>
                <a:r>
                  <a:rPr lang="en-VN"/>
                  <a:t>. </a:t>
                </a:r>
                <a:r>
                  <a:rPr lang="en-US"/>
                  <a:t>Quantum optimization</a:t>
                </a:r>
                <a:br>
                  <a:rPr lang="en-US"/>
                </a:br>
                <a:r>
                  <a:rPr lang="en-US" sz="2667"/>
                  <a:t>VQE </a:t>
                </a:r>
                <a14:m>
                  <m:oMath xmlns:m="http://schemas.openxmlformats.org/officeDocument/2006/math">
                    <m:r>
                      <a:rPr lang="en-US" sz="2667">
                        <a:latin typeface="Cambria Math" panose="02040503050406030204" pitchFamily="18" charset="0"/>
                      </a:rPr>
                      <m:t>→</m:t>
                    </m:r>
                  </m:oMath>
                </a14:m>
                <a:r>
                  <a:rPr lang="en-US" sz="2667"/>
                  <a:t> AdaptVQE</a:t>
                </a:r>
                <a:endParaRPr lang="vi-VN" sz="2667"/>
              </a:p>
            </p:txBody>
          </p:sp>
        </mc:Choice>
        <mc:Fallback xmlns="">
          <p:sp>
            <p:nvSpPr>
              <p:cNvPr id="2" name="Title 1">
                <a:extLst>
                  <a:ext uri="{FF2B5EF4-FFF2-40B4-BE49-F238E27FC236}">
                    <a16:creationId xmlns:a16="http://schemas.microsoft.com/office/drawing/2014/main" id="{97118CA2-50E3-A26F-8881-F5068712C504}"/>
                  </a:ext>
                </a:extLst>
              </p:cNvPr>
              <p:cNvSpPr>
                <a:spLocks noGrp="1" noRot="1" noChangeAspect="1" noMove="1" noResize="1" noEditPoints="1" noAdjustHandles="1" noChangeArrowheads="1" noChangeShapeType="1" noTextEdit="1"/>
              </p:cNvSpPr>
              <p:nvPr>
                <p:ph type="title"/>
              </p:nvPr>
            </p:nvSpPr>
            <p:spPr>
              <a:blipFill>
                <a:blip r:embed="rId2"/>
                <a:stretch>
                  <a:fillRect l="-2545" t="-4294" b="-2454"/>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D547D2D5-AF90-CBDE-5122-17DB671EC240}"/>
              </a:ext>
            </a:extLst>
          </p:cNvPr>
          <p:cNvSpPr>
            <a:spLocks noGrp="1"/>
          </p:cNvSpPr>
          <p:nvPr>
            <p:ph type="sldNum" sz="quarter" idx="12"/>
          </p:nvPr>
        </p:nvSpPr>
        <p:spPr/>
        <p:txBody>
          <a:bodyPr/>
          <a:lstStyle/>
          <a:p>
            <a:fld id="{6A45828D-F580-42DE-B77E-860980F07F32}" type="slidenum">
              <a:rPr lang="vi-VN" smtClean="0"/>
              <a:t>12</a:t>
            </a:fld>
            <a:endParaRPr lang="vi-VN"/>
          </a:p>
        </p:txBody>
      </p:sp>
      <p:cxnSp>
        <p:nvCxnSpPr>
          <p:cNvPr id="5" name="Straight Connector 4">
            <a:extLst>
              <a:ext uri="{FF2B5EF4-FFF2-40B4-BE49-F238E27FC236}">
                <a16:creationId xmlns:a16="http://schemas.microsoft.com/office/drawing/2014/main" id="{13609C6F-3613-1735-13D0-E6444A52A0C3}"/>
              </a:ext>
            </a:extLst>
          </p:cNvPr>
          <p:cNvCxnSpPr>
            <a:cxnSpLocks/>
          </p:cNvCxnSpPr>
          <p:nvPr/>
        </p:nvCxnSpPr>
        <p:spPr>
          <a:xfrm>
            <a:off x="675203" y="2246604"/>
            <a:ext cx="19768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EC23E9BF-4069-19EF-D8C5-9CC365041052}"/>
                  </a:ext>
                </a:extLst>
              </p:cNvPr>
              <p:cNvSpPr/>
              <p:nvPr/>
            </p:nvSpPr>
            <p:spPr>
              <a:xfrm>
                <a:off x="1219058" y="1840199"/>
                <a:ext cx="54824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VN"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0</m:t>
                          </m:r>
                        </m:sub>
                      </m:sSub>
                    </m:oMath>
                  </m:oMathPara>
                </a14:m>
                <a:endParaRPr sz="2400"/>
              </a:p>
            </p:txBody>
          </p:sp>
        </mc:Choice>
        <mc:Fallback>
          <p:sp>
            <p:nvSpPr>
              <p:cNvPr id="6" name="Rectangle 5">
                <a:extLst>
                  <a:ext uri="{FF2B5EF4-FFF2-40B4-BE49-F238E27FC236}">
                    <a16:creationId xmlns:a16="http://schemas.microsoft.com/office/drawing/2014/main" id="{EC23E9BF-4069-19EF-D8C5-9CC365041052}"/>
                  </a:ext>
                </a:extLst>
              </p:cNvPr>
              <p:cNvSpPr>
                <a:spLocks noRot="1" noChangeAspect="1" noMove="1" noResize="1" noEditPoints="1" noAdjustHandles="1" noChangeArrowheads="1" noChangeShapeType="1" noTextEdit="1"/>
              </p:cNvSpPr>
              <p:nvPr/>
            </p:nvSpPr>
            <p:spPr>
              <a:xfrm>
                <a:off x="1219058" y="1840199"/>
                <a:ext cx="548241" cy="867719"/>
              </a:xfrm>
              <a:prstGeom prst="rect">
                <a:avLst/>
              </a:prstGeom>
              <a:blipFill>
                <a:blip r:embed="rId3"/>
                <a:stretch>
                  <a:fillRect l="-17391"/>
                </a:stretch>
              </a:blipFill>
              <a:ln>
                <a:solidFill>
                  <a:schemeClr val="tx1"/>
                </a:solidFill>
              </a:ln>
            </p:spPr>
            <p:txBody>
              <a:bodyPr/>
              <a:lstStyle/>
              <a:p>
                <a:r>
                  <a:rPr lang="en-VN">
                    <a:noFill/>
                  </a:rPr>
                  <a:t> </a:t>
                </a:r>
              </a:p>
            </p:txBody>
          </p:sp>
        </mc:Fallback>
      </mc:AlternateContent>
      <p:cxnSp>
        <p:nvCxnSpPr>
          <p:cNvPr id="7" name="Straight Connector 6">
            <a:extLst>
              <a:ext uri="{FF2B5EF4-FFF2-40B4-BE49-F238E27FC236}">
                <a16:creationId xmlns:a16="http://schemas.microsoft.com/office/drawing/2014/main" id="{304D9F62-F2DB-BDC6-31D2-BD016FDFED4E}"/>
              </a:ext>
            </a:extLst>
          </p:cNvPr>
          <p:cNvCxnSpPr>
            <a:cxnSpLocks/>
          </p:cNvCxnSpPr>
          <p:nvPr/>
        </p:nvCxnSpPr>
        <p:spPr>
          <a:xfrm flipV="1">
            <a:off x="748581" y="2087340"/>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08AF76C-7984-38B7-6956-1AAA795F4130}"/>
              </a:ext>
            </a:extLst>
          </p:cNvPr>
          <p:cNvSpPr/>
          <p:nvPr/>
        </p:nvSpPr>
        <p:spPr>
          <a:xfrm>
            <a:off x="1092241" y="1722412"/>
            <a:ext cx="2891863" cy="1103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7064706A-1124-EAE4-23EA-30433CB1E30B}"/>
                  </a:ext>
                </a:extLst>
              </p:cNvPr>
              <p:cNvSpPr/>
              <p:nvPr/>
            </p:nvSpPr>
            <p:spPr>
              <a:xfrm>
                <a:off x="1834302" y="1840199"/>
                <a:ext cx="54824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VN"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1</m:t>
                          </m:r>
                        </m:sub>
                      </m:sSub>
                    </m:oMath>
                  </m:oMathPara>
                </a14:m>
                <a:endParaRPr sz="2400"/>
              </a:p>
            </p:txBody>
          </p:sp>
        </mc:Choice>
        <mc:Fallback>
          <p:sp>
            <p:nvSpPr>
              <p:cNvPr id="13" name="Rectangle 12">
                <a:extLst>
                  <a:ext uri="{FF2B5EF4-FFF2-40B4-BE49-F238E27FC236}">
                    <a16:creationId xmlns:a16="http://schemas.microsoft.com/office/drawing/2014/main" id="{7064706A-1124-EAE4-23EA-30433CB1E30B}"/>
                  </a:ext>
                </a:extLst>
              </p:cNvPr>
              <p:cNvSpPr>
                <a:spLocks noRot="1" noChangeAspect="1" noMove="1" noResize="1" noEditPoints="1" noAdjustHandles="1" noChangeArrowheads="1" noChangeShapeType="1" noTextEdit="1"/>
              </p:cNvSpPr>
              <p:nvPr/>
            </p:nvSpPr>
            <p:spPr>
              <a:xfrm>
                <a:off x="1834302" y="1840199"/>
                <a:ext cx="548241" cy="867719"/>
              </a:xfrm>
              <a:prstGeom prst="rect">
                <a:avLst/>
              </a:prstGeom>
              <a:blipFill>
                <a:blip r:embed="rId4"/>
                <a:stretch>
                  <a:fillRect l="-20000"/>
                </a:stretch>
              </a:blipFill>
              <a:ln>
                <a:solidFill>
                  <a:schemeClr val="tx1"/>
                </a:solidFill>
              </a:ln>
            </p:spPr>
            <p:txBody>
              <a:bodyPr/>
              <a:lstStyle/>
              <a:p>
                <a:r>
                  <a:rPr lang="en-VN">
                    <a:noFill/>
                  </a:rPr>
                  <a:t> </a:t>
                </a:r>
              </a:p>
            </p:txBody>
          </p:sp>
        </mc:Fallback>
      </mc:AlternateContent>
      <p:cxnSp>
        <p:nvCxnSpPr>
          <p:cNvPr id="16" name="Straight Connector 15">
            <a:extLst>
              <a:ext uri="{FF2B5EF4-FFF2-40B4-BE49-F238E27FC236}">
                <a16:creationId xmlns:a16="http://schemas.microsoft.com/office/drawing/2014/main" id="{56D65083-C269-EAC4-0483-8DC07398F16A}"/>
              </a:ext>
            </a:extLst>
          </p:cNvPr>
          <p:cNvCxnSpPr>
            <a:cxnSpLocks/>
          </p:cNvCxnSpPr>
          <p:nvPr/>
        </p:nvCxnSpPr>
        <p:spPr>
          <a:xfrm>
            <a:off x="3103569" y="2246604"/>
            <a:ext cx="1135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FA61016B-B370-2462-99FF-01B4AC7828B6}"/>
                  </a:ext>
                </a:extLst>
              </p:cNvPr>
              <p:cNvSpPr/>
              <p:nvPr/>
            </p:nvSpPr>
            <p:spPr>
              <a:xfrm>
                <a:off x="3243362" y="1840199"/>
                <a:ext cx="54824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VN"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𝑛</m:t>
                          </m:r>
                        </m:sub>
                      </m:sSub>
                    </m:oMath>
                  </m:oMathPara>
                </a14:m>
                <a:endParaRPr sz="2400"/>
              </a:p>
            </p:txBody>
          </p:sp>
        </mc:Choice>
        <mc:Fallback>
          <p:sp>
            <p:nvSpPr>
              <p:cNvPr id="17" name="Rectangle 16">
                <a:extLst>
                  <a:ext uri="{FF2B5EF4-FFF2-40B4-BE49-F238E27FC236}">
                    <a16:creationId xmlns:a16="http://schemas.microsoft.com/office/drawing/2014/main" id="{FA61016B-B370-2462-99FF-01B4AC7828B6}"/>
                  </a:ext>
                </a:extLst>
              </p:cNvPr>
              <p:cNvSpPr>
                <a:spLocks noRot="1" noChangeAspect="1" noMove="1" noResize="1" noEditPoints="1" noAdjustHandles="1" noChangeArrowheads="1" noChangeShapeType="1" noTextEdit="1"/>
              </p:cNvSpPr>
              <p:nvPr/>
            </p:nvSpPr>
            <p:spPr>
              <a:xfrm>
                <a:off x="3243362" y="1840199"/>
                <a:ext cx="548241" cy="867719"/>
              </a:xfrm>
              <a:prstGeom prst="rect">
                <a:avLst/>
              </a:prstGeom>
              <a:blipFill>
                <a:blip r:embed="rId5"/>
                <a:stretch>
                  <a:fillRect l="-19565"/>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5CD64B7-FE37-DB5D-1115-628D2FB1B13D}"/>
                  </a:ext>
                </a:extLst>
              </p:cNvPr>
              <p:cNvSpPr txBox="1"/>
              <p:nvPr/>
            </p:nvSpPr>
            <p:spPr>
              <a:xfrm>
                <a:off x="2778831" y="2061937"/>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vi-VN" sz="2400"/>
              </a:p>
            </p:txBody>
          </p:sp>
        </mc:Choice>
        <mc:Fallback>
          <p:sp>
            <p:nvSpPr>
              <p:cNvPr id="19" name="TextBox 18">
                <a:extLst>
                  <a:ext uri="{FF2B5EF4-FFF2-40B4-BE49-F238E27FC236}">
                    <a16:creationId xmlns:a16="http://schemas.microsoft.com/office/drawing/2014/main" id="{B5CD64B7-FE37-DB5D-1115-628D2FB1B13D}"/>
                  </a:ext>
                </a:extLst>
              </p:cNvPr>
              <p:cNvSpPr txBox="1">
                <a:spLocks noRot="1" noChangeAspect="1" noMove="1" noResize="1" noEditPoints="1" noAdjustHandles="1" noChangeArrowheads="1" noChangeShapeType="1" noTextEdit="1"/>
              </p:cNvSpPr>
              <p:nvPr/>
            </p:nvSpPr>
            <p:spPr>
              <a:xfrm>
                <a:off x="2778831" y="2061937"/>
                <a:ext cx="181140" cy="369332"/>
              </a:xfrm>
              <a:prstGeom prst="rect">
                <a:avLst/>
              </a:prstGeom>
              <a:blipFill>
                <a:blip r:embed="rId6"/>
                <a:stretch>
                  <a:fillRect l="-25000" r="-25000" b="-3333"/>
                </a:stretch>
              </a:blipFill>
            </p:spPr>
            <p:txBody>
              <a:bodyPr/>
              <a:lstStyle/>
              <a:p>
                <a:r>
                  <a:rPr lang="en-VN">
                    <a:noFill/>
                  </a:rPr>
                  <a:t> </a:t>
                </a:r>
              </a:p>
            </p:txBody>
          </p:sp>
        </mc:Fallback>
      </mc:AlternateContent>
      <p:sp>
        <p:nvSpPr>
          <p:cNvPr id="20" name="Left Brace 19">
            <a:extLst>
              <a:ext uri="{FF2B5EF4-FFF2-40B4-BE49-F238E27FC236}">
                <a16:creationId xmlns:a16="http://schemas.microsoft.com/office/drawing/2014/main" id="{331C0573-A034-D9AA-17E8-F4BBC86A36B9}"/>
              </a:ext>
            </a:extLst>
          </p:cNvPr>
          <p:cNvSpPr/>
          <p:nvPr/>
        </p:nvSpPr>
        <p:spPr>
          <a:xfrm rot="16200000">
            <a:off x="2415754" y="1578735"/>
            <a:ext cx="264557" cy="2872147"/>
          </a:xfrm>
          <a:prstGeom prst="leftBrace">
            <a:avLst>
              <a:gd name="adj1" fmla="val 38939"/>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p:sp>
        <p:nvSpPr>
          <p:cNvPr id="21" name="TextBox 20">
            <a:extLst>
              <a:ext uri="{FF2B5EF4-FFF2-40B4-BE49-F238E27FC236}">
                <a16:creationId xmlns:a16="http://schemas.microsoft.com/office/drawing/2014/main" id="{84EC4AB9-4D54-0DC6-6C9E-3AD0831E7458}"/>
              </a:ext>
            </a:extLst>
          </p:cNvPr>
          <p:cNvSpPr txBox="1"/>
          <p:nvPr/>
        </p:nvSpPr>
        <p:spPr>
          <a:xfrm>
            <a:off x="524499" y="3085296"/>
            <a:ext cx="4047067" cy="338554"/>
          </a:xfrm>
          <a:prstGeom prst="rect">
            <a:avLst/>
          </a:prstGeom>
          <a:noFill/>
        </p:spPr>
        <p:txBody>
          <a:bodyPr wrap="square" rtlCol="0">
            <a:spAutoFit/>
          </a:bodyPr>
          <a:lstStyle/>
          <a:p>
            <a:pPr algn="ctr"/>
            <a:r>
              <a:rPr lang="en-US" sz="1600">
                <a:latin typeface="Calibri (Body)"/>
              </a:rPr>
              <a:t>Heavy </a:t>
            </a:r>
            <a:r>
              <a:rPr lang="vi-VN" sz="1600">
                <a:latin typeface="Calibri (Body)"/>
              </a:rPr>
              <a:t>pre-constructed ansatz</a:t>
            </a:r>
          </a:p>
        </p:txBody>
      </p:sp>
      <p:cxnSp>
        <p:nvCxnSpPr>
          <p:cNvPr id="22" name="Straight Connector 21">
            <a:extLst>
              <a:ext uri="{FF2B5EF4-FFF2-40B4-BE49-F238E27FC236}">
                <a16:creationId xmlns:a16="http://schemas.microsoft.com/office/drawing/2014/main" id="{0347A6A6-0963-2382-B969-DB5D5CCD8F4D}"/>
              </a:ext>
            </a:extLst>
          </p:cNvPr>
          <p:cNvCxnSpPr>
            <a:cxnSpLocks/>
          </p:cNvCxnSpPr>
          <p:nvPr/>
        </p:nvCxnSpPr>
        <p:spPr>
          <a:xfrm>
            <a:off x="914393" y="5272133"/>
            <a:ext cx="17883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Rectangle 22">
                <a:extLst>
                  <a:ext uri="{FF2B5EF4-FFF2-40B4-BE49-F238E27FC236}">
                    <a16:creationId xmlns:a16="http://schemas.microsoft.com/office/drawing/2014/main" id="{F789D8C1-D2D7-211F-4D18-89ADA4CFC655}"/>
                  </a:ext>
                </a:extLst>
              </p:cNvPr>
              <p:cNvSpPr/>
              <p:nvPr/>
            </p:nvSpPr>
            <p:spPr>
              <a:xfrm>
                <a:off x="1383618" y="4865729"/>
                <a:ext cx="54824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VN"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1</m:t>
                          </m:r>
                        </m:sub>
                      </m:sSub>
                    </m:oMath>
                  </m:oMathPara>
                </a14:m>
                <a:endParaRPr sz="2400"/>
              </a:p>
            </p:txBody>
          </p:sp>
        </mc:Choice>
        <mc:Fallback>
          <p:sp>
            <p:nvSpPr>
              <p:cNvPr id="23" name="Rectangle 22">
                <a:extLst>
                  <a:ext uri="{FF2B5EF4-FFF2-40B4-BE49-F238E27FC236}">
                    <a16:creationId xmlns:a16="http://schemas.microsoft.com/office/drawing/2014/main" id="{F789D8C1-D2D7-211F-4D18-89ADA4CFC655}"/>
                  </a:ext>
                </a:extLst>
              </p:cNvPr>
              <p:cNvSpPr>
                <a:spLocks noRot="1" noChangeAspect="1" noMove="1" noResize="1" noEditPoints="1" noAdjustHandles="1" noChangeArrowheads="1" noChangeShapeType="1" noTextEdit="1"/>
              </p:cNvSpPr>
              <p:nvPr/>
            </p:nvSpPr>
            <p:spPr>
              <a:xfrm>
                <a:off x="1383618" y="4865729"/>
                <a:ext cx="548241" cy="867719"/>
              </a:xfrm>
              <a:prstGeom prst="rect">
                <a:avLst/>
              </a:prstGeom>
              <a:blipFill>
                <a:blip r:embed="rId7"/>
                <a:stretch>
                  <a:fillRect l="-17391"/>
                </a:stretch>
              </a:blipFill>
              <a:ln>
                <a:solidFill>
                  <a:schemeClr val="tx1"/>
                </a:solidFill>
              </a:ln>
            </p:spPr>
            <p:txBody>
              <a:bodyPr/>
              <a:lstStyle/>
              <a:p>
                <a:r>
                  <a:rPr lang="en-VN">
                    <a:noFill/>
                  </a:rPr>
                  <a:t> </a:t>
                </a:r>
              </a:p>
            </p:txBody>
          </p:sp>
        </mc:Fallback>
      </mc:AlternateContent>
      <p:cxnSp>
        <p:nvCxnSpPr>
          <p:cNvPr id="24" name="Straight Connector 23">
            <a:extLst>
              <a:ext uri="{FF2B5EF4-FFF2-40B4-BE49-F238E27FC236}">
                <a16:creationId xmlns:a16="http://schemas.microsoft.com/office/drawing/2014/main" id="{318AC35A-795B-CBF9-D0E0-84E70EC52BBE}"/>
              </a:ext>
            </a:extLst>
          </p:cNvPr>
          <p:cNvCxnSpPr>
            <a:cxnSpLocks/>
          </p:cNvCxnSpPr>
          <p:nvPr/>
        </p:nvCxnSpPr>
        <p:spPr>
          <a:xfrm flipV="1">
            <a:off x="941361" y="511286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A76759A6-0B81-A3FB-3A58-FB54C130FCD2}"/>
                  </a:ext>
                </a:extLst>
              </p:cNvPr>
              <p:cNvSpPr/>
              <p:nvPr/>
            </p:nvSpPr>
            <p:spPr>
              <a:xfrm>
                <a:off x="1998862" y="4865729"/>
                <a:ext cx="54824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VN"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3</m:t>
                          </m:r>
                        </m:sub>
                      </m:sSub>
                    </m:oMath>
                  </m:oMathPara>
                </a14:m>
                <a:endParaRPr sz="2400"/>
              </a:p>
            </p:txBody>
          </p:sp>
        </mc:Choice>
        <mc:Fallback>
          <p:sp>
            <p:nvSpPr>
              <p:cNvPr id="26" name="Rectangle 25">
                <a:extLst>
                  <a:ext uri="{FF2B5EF4-FFF2-40B4-BE49-F238E27FC236}">
                    <a16:creationId xmlns:a16="http://schemas.microsoft.com/office/drawing/2014/main" id="{A76759A6-0B81-A3FB-3A58-FB54C130FCD2}"/>
                  </a:ext>
                </a:extLst>
              </p:cNvPr>
              <p:cNvSpPr>
                <a:spLocks noRot="1" noChangeAspect="1" noMove="1" noResize="1" noEditPoints="1" noAdjustHandles="1" noChangeArrowheads="1" noChangeShapeType="1" noTextEdit="1"/>
              </p:cNvSpPr>
              <p:nvPr/>
            </p:nvSpPr>
            <p:spPr>
              <a:xfrm>
                <a:off x="1998862" y="4865729"/>
                <a:ext cx="548241" cy="867719"/>
              </a:xfrm>
              <a:prstGeom prst="rect">
                <a:avLst/>
              </a:prstGeom>
              <a:blipFill>
                <a:blip r:embed="rId8"/>
                <a:stretch>
                  <a:fillRect l="-17391"/>
                </a:stretch>
              </a:blipFill>
              <a:ln>
                <a:solidFill>
                  <a:schemeClr val="tx1"/>
                </a:solidFill>
              </a:ln>
            </p:spPr>
            <p:txBody>
              <a:bodyPr/>
              <a:lstStyle/>
              <a:p>
                <a:r>
                  <a:rPr lang="en-VN">
                    <a:noFill/>
                  </a:rPr>
                  <a:t> </a:t>
                </a:r>
              </a:p>
            </p:txBody>
          </p:sp>
        </mc:Fallback>
      </mc:AlternateContent>
      <p:cxnSp>
        <p:nvCxnSpPr>
          <p:cNvPr id="27" name="Straight Connector 26">
            <a:extLst>
              <a:ext uri="{FF2B5EF4-FFF2-40B4-BE49-F238E27FC236}">
                <a16:creationId xmlns:a16="http://schemas.microsoft.com/office/drawing/2014/main" id="{AB634A8B-7B30-2D64-FED7-93B49592A3C3}"/>
              </a:ext>
            </a:extLst>
          </p:cNvPr>
          <p:cNvCxnSpPr>
            <a:cxnSpLocks/>
          </p:cNvCxnSpPr>
          <p:nvPr/>
        </p:nvCxnSpPr>
        <p:spPr>
          <a:xfrm>
            <a:off x="3635014" y="5272133"/>
            <a:ext cx="3838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 name="Rectangle 27">
                <a:extLst>
                  <a:ext uri="{FF2B5EF4-FFF2-40B4-BE49-F238E27FC236}">
                    <a16:creationId xmlns:a16="http://schemas.microsoft.com/office/drawing/2014/main" id="{9897A63F-D315-D618-6B41-C59499F0E3FE}"/>
                  </a:ext>
                </a:extLst>
              </p:cNvPr>
              <p:cNvSpPr/>
              <p:nvPr/>
            </p:nvSpPr>
            <p:spPr>
              <a:xfrm>
                <a:off x="2935102" y="4865729"/>
                <a:ext cx="77329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VN"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/2</m:t>
                          </m:r>
                        </m:sub>
                      </m:sSub>
                    </m:oMath>
                  </m:oMathPara>
                </a14:m>
                <a:endParaRPr sz="2400"/>
              </a:p>
            </p:txBody>
          </p:sp>
        </mc:Choice>
        <mc:Fallback>
          <p:sp>
            <p:nvSpPr>
              <p:cNvPr id="28" name="Rectangle 27">
                <a:extLst>
                  <a:ext uri="{FF2B5EF4-FFF2-40B4-BE49-F238E27FC236}">
                    <a16:creationId xmlns:a16="http://schemas.microsoft.com/office/drawing/2014/main" id="{9897A63F-D315-D618-6B41-C59499F0E3FE}"/>
                  </a:ext>
                </a:extLst>
              </p:cNvPr>
              <p:cNvSpPr>
                <a:spLocks noRot="1" noChangeAspect="1" noMove="1" noResize="1" noEditPoints="1" noAdjustHandles="1" noChangeArrowheads="1" noChangeShapeType="1" noTextEdit="1"/>
              </p:cNvSpPr>
              <p:nvPr/>
            </p:nvSpPr>
            <p:spPr>
              <a:xfrm>
                <a:off x="2935102" y="4865729"/>
                <a:ext cx="773293" cy="867719"/>
              </a:xfrm>
              <a:prstGeom prst="rect">
                <a:avLst/>
              </a:prstGeom>
              <a:blipFill>
                <a:blip r:embed="rId9"/>
                <a:stretch>
                  <a:fillRect l="-15873"/>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A33AA1E9-F3AD-D000-130D-AD82FBD8328B}"/>
                  </a:ext>
                </a:extLst>
              </p:cNvPr>
              <p:cNvSpPr txBox="1"/>
              <p:nvPr/>
            </p:nvSpPr>
            <p:spPr>
              <a:xfrm>
                <a:off x="2740195" y="5087467"/>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vi-VN" sz="2400"/>
              </a:p>
            </p:txBody>
          </p:sp>
        </mc:Choice>
        <mc:Fallback>
          <p:sp>
            <p:nvSpPr>
              <p:cNvPr id="29" name="TextBox 28">
                <a:extLst>
                  <a:ext uri="{FF2B5EF4-FFF2-40B4-BE49-F238E27FC236}">
                    <a16:creationId xmlns:a16="http://schemas.microsoft.com/office/drawing/2014/main" id="{A33AA1E9-F3AD-D000-130D-AD82FBD8328B}"/>
                  </a:ext>
                </a:extLst>
              </p:cNvPr>
              <p:cNvSpPr txBox="1">
                <a:spLocks noRot="1" noChangeAspect="1" noMove="1" noResize="1" noEditPoints="1" noAdjustHandles="1" noChangeArrowheads="1" noChangeShapeType="1" noTextEdit="1"/>
              </p:cNvSpPr>
              <p:nvPr/>
            </p:nvSpPr>
            <p:spPr>
              <a:xfrm>
                <a:off x="2740195" y="5087467"/>
                <a:ext cx="181140" cy="369332"/>
              </a:xfrm>
              <a:prstGeom prst="rect">
                <a:avLst/>
              </a:prstGeom>
              <a:blipFill>
                <a:blip r:embed="rId10"/>
                <a:stretch>
                  <a:fillRect l="-35714" r="-35714" b="-6667"/>
                </a:stretch>
              </a:blipFill>
            </p:spPr>
            <p:txBody>
              <a:bodyPr/>
              <a:lstStyle/>
              <a:p>
                <a:r>
                  <a:rPr lang="en-VN">
                    <a:noFill/>
                  </a:rPr>
                  <a:t> </a:t>
                </a:r>
              </a:p>
            </p:txBody>
          </p:sp>
        </mc:Fallback>
      </mc:AlternateContent>
      <p:sp>
        <p:nvSpPr>
          <p:cNvPr id="33" name="TextBox 32">
            <a:extLst>
              <a:ext uri="{FF2B5EF4-FFF2-40B4-BE49-F238E27FC236}">
                <a16:creationId xmlns:a16="http://schemas.microsoft.com/office/drawing/2014/main" id="{3153A86C-53DF-61DF-5783-AA58F20BA680}"/>
              </a:ext>
            </a:extLst>
          </p:cNvPr>
          <p:cNvSpPr txBox="1"/>
          <p:nvPr/>
        </p:nvSpPr>
        <p:spPr>
          <a:xfrm>
            <a:off x="1256801" y="5863205"/>
            <a:ext cx="2891863" cy="461665"/>
          </a:xfrm>
          <a:prstGeom prst="rect">
            <a:avLst/>
          </a:prstGeom>
          <a:noFill/>
        </p:spPr>
        <p:txBody>
          <a:bodyPr wrap="square" rtlCol="0">
            <a:spAutoFit/>
          </a:bodyPr>
          <a:lstStyle/>
          <a:p>
            <a:pPr algn="ctr"/>
            <a:r>
              <a:rPr lang="en-US" sz="2400">
                <a:latin typeface="Calibri (Body)"/>
              </a:rPr>
              <a:t>For LiH</a:t>
            </a:r>
            <a:endParaRPr lang="vi-VN" sz="2400">
              <a:latin typeface="Calibri (Body)"/>
            </a:endParaRPr>
          </a:p>
        </p:txBody>
      </p:sp>
      <p:cxnSp>
        <p:nvCxnSpPr>
          <p:cNvPr id="59" name="Straight Arrow Connector 58">
            <a:extLst>
              <a:ext uri="{FF2B5EF4-FFF2-40B4-BE49-F238E27FC236}">
                <a16:creationId xmlns:a16="http://schemas.microsoft.com/office/drawing/2014/main" id="{779479F7-1031-66AC-F34D-6581811F51ED}"/>
              </a:ext>
            </a:extLst>
          </p:cNvPr>
          <p:cNvCxnSpPr>
            <a:cxnSpLocks/>
            <a:stCxn id="21" idx="2"/>
            <a:endCxn id="25" idx="0"/>
          </p:cNvCxnSpPr>
          <p:nvPr/>
        </p:nvCxnSpPr>
        <p:spPr>
          <a:xfrm flipH="1">
            <a:off x="2547509" y="3423850"/>
            <a:ext cx="524" cy="13240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5274BE5D-EB7E-1FF9-F8FD-D80A898B30AD}"/>
                  </a:ext>
                </a:extLst>
              </p:cNvPr>
              <p:cNvSpPr txBox="1"/>
              <p:nvPr/>
            </p:nvSpPr>
            <p:spPr>
              <a:xfrm>
                <a:off x="9002783" y="2840034"/>
                <a:ext cx="2063784" cy="704873"/>
              </a:xfrm>
              <a:prstGeom prst="rect">
                <a:avLst/>
              </a:prstGeom>
              <a:noFill/>
            </p:spPr>
            <p:txBody>
              <a:bodyPr wrap="square" rtlCol="0">
                <a:spAutoFit/>
              </a:bodyPr>
              <a:lstStyle/>
              <a:p>
                <a:r>
                  <a:rPr lang="en-US" sz="1600">
                    <a:latin typeface="Calibri (Body)"/>
                  </a:rPr>
                  <a:t>Measure partial derivates </a:t>
                </a:r>
                <a14:m>
                  <m:oMath xmlns:m="http://schemas.openxmlformats.org/officeDocument/2006/math">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m:t>
                            </m:r>
                          </m:e>
                          <m:sub>
                            <m:sSub>
                              <m:sSubPr>
                                <m:ctrlPr>
                                  <a:rPr lang="en-US" sz="1600" i="1">
                                    <a:latin typeface="Cambria Math" panose="02040503050406030204" pitchFamily="18" charset="0"/>
                                  </a:rPr>
                                </m:ctrlPr>
                              </m:sSubPr>
                              <m:e>
                                <m:r>
                                  <a:rPr lang="en-US" sz="1600" i="1">
                                    <a:latin typeface="Cambria Math" panose="02040503050406030204" pitchFamily="18" charset="0"/>
                                  </a:rPr>
                                  <m:t>𝜃</m:t>
                                </m:r>
                              </m:e>
                              <m:sub>
                                <m:r>
                                  <a:rPr lang="en-US" sz="1600" i="1">
                                    <a:latin typeface="Cambria Math" panose="02040503050406030204" pitchFamily="18" charset="0"/>
                                  </a:rPr>
                                  <m:t>𝑗</m:t>
                                </m:r>
                              </m:sub>
                            </m:sSub>
                          </m:sub>
                        </m:sSub>
                        <m:r>
                          <a:rPr lang="en-US" sz="1600" i="1">
                            <a:latin typeface="Cambria Math" panose="02040503050406030204" pitchFamily="18" charset="0"/>
                          </a:rPr>
                          <m:t>𝐶</m:t>
                        </m:r>
                      </m:e>
                    </m:d>
                  </m:oMath>
                </a14:m>
                <a:endParaRPr lang="vi-VN" sz="1600">
                  <a:latin typeface="Calibri (Body)"/>
                </a:endParaRPr>
              </a:p>
            </p:txBody>
          </p:sp>
        </mc:Choice>
        <mc:Fallback>
          <p:sp>
            <p:nvSpPr>
              <p:cNvPr id="60" name="TextBox 59">
                <a:extLst>
                  <a:ext uri="{FF2B5EF4-FFF2-40B4-BE49-F238E27FC236}">
                    <a16:creationId xmlns:a16="http://schemas.microsoft.com/office/drawing/2014/main" id="{5274BE5D-EB7E-1FF9-F8FD-D80A898B30AD}"/>
                  </a:ext>
                </a:extLst>
              </p:cNvPr>
              <p:cNvSpPr txBox="1">
                <a:spLocks noRot="1" noChangeAspect="1" noMove="1" noResize="1" noEditPoints="1" noAdjustHandles="1" noChangeArrowheads="1" noChangeShapeType="1" noTextEdit="1"/>
              </p:cNvSpPr>
              <p:nvPr/>
            </p:nvSpPr>
            <p:spPr>
              <a:xfrm>
                <a:off x="9002783" y="2840034"/>
                <a:ext cx="2063784" cy="704873"/>
              </a:xfrm>
              <a:prstGeom prst="rect">
                <a:avLst/>
              </a:prstGeom>
              <a:blipFill>
                <a:blip r:embed="rId11"/>
                <a:stretch>
                  <a:fillRect l="-1220" t="-1754"/>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0" name="TextBox 69">
                <a:extLst>
                  <a:ext uri="{FF2B5EF4-FFF2-40B4-BE49-F238E27FC236}">
                    <a16:creationId xmlns:a16="http://schemas.microsoft.com/office/drawing/2014/main" id="{CFF6C324-192C-D6AE-A4DA-17D854CA25EB}"/>
                  </a:ext>
                </a:extLst>
              </p:cNvPr>
              <p:cNvSpPr txBox="1"/>
              <p:nvPr/>
            </p:nvSpPr>
            <p:spPr>
              <a:xfrm>
                <a:off x="7063072" y="3656134"/>
                <a:ext cx="1250979" cy="4954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m:t>
                          </m:r>
                        </m:e>
                        <m:sub>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0</m:t>
                              </m:r>
                            </m:sub>
                          </m:sSub>
                        </m:sub>
                      </m:sSub>
                      <m:r>
                        <a:rPr lang="en-US" sz="2400" i="1">
                          <a:latin typeface="Cambria Math" panose="02040503050406030204" pitchFamily="18" charset="0"/>
                        </a:rPr>
                        <m:t>𝐶</m:t>
                      </m:r>
                    </m:oMath>
                  </m:oMathPara>
                </a14:m>
                <a:endParaRPr lang="vi-VN" sz="2400"/>
              </a:p>
            </p:txBody>
          </p:sp>
        </mc:Choice>
        <mc:Fallback>
          <p:sp>
            <p:nvSpPr>
              <p:cNvPr id="70" name="TextBox 69">
                <a:extLst>
                  <a:ext uri="{FF2B5EF4-FFF2-40B4-BE49-F238E27FC236}">
                    <a16:creationId xmlns:a16="http://schemas.microsoft.com/office/drawing/2014/main" id="{CFF6C324-192C-D6AE-A4DA-17D854CA25EB}"/>
                  </a:ext>
                </a:extLst>
              </p:cNvPr>
              <p:cNvSpPr txBox="1">
                <a:spLocks noRot="1" noChangeAspect="1" noMove="1" noResize="1" noEditPoints="1" noAdjustHandles="1" noChangeArrowheads="1" noChangeShapeType="1" noTextEdit="1"/>
              </p:cNvSpPr>
              <p:nvPr/>
            </p:nvSpPr>
            <p:spPr>
              <a:xfrm>
                <a:off x="7063072" y="3656134"/>
                <a:ext cx="1250979" cy="495457"/>
              </a:xfrm>
              <a:prstGeom prst="rect">
                <a:avLst/>
              </a:prstGeom>
              <a:blipFill>
                <a:blip r:embed="rId12"/>
                <a:stretch>
                  <a:fillRect b="-10256"/>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1D6C2A18-32BD-B67A-9C71-AEF0CFF4283B}"/>
                  </a:ext>
                </a:extLst>
              </p:cNvPr>
              <p:cNvSpPr txBox="1"/>
              <p:nvPr/>
            </p:nvSpPr>
            <p:spPr>
              <a:xfrm>
                <a:off x="7974097" y="3656134"/>
                <a:ext cx="1020768" cy="4934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m:t>
                          </m:r>
                        </m:e>
                        <m:sub>
                          <m:sSub>
                            <m:sSubPr>
                              <m:ctrlPr>
                                <a:rPr lang="en-US" sz="2400" b="1" i="1">
                                  <a:latin typeface="Cambria Math" panose="02040503050406030204" pitchFamily="18" charset="0"/>
                                </a:rPr>
                              </m:ctrlPr>
                            </m:sSubPr>
                            <m:e>
                              <m:r>
                                <a:rPr lang="en-US" sz="2400" b="1" i="1">
                                  <a:latin typeface="Cambria Math" panose="02040503050406030204" pitchFamily="18" charset="0"/>
                                </a:rPr>
                                <m:t>𝜽</m:t>
                              </m:r>
                            </m:e>
                            <m:sub>
                              <m:r>
                                <a:rPr lang="en-US" sz="2400" b="1" i="1">
                                  <a:latin typeface="Cambria Math" panose="02040503050406030204" pitchFamily="18" charset="0"/>
                                </a:rPr>
                                <m:t>𝟏</m:t>
                              </m:r>
                            </m:sub>
                          </m:sSub>
                        </m:sub>
                      </m:sSub>
                      <m:r>
                        <a:rPr lang="en-US" sz="2400" b="1" i="1">
                          <a:latin typeface="Cambria Math" panose="02040503050406030204" pitchFamily="18" charset="0"/>
                        </a:rPr>
                        <m:t>𝑪</m:t>
                      </m:r>
                    </m:oMath>
                  </m:oMathPara>
                </a14:m>
                <a:endParaRPr lang="vi-VN" sz="2400" b="1"/>
              </a:p>
            </p:txBody>
          </p:sp>
        </mc:Choice>
        <mc:Fallback>
          <p:sp>
            <p:nvSpPr>
              <p:cNvPr id="71" name="TextBox 70">
                <a:extLst>
                  <a:ext uri="{FF2B5EF4-FFF2-40B4-BE49-F238E27FC236}">
                    <a16:creationId xmlns:a16="http://schemas.microsoft.com/office/drawing/2014/main" id="{1D6C2A18-32BD-B67A-9C71-AEF0CFF4283B}"/>
                  </a:ext>
                </a:extLst>
              </p:cNvPr>
              <p:cNvSpPr txBox="1">
                <a:spLocks noRot="1" noChangeAspect="1" noMove="1" noResize="1" noEditPoints="1" noAdjustHandles="1" noChangeArrowheads="1" noChangeShapeType="1" noTextEdit="1"/>
              </p:cNvSpPr>
              <p:nvPr/>
            </p:nvSpPr>
            <p:spPr>
              <a:xfrm>
                <a:off x="7974097" y="3656134"/>
                <a:ext cx="1020768" cy="493405"/>
              </a:xfrm>
              <a:prstGeom prst="rect">
                <a:avLst/>
              </a:prstGeom>
              <a:blipFill>
                <a:blip r:embed="rId13"/>
                <a:stretch>
                  <a:fillRect b="-512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3C0139AF-3478-38C0-C46E-F0C3AC3B233B}"/>
                  </a:ext>
                </a:extLst>
              </p:cNvPr>
              <p:cNvSpPr txBox="1"/>
              <p:nvPr/>
            </p:nvSpPr>
            <p:spPr>
              <a:xfrm>
                <a:off x="9273824" y="3652332"/>
                <a:ext cx="1020768" cy="4953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m:t>
                          </m:r>
                        </m:e>
                        <m:sub>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𝑛</m:t>
                              </m:r>
                            </m:sub>
                          </m:sSub>
                        </m:sub>
                      </m:sSub>
                      <m:r>
                        <a:rPr lang="en-US" sz="2400" i="1">
                          <a:latin typeface="Cambria Math" panose="02040503050406030204" pitchFamily="18" charset="0"/>
                        </a:rPr>
                        <m:t>𝐶</m:t>
                      </m:r>
                      <m:r>
                        <a:rPr lang="en-US" sz="2400" i="1">
                          <a:latin typeface="Cambria Math" panose="02040503050406030204" pitchFamily="18" charset="0"/>
                        </a:rPr>
                        <m:t>}</m:t>
                      </m:r>
                    </m:oMath>
                  </m:oMathPara>
                </a14:m>
                <a:endParaRPr lang="vi-VN" sz="2400"/>
              </a:p>
            </p:txBody>
          </p:sp>
        </mc:Choice>
        <mc:Fallback>
          <p:sp>
            <p:nvSpPr>
              <p:cNvPr id="72" name="TextBox 71">
                <a:extLst>
                  <a:ext uri="{FF2B5EF4-FFF2-40B4-BE49-F238E27FC236}">
                    <a16:creationId xmlns:a16="http://schemas.microsoft.com/office/drawing/2014/main" id="{3C0139AF-3478-38C0-C46E-F0C3AC3B233B}"/>
                  </a:ext>
                </a:extLst>
              </p:cNvPr>
              <p:cNvSpPr txBox="1">
                <a:spLocks noRot="1" noChangeAspect="1" noMove="1" noResize="1" noEditPoints="1" noAdjustHandles="1" noChangeArrowheads="1" noChangeShapeType="1" noTextEdit="1"/>
              </p:cNvSpPr>
              <p:nvPr/>
            </p:nvSpPr>
            <p:spPr>
              <a:xfrm>
                <a:off x="9273824" y="3652332"/>
                <a:ext cx="1020768" cy="495328"/>
              </a:xfrm>
              <a:prstGeom prst="rect">
                <a:avLst/>
              </a:prstGeom>
              <a:blipFill>
                <a:blip r:embed="rId14"/>
                <a:stretch>
                  <a:fillRect r="-1235" b="-10000"/>
                </a:stretch>
              </a:blipFill>
            </p:spPr>
            <p:txBody>
              <a:bodyPr/>
              <a:lstStyle/>
              <a:p>
                <a:r>
                  <a:rPr lang="en-VN">
                    <a:noFill/>
                  </a:rPr>
                  <a:t> </a:t>
                </a:r>
              </a:p>
            </p:txBody>
          </p:sp>
        </mc:Fallback>
      </mc:AlternateContent>
      <p:cxnSp>
        <p:nvCxnSpPr>
          <p:cNvPr id="74" name="Straight Arrow Connector 73">
            <a:extLst>
              <a:ext uri="{FF2B5EF4-FFF2-40B4-BE49-F238E27FC236}">
                <a16:creationId xmlns:a16="http://schemas.microsoft.com/office/drawing/2014/main" id="{90780735-8FFE-5D3E-9CFD-8949D6411DAD}"/>
              </a:ext>
            </a:extLst>
          </p:cNvPr>
          <p:cNvCxnSpPr>
            <a:cxnSpLocks/>
          </p:cNvCxnSpPr>
          <p:nvPr/>
        </p:nvCxnSpPr>
        <p:spPr>
          <a:xfrm>
            <a:off x="8925719" y="4107105"/>
            <a:ext cx="0" cy="679385"/>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944FEFF9-05CB-04FA-25EB-2BAF6E7D1178}"/>
              </a:ext>
            </a:extLst>
          </p:cNvPr>
          <p:cNvCxnSpPr>
            <a:cxnSpLocks/>
          </p:cNvCxnSpPr>
          <p:nvPr/>
        </p:nvCxnSpPr>
        <p:spPr>
          <a:xfrm>
            <a:off x="7941988" y="5331957"/>
            <a:ext cx="19768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B5D3DD7C-90CF-EE17-93A9-83E6E02B261E}"/>
              </a:ext>
            </a:extLst>
          </p:cNvPr>
          <p:cNvSpPr/>
          <p:nvPr/>
        </p:nvSpPr>
        <p:spPr>
          <a:xfrm>
            <a:off x="8494891" y="4807765"/>
            <a:ext cx="863600" cy="1103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mc:AlternateContent xmlns:mc="http://schemas.openxmlformats.org/markup-compatibility/2006">
        <mc:Choice xmlns:a14="http://schemas.microsoft.com/office/drawing/2010/main" Requires="a14">
          <p:sp>
            <p:nvSpPr>
              <p:cNvPr id="80" name="Rectangle 79">
                <a:extLst>
                  <a:ext uri="{FF2B5EF4-FFF2-40B4-BE49-F238E27FC236}">
                    <a16:creationId xmlns:a16="http://schemas.microsoft.com/office/drawing/2014/main" id="{9C641CAB-700F-34CA-D982-EE058F07BA83}"/>
                  </a:ext>
                </a:extLst>
              </p:cNvPr>
              <p:cNvSpPr/>
              <p:nvPr/>
            </p:nvSpPr>
            <p:spPr>
              <a:xfrm>
                <a:off x="8660820" y="4925553"/>
                <a:ext cx="54824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VN"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1</m:t>
                          </m:r>
                        </m:sub>
                      </m:sSub>
                    </m:oMath>
                  </m:oMathPara>
                </a14:m>
                <a:endParaRPr sz="2400"/>
              </a:p>
            </p:txBody>
          </p:sp>
        </mc:Choice>
        <mc:Fallback>
          <p:sp>
            <p:nvSpPr>
              <p:cNvPr id="80" name="Rectangle 79">
                <a:extLst>
                  <a:ext uri="{FF2B5EF4-FFF2-40B4-BE49-F238E27FC236}">
                    <a16:creationId xmlns:a16="http://schemas.microsoft.com/office/drawing/2014/main" id="{9C641CAB-700F-34CA-D982-EE058F07BA83}"/>
                  </a:ext>
                </a:extLst>
              </p:cNvPr>
              <p:cNvSpPr>
                <a:spLocks noRot="1" noChangeAspect="1" noMove="1" noResize="1" noEditPoints="1" noAdjustHandles="1" noChangeArrowheads="1" noChangeShapeType="1" noTextEdit="1"/>
              </p:cNvSpPr>
              <p:nvPr/>
            </p:nvSpPr>
            <p:spPr>
              <a:xfrm>
                <a:off x="8660820" y="4925553"/>
                <a:ext cx="548241" cy="867719"/>
              </a:xfrm>
              <a:prstGeom prst="rect">
                <a:avLst/>
              </a:prstGeom>
              <a:blipFill>
                <a:blip r:embed="rId15"/>
                <a:stretch>
                  <a:fillRect l="-17391"/>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92" name="TextBox 91">
                <a:extLst>
                  <a:ext uri="{FF2B5EF4-FFF2-40B4-BE49-F238E27FC236}">
                    <a16:creationId xmlns:a16="http://schemas.microsoft.com/office/drawing/2014/main" id="{3BAFCE1E-D19C-6772-9533-7284F76DDCC3}"/>
                  </a:ext>
                </a:extLst>
              </p:cNvPr>
              <p:cNvSpPr txBox="1"/>
              <p:nvPr/>
            </p:nvSpPr>
            <p:spPr>
              <a:xfrm>
                <a:off x="8974228" y="4153245"/>
                <a:ext cx="2015067" cy="633635"/>
              </a:xfrm>
              <a:prstGeom prst="rect">
                <a:avLst/>
              </a:prstGeom>
              <a:noFill/>
            </p:spPr>
            <p:txBody>
              <a:bodyPr wrap="square" rtlCol="0">
                <a:spAutoFit/>
              </a:bodyPr>
              <a:lstStyle/>
              <a:p>
                <a:r>
                  <a:rPr lang="en-US" sz="1600">
                    <a:latin typeface="Calibri (Body)"/>
                  </a:rPr>
                  <a:t>Select largest’s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m:t>
                        </m:r>
                      </m:e>
                      <m:sub>
                        <m:sSub>
                          <m:sSubPr>
                            <m:ctrlPr>
                              <a:rPr lang="en-US" sz="1600" i="1">
                                <a:latin typeface="Cambria Math" panose="02040503050406030204" pitchFamily="18" charset="0"/>
                              </a:rPr>
                            </m:ctrlPr>
                          </m:sSubPr>
                          <m:e>
                            <m:r>
                              <a:rPr lang="en-US" sz="1600" i="1">
                                <a:latin typeface="Cambria Math" panose="02040503050406030204" pitchFamily="18" charset="0"/>
                              </a:rPr>
                              <m:t>𝜃</m:t>
                            </m:r>
                          </m:e>
                          <m:sub>
                            <m:r>
                              <a:rPr lang="en-US" sz="1600" i="1">
                                <a:latin typeface="Cambria Math" panose="02040503050406030204" pitchFamily="18" charset="0"/>
                              </a:rPr>
                              <m:t>𝑗</m:t>
                            </m:r>
                          </m:sub>
                        </m:sSub>
                      </m:sub>
                    </m:sSub>
                    <m:r>
                      <a:rPr lang="en-US" sz="1600" i="1">
                        <a:latin typeface="Cambria Math" panose="02040503050406030204" pitchFamily="18" charset="0"/>
                      </a:rPr>
                      <m:t>𝐶</m:t>
                    </m:r>
                  </m:oMath>
                </a14:m>
                <a:r>
                  <a:rPr lang="en-US" sz="1600">
                    <a:latin typeface="Calibri (Body)"/>
                  </a:rPr>
                  <a:t> operators</a:t>
                </a:r>
                <a:endParaRPr lang="vi-VN" sz="1600">
                  <a:latin typeface="Calibri (Body)"/>
                </a:endParaRPr>
              </a:p>
            </p:txBody>
          </p:sp>
        </mc:Choice>
        <mc:Fallback>
          <p:sp>
            <p:nvSpPr>
              <p:cNvPr id="92" name="TextBox 91">
                <a:extLst>
                  <a:ext uri="{FF2B5EF4-FFF2-40B4-BE49-F238E27FC236}">
                    <a16:creationId xmlns:a16="http://schemas.microsoft.com/office/drawing/2014/main" id="{3BAFCE1E-D19C-6772-9533-7284F76DDCC3}"/>
                  </a:ext>
                </a:extLst>
              </p:cNvPr>
              <p:cNvSpPr txBox="1">
                <a:spLocks noRot="1" noChangeAspect="1" noMove="1" noResize="1" noEditPoints="1" noAdjustHandles="1" noChangeArrowheads="1" noChangeShapeType="1" noTextEdit="1"/>
              </p:cNvSpPr>
              <p:nvPr/>
            </p:nvSpPr>
            <p:spPr>
              <a:xfrm>
                <a:off x="8974228" y="4153245"/>
                <a:ext cx="2015067" cy="633635"/>
              </a:xfrm>
              <a:prstGeom prst="rect">
                <a:avLst/>
              </a:prstGeom>
              <a:blipFill>
                <a:blip r:embed="rId16"/>
                <a:stretch>
                  <a:fillRect l="-1250" t="-1961" b="-11765"/>
                </a:stretch>
              </a:blipFill>
            </p:spPr>
            <p:txBody>
              <a:bodyPr/>
              <a:lstStyle/>
              <a:p>
                <a:r>
                  <a:rPr lang="en-VN">
                    <a:noFill/>
                  </a:rPr>
                  <a:t> </a:t>
                </a:r>
              </a:p>
            </p:txBody>
          </p:sp>
        </mc:Fallback>
      </mc:AlternateContent>
      <p:cxnSp>
        <p:nvCxnSpPr>
          <p:cNvPr id="93" name="Straight Arrow Connector 92">
            <a:extLst>
              <a:ext uri="{FF2B5EF4-FFF2-40B4-BE49-F238E27FC236}">
                <a16:creationId xmlns:a16="http://schemas.microsoft.com/office/drawing/2014/main" id="{C1D57D57-E16E-EAC9-53E0-83B23AB32077}"/>
              </a:ext>
            </a:extLst>
          </p:cNvPr>
          <p:cNvCxnSpPr>
            <a:cxnSpLocks/>
          </p:cNvCxnSpPr>
          <p:nvPr/>
        </p:nvCxnSpPr>
        <p:spPr>
          <a:xfrm flipH="1">
            <a:off x="6962214" y="5331957"/>
            <a:ext cx="916215" cy="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B9EACB94-5304-8697-C8F6-A63CB9C07DAE}"/>
              </a:ext>
            </a:extLst>
          </p:cNvPr>
          <p:cNvSpPr txBox="1"/>
          <p:nvPr/>
        </p:nvSpPr>
        <p:spPr>
          <a:xfrm>
            <a:off x="6916699" y="4850047"/>
            <a:ext cx="1896291" cy="338554"/>
          </a:xfrm>
          <a:prstGeom prst="rect">
            <a:avLst/>
          </a:prstGeom>
          <a:noFill/>
        </p:spPr>
        <p:txBody>
          <a:bodyPr wrap="square" rtlCol="0">
            <a:spAutoFit/>
          </a:bodyPr>
          <a:lstStyle/>
          <a:p>
            <a:r>
              <a:rPr lang="en-US" sz="1600">
                <a:latin typeface="Calibri (Body)"/>
              </a:rPr>
              <a:t>Reoptimize</a:t>
            </a:r>
            <a:endParaRPr lang="vi-VN" sz="1600">
              <a:latin typeface="Calibri (Body)"/>
            </a:endParaRPr>
          </a:p>
        </p:txBody>
      </p:sp>
      <mc:AlternateContent xmlns:mc="http://schemas.openxmlformats.org/markup-compatibility/2006">
        <mc:Choice xmlns:a14="http://schemas.microsoft.com/office/drawing/2010/main" Requires="a14">
          <p:sp>
            <p:nvSpPr>
              <p:cNvPr id="96" name="TextBox 95">
                <a:extLst>
                  <a:ext uri="{FF2B5EF4-FFF2-40B4-BE49-F238E27FC236}">
                    <a16:creationId xmlns:a16="http://schemas.microsoft.com/office/drawing/2014/main" id="{DEAC5267-06F3-706E-DE1F-EC91B0FCD9B0}"/>
                  </a:ext>
                </a:extLst>
              </p:cNvPr>
              <p:cNvSpPr txBox="1"/>
              <p:nvPr/>
            </p:nvSpPr>
            <p:spPr>
              <a:xfrm>
                <a:off x="5583442" y="5097378"/>
                <a:ext cx="151705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𝐸</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𝐸</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m:t>
                      </m:r>
                    </m:oMath>
                  </m:oMathPara>
                </a14:m>
                <a:endParaRPr lang="vi-VN" sz="2400">
                  <a:solidFill>
                    <a:srgbClr val="FF0000"/>
                  </a:solidFill>
                  <a:latin typeface="Calibri (Body)"/>
                </a:endParaRPr>
              </a:p>
            </p:txBody>
          </p:sp>
        </mc:Choice>
        <mc:Fallback>
          <p:sp>
            <p:nvSpPr>
              <p:cNvPr id="96" name="TextBox 95">
                <a:extLst>
                  <a:ext uri="{FF2B5EF4-FFF2-40B4-BE49-F238E27FC236}">
                    <a16:creationId xmlns:a16="http://schemas.microsoft.com/office/drawing/2014/main" id="{DEAC5267-06F3-706E-DE1F-EC91B0FCD9B0}"/>
                  </a:ext>
                </a:extLst>
              </p:cNvPr>
              <p:cNvSpPr txBox="1">
                <a:spLocks noRot="1" noChangeAspect="1" noMove="1" noResize="1" noEditPoints="1" noAdjustHandles="1" noChangeArrowheads="1" noChangeShapeType="1" noTextEdit="1"/>
              </p:cNvSpPr>
              <p:nvPr/>
            </p:nvSpPr>
            <p:spPr>
              <a:xfrm>
                <a:off x="5583442" y="5097378"/>
                <a:ext cx="1517055" cy="461665"/>
              </a:xfrm>
              <a:prstGeom prst="rect">
                <a:avLst/>
              </a:prstGeom>
              <a:blipFill>
                <a:blip r:embed="rId17"/>
                <a:stretch>
                  <a:fillRect b="-2703"/>
                </a:stretch>
              </a:blipFill>
            </p:spPr>
            <p:txBody>
              <a:bodyPr/>
              <a:lstStyle/>
              <a:p>
                <a:r>
                  <a:rPr lang="en-VN">
                    <a:noFill/>
                  </a:rPr>
                  <a:t> </a:t>
                </a:r>
              </a:p>
            </p:txBody>
          </p:sp>
        </mc:Fallback>
      </mc:AlternateContent>
      <p:cxnSp>
        <p:nvCxnSpPr>
          <p:cNvPr id="101" name="Straight Arrow Connector 100">
            <a:extLst>
              <a:ext uri="{FF2B5EF4-FFF2-40B4-BE49-F238E27FC236}">
                <a16:creationId xmlns:a16="http://schemas.microsoft.com/office/drawing/2014/main" id="{88CAE8A1-2438-1E59-8A49-CEDD0D91D828}"/>
              </a:ext>
            </a:extLst>
          </p:cNvPr>
          <p:cNvCxnSpPr>
            <a:cxnSpLocks/>
          </p:cNvCxnSpPr>
          <p:nvPr/>
        </p:nvCxnSpPr>
        <p:spPr>
          <a:xfrm>
            <a:off x="8860508" y="2655241"/>
            <a:ext cx="1" cy="10189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05" name="TextBox 104">
                <a:extLst>
                  <a:ext uri="{FF2B5EF4-FFF2-40B4-BE49-F238E27FC236}">
                    <a16:creationId xmlns:a16="http://schemas.microsoft.com/office/drawing/2014/main" id="{F9124A79-AFDF-115C-7F64-B4BFD3145533}"/>
                  </a:ext>
                </a:extLst>
              </p:cNvPr>
              <p:cNvSpPr txBox="1"/>
              <p:nvPr/>
            </p:nvSpPr>
            <p:spPr>
              <a:xfrm>
                <a:off x="4941399" y="5687158"/>
                <a:ext cx="1896291" cy="338554"/>
              </a:xfrm>
              <a:prstGeom prst="rect">
                <a:avLst/>
              </a:prstGeom>
              <a:noFill/>
            </p:spPr>
            <p:txBody>
              <a:bodyPr wrap="square" rtlCol="0">
                <a:spAutoFit/>
              </a:bodyPr>
              <a:lstStyle/>
              <a:p>
                <a:r>
                  <a:rPr lang="en-US" sz="1600">
                    <a:solidFill>
                      <a:srgbClr val="00B050"/>
                    </a:solidFill>
                    <a:latin typeface="Calibri (Body)"/>
                  </a:rPr>
                  <a:t>True </a:t>
                </a:r>
                <a14:m>
                  <m:oMath xmlns:m="http://schemas.openxmlformats.org/officeDocument/2006/math">
                    <m:r>
                      <a:rPr lang="en-US" sz="1600" i="1">
                        <a:solidFill>
                          <a:srgbClr val="00B050"/>
                        </a:solidFill>
                        <a:latin typeface="Cambria Math" panose="02040503050406030204" pitchFamily="18" charset="0"/>
                      </a:rPr>
                      <m:t>→</m:t>
                    </m:r>
                  </m:oMath>
                </a14:m>
                <a:r>
                  <a:rPr lang="en-US" sz="1600">
                    <a:solidFill>
                      <a:srgbClr val="00B050"/>
                    </a:solidFill>
                    <a:latin typeface="Calibri (Body)"/>
                  </a:rPr>
                  <a:t> Done</a:t>
                </a:r>
                <a:endParaRPr lang="vi-VN" sz="1600">
                  <a:solidFill>
                    <a:srgbClr val="00B050"/>
                  </a:solidFill>
                  <a:latin typeface="Calibri (Body)"/>
                </a:endParaRPr>
              </a:p>
            </p:txBody>
          </p:sp>
        </mc:Choice>
        <mc:Fallback>
          <p:sp>
            <p:nvSpPr>
              <p:cNvPr id="105" name="TextBox 104">
                <a:extLst>
                  <a:ext uri="{FF2B5EF4-FFF2-40B4-BE49-F238E27FC236}">
                    <a16:creationId xmlns:a16="http://schemas.microsoft.com/office/drawing/2014/main" id="{F9124A79-AFDF-115C-7F64-B4BFD3145533}"/>
                  </a:ext>
                </a:extLst>
              </p:cNvPr>
              <p:cNvSpPr txBox="1">
                <a:spLocks noRot="1" noChangeAspect="1" noMove="1" noResize="1" noEditPoints="1" noAdjustHandles="1" noChangeArrowheads="1" noChangeShapeType="1" noTextEdit="1"/>
              </p:cNvSpPr>
              <p:nvPr/>
            </p:nvSpPr>
            <p:spPr>
              <a:xfrm>
                <a:off x="4941399" y="5687158"/>
                <a:ext cx="1896291" cy="338554"/>
              </a:xfrm>
              <a:prstGeom prst="rect">
                <a:avLst/>
              </a:prstGeom>
              <a:blipFill>
                <a:blip r:embed="rId18"/>
                <a:stretch>
                  <a:fillRect l="-2000" t="-3571" b="-21429"/>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07" name="TextBox 106">
                <a:extLst>
                  <a:ext uri="{FF2B5EF4-FFF2-40B4-BE49-F238E27FC236}">
                    <a16:creationId xmlns:a16="http://schemas.microsoft.com/office/drawing/2014/main" id="{39B0B4DF-0413-63AF-BBC5-E0FB0C6E1D5E}"/>
                  </a:ext>
                </a:extLst>
              </p:cNvPr>
              <p:cNvSpPr txBox="1"/>
              <p:nvPr/>
            </p:nvSpPr>
            <p:spPr>
              <a:xfrm>
                <a:off x="8350122" y="2076117"/>
                <a:ext cx="1020769" cy="5073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vi-VN" sz="2400" i="1">
                                      <a:latin typeface="Cambria Math" panose="02040503050406030204" pitchFamily="18" charset="0"/>
                                    </a:rPr>
                                    <m:t>𝐴</m:t>
                                  </m:r>
                                </m:e>
                              </m:acc>
                            </m:e>
                            <m:sub>
                              <m:r>
                                <a:rPr lang="en-US" sz="2400" i="1">
                                  <a:latin typeface="Cambria Math" panose="02040503050406030204" pitchFamily="18" charset="0"/>
                                </a:rPr>
                                <m:t>𝑚</m:t>
                              </m:r>
                            </m:sub>
                          </m:sSub>
                        </m:e>
                      </m:d>
                    </m:oMath>
                  </m:oMathPara>
                </a14:m>
                <a:endParaRPr lang="vi-VN" sz="2400"/>
              </a:p>
            </p:txBody>
          </p:sp>
        </mc:Choice>
        <mc:Fallback>
          <p:sp>
            <p:nvSpPr>
              <p:cNvPr id="107" name="TextBox 106">
                <a:extLst>
                  <a:ext uri="{FF2B5EF4-FFF2-40B4-BE49-F238E27FC236}">
                    <a16:creationId xmlns:a16="http://schemas.microsoft.com/office/drawing/2014/main" id="{39B0B4DF-0413-63AF-BBC5-E0FB0C6E1D5E}"/>
                  </a:ext>
                </a:extLst>
              </p:cNvPr>
              <p:cNvSpPr txBox="1">
                <a:spLocks noRot="1" noChangeAspect="1" noMove="1" noResize="1" noEditPoints="1" noAdjustHandles="1" noChangeArrowheads="1" noChangeShapeType="1" noTextEdit="1"/>
              </p:cNvSpPr>
              <p:nvPr/>
            </p:nvSpPr>
            <p:spPr>
              <a:xfrm>
                <a:off x="8350122" y="2076117"/>
                <a:ext cx="1020769" cy="507383"/>
              </a:xfrm>
              <a:prstGeom prst="rect">
                <a:avLst/>
              </a:prstGeom>
              <a:blipFill>
                <a:blip r:embed="rId19"/>
                <a:stretch>
                  <a:fillRect t="-487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11" name="TextBox 110">
                <a:extLst>
                  <a:ext uri="{FF2B5EF4-FFF2-40B4-BE49-F238E27FC236}">
                    <a16:creationId xmlns:a16="http://schemas.microsoft.com/office/drawing/2014/main" id="{1701EE1A-B15B-5BC6-7F83-425A176C7E1B}"/>
                  </a:ext>
                </a:extLst>
              </p:cNvPr>
              <p:cNvSpPr txBox="1"/>
              <p:nvPr/>
            </p:nvSpPr>
            <p:spPr>
              <a:xfrm>
                <a:off x="6178983" y="2707699"/>
                <a:ext cx="2795245" cy="338554"/>
              </a:xfrm>
              <a:prstGeom prst="rect">
                <a:avLst/>
              </a:prstGeom>
              <a:noFill/>
            </p:spPr>
            <p:txBody>
              <a:bodyPr wrap="square" rtlCol="0">
                <a:spAutoFit/>
              </a:bodyPr>
              <a:lstStyle/>
              <a:p>
                <a:r>
                  <a:rPr lang="en-US" sz="1600">
                    <a:solidFill>
                      <a:srgbClr val="FF0000"/>
                    </a:solidFill>
                    <a:latin typeface="Calibri (Body)"/>
                  </a:rPr>
                  <a:t>False </a:t>
                </a:r>
                <a14:m>
                  <m:oMath xmlns:m="http://schemas.openxmlformats.org/officeDocument/2006/math">
                    <m:r>
                      <a:rPr lang="en-US" sz="1600" i="1">
                        <a:solidFill>
                          <a:srgbClr val="FF0000"/>
                        </a:solidFill>
                        <a:latin typeface="Cambria Math" panose="02040503050406030204" pitchFamily="18" charset="0"/>
                      </a:rPr>
                      <m:t>→</m:t>
                    </m:r>
                  </m:oMath>
                </a14:m>
                <a:r>
                  <a:rPr lang="en-US" sz="1600">
                    <a:solidFill>
                      <a:srgbClr val="FF0000"/>
                    </a:solidFill>
                    <a:latin typeface="Calibri (Body)"/>
                  </a:rPr>
                  <a:t> Add more operator</a:t>
                </a:r>
                <a:endParaRPr lang="vi-VN" sz="1600">
                  <a:solidFill>
                    <a:srgbClr val="FF0000"/>
                  </a:solidFill>
                  <a:latin typeface="Calibri (Body)"/>
                </a:endParaRPr>
              </a:p>
            </p:txBody>
          </p:sp>
        </mc:Choice>
        <mc:Fallback>
          <p:sp>
            <p:nvSpPr>
              <p:cNvPr id="111" name="TextBox 110">
                <a:extLst>
                  <a:ext uri="{FF2B5EF4-FFF2-40B4-BE49-F238E27FC236}">
                    <a16:creationId xmlns:a16="http://schemas.microsoft.com/office/drawing/2014/main" id="{1701EE1A-B15B-5BC6-7F83-425A176C7E1B}"/>
                  </a:ext>
                </a:extLst>
              </p:cNvPr>
              <p:cNvSpPr txBox="1">
                <a:spLocks noRot="1" noChangeAspect="1" noMove="1" noResize="1" noEditPoints="1" noAdjustHandles="1" noChangeArrowheads="1" noChangeShapeType="1" noTextEdit="1"/>
              </p:cNvSpPr>
              <p:nvPr/>
            </p:nvSpPr>
            <p:spPr>
              <a:xfrm>
                <a:off x="6178983" y="2707699"/>
                <a:ext cx="2795245" cy="338554"/>
              </a:xfrm>
              <a:prstGeom prst="rect">
                <a:avLst/>
              </a:prstGeom>
              <a:blipFill>
                <a:blip r:embed="rId20"/>
                <a:stretch>
                  <a:fillRect l="-1357" t="-7143" b="-17857"/>
                </a:stretch>
              </a:blipFill>
            </p:spPr>
            <p:txBody>
              <a:bodyPr/>
              <a:lstStyle/>
              <a:p>
                <a:r>
                  <a:rPr lang="en-VN">
                    <a:noFill/>
                  </a:rPr>
                  <a:t> </a:t>
                </a:r>
              </a:p>
            </p:txBody>
          </p:sp>
        </mc:Fallback>
      </mc:AlternateContent>
      <p:cxnSp>
        <p:nvCxnSpPr>
          <p:cNvPr id="113" name="Connector: Elbow 112">
            <a:extLst>
              <a:ext uri="{FF2B5EF4-FFF2-40B4-BE49-F238E27FC236}">
                <a16:creationId xmlns:a16="http://schemas.microsoft.com/office/drawing/2014/main" id="{D2A6CD00-7B27-E229-499B-AD9F6E1CDEF0}"/>
              </a:ext>
            </a:extLst>
          </p:cNvPr>
          <p:cNvCxnSpPr>
            <a:stCxn id="96" idx="0"/>
          </p:cNvCxnSpPr>
          <p:nvPr/>
        </p:nvCxnSpPr>
        <p:spPr>
          <a:xfrm rot="5400000" flipH="1" flipV="1">
            <a:off x="6495353" y="2931915"/>
            <a:ext cx="2012081" cy="2318847"/>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p:cxnSp>
        <p:nvCxnSpPr>
          <p:cNvPr id="114" name="Connector: Elbow 113">
            <a:extLst>
              <a:ext uri="{FF2B5EF4-FFF2-40B4-BE49-F238E27FC236}">
                <a16:creationId xmlns:a16="http://schemas.microsoft.com/office/drawing/2014/main" id="{50203FCE-0F2E-1460-D0CF-B79B8D66CBC5}"/>
              </a:ext>
            </a:extLst>
          </p:cNvPr>
          <p:cNvCxnSpPr>
            <a:cxnSpLocks/>
            <a:stCxn id="96" idx="2"/>
          </p:cNvCxnSpPr>
          <p:nvPr/>
        </p:nvCxnSpPr>
        <p:spPr>
          <a:xfrm rot="5400000">
            <a:off x="4858113" y="4572634"/>
            <a:ext cx="497448" cy="2470267"/>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p:sp>
        <p:nvSpPr>
          <p:cNvPr id="117" name="Rectangle 116">
            <a:extLst>
              <a:ext uri="{FF2B5EF4-FFF2-40B4-BE49-F238E27FC236}">
                <a16:creationId xmlns:a16="http://schemas.microsoft.com/office/drawing/2014/main" id="{C744486C-D9FC-E201-4471-630ECF349D48}"/>
              </a:ext>
            </a:extLst>
          </p:cNvPr>
          <p:cNvSpPr/>
          <p:nvPr/>
        </p:nvSpPr>
        <p:spPr>
          <a:xfrm>
            <a:off x="4764659" y="2031256"/>
            <a:ext cx="6141363" cy="4204541"/>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p:cxnSp>
        <p:nvCxnSpPr>
          <p:cNvPr id="119" name="Straight Connector 118">
            <a:extLst>
              <a:ext uri="{FF2B5EF4-FFF2-40B4-BE49-F238E27FC236}">
                <a16:creationId xmlns:a16="http://schemas.microsoft.com/office/drawing/2014/main" id="{624B7ADC-C080-A929-610E-0F7FFC2E2A68}"/>
              </a:ext>
            </a:extLst>
          </p:cNvPr>
          <p:cNvCxnSpPr>
            <a:cxnSpLocks/>
          </p:cNvCxnSpPr>
          <p:nvPr/>
        </p:nvCxnSpPr>
        <p:spPr>
          <a:xfrm flipV="1">
            <a:off x="3396966" y="2031256"/>
            <a:ext cx="1367693" cy="1770064"/>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723F2227-3FA8-132A-D5B1-7F3533CF4509}"/>
              </a:ext>
            </a:extLst>
          </p:cNvPr>
          <p:cNvSpPr txBox="1"/>
          <p:nvPr/>
        </p:nvSpPr>
        <p:spPr>
          <a:xfrm>
            <a:off x="1699098" y="3801321"/>
            <a:ext cx="1697868" cy="461665"/>
          </a:xfrm>
          <a:prstGeom prst="rect">
            <a:avLst/>
          </a:prstGeom>
          <a:solidFill>
            <a:schemeClr val="bg1"/>
          </a:solidFill>
          <a:ln>
            <a:solidFill>
              <a:schemeClr val="tx1"/>
            </a:solidFill>
          </a:ln>
        </p:spPr>
        <p:txBody>
          <a:bodyPr wrap="square" rtlCol="0">
            <a:spAutoFit/>
          </a:bodyPr>
          <a:lstStyle/>
          <a:p>
            <a:pPr algn="ctr"/>
            <a:r>
              <a:rPr lang="en-US" sz="2400">
                <a:solidFill>
                  <a:srgbClr val="FF0000"/>
                </a:solidFill>
                <a:latin typeface="Calibri (Body)"/>
              </a:rPr>
              <a:t>AdaptVQE</a:t>
            </a:r>
            <a:endParaRPr lang="vi-VN" sz="2400">
              <a:solidFill>
                <a:srgbClr val="FF0000"/>
              </a:solidFill>
              <a:latin typeface="Calibri (Body)"/>
            </a:endParaRPr>
          </a:p>
        </p:txBody>
      </p:sp>
      <p:sp>
        <p:nvSpPr>
          <p:cNvPr id="132" name="TextBox 131">
            <a:extLst>
              <a:ext uri="{FF2B5EF4-FFF2-40B4-BE49-F238E27FC236}">
                <a16:creationId xmlns:a16="http://schemas.microsoft.com/office/drawing/2014/main" id="{1E2C6B06-97D3-77BB-DF21-C2DB54840F97}"/>
              </a:ext>
            </a:extLst>
          </p:cNvPr>
          <p:cNvSpPr txBox="1"/>
          <p:nvPr/>
        </p:nvSpPr>
        <p:spPr>
          <a:xfrm>
            <a:off x="849488" y="6309124"/>
            <a:ext cx="10056533" cy="502573"/>
          </a:xfrm>
          <a:prstGeom prst="rect">
            <a:avLst/>
          </a:prstGeom>
          <a:noFill/>
        </p:spPr>
        <p:txBody>
          <a:bodyPr wrap="square">
            <a:spAutoFit/>
          </a:bodyPr>
          <a:lstStyle/>
          <a:p>
            <a:r>
              <a:rPr lang="en-US" sz="1333" b="1">
                <a:solidFill>
                  <a:srgbClr val="222222"/>
                </a:solidFill>
              </a:rPr>
              <a:t>[1.32]</a:t>
            </a:r>
            <a:r>
              <a:rPr lang="en-US" sz="1333">
                <a:solidFill>
                  <a:srgbClr val="222222"/>
                </a:solidFill>
              </a:rPr>
              <a:t> </a:t>
            </a:r>
            <a:r>
              <a:rPr lang="vi-VN" sz="1333">
                <a:solidFill>
                  <a:srgbClr val="222222"/>
                </a:solidFill>
              </a:rPr>
              <a:t>Grimsley, H. R., Economou, S. E., Barnes, E., &amp; Mayhall, N. J. (2019). An adaptive variational algorithm for exact molecular simulations on a quantum computer. </a:t>
            </a:r>
            <a:r>
              <a:rPr lang="vi-VN" sz="1333" i="1">
                <a:solidFill>
                  <a:srgbClr val="222222"/>
                </a:solidFill>
              </a:rPr>
              <a:t>Nature communications</a:t>
            </a:r>
            <a:r>
              <a:rPr lang="vi-VN" sz="1333">
                <a:solidFill>
                  <a:srgbClr val="222222"/>
                </a:solidFill>
              </a:rPr>
              <a:t>, </a:t>
            </a:r>
            <a:r>
              <a:rPr lang="vi-VN" sz="1333" i="1">
                <a:solidFill>
                  <a:srgbClr val="222222"/>
                </a:solidFill>
              </a:rPr>
              <a:t>10</a:t>
            </a:r>
            <a:r>
              <a:rPr lang="vi-VN" sz="1333">
                <a:solidFill>
                  <a:srgbClr val="222222"/>
                </a:solidFill>
              </a:rPr>
              <a:t>(1), 3007.</a:t>
            </a:r>
            <a:endParaRPr lang="vi-VN" sz="1333"/>
          </a:p>
        </p:txBody>
      </p:sp>
    </p:spTree>
    <p:extLst>
      <p:ext uri="{BB962C8B-B14F-4D97-AF65-F5344CB8AC3E}">
        <p14:creationId xmlns:p14="http://schemas.microsoft.com/office/powerpoint/2010/main" val="2209560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1C996-B951-FE32-99A5-431F469D45B5}"/>
              </a:ext>
            </a:extLst>
          </p:cNvPr>
          <p:cNvSpPr>
            <a:spLocks noGrp="1"/>
          </p:cNvSpPr>
          <p:nvPr>
            <p:ph type="title"/>
          </p:nvPr>
        </p:nvSpPr>
        <p:spPr/>
        <p:txBody>
          <a:bodyPr>
            <a:normAutofit/>
          </a:bodyPr>
          <a:lstStyle/>
          <a:p>
            <a:r>
              <a:rPr lang="en-US"/>
              <a:t>1.6.2</a:t>
            </a:r>
            <a:r>
              <a:rPr lang="en-VN"/>
              <a:t>. </a:t>
            </a:r>
            <a:r>
              <a:rPr lang="en-US"/>
              <a:t>Quantum optimization</a:t>
            </a:r>
            <a:br>
              <a:rPr lang="en-US"/>
            </a:br>
            <a:r>
              <a:rPr lang="pt-BR" sz="2667"/>
              <a:t>Quantum Approximate Optimization Algorithm (QAOA)</a:t>
            </a:r>
            <a:endParaRPr lang="vi-VN" sz="2667"/>
          </a:p>
        </p:txBody>
      </p:sp>
      <p:sp>
        <p:nvSpPr>
          <p:cNvPr id="4" name="Slide Number Placeholder 3">
            <a:extLst>
              <a:ext uri="{FF2B5EF4-FFF2-40B4-BE49-F238E27FC236}">
                <a16:creationId xmlns:a16="http://schemas.microsoft.com/office/drawing/2014/main" id="{093703F6-E00B-6E81-CBF4-79BB7682401E}"/>
              </a:ext>
            </a:extLst>
          </p:cNvPr>
          <p:cNvSpPr>
            <a:spLocks noGrp="1"/>
          </p:cNvSpPr>
          <p:nvPr>
            <p:ph type="sldNum" sz="quarter" idx="12"/>
          </p:nvPr>
        </p:nvSpPr>
        <p:spPr/>
        <p:txBody>
          <a:bodyPr/>
          <a:lstStyle/>
          <a:p>
            <a:fld id="{6A45828D-F580-42DE-B77E-860980F07F32}" type="slidenum">
              <a:rPr lang="vi-VN" smtClean="0"/>
              <a:t>13</a:t>
            </a:fld>
            <a:endParaRPr lang="vi-VN"/>
          </a:p>
        </p:txBody>
      </p:sp>
      <p:sp>
        <p:nvSpPr>
          <p:cNvPr id="30" name="Rectangle 29">
            <a:extLst>
              <a:ext uri="{FF2B5EF4-FFF2-40B4-BE49-F238E27FC236}">
                <a16:creationId xmlns:a16="http://schemas.microsoft.com/office/drawing/2014/main" id="{2EADE7BD-A172-6706-59CE-85BEEA2A1F1C}"/>
              </a:ext>
            </a:extLst>
          </p:cNvPr>
          <p:cNvSpPr/>
          <p:nvPr/>
        </p:nvSpPr>
        <p:spPr>
          <a:xfrm rot="16200000">
            <a:off x="101506" y="2825384"/>
            <a:ext cx="2697484" cy="46236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Quantum state preparation</a:t>
            </a:r>
            <a:endParaRPr sz="1600">
              <a:solidFill>
                <a:schemeClr val="tx1"/>
              </a:solidFill>
            </a:endParaRPr>
          </a:p>
        </p:txBody>
      </p:sp>
      <p:sp>
        <p:nvSpPr>
          <p:cNvPr id="47" name="TextBox 46">
            <a:extLst>
              <a:ext uri="{FF2B5EF4-FFF2-40B4-BE49-F238E27FC236}">
                <a16:creationId xmlns:a16="http://schemas.microsoft.com/office/drawing/2014/main" id="{59946A96-8842-4A41-E13D-004615ECCB9B}"/>
              </a:ext>
            </a:extLst>
          </p:cNvPr>
          <p:cNvSpPr txBox="1"/>
          <p:nvPr/>
        </p:nvSpPr>
        <p:spPr>
          <a:xfrm>
            <a:off x="2042583" y="4161233"/>
            <a:ext cx="3510352" cy="338554"/>
          </a:xfrm>
          <a:prstGeom prst="rect">
            <a:avLst/>
          </a:prstGeom>
          <a:noFill/>
        </p:spPr>
        <p:txBody>
          <a:bodyPr wrap="square" rtlCol="0">
            <a:spAutoFit/>
          </a:bodyPr>
          <a:lstStyle/>
          <a:p>
            <a:r>
              <a:rPr lang="en-US" sz="1600">
                <a:solidFill>
                  <a:srgbClr val="FF0000"/>
                </a:solidFill>
              </a:rPr>
              <a:t>Implemented by quantum gates</a:t>
            </a:r>
            <a:endParaRPr lang="vi-VN" sz="1600" b="1">
              <a:solidFill>
                <a:srgbClr val="FF0000"/>
              </a:solidFill>
            </a:endParaRPr>
          </a:p>
        </p:txBody>
      </p:sp>
      <p:sp>
        <p:nvSpPr>
          <p:cNvPr id="57" name="TextBox 56">
            <a:extLst>
              <a:ext uri="{FF2B5EF4-FFF2-40B4-BE49-F238E27FC236}">
                <a16:creationId xmlns:a16="http://schemas.microsoft.com/office/drawing/2014/main" id="{7263D2D7-15DC-8D89-856F-3E755896BA6D}"/>
              </a:ext>
            </a:extLst>
          </p:cNvPr>
          <p:cNvSpPr txBox="1"/>
          <p:nvPr/>
        </p:nvSpPr>
        <p:spPr>
          <a:xfrm>
            <a:off x="838200" y="6374766"/>
            <a:ext cx="8283221" cy="297454"/>
          </a:xfrm>
          <a:prstGeom prst="rect">
            <a:avLst/>
          </a:prstGeom>
          <a:noFill/>
        </p:spPr>
        <p:txBody>
          <a:bodyPr wrap="square">
            <a:spAutoFit/>
          </a:bodyPr>
          <a:lstStyle/>
          <a:p>
            <a:r>
              <a:rPr lang="en-US" sz="1333" b="1"/>
              <a:t>[1.33] </a:t>
            </a:r>
            <a:r>
              <a:rPr lang="vi-VN" sz="1333"/>
              <a:t>https://pennylane.ai/qml/demos/tutorial_</a:t>
            </a:r>
            <a:r>
              <a:rPr lang="en-US" sz="1333"/>
              <a:t>qaoa</a:t>
            </a:r>
            <a:r>
              <a:rPr lang="vi-VN" sz="1333"/>
              <a:t>_intro</a:t>
            </a:r>
          </a:p>
        </p:txBody>
      </p:sp>
      <p:cxnSp>
        <p:nvCxnSpPr>
          <p:cNvPr id="40" name="Straight Arrow Connector 39">
            <a:extLst>
              <a:ext uri="{FF2B5EF4-FFF2-40B4-BE49-F238E27FC236}">
                <a16:creationId xmlns:a16="http://schemas.microsoft.com/office/drawing/2014/main" id="{F9E16480-0A4D-56FC-24A8-F15DB21326FB}"/>
              </a:ext>
            </a:extLst>
          </p:cNvPr>
          <p:cNvCxnSpPr>
            <a:cxnSpLocks/>
            <a:stCxn id="9236" idx="2"/>
            <a:endCxn id="47" idx="0"/>
          </p:cNvCxnSpPr>
          <p:nvPr/>
        </p:nvCxnSpPr>
        <p:spPr>
          <a:xfrm flipH="1">
            <a:off x="3797759" y="3446940"/>
            <a:ext cx="715552" cy="71429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3278FD7-8FF0-43EC-D62D-29280B4D7F8D}"/>
              </a:ext>
            </a:extLst>
          </p:cNvPr>
          <p:cNvCxnSpPr>
            <a:cxnSpLocks/>
            <a:stCxn id="9232" idx="2"/>
            <a:endCxn id="47" idx="0"/>
          </p:cNvCxnSpPr>
          <p:nvPr/>
        </p:nvCxnSpPr>
        <p:spPr>
          <a:xfrm>
            <a:off x="3020271" y="3441296"/>
            <a:ext cx="777488" cy="7199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81F14697-A506-7D92-8FC9-96F800647986}"/>
              </a:ext>
            </a:extLst>
          </p:cNvPr>
          <p:cNvSpPr/>
          <p:nvPr/>
        </p:nvSpPr>
        <p:spPr>
          <a:xfrm>
            <a:off x="2250227" y="2376311"/>
            <a:ext cx="3095064" cy="131663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04A3AE7F-C002-2A56-D999-20BB9AC46A03}"/>
                  </a:ext>
                </a:extLst>
              </p:cNvPr>
              <p:cNvSpPr txBox="1"/>
              <p:nvPr/>
            </p:nvSpPr>
            <p:spPr>
              <a:xfrm>
                <a:off x="3353510" y="1911921"/>
                <a:ext cx="103727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𝛾</m:t>
                          </m:r>
                          <m:r>
                            <a:rPr lang="en-US" sz="2400" i="1">
                              <a:latin typeface="Cambria Math" panose="02040503050406030204" pitchFamily="18" charset="0"/>
                            </a:rPr>
                            <m:t>,</m:t>
                          </m:r>
                          <m:r>
                            <a:rPr lang="en-US" sz="2400" i="1">
                              <a:latin typeface="Cambria Math" panose="02040503050406030204" pitchFamily="18" charset="0"/>
                            </a:rPr>
                            <m:t>𝛽</m:t>
                          </m:r>
                        </m:e>
                      </m:d>
                    </m:oMath>
                  </m:oMathPara>
                </a14:m>
                <a:endParaRPr lang="vi-VN" sz="2400"/>
              </a:p>
            </p:txBody>
          </p:sp>
        </mc:Choice>
        <mc:Fallback>
          <p:sp>
            <p:nvSpPr>
              <p:cNvPr id="53" name="TextBox 52">
                <a:extLst>
                  <a:ext uri="{FF2B5EF4-FFF2-40B4-BE49-F238E27FC236}">
                    <a16:creationId xmlns:a16="http://schemas.microsoft.com/office/drawing/2014/main" id="{04A3AE7F-C002-2A56-D999-20BB9AC46A03}"/>
                  </a:ext>
                </a:extLst>
              </p:cNvPr>
              <p:cNvSpPr txBox="1">
                <a:spLocks noRot="1" noChangeAspect="1" noMove="1" noResize="1" noEditPoints="1" noAdjustHandles="1" noChangeArrowheads="1" noChangeShapeType="1" noTextEdit="1"/>
              </p:cNvSpPr>
              <p:nvPr/>
            </p:nvSpPr>
            <p:spPr>
              <a:xfrm>
                <a:off x="3353510" y="1911921"/>
                <a:ext cx="1037271" cy="369332"/>
              </a:xfrm>
              <a:prstGeom prst="rect">
                <a:avLst/>
              </a:prstGeom>
              <a:blipFill>
                <a:blip r:embed="rId2"/>
                <a:stretch>
                  <a:fillRect l="-6098" b="-3333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4A4217CA-2038-99EF-5790-C3A581572F77}"/>
                  </a:ext>
                </a:extLst>
              </p:cNvPr>
              <p:cNvSpPr txBox="1"/>
              <p:nvPr/>
            </p:nvSpPr>
            <p:spPr>
              <a:xfrm>
                <a:off x="6388098" y="2876224"/>
                <a:ext cx="2893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𝐸</m:t>
                      </m:r>
                    </m:oMath>
                  </m:oMathPara>
                </a14:m>
                <a:endParaRPr lang="vi-VN" sz="2400" i="1"/>
              </a:p>
            </p:txBody>
          </p:sp>
        </mc:Choice>
        <mc:Fallback>
          <p:sp>
            <p:nvSpPr>
              <p:cNvPr id="62" name="TextBox 61">
                <a:extLst>
                  <a:ext uri="{FF2B5EF4-FFF2-40B4-BE49-F238E27FC236}">
                    <a16:creationId xmlns:a16="http://schemas.microsoft.com/office/drawing/2014/main" id="{4A4217CA-2038-99EF-5790-C3A581572F77}"/>
                  </a:ext>
                </a:extLst>
              </p:cNvPr>
              <p:cNvSpPr txBox="1">
                <a:spLocks noRot="1" noChangeAspect="1" noMove="1" noResize="1" noEditPoints="1" noAdjustHandles="1" noChangeArrowheads="1" noChangeShapeType="1" noTextEdit="1"/>
              </p:cNvSpPr>
              <p:nvPr/>
            </p:nvSpPr>
            <p:spPr>
              <a:xfrm>
                <a:off x="6388098" y="2876224"/>
                <a:ext cx="289374" cy="369332"/>
              </a:xfrm>
              <a:prstGeom prst="rect">
                <a:avLst/>
              </a:prstGeom>
              <a:blipFill>
                <a:blip r:embed="rId3"/>
                <a:stretch>
                  <a:fillRect l="-21739" r="-17391" b="-6667"/>
                </a:stretch>
              </a:blipFill>
            </p:spPr>
            <p:txBody>
              <a:bodyPr/>
              <a:lstStyle/>
              <a:p>
                <a:r>
                  <a:rPr lang="en-VN">
                    <a:noFill/>
                  </a:rPr>
                  <a:t> </a:t>
                </a:r>
              </a:p>
            </p:txBody>
          </p:sp>
        </mc:Fallback>
      </mc:AlternateContent>
      <p:cxnSp>
        <p:nvCxnSpPr>
          <p:cNvPr id="63" name="Straight Arrow Connector 62">
            <a:extLst>
              <a:ext uri="{FF2B5EF4-FFF2-40B4-BE49-F238E27FC236}">
                <a16:creationId xmlns:a16="http://schemas.microsoft.com/office/drawing/2014/main" id="{EEBE7E4F-3C5D-D6EB-06EB-ECBC76402974}"/>
              </a:ext>
            </a:extLst>
          </p:cNvPr>
          <p:cNvCxnSpPr>
            <a:endCxn id="62" idx="1"/>
          </p:cNvCxnSpPr>
          <p:nvPr/>
        </p:nvCxnSpPr>
        <p:spPr>
          <a:xfrm flipV="1">
            <a:off x="5565967" y="3060890"/>
            <a:ext cx="822131" cy="1"/>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216" name="TextBox 9215">
                <a:extLst>
                  <a:ext uri="{FF2B5EF4-FFF2-40B4-BE49-F238E27FC236}">
                    <a16:creationId xmlns:a16="http://schemas.microsoft.com/office/drawing/2014/main" id="{CA43300D-80B3-1567-4B5E-24A29361547D}"/>
                  </a:ext>
                </a:extLst>
              </p:cNvPr>
              <p:cNvSpPr txBox="1"/>
              <p:nvPr/>
            </p:nvSpPr>
            <p:spPr>
              <a:xfrm>
                <a:off x="7024060" y="2876224"/>
                <a:ext cx="11394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𝐸</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i="1">
                              <a:latin typeface="Cambria Math" panose="02040503050406030204" pitchFamily="18" charset="0"/>
                            </a:rPr>
                            <m:t>0</m:t>
                          </m:r>
                        </m:sub>
                      </m:sSub>
                      <m:r>
                        <a:rPr lang="en-US" sz="2400" i="1">
                          <a:latin typeface="Cambria Math" panose="02040503050406030204" pitchFamily="18" charset="0"/>
                        </a:rPr>
                        <m:t>?</m:t>
                      </m:r>
                    </m:oMath>
                  </m:oMathPara>
                </a14:m>
                <a:endParaRPr lang="vi-VN" sz="2400" i="1"/>
              </a:p>
            </p:txBody>
          </p:sp>
        </mc:Choice>
        <mc:Fallback>
          <p:sp>
            <p:nvSpPr>
              <p:cNvPr id="9216" name="TextBox 9215">
                <a:extLst>
                  <a:ext uri="{FF2B5EF4-FFF2-40B4-BE49-F238E27FC236}">
                    <a16:creationId xmlns:a16="http://schemas.microsoft.com/office/drawing/2014/main" id="{CA43300D-80B3-1567-4B5E-24A29361547D}"/>
                  </a:ext>
                </a:extLst>
              </p:cNvPr>
              <p:cNvSpPr txBox="1">
                <a:spLocks noRot="1" noChangeAspect="1" noMove="1" noResize="1" noEditPoints="1" noAdjustHandles="1" noChangeArrowheads="1" noChangeShapeType="1" noTextEdit="1"/>
              </p:cNvSpPr>
              <p:nvPr/>
            </p:nvSpPr>
            <p:spPr>
              <a:xfrm>
                <a:off x="7024060" y="2876224"/>
                <a:ext cx="1139414" cy="369332"/>
              </a:xfrm>
              <a:prstGeom prst="rect">
                <a:avLst/>
              </a:prstGeom>
              <a:blipFill>
                <a:blip r:embed="rId4"/>
                <a:stretch>
                  <a:fillRect l="-4396" r="-5495" b="-16667"/>
                </a:stretch>
              </a:blipFill>
            </p:spPr>
            <p:txBody>
              <a:bodyPr/>
              <a:lstStyle/>
              <a:p>
                <a:r>
                  <a:rPr lang="en-VN">
                    <a:noFill/>
                  </a:rPr>
                  <a:t> </a:t>
                </a:r>
              </a:p>
            </p:txBody>
          </p:sp>
        </mc:Fallback>
      </mc:AlternateContent>
      <p:cxnSp>
        <p:nvCxnSpPr>
          <p:cNvPr id="9217" name="Straight Arrow Connector 9216">
            <a:extLst>
              <a:ext uri="{FF2B5EF4-FFF2-40B4-BE49-F238E27FC236}">
                <a16:creationId xmlns:a16="http://schemas.microsoft.com/office/drawing/2014/main" id="{F24D2865-EC40-EDF6-5F5B-4DF6ED9B1109}"/>
              </a:ext>
            </a:extLst>
          </p:cNvPr>
          <p:cNvCxnSpPr>
            <a:cxnSpLocks/>
            <a:stCxn id="62" idx="3"/>
            <a:endCxn id="9216" idx="1"/>
          </p:cNvCxnSpPr>
          <p:nvPr/>
        </p:nvCxnSpPr>
        <p:spPr>
          <a:xfrm>
            <a:off x="6677472" y="3060890"/>
            <a:ext cx="346588"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9218" name="Connector: Elbow 9217">
            <a:extLst>
              <a:ext uri="{FF2B5EF4-FFF2-40B4-BE49-F238E27FC236}">
                <a16:creationId xmlns:a16="http://schemas.microsoft.com/office/drawing/2014/main" id="{4B253825-0660-4B9E-9063-75DBB65BB2B7}"/>
              </a:ext>
            </a:extLst>
          </p:cNvPr>
          <p:cNvCxnSpPr>
            <a:cxnSpLocks/>
            <a:stCxn id="9216" idx="2"/>
            <a:endCxn id="51" idx="2"/>
          </p:cNvCxnSpPr>
          <p:nvPr/>
        </p:nvCxnSpPr>
        <p:spPr>
          <a:xfrm rot="5400000">
            <a:off x="5472070" y="1571245"/>
            <a:ext cx="447387" cy="3796008"/>
          </a:xfrm>
          <a:prstGeom prst="bentConnector3">
            <a:avLst>
              <a:gd name="adj1" fmla="val 151097"/>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219" name="TextBox 9218">
                <a:extLst>
                  <a:ext uri="{FF2B5EF4-FFF2-40B4-BE49-F238E27FC236}">
                    <a16:creationId xmlns:a16="http://schemas.microsoft.com/office/drawing/2014/main" id="{829477F4-170E-79B4-100A-2B6CC0D88DA8}"/>
                  </a:ext>
                </a:extLst>
              </p:cNvPr>
              <p:cNvSpPr txBox="1"/>
              <p:nvPr/>
            </p:nvSpPr>
            <p:spPr>
              <a:xfrm>
                <a:off x="5499509" y="3614421"/>
                <a:ext cx="2175859" cy="338554"/>
              </a:xfrm>
              <a:prstGeom prst="rect">
                <a:avLst/>
              </a:prstGeom>
              <a:noFill/>
            </p:spPr>
            <p:txBody>
              <a:bodyPr wrap="square" rtlCol="0">
                <a:spAutoFit/>
              </a:bodyPr>
              <a:lstStyle/>
              <a:p>
                <a:r>
                  <a:rPr lang="en-US" sz="1600">
                    <a:solidFill>
                      <a:srgbClr val="FF0000"/>
                    </a:solidFill>
                  </a:rPr>
                  <a:t>False </a:t>
                </a:r>
                <a14:m>
                  <m:oMath xmlns:m="http://schemas.openxmlformats.org/officeDocument/2006/math">
                    <m:r>
                      <a:rPr lang="en-US" sz="1600" i="1">
                        <a:solidFill>
                          <a:srgbClr val="FF0000"/>
                        </a:solidFill>
                        <a:latin typeface="Cambria Math" panose="02040503050406030204" pitchFamily="18" charset="0"/>
                      </a:rPr>
                      <m:t>→</m:t>
                    </m:r>
                  </m:oMath>
                </a14:m>
                <a:r>
                  <a:rPr lang="en-US" sz="1600">
                    <a:solidFill>
                      <a:srgbClr val="FF0000"/>
                    </a:solidFill>
                  </a:rPr>
                  <a:t> Update </a:t>
                </a:r>
                <a14:m>
                  <m:oMath xmlns:m="http://schemas.openxmlformats.org/officeDocument/2006/math">
                    <m:d>
                      <m:dPr>
                        <m:begChr m:val="{"/>
                        <m:endChr m:val="}"/>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𝛾</m:t>
                        </m:r>
                        <m:r>
                          <a:rPr lang="en-US" sz="1600" i="1">
                            <a:solidFill>
                              <a:srgbClr val="FF0000"/>
                            </a:solidFill>
                            <a:latin typeface="Cambria Math" panose="02040503050406030204" pitchFamily="18" charset="0"/>
                          </a:rPr>
                          <m:t>,</m:t>
                        </m:r>
                        <m:r>
                          <a:rPr lang="en-US" sz="1600" i="1">
                            <a:solidFill>
                              <a:srgbClr val="FF0000"/>
                            </a:solidFill>
                            <a:latin typeface="Cambria Math" panose="02040503050406030204" pitchFamily="18" charset="0"/>
                          </a:rPr>
                          <m:t>𝛽</m:t>
                        </m:r>
                      </m:e>
                    </m:d>
                  </m:oMath>
                </a14:m>
                <a:endParaRPr lang="vi-VN" sz="1600" b="1">
                  <a:solidFill>
                    <a:srgbClr val="FF0000"/>
                  </a:solidFill>
                </a:endParaRPr>
              </a:p>
            </p:txBody>
          </p:sp>
        </mc:Choice>
        <mc:Fallback>
          <p:sp>
            <p:nvSpPr>
              <p:cNvPr id="9219" name="TextBox 9218">
                <a:extLst>
                  <a:ext uri="{FF2B5EF4-FFF2-40B4-BE49-F238E27FC236}">
                    <a16:creationId xmlns:a16="http://schemas.microsoft.com/office/drawing/2014/main" id="{829477F4-170E-79B4-100A-2B6CC0D88DA8}"/>
                  </a:ext>
                </a:extLst>
              </p:cNvPr>
              <p:cNvSpPr txBox="1">
                <a:spLocks noRot="1" noChangeAspect="1" noMove="1" noResize="1" noEditPoints="1" noAdjustHandles="1" noChangeArrowheads="1" noChangeShapeType="1" noTextEdit="1"/>
              </p:cNvSpPr>
              <p:nvPr/>
            </p:nvSpPr>
            <p:spPr>
              <a:xfrm>
                <a:off x="5499509" y="3614421"/>
                <a:ext cx="2175859" cy="338554"/>
              </a:xfrm>
              <a:prstGeom prst="rect">
                <a:avLst/>
              </a:prstGeom>
              <a:blipFill>
                <a:blip r:embed="rId5"/>
                <a:stretch>
                  <a:fillRect l="-1156" t="-3571" b="-17857"/>
                </a:stretch>
              </a:blipFill>
            </p:spPr>
            <p:txBody>
              <a:bodyPr/>
              <a:lstStyle/>
              <a:p>
                <a:r>
                  <a:rPr lang="en-VN">
                    <a:noFill/>
                  </a:rPr>
                  <a:t> </a:t>
                </a:r>
              </a:p>
            </p:txBody>
          </p:sp>
        </mc:Fallback>
      </mc:AlternateContent>
      <p:sp>
        <p:nvSpPr>
          <p:cNvPr id="9222" name="Hình chữ nhật 93">
            <a:extLst>
              <a:ext uri="{FF2B5EF4-FFF2-40B4-BE49-F238E27FC236}">
                <a16:creationId xmlns:a16="http://schemas.microsoft.com/office/drawing/2014/main" id="{637A6F65-303C-7259-6CEF-D3BA16825CBD}"/>
              </a:ext>
            </a:extLst>
          </p:cNvPr>
          <p:cNvSpPr/>
          <p:nvPr/>
        </p:nvSpPr>
        <p:spPr>
          <a:xfrm>
            <a:off x="5589821" y="2851943"/>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9223" name="Arc 9222">
            <a:extLst>
              <a:ext uri="{FF2B5EF4-FFF2-40B4-BE49-F238E27FC236}">
                <a16:creationId xmlns:a16="http://schemas.microsoft.com/office/drawing/2014/main" id="{EF57A02C-D307-8399-B846-58F91212FD82}"/>
              </a:ext>
            </a:extLst>
          </p:cNvPr>
          <p:cNvSpPr/>
          <p:nvPr/>
        </p:nvSpPr>
        <p:spPr>
          <a:xfrm>
            <a:off x="5664083" y="3044743"/>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9224" name="Straight Arrow Connector 9223">
            <a:extLst>
              <a:ext uri="{FF2B5EF4-FFF2-40B4-BE49-F238E27FC236}">
                <a16:creationId xmlns:a16="http://schemas.microsoft.com/office/drawing/2014/main" id="{47D0C9F4-3944-A3BD-AC72-00BD763CD627}"/>
              </a:ext>
            </a:extLst>
          </p:cNvPr>
          <p:cNvCxnSpPr>
            <a:cxnSpLocks/>
          </p:cNvCxnSpPr>
          <p:nvPr/>
        </p:nvCxnSpPr>
        <p:spPr>
          <a:xfrm flipV="1">
            <a:off x="5736371" y="2941238"/>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228" name="TextBox 9227">
                <a:extLst>
                  <a:ext uri="{FF2B5EF4-FFF2-40B4-BE49-F238E27FC236}">
                    <a16:creationId xmlns:a16="http://schemas.microsoft.com/office/drawing/2014/main" id="{C538D9B0-8AC0-E27E-3EBE-4F2FD1F670E9}"/>
                  </a:ext>
                </a:extLst>
              </p:cNvPr>
              <p:cNvSpPr txBox="1"/>
              <p:nvPr/>
            </p:nvSpPr>
            <p:spPr>
              <a:xfrm>
                <a:off x="838200" y="4731812"/>
                <a:ext cx="9096024" cy="1248803"/>
              </a:xfrm>
              <a:prstGeom prst="rect">
                <a:avLst/>
              </a:prstGeom>
              <a:noFill/>
            </p:spPr>
            <p:txBody>
              <a:bodyPr wrap="square">
                <a:spAutoFit/>
              </a:bodyPr>
              <a:lstStyle/>
              <a:p>
                <a:r>
                  <a:rPr lang="en-US" sz="2400">
                    <a:latin typeface="Calibri (Body)"/>
                  </a:rPr>
                  <a:t>1. </a:t>
                </a:r>
                <a:r>
                  <a:rPr lang="vi-VN" sz="2400">
                    <a:latin typeface="Calibri (Body)"/>
                  </a:rPr>
                  <a:t>Problem Definition</a:t>
                </a:r>
                <a:r>
                  <a:rPr lang="en-US" sz="2400">
                    <a:latin typeface="Calibri (Body)"/>
                  </a:rPr>
                  <a:t> (QUBO)</a:t>
                </a:r>
                <a:endParaRPr lang="en-US" sz="2400" i="1">
                  <a:latin typeface="Cambria Math" panose="02040503050406030204" pitchFamily="18" charset="0"/>
                </a:endParaRPr>
              </a:p>
              <a:p>
                <a14:m>
                  <m:oMath xmlns:m="http://schemas.openxmlformats.org/officeDocument/2006/math">
                    <m:r>
                      <a:rPr lang="en-US" sz="2400" i="1">
                        <a:latin typeface="Cambria Math" panose="02040503050406030204" pitchFamily="18" charset="0"/>
                      </a:rPr>
                      <m:t>2</m:t>
                    </m:r>
                    <m:r>
                      <a:rPr lang="en-US" sz="2400" i="1">
                        <a:latin typeface="Cambria Math" panose="02040503050406030204" pitchFamily="18" charset="0"/>
                      </a:rPr>
                      <m:t>. </m:t>
                    </m:r>
                    <m:r>
                      <m:rPr>
                        <m:nor/>
                      </m:rPr>
                      <a:rPr lang="en-US" sz="2400"/>
                      <m:t>Ising</m:t>
                    </m:r>
                    <m:r>
                      <m:rPr>
                        <m:nor/>
                      </m:rPr>
                      <a:rPr lang="en-US" sz="2400"/>
                      <m:t> </m:t>
                    </m:r>
                    <m:r>
                      <m:rPr>
                        <m:nor/>
                      </m:rPr>
                      <a:rPr lang="en-US" sz="2400"/>
                      <m:t>Hamiltonian</m:t>
                    </m:r>
                    <m:r>
                      <m:rPr>
                        <m:nor/>
                      </m:rPr>
                      <a:rPr lang="en-US" sz="2400"/>
                      <m:t>: </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vi-VN" sz="2400" i="1">
                                <a:latin typeface="Cambria Math" panose="02040503050406030204" pitchFamily="18" charset="0"/>
                              </a:rPr>
                              <m:t>​</m:t>
                            </m:r>
                            <m:r>
                              <a:rPr lang="en-US" sz="2400" i="1">
                                <a:latin typeface="Cambria Math" panose="02040503050406030204" pitchFamily="18" charset="0"/>
                              </a:rPr>
                              <m:t>𝐻</m:t>
                            </m:r>
                          </m:e>
                        </m:acc>
                      </m:e>
                      <m:sub>
                        <m:r>
                          <a:rPr lang="en-US" sz="2400" i="1">
                            <a:latin typeface="Cambria Math" panose="02040503050406030204" pitchFamily="18" charset="0"/>
                          </a:rPr>
                          <m:t>𝐼𝑠𝑖𝑛𝑔</m:t>
                        </m:r>
                      </m:sub>
                    </m:sSub>
                    <m:r>
                      <a:rPr lang="vi-VN" sz="2400" i="1">
                        <a:latin typeface="Cambria Math" panose="02040503050406030204" pitchFamily="18" charset="0"/>
                      </a:rPr>
                      <m:t>=−</m:t>
                    </m:r>
                    <m:nary>
                      <m:naryPr>
                        <m:chr m:val="∑"/>
                        <m:supHide m:val="on"/>
                        <m:ctrlPr>
                          <a:rPr lang="vi-VN"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vi-VN" sz="2400" i="1">
                                <a:latin typeface="Cambria Math" panose="02040503050406030204" pitchFamily="18" charset="0"/>
                              </a:rPr>
                              <m:t>𝐽</m:t>
                            </m:r>
                          </m:e>
                          <m:sub>
                            <m:r>
                              <a:rPr lang="vi-VN" sz="2400" i="1">
                                <a:latin typeface="Cambria Math" panose="02040503050406030204" pitchFamily="18" charset="0"/>
                              </a:rPr>
                              <m:t>𝑖</m:t>
                            </m:r>
                          </m:sub>
                        </m:sSub>
                        <m:r>
                          <a:rPr lang="vi-VN"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vi-VN" sz="2400" i="1">
                                <a:latin typeface="Cambria Math" panose="02040503050406030204" pitchFamily="18" charset="0"/>
                              </a:rPr>
                              <m:t>𝑖</m:t>
                            </m:r>
                          </m:sub>
                        </m:sSub>
                        <m:r>
                          <a:rPr lang="vi-VN"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vi-VN" sz="2400" i="1">
                                <a:latin typeface="Cambria Math" panose="02040503050406030204" pitchFamily="18" charset="0"/>
                              </a:rPr>
                              <m:t>𝑖</m:t>
                            </m:r>
                            <m:r>
                              <a:rPr lang="en-US" sz="2400" i="1">
                                <a:latin typeface="Cambria Math" panose="02040503050406030204" pitchFamily="18" charset="0"/>
                              </a:rPr>
                              <m:t>+1</m:t>
                            </m:r>
                          </m:sub>
                        </m:sSub>
                      </m:e>
                    </m:nary>
                    <m:r>
                      <a:rPr lang="vi-VN" sz="2400" i="1">
                        <a:latin typeface="Cambria Math" panose="02040503050406030204" pitchFamily="18" charset="0"/>
                      </a:rPr>
                      <m:t>−</m:t>
                    </m:r>
                    <m:sSub>
                      <m:sSubPr>
                        <m:ctrlPr>
                          <a:rPr lang="en-US" sz="2400" i="1">
                            <a:latin typeface="Cambria Math" panose="02040503050406030204" pitchFamily="18" charset="0"/>
                          </a:rPr>
                        </m:ctrlPr>
                      </m:sSubPr>
                      <m:e>
                        <m:r>
                          <a:rPr lang="vi-VN" sz="2400" i="1">
                            <a:latin typeface="Cambria Math" panose="02040503050406030204" pitchFamily="18" charset="0"/>
                          </a:rPr>
                          <m:t>h</m:t>
                        </m:r>
                      </m:e>
                      <m:sub>
                        <m:r>
                          <a:rPr lang="vi-VN" sz="2400" i="1">
                            <a:latin typeface="Cambria Math" panose="02040503050406030204" pitchFamily="18" charset="0"/>
                          </a:rPr>
                          <m:t>𝑖</m:t>
                        </m:r>
                      </m:sub>
                    </m:sSub>
                    <m:r>
                      <a:rPr lang="vi-VN" sz="2400" i="1">
                        <a:latin typeface="Cambria Math" panose="02040503050406030204" pitchFamily="18" charset="0"/>
                      </a:rPr>
                      <m:t>∑</m:t>
                    </m:r>
                    <m:r>
                      <a:rPr lang="vi-VN"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vi-VN" sz="2400" i="1">
                            <a:latin typeface="Cambria Math" panose="02040503050406030204" pitchFamily="18" charset="0"/>
                          </a:rPr>
                          <m:t>𝑖</m:t>
                        </m:r>
                      </m:sub>
                    </m:sSub>
                    <m:r>
                      <a:rPr lang="vi-VN" sz="2400" i="1">
                        <a:latin typeface="Cambria Math" panose="02040503050406030204" pitchFamily="18" charset="0"/>
                      </a:rPr>
                      <m:t>​</m:t>
                    </m:r>
                    <m:r>
                      <a:rPr lang="en-US" sz="2400" i="1">
                        <a:latin typeface="Cambria Math" panose="02040503050406030204" pitchFamily="18" charset="0"/>
                      </a:rPr>
                      <m:t>    </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en-US" sz="2400" i="1">
                                <a:latin typeface="Cambria Math" panose="02040503050406030204" pitchFamily="18" charset="0"/>
                              </a:rPr>
                              <m:t>𝑖</m:t>
                            </m:r>
                          </m:sub>
                        </m:sSub>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m:t>
                            </m:r>
                          </m:e>
                        </m:d>
                      </m:e>
                    </m:d>
                  </m:oMath>
                </a14:m>
                <a:r>
                  <a:rPr lang="en-US" sz="2400"/>
                  <a:t> </a:t>
                </a:r>
                <a:endParaRPr lang="vi-VN" sz="2400"/>
              </a:p>
              <a:p>
                <a:r>
                  <a:rPr lang="en-US" sz="2400">
                    <a:latin typeface="Calibri (Body)"/>
                  </a:rPr>
                  <a:t>3. Find optimal </a:t>
                </a:r>
                <a14:m>
                  <m:oMath xmlns:m="http://schemas.openxmlformats.org/officeDocument/2006/math">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𝛾</m:t>
                            </m:r>
                          </m:e>
                          <m:sup>
                            <m:r>
                              <a:rPr lang="en-US" sz="2400" i="1">
                                <a:latin typeface="Cambria Math" panose="02040503050406030204" pitchFamily="18" charset="0"/>
                              </a:rPr>
                              <m:t>∗</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𝛽</m:t>
                            </m:r>
                          </m:e>
                          <m:sup>
                            <m:r>
                              <a:rPr lang="en-US" sz="2400" i="1">
                                <a:latin typeface="Cambria Math" panose="02040503050406030204" pitchFamily="18" charset="0"/>
                              </a:rPr>
                              <m:t>∗</m:t>
                            </m:r>
                          </m:sup>
                        </m:sSup>
                      </m:e>
                    </m:d>
                  </m:oMath>
                </a14:m>
                <a:endParaRPr lang="vi-VN" sz="2400">
                  <a:latin typeface="Calibri (Body)"/>
                </a:endParaRPr>
              </a:p>
            </p:txBody>
          </p:sp>
        </mc:Choice>
        <mc:Fallback>
          <p:sp>
            <p:nvSpPr>
              <p:cNvPr id="9228" name="TextBox 9227">
                <a:extLst>
                  <a:ext uri="{FF2B5EF4-FFF2-40B4-BE49-F238E27FC236}">
                    <a16:creationId xmlns:a16="http://schemas.microsoft.com/office/drawing/2014/main" id="{C538D9B0-8AC0-E27E-3EBE-4F2FD1F670E9}"/>
                  </a:ext>
                </a:extLst>
              </p:cNvPr>
              <p:cNvSpPr txBox="1">
                <a:spLocks noRot="1" noChangeAspect="1" noMove="1" noResize="1" noEditPoints="1" noAdjustHandles="1" noChangeArrowheads="1" noChangeShapeType="1" noTextEdit="1"/>
              </p:cNvSpPr>
              <p:nvPr/>
            </p:nvSpPr>
            <p:spPr>
              <a:xfrm>
                <a:off x="838200" y="4731812"/>
                <a:ext cx="9096024" cy="1248803"/>
              </a:xfrm>
              <a:prstGeom prst="rect">
                <a:avLst/>
              </a:prstGeom>
              <a:blipFill>
                <a:blip r:embed="rId6"/>
                <a:stretch>
                  <a:fillRect l="-1116" t="-16162" b="-40404"/>
                </a:stretch>
              </a:blipFill>
            </p:spPr>
            <p:txBody>
              <a:bodyPr/>
              <a:lstStyle/>
              <a:p>
                <a:r>
                  <a:rPr lang="en-VN">
                    <a:noFill/>
                  </a:rPr>
                  <a:t> </a:t>
                </a:r>
              </a:p>
            </p:txBody>
          </p:sp>
        </mc:Fallback>
      </mc:AlternateContent>
      <p:cxnSp>
        <p:nvCxnSpPr>
          <p:cNvPr id="9231" name="Straight Connector 9230">
            <a:extLst>
              <a:ext uri="{FF2B5EF4-FFF2-40B4-BE49-F238E27FC236}">
                <a16:creationId xmlns:a16="http://schemas.microsoft.com/office/drawing/2014/main" id="{2799C7F5-1CA4-0380-BD28-67E97D7FEED4}"/>
              </a:ext>
            </a:extLst>
          </p:cNvPr>
          <p:cNvCxnSpPr>
            <a:cxnSpLocks/>
            <a:stCxn id="30" idx="2"/>
            <a:endCxn id="9222" idx="1"/>
          </p:cNvCxnSpPr>
          <p:nvPr/>
        </p:nvCxnSpPr>
        <p:spPr>
          <a:xfrm>
            <a:off x="1681428" y="3056563"/>
            <a:ext cx="3908392" cy="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232" name="Rectangle 9231">
                <a:extLst>
                  <a:ext uri="{FF2B5EF4-FFF2-40B4-BE49-F238E27FC236}">
                    <a16:creationId xmlns:a16="http://schemas.microsoft.com/office/drawing/2014/main" id="{2B57E364-AD51-378E-C857-9488AB99D3B0}"/>
                  </a:ext>
                </a:extLst>
              </p:cNvPr>
              <p:cNvSpPr/>
              <p:nvPr/>
            </p:nvSpPr>
            <p:spPr>
              <a:xfrm>
                <a:off x="2323549" y="2573577"/>
                <a:ext cx="139344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𝑖</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𝛾</m:t>
                              </m:r>
                            </m:e>
                            <m:sub>
                              <m:r>
                                <a:rPr lang="en-US" sz="2400" i="1">
                                  <a:solidFill>
                                    <a:schemeClr val="tx1"/>
                                  </a:solidFill>
                                  <a:latin typeface="Cambria Math" panose="02040503050406030204" pitchFamily="18" charset="0"/>
                                </a:rPr>
                                <m:t>𝑛</m:t>
                              </m:r>
                            </m:sub>
                          </m:sSub>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𝐻</m:t>
                              </m:r>
                            </m:e>
                            <m:sub>
                              <m:r>
                                <a:rPr lang="en-US" sz="2400" i="1">
                                  <a:solidFill>
                                    <a:schemeClr val="tx1"/>
                                  </a:solidFill>
                                  <a:latin typeface="Cambria Math" panose="02040503050406030204" pitchFamily="18" charset="0"/>
                                </a:rPr>
                                <m:t>𝐶</m:t>
                              </m:r>
                            </m:sub>
                          </m:sSub>
                        </m:sup>
                      </m:sSup>
                    </m:oMath>
                  </m:oMathPara>
                </a14:m>
                <a:endParaRPr sz="2400"/>
              </a:p>
            </p:txBody>
          </p:sp>
        </mc:Choice>
        <mc:Fallback>
          <p:sp>
            <p:nvSpPr>
              <p:cNvPr id="9232" name="Rectangle 9231">
                <a:extLst>
                  <a:ext uri="{FF2B5EF4-FFF2-40B4-BE49-F238E27FC236}">
                    <a16:creationId xmlns:a16="http://schemas.microsoft.com/office/drawing/2014/main" id="{2B57E364-AD51-378E-C857-9488AB99D3B0}"/>
                  </a:ext>
                </a:extLst>
              </p:cNvPr>
              <p:cNvSpPr>
                <a:spLocks noRot="1" noChangeAspect="1" noMove="1" noResize="1" noEditPoints="1" noAdjustHandles="1" noChangeArrowheads="1" noChangeShapeType="1" noTextEdit="1"/>
              </p:cNvSpPr>
              <p:nvPr/>
            </p:nvSpPr>
            <p:spPr>
              <a:xfrm>
                <a:off x="2323549" y="2573577"/>
                <a:ext cx="1393443" cy="867719"/>
              </a:xfrm>
              <a:prstGeom prst="rect">
                <a:avLst/>
              </a:prstGeom>
              <a:blipFill>
                <a:blip r:embed="rId7"/>
                <a:stretch>
                  <a:fillRect/>
                </a:stretch>
              </a:blipFill>
              <a:ln>
                <a:solidFill>
                  <a:schemeClr val="tx1"/>
                </a:solidFill>
              </a:ln>
            </p:spPr>
            <p:txBody>
              <a:bodyPr/>
              <a:lstStyle/>
              <a:p>
                <a:r>
                  <a:rPr lang="en-VN">
                    <a:noFill/>
                  </a:rPr>
                  <a:t> </a:t>
                </a:r>
              </a:p>
            </p:txBody>
          </p:sp>
        </mc:Fallback>
      </mc:AlternateContent>
      <p:cxnSp>
        <p:nvCxnSpPr>
          <p:cNvPr id="9233" name="Straight Connector 9232">
            <a:extLst>
              <a:ext uri="{FF2B5EF4-FFF2-40B4-BE49-F238E27FC236}">
                <a16:creationId xmlns:a16="http://schemas.microsoft.com/office/drawing/2014/main" id="{1D6004C6-91EC-5397-1061-EC4DC3B31884}"/>
              </a:ext>
            </a:extLst>
          </p:cNvPr>
          <p:cNvCxnSpPr>
            <a:cxnSpLocks/>
          </p:cNvCxnSpPr>
          <p:nvPr/>
        </p:nvCxnSpPr>
        <p:spPr>
          <a:xfrm flipV="1">
            <a:off x="1924769" y="2884284"/>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236" name="Rectangle 9235">
                <a:extLst>
                  <a:ext uri="{FF2B5EF4-FFF2-40B4-BE49-F238E27FC236}">
                    <a16:creationId xmlns:a16="http://schemas.microsoft.com/office/drawing/2014/main" id="{8B01DA13-863F-41C1-BFE3-2033118A4768}"/>
                  </a:ext>
                </a:extLst>
              </p:cNvPr>
              <p:cNvSpPr/>
              <p:nvPr/>
            </p:nvSpPr>
            <p:spPr>
              <a:xfrm>
                <a:off x="3816589" y="2579221"/>
                <a:ext cx="139344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𝑖</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𝛽</m:t>
                              </m:r>
                            </m:e>
                            <m:sub>
                              <m:r>
                                <a:rPr lang="en-US" sz="2400" i="1">
                                  <a:solidFill>
                                    <a:schemeClr val="tx1"/>
                                  </a:solidFill>
                                  <a:latin typeface="Cambria Math" panose="02040503050406030204" pitchFamily="18" charset="0"/>
                                </a:rPr>
                                <m:t>𝑛</m:t>
                              </m:r>
                            </m:sub>
                          </m:sSub>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𝐻</m:t>
                              </m:r>
                            </m:e>
                            <m:sub>
                              <m:r>
                                <a:rPr lang="en-US" sz="2400" i="1">
                                  <a:solidFill>
                                    <a:schemeClr val="tx1"/>
                                  </a:solidFill>
                                  <a:latin typeface="Cambria Math" panose="02040503050406030204" pitchFamily="18" charset="0"/>
                                </a:rPr>
                                <m:t>𝑀</m:t>
                              </m:r>
                            </m:sub>
                          </m:sSub>
                        </m:sup>
                      </m:sSup>
                    </m:oMath>
                  </m:oMathPara>
                </a14:m>
                <a:endParaRPr sz="2400"/>
              </a:p>
            </p:txBody>
          </p:sp>
        </mc:Choice>
        <mc:Fallback>
          <p:sp>
            <p:nvSpPr>
              <p:cNvPr id="9236" name="Rectangle 9235">
                <a:extLst>
                  <a:ext uri="{FF2B5EF4-FFF2-40B4-BE49-F238E27FC236}">
                    <a16:creationId xmlns:a16="http://schemas.microsoft.com/office/drawing/2014/main" id="{8B01DA13-863F-41C1-BFE3-2033118A4768}"/>
                  </a:ext>
                </a:extLst>
              </p:cNvPr>
              <p:cNvSpPr>
                <a:spLocks noRot="1" noChangeAspect="1" noMove="1" noResize="1" noEditPoints="1" noAdjustHandles="1" noChangeArrowheads="1" noChangeShapeType="1" noTextEdit="1"/>
              </p:cNvSpPr>
              <p:nvPr/>
            </p:nvSpPr>
            <p:spPr>
              <a:xfrm>
                <a:off x="3816589" y="2579221"/>
                <a:ext cx="1393443" cy="867719"/>
              </a:xfrm>
              <a:prstGeom prst="rect">
                <a:avLst/>
              </a:prstGeom>
              <a:blipFill>
                <a:blip r:embed="rId8"/>
                <a:stretch>
                  <a:fillRect/>
                </a:stretch>
              </a:blipFill>
              <a:ln>
                <a:solidFill>
                  <a:schemeClr val="tx1"/>
                </a:solidFill>
              </a:ln>
            </p:spPr>
            <p:txBody>
              <a:bodyPr/>
              <a:lstStyle/>
              <a:p>
                <a:r>
                  <a:rPr lang="en-VN">
                    <a:noFill/>
                  </a:rPr>
                  <a:t> </a:t>
                </a:r>
              </a:p>
            </p:txBody>
          </p:sp>
        </mc:Fallback>
      </mc:AlternateContent>
      <p:pic>
        <p:nvPicPr>
          <p:cNvPr id="10244" name="Picture 4" descr="qaoa_operators">
            <a:extLst>
              <a:ext uri="{FF2B5EF4-FFF2-40B4-BE49-F238E27FC236}">
                <a16:creationId xmlns:a16="http://schemas.microsoft.com/office/drawing/2014/main" id="{8992B31A-B5DA-17C0-484F-A9FFADF1B31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106350" y="875686"/>
            <a:ext cx="2808445" cy="2495357"/>
          </a:xfrm>
          <a:prstGeom prst="rect">
            <a:avLst/>
          </a:prstGeom>
          <a:noFill/>
          <a:extLst>
            <a:ext uri="{909E8E84-426E-40DD-AFC4-6F175D3DCCD1}">
              <a14:hiddenFill xmlns:a14="http://schemas.microsoft.com/office/drawing/2010/main">
                <a:solidFill>
                  <a:srgbClr val="FFFFFF"/>
                </a:solidFill>
              </a14:hiddenFill>
            </a:ext>
          </a:extLst>
        </p:spPr>
      </p:pic>
      <p:sp>
        <p:nvSpPr>
          <p:cNvPr id="9243" name="TextBox 9242">
            <a:extLst>
              <a:ext uri="{FF2B5EF4-FFF2-40B4-BE49-F238E27FC236}">
                <a16:creationId xmlns:a16="http://schemas.microsoft.com/office/drawing/2014/main" id="{3CFC5542-B990-3412-39BC-5C4FB9C3DB56}"/>
              </a:ext>
            </a:extLst>
          </p:cNvPr>
          <p:cNvSpPr txBox="1"/>
          <p:nvPr/>
        </p:nvSpPr>
        <p:spPr>
          <a:xfrm>
            <a:off x="9106350" y="3365826"/>
            <a:ext cx="2758132" cy="338554"/>
          </a:xfrm>
          <a:prstGeom prst="rect">
            <a:avLst/>
          </a:prstGeom>
          <a:noFill/>
        </p:spPr>
        <p:txBody>
          <a:bodyPr wrap="square" rtlCol="0">
            <a:spAutoFit/>
          </a:bodyPr>
          <a:lstStyle/>
          <a:p>
            <a:pPr algn="ctr"/>
            <a:r>
              <a:rPr lang="en-US" sz="1600"/>
              <a:t>Min/Max cut</a:t>
            </a:r>
            <a:endParaRPr lang="vi-VN" sz="1600" b="1"/>
          </a:p>
        </p:txBody>
      </p:sp>
      <p:pic>
        <p:nvPicPr>
          <p:cNvPr id="10246" name="Picture 6" descr="Capacitated Vehicle Routing Problem - MATLAB &amp; Simulink">
            <a:extLst>
              <a:ext uri="{FF2B5EF4-FFF2-40B4-BE49-F238E27FC236}">
                <a16:creationId xmlns:a16="http://schemas.microsoft.com/office/drawing/2014/main" id="{6FDBFA8F-6711-E190-12EA-3C5BC3A04A1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8297" t="4131" r="2899" b="6319"/>
          <a:stretch/>
        </p:blipFill>
        <p:spPr bwMode="auto">
          <a:xfrm>
            <a:off x="9106351" y="3682821"/>
            <a:ext cx="2758131" cy="2163855"/>
          </a:xfrm>
          <a:prstGeom prst="rect">
            <a:avLst/>
          </a:prstGeom>
          <a:noFill/>
          <a:extLst>
            <a:ext uri="{909E8E84-426E-40DD-AFC4-6F175D3DCCD1}">
              <a14:hiddenFill xmlns:a14="http://schemas.microsoft.com/office/drawing/2010/main">
                <a:solidFill>
                  <a:srgbClr val="FFFFFF"/>
                </a:solidFill>
              </a14:hiddenFill>
            </a:ext>
          </a:extLst>
        </p:spPr>
      </p:pic>
      <p:sp>
        <p:nvSpPr>
          <p:cNvPr id="9244" name="TextBox 9243">
            <a:extLst>
              <a:ext uri="{FF2B5EF4-FFF2-40B4-BE49-F238E27FC236}">
                <a16:creationId xmlns:a16="http://schemas.microsoft.com/office/drawing/2014/main" id="{DC7C60E8-7D32-A42A-B9C7-04E9A4BCEB97}"/>
              </a:ext>
            </a:extLst>
          </p:cNvPr>
          <p:cNvSpPr txBox="1"/>
          <p:nvPr/>
        </p:nvSpPr>
        <p:spPr>
          <a:xfrm>
            <a:off x="9192871" y="5879704"/>
            <a:ext cx="2721924" cy="338554"/>
          </a:xfrm>
          <a:prstGeom prst="rect">
            <a:avLst/>
          </a:prstGeom>
          <a:noFill/>
        </p:spPr>
        <p:txBody>
          <a:bodyPr wrap="square" rtlCol="0">
            <a:spAutoFit/>
          </a:bodyPr>
          <a:lstStyle/>
          <a:p>
            <a:pPr algn="ctr"/>
            <a:r>
              <a:rPr lang="en-US" sz="1600"/>
              <a:t>Vehicle routing</a:t>
            </a:r>
            <a:endParaRPr lang="vi-VN" sz="1600" b="1"/>
          </a:p>
        </p:txBody>
      </p:sp>
    </p:spTree>
    <p:extLst>
      <p:ext uri="{BB962C8B-B14F-4D97-AF65-F5344CB8AC3E}">
        <p14:creationId xmlns:p14="http://schemas.microsoft.com/office/powerpoint/2010/main" val="385239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20" name="Picture 4">
            <a:extLst>
              <a:ext uri="{FF2B5EF4-FFF2-40B4-BE49-F238E27FC236}">
                <a16:creationId xmlns:a16="http://schemas.microsoft.com/office/drawing/2014/main" id="{46A7A0E8-B17B-665F-E3D2-A46140C8A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9637" y="3869254"/>
            <a:ext cx="3894543" cy="3068244"/>
          </a:xfrm>
          <a:prstGeom prst="rect">
            <a:avLst/>
          </a:prstGeom>
          <a:noFill/>
          <a:extLst>
            <a:ext uri="{909E8E84-426E-40DD-AFC4-6F175D3DCCD1}">
              <a14:hiddenFill xmlns:a14="http://schemas.microsoft.com/office/drawing/2010/main">
                <a:solidFill>
                  <a:srgbClr val="FFFFFF"/>
                </a:solidFill>
              </a14:hiddenFill>
            </a:ext>
          </a:extLst>
        </p:spPr>
      </p:pic>
      <p:cxnSp>
        <p:nvCxnSpPr>
          <p:cNvPr id="12306" name="Straight Connector 12305">
            <a:extLst>
              <a:ext uri="{FF2B5EF4-FFF2-40B4-BE49-F238E27FC236}">
                <a16:creationId xmlns:a16="http://schemas.microsoft.com/office/drawing/2014/main" id="{C1875CDF-4079-4013-9DA0-BE3BA8330A94}"/>
              </a:ext>
            </a:extLst>
          </p:cNvPr>
          <p:cNvCxnSpPr>
            <a:cxnSpLocks/>
          </p:cNvCxnSpPr>
          <p:nvPr/>
        </p:nvCxnSpPr>
        <p:spPr>
          <a:xfrm>
            <a:off x="5583013" y="2093907"/>
            <a:ext cx="2429281" cy="0"/>
          </a:xfrm>
          <a:prstGeom prst="line">
            <a:avLst/>
          </a:prstGeom>
          <a:ln w="31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25CC11C-F3A8-A713-02B6-F2D5722A667B}"/>
              </a:ext>
            </a:extLst>
          </p:cNvPr>
          <p:cNvCxnSpPr>
            <a:cxnSpLocks/>
          </p:cNvCxnSpPr>
          <p:nvPr/>
        </p:nvCxnSpPr>
        <p:spPr>
          <a:xfrm>
            <a:off x="3030306" y="4447596"/>
            <a:ext cx="232229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4041C996-B951-FE32-99A5-431F469D45B5}"/>
                  </a:ext>
                </a:extLst>
              </p:cNvPr>
              <p:cNvSpPr>
                <a:spLocks noGrp="1"/>
              </p:cNvSpPr>
              <p:nvPr>
                <p:ph type="title"/>
              </p:nvPr>
            </p:nvSpPr>
            <p:spPr>
              <a:xfrm>
                <a:off x="31049" y="365125"/>
                <a:ext cx="8621889" cy="1325563"/>
              </a:xfrm>
            </p:spPr>
            <p:txBody>
              <a:bodyPr>
                <a:normAutofit/>
              </a:bodyPr>
              <a:lstStyle/>
              <a:p>
                <a:r>
                  <a:rPr lang="en-US"/>
                  <a:t>1.6.2</a:t>
                </a:r>
                <a:r>
                  <a:rPr lang="en-VN"/>
                  <a:t>. </a:t>
                </a:r>
                <a:r>
                  <a:rPr lang="en-US"/>
                  <a:t>Quantum optimization</a:t>
                </a:r>
                <a:br>
                  <a:rPr lang="en-US"/>
                </a:br>
                <a:r>
                  <a:rPr lang="pt-BR" sz="2667"/>
                  <a:t>QAOA</a:t>
                </a:r>
                <a14:m>
                  <m:oMath xmlns:m="http://schemas.openxmlformats.org/officeDocument/2006/math">
                    <m:r>
                      <a:rPr lang="en-US" sz="2667">
                        <a:latin typeface="Cambria Math" panose="02040503050406030204" pitchFamily="18" charset="0"/>
                      </a:rPr>
                      <m:t> </m:t>
                    </m:r>
                    <m:r>
                      <a:rPr lang="en-US" sz="2667" i="1">
                        <a:latin typeface="Cambria Math" panose="02040503050406030204" pitchFamily="18" charset="0"/>
                      </a:rPr>
                      <m:t>→</m:t>
                    </m:r>
                  </m:oMath>
                </a14:m>
                <a:r>
                  <a:rPr lang="pt-BR" sz="2667"/>
                  <a:t> FALQON</a:t>
                </a:r>
                <a:endParaRPr lang="vi-VN" sz="2667"/>
              </a:p>
            </p:txBody>
          </p:sp>
        </mc:Choice>
        <mc:Fallback>
          <p:sp>
            <p:nvSpPr>
              <p:cNvPr id="2" name="Title 1">
                <a:extLst>
                  <a:ext uri="{FF2B5EF4-FFF2-40B4-BE49-F238E27FC236}">
                    <a16:creationId xmlns:a16="http://schemas.microsoft.com/office/drawing/2014/main" id="{4041C996-B951-FE32-99A5-431F469D45B5}"/>
                  </a:ext>
                </a:extLst>
              </p:cNvPr>
              <p:cNvSpPr>
                <a:spLocks noGrp="1" noRot="1" noChangeAspect="1" noMove="1" noResize="1" noEditPoints="1" noAdjustHandles="1" noChangeArrowheads="1" noChangeShapeType="1" noTextEdit="1"/>
              </p:cNvSpPr>
              <p:nvPr>
                <p:ph type="title"/>
              </p:nvPr>
            </p:nvSpPr>
            <p:spPr>
              <a:xfrm>
                <a:off x="31049" y="365125"/>
                <a:ext cx="8621889" cy="1325563"/>
              </a:xfrm>
              <a:blipFill>
                <a:blip r:embed="rId3"/>
                <a:stretch>
                  <a:fillRect l="-2941" t="-3810" b="-1905"/>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093703F6-E00B-6E81-CBF4-79BB7682401E}"/>
              </a:ext>
            </a:extLst>
          </p:cNvPr>
          <p:cNvSpPr>
            <a:spLocks noGrp="1"/>
          </p:cNvSpPr>
          <p:nvPr>
            <p:ph type="sldNum" sz="quarter" idx="12"/>
          </p:nvPr>
        </p:nvSpPr>
        <p:spPr/>
        <p:txBody>
          <a:bodyPr/>
          <a:lstStyle/>
          <a:p>
            <a:fld id="{6A45828D-F580-42DE-B77E-860980F07F32}" type="slidenum">
              <a:rPr lang="vi-VN" smtClean="0"/>
              <a:t>14</a:t>
            </a:fld>
            <a:endParaRPr lang="vi-VN"/>
          </a:p>
        </p:txBody>
      </p:sp>
      <p:sp>
        <p:nvSpPr>
          <p:cNvPr id="57" name="TextBox 56">
            <a:extLst>
              <a:ext uri="{FF2B5EF4-FFF2-40B4-BE49-F238E27FC236}">
                <a16:creationId xmlns:a16="http://schemas.microsoft.com/office/drawing/2014/main" id="{7263D2D7-15DC-8D89-856F-3E755896BA6D}"/>
              </a:ext>
            </a:extLst>
          </p:cNvPr>
          <p:cNvSpPr txBox="1"/>
          <p:nvPr/>
        </p:nvSpPr>
        <p:spPr>
          <a:xfrm>
            <a:off x="31048" y="6392252"/>
            <a:ext cx="8283221" cy="297454"/>
          </a:xfrm>
          <a:prstGeom prst="rect">
            <a:avLst/>
          </a:prstGeom>
          <a:noFill/>
        </p:spPr>
        <p:txBody>
          <a:bodyPr wrap="square">
            <a:spAutoFit/>
          </a:bodyPr>
          <a:lstStyle/>
          <a:p>
            <a:r>
              <a:rPr lang="en-US" sz="1333" b="1"/>
              <a:t>[1.34] </a:t>
            </a:r>
            <a:r>
              <a:rPr lang="vi-VN" sz="1333"/>
              <a:t>https://</a:t>
            </a:r>
            <a:r>
              <a:rPr lang="vi-VN" sz="1333">
                <a:ea typeface="Calibri" panose="020F0502020204030204" pitchFamily="34" charset="0"/>
                <a:cs typeface="Calibri" panose="020F0502020204030204" pitchFamily="34" charset="0"/>
              </a:rPr>
              <a:t>pennylane</a:t>
            </a:r>
            <a:r>
              <a:rPr lang="vi-VN" sz="1333"/>
              <a:t>.ai/qml/demos/tutorial_falqon</a:t>
            </a:r>
          </a:p>
        </p:txBody>
      </p:sp>
      <mc:AlternateContent xmlns:mc="http://schemas.openxmlformats.org/markup-compatibility/2006">
        <mc:Choice xmlns:a14="http://schemas.microsoft.com/office/drawing/2010/main" Requires="a14">
          <p:sp>
            <p:nvSpPr>
              <p:cNvPr id="9228" name="TextBox 9227">
                <a:extLst>
                  <a:ext uri="{FF2B5EF4-FFF2-40B4-BE49-F238E27FC236}">
                    <a16:creationId xmlns:a16="http://schemas.microsoft.com/office/drawing/2014/main" id="{C538D9B0-8AC0-E27E-3EBE-4F2FD1F670E9}"/>
                  </a:ext>
                </a:extLst>
              </p:cNvPr>
              <p:cNvSpPr txBox="1"/>
              <p:nvPr/>
            </p:nvSpPr>
            <p:spPr>
              <a:xfrm>
                <a:off x="31049" y="5193369"/>
                <a:ext cx="11427177" cy="1200329"/>
              </a:xfrm>
              <a:prstGeom prst="rect">
                <a:avLst/>
              </a:prstGeom>
              <a:noFill/>
            </p:spPr>
            <p:txBody>
              <a:bodyPr wrap="square">
                <a:spAutoFit/>
              </a:bodyPr>
              <a:lstStyle/>
              <a:p>
                <a:r>
                  <a:rPr lang="en-US" sz="2400">
                    <a:latin typeface="Calibri (Body)"/>
                  </a:rPr>
                  <a:t>1. </a:t>
                </a:r>
                <a:r>
                  <a:rPr lang="vi-VN" sz="2400">
                    <a:latin typeface="Calibri (Body)"/>
                  </a:rPr>
                  <a:t>Problem Definition</a:t>
                </a:r>
                <a:r>
                  <a:rPr lang="en-US" sz="2400">
                    <a:latin typeface="Calibri (Body)"/>
                  </a:rPr>
                  <a:t> </a:t>
                </a:r>
                <a:endParaRPr lang="en-US" sz="2400" i="1">
                  <a:latin typeface="Cambria Math" panose="02040503050406030204" pitchFamily="18" charset="0"/>
                </a:endParaRPr>
              </a:p>
              <a:p>
                <a14:m>
                  <m:oMath xmlns:m="http://schemas.openxmlformats.org/officeDocument/2006/math">
                    <m:r>
                      <a:rPr lang="en-US" sz="2400" i="1">
                        <a:latin typeface="Cambria Math" panose="02040503050406030204" pitchFamily="18" charset="0"/>
                      </a:rPr>
                      <m:t>2</m:t>
                    </m:r>
                    <m:r>
                      <a:rPr lang="en-US" sz="2400" i="1">
                        <a:latin typeface="Cambria Math" panose="02040503050406030204" pitchFamily="18" charset="0"/>
                      </a:rPr>
                      <m:t>.</m:t>
                    </m:r>
                    <m:r>
                      <m:rPr>
                        <m:nor/>
                      </m:rPr>
                      <a:rPr lang="en-US" sz="2400"/>
                      <m:t>Hamiltonian</m:t>
                    </m:r>
                    <m:r>
                      <m:rPr>
                        <m:nor/>
                      </m:rPr>
                      <a:rPr lang="en-US" sz="2400"/>
                      <m:t>     </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𝐻</m:t>
                        </m:r>
                        <m:r>
                          <a:rPr lang="en-US" sz="2400" i="1">
                            <a:latin typeface="Cambria Math" panose="02040503050406030204" pitchFamily="18" charset="0"/>
                          </a:rPr>
                          <m:t>=</m:t>
                        </m:r>
                        <m:r>
                          <a:rPr lang="en-US" sz="2400" i="1">
                            <a:latin typeface="Cambria Math" panose="02040503050406030204" pitchFamily="18" charset="0"/>
                          </a:rPr>
                          <m:t>𝐻</m:t>
                        </m:r>
                      </m:e>
                      <m:sub>
                        <m:r>
                          <a:rPr lang="en-US" sz="2400" i="1">
                            <a:latin typeface="Cambria Math" panose="02040503050406030204" pitchFamily="18" charset="0"/>
                          </a:rPr>
                          <m:t>𝑐</m:t>
                        </m:r>
                      </m:sub>
                    </m:sSub>
                    <m:r>
                      <a:rPr lang="en-US" sz="2400" i="1">
                        <a:latin typeface="Cambria Math" panose="02040503050406030204" pitchFamily="18" charset="0"/>
                      </a:rPr>
                      <m:t>+</m:t>
                    </m:r>
                    <m:r>
                      <a:rPr lang="en-US" sz="2400" i="1">
                        <a:latin typeface="Cambria Math" panose="02040503050406030204" pitchFamily="18" charset="0"/>
                      </a:rPr>
                      <m:t>𝛽</m:t>
                    </m:r>
                    <m:d>
                      <m:dPr>
                        <m:ctrlPr>
                          <a:rPr lang="en-US" sz="2400" i="1">
                            <a:latin typeface="Cambria Math" panose="02040503050406030204" pitchFamily="18" charset="0"/>
                          </a:rPr>
                        </m:ctrlPr>
                      </m:dPr>
                      <m:e>
                        <m:r>
                          <a:rPr lang="en-US" sz="2400" i="1">
                            <a:latin typeface="Cambria Math" panose="02040503050406030204" pitchFamily="18" charset="0"/>
                          </a:rPr>
                          <m:t>𝑡</m:t>
                        </m:r>
                      </m:e>
                    </m:d>
                    <m:sSub>
                      <m:sSubPr>
                        <m:ctrlPr>
                          <a:rPr lang="en-US" sz="2400" i="1">
                            <a:latin typeface="Cambria Math" panose="02040503050406030204" pitchFamily="18" charset="0"/>
                          </a:rPr>
                        </m:ctrlPr>
                      </m:sSubPr>
                      <m:e>
                        <m:r>
                          <a:rPr lang="en-US" sz="2400" i="1">
                            <a:latin typeface="Cambria Math" panose="02040503050406030204" pitchFamily="18" charset="0"/>
                          </a:rPr>
                          <m:t> </m:t>
                        </m:r>
                        <m:r>
                          <a:rPr lang="en-US" sz="2400" i="1">
                            <a:latin typeface="Cambria Math" panose="02040503050406030204" pitchFamily="18" charset="0"/>
                          </a:rPr>
                          <m:t>𝐻</m:t>
                        </m:r>
                      </m:e>
                      <m:sub>
                        <m:r>
                          <a:rPr lang="en-US" sz="2400" i="1">
                            <a:latin typeface="Cambria Math" panose="02040503050406030204" pitchFamily="18" charset="0"/>
                          </a:rPr>
                          <m:t>𝑑</m:t>
                        </m:r>
                      </m:sub>
                    </m:sSub>
                  </m:oMath>
                </a14:m>
                <a:r>
                  <a:rPr lang="en-US" sz="2400"/>
                  <a:t> </a:t>
                </a:r>
                <a:endParaRPr lang="vi-VN" sz="2400"/>
              </a:p>
              <a:p>
                <a:r>
                  <a:rPr lang="en-US" sz="2400">
                    <a:latin typeface="Calibri (Body)"/>
                  </a:rPr>
                  <a:t>3. Find ground energy corresponding to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oMath>
                </a14:m>
                <a:endParaRPr lang="vi-VN" sz="2400">
                  <a:latin typeface="Calibri (Body)"/>
                </a:endParaRPr>
              </a:p>
            </p:txBody>
          </p:sp>
        </mc:Choice>
        <mc:Fallback>
          <p:sp>
            <p:nvSpPr>
              <p:cNvPr id="9228" name="TextBox 9227">
                <a:extLst>
                  <a:ext uri="{FF2B5EF4-FFF2-40B4-BE49-F238E27FC236}">
                    <a16:creationId xmlns:a16="http://schemas.microsoft.com/office/drawing/2014/main" id="{C538D9B0-8AC0-E27E-3EBE-4F2FD1F670E9}"/>
                  </a:ext>
                </a:extLst>
              </p:cNvPr>
              <p:cNvSpPr txBox="1">
                <a:spLocks noRot="1" noChangeAspect="1" noMove="1" noResize="1" noEditPoints="1" noAdjustHandles="1" noChangeArrowheads="1" noChangeShapeType="1" noTextEdit="1"/>
              </p:cNvSpPr>
              <p:nvPr/>
            </p:nvSpPr>
            <p:spPr>
              <a:xfrm>
                <a:off x="31049" y="5193369"/>
                <a:ext cx="11427177" cy="1200329"/>
              </a:xfrm>
              <a:prstGeom prst="rect">
                <a:avLst/>
              </a:prstGeom>
              <a:blipFill>
                <a:blip r:embed="rId4"/>
                <a:stretch>
                  <a:fillRect l="-888" t="-3125" b="-10417"/>
                </a:stretch>
              </a:blipFill>
            </p:spPr>
            <p:txBody>
              <a:bodyPr/>
              <a:lstStyle/>
              <a:p>
                <a:r>
                  <a:rPr lang="en-VN">
                    <a:noFill/>
                  </a:rPr>
                  <a:t> </a:t>
                </a:r>
              </a:p>
            </p:txBody>
          </p:sp>
        </mc:Fallback>
      </mc:AlternateContent>
      <p:cxnSp>
        <p:nvCxnSpPr>
          <p:cNvPr id="3" name="Straight Connector 2">
            <a:extLst>
              <a:ext uri="{FF2B5EF4-FFF2-40B4-BE49-F238E27FC236}">
                <a16:creationId xmlns:a16="http://schemas.microsoft.com/office/drawing/2014/main" id="{41EB4F38-0630-F863-8D9B-E4A8CF7E946E}"/>
              </a:ext>
            </a:extLst>
          </p:cNvPr>
          <p:cNvCxnSpPr>
            <a:cxnSpLocks/>
          </p:cNvCxnSpPr>
          <p:nvPr/>
        </p:nvCxnSpPr>
        <p:spPr>
          <a:xfrm>
            <a:off x="415521" y="2119733"/>
            <a:ext cx="242928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C6462C81-2A57-BFDC-2288-5C654217AEDB}"/>
                  </a:ext>
                </a:extLst>
              </p:cNvPr>
              <p:cNvSpPr/>
              <p:nvPr/>
            </p:nvSpPr>
            <p:spPr>
              <a:xfrm>
                <a:off x="891826" y="1695014"/>
                <a:ext cx="400756"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𝑐</m:t>
                          </m:r>
                        </m:sub>
                      </m:sSub>
                    </m:oMath>
                  </m:oMathPara>
                </a14:m>
                <a:endParaRPr sz="2400"/>
              </a:p>
            </p:txBody>
          </p:sp>
        </mc:Choice>
        <mc:Fallback>
          <p:sp>
            <p:nvSpPr>
              <p:cNvPr id="5" name="Rectangle 4">
                <a:extLst>
                  <a:ext uri="{FF2B5EF4-FFF2-40B4-BE49-F238E27FC236}">
                    <a16:creationId xmlns:a16="http://schemas.microsoft.com/office/drawing/2014/main" id="{C6462C81-2A57-BFDC-2288-5C654217AEDB}"/>
                  </a:ext>
                </a:extLst>
              </p:cNvPr>
              <p:cNvSpPr>
                <a:spLocks noRot="1" noChangeAspect="1" noMove="1" noResize="1" noEditPoints="1" noAdjustHandles="1" noChangeArrowheads="1" noChangeShapeType="1" noTextEdit="1"/>
              </p:cNvSpPr>
              <p:nvPr/>
            </p:nvSpPr>
            <p:spPr>
              <a:xfrm>
                <a:off x="891826" y="1695014"/>
                <a:ext cx="400756" cy="867719"/>
              </a:xfrm>
              <a:prstGeom prst="rect">
                <a:avLst/>
              </a:prstGeom>
              <a:blipFill>
                <a:blip r:embed="rId5"/>
                <a:stretch>
                  <a:fillRect l="-38235"/>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BD413066-F60A-148B-F7BA-299A1E984E3A}"/>
                  </a:ext>
                </a:extLst>
              </p:cNvPr>
              <p:cNvSpPr/>
              <p:nvPr/>
            </p:nvSpPr>
            <p:spPr>
              <a:xfrm>
                <a:off x="1400082" y="1695014"/>
                <a:ext cx="104396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𝑑</m:t>
                          </m:r>
                        </m:sub>
                      </m:sSub>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𝛽</m:t>
                              </m:r>
                            </m:e>
                            <m:sub>
                              <m:r>
                                <a:rPr lang="en-US" sz="2400" i="1">
                                  <a:solidFill>
                                    <a:schemeClr val="tx1"/>
                                  </a:solidFill>
                                  <a:latin typeface="Cambria Math" panose="02040503050406030204" pitchFamily="18" charset="0"/>
                                </a:rPr>
                                <m:t>1</m:t>
                              </m:r>
                            </m:sub>
                          </m:sSub>
                        </m:e>
                      </m:d>
                    </m:oMath>
                  </m:oMathPara>
                </a14:m>
                <a:endParaRPr sz="2400"/>
              </a:p>
            </p:txBody>
          </p:sp>
        </mc:Choice>
        <mc:Fallback>
          <p:sp>
            <p:nvSpPr>
              <p:cNvPr id="7" name="Rectangle 6">
                <a:extLst>
                  <a:ext uri="{FF2B5EF4-FFF2-40B4-BE49-F238E27FC236}">
                    <a16:creationId xmlns:a16="http://schemas.microsoft.com/office/drawing/2014/main" id="{BD413066-F60A-148B-F7BA-299A1E984E3A}"/>
                  </a:ext>
                </a:extLst>
              </p:cNvPr>
              <p:cNvSpPr>
                <a:spLocks noRot="1" noChangeAspect="1" noMove="1" noResize="1" noEditPoints="1" noAdjustHandles="1" noChangeArrowheads="1" noChangeShapeType="1" noTextEdit="1"/>
              </p:cNvSpPr>
              <p:nvPr/>
            </p:nvSpPr>
            <p:spPr>
              <a:xfrm>
                <a:off x="1400082" y="1695014"/>
                <a:ext cx="1043967" cy="867719"/>
              </a:xfrm>
              <a:prstGeom prst="rect">
                <a:avLst/>
              </a:prstGeom>
              <a:blipFill>
                <a:blip r:embed="rId6"/>
                <a:stretch>
                  <a:fillRect l="-12941"/>
                </a:stretch>
              </a:blipFill>
              <a:ln>
                <a:solidFill>
                  <a:schemeClr val="tx1"/>
                </a:solidFill>
              </a:ln>
            </p:spPr>
            <p:txBody>
              <a:bodyPr/>
              <a:lstStyle/>
              <a:p>
                <a:r>
                  <a:rPr lang="en-VN">
                    <a:noFill/>
                  </a:rPr>
                  <a:t> </a:t>
                </a:r>
              </a:p>
            </p:txBody>
          </p:sp>
        </mc:Fallback>
      </mc:AlternateContent>
      <p:cxnSp>
        <p:nvCxnSpPr>
          <p:cNvPr id="8" name="Straight Connector 7">
            <a:extLst>
              <a:ext uri="{FF2B5EF4-FFF2-40B4-BE49-F238E27FC236}">
                <a16:creationId xmlns:a16="http://schemas.microsoft.com/office/drawing/2014/main" id="{015724B6-5D76-3842-0D47-6B19C3780696}"/>
              </a:ext>
            </a:extLst>
          </p:cNvPr>
          <p:cNvCxnSpPr>
            <a:cxnSpLocks/>
          </p:cNvCxnSpPr>
          <p:nvPr/>
        </p:nvCxnSpPr>
        <p:spPr>
          <a:xfrm flipV="1">
            <a:off x="611404" y="1988080"/>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00B1406-0BF0-D864-1BF5-16FA9167D6A8}"/>
              </a:ext>
            </a:extLst>
          </p:cNvPr>
          <p:cNvCxnSpPr>
            <a:cxnSpLocks/>
            <a:stCxn id="13" idx="2"/>
            <a:endCxn id="16" idx="0"/>
          </p:cNvCxnSpPr>
          <p:nvPr/>
        </p:nvCxnSpPr>
        <p:spPr>
          <a:xfrm>
            <a:off x="7433727" y="2266762"/>
            <a:ext cx="0" cy="19402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AF6BF1C-AB7C-F870-5091-A22D212F23D7}"/>
                  </a:ext>
                </a:extLst>
              </p:cNvPr>
              <p:cNvSpPr txBox="1"/>
              <p:nvPr/>
            </p:nvSpPr>
            <p:spPr>
              <a:xfrm>
                <a:off x="6859405" y="1805097"/>
                <a:ext cx="1148643"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𝑘</m:t>
                      </m:r>
                      <m:r>
                        <a:rPr lang="en-US" sz="2400" i="1">
                          <a:latin typeface="Cambria Math" panose="02040503050406030204" pitchFamily="18" charset="0"/>
                        </a:rPr>
                        <m:t>=1</m:t>
                      </m:r>
                    </m:oMath>
                  </m:oMathPara>
                </a14:m>
                <a:endParaRPr lang="vi-VN" sz="2400">
                  <a:latin typeface="Calibri (Body)"/>
                </a:endParaRPr>
              </a:p>
            </p:txBody>
          </p:sp>
        </mc:Choice>
        <mc:Fallback>
          <p:sp>
            <p:nvSpPr>
              <p:cNvPr id="13" name="TextBox 12">
                <a:extLst>
                  <a:ext uri="{FF2B5EF4-FFF2-40B4-BE49-F238E27FC236}">
                    <a16:creationId xmlns:a16="http://schemas.microsoft.com/office/drawing/2014/main" id="{3AF6BF1C-AB7C-F870-5091-A22D212F23D7}"/>
                  </a:ext>
                </a:extLst>
              </p:cNvPr>
              <p:cNvSpPr txBox="1">
                <a:spLocks noRot="1" noChangeAspect="1" noMove="1" noResize="1" noEditPoints="1" noAdjustHandles="1" noChangeArrowheads="1" noChangeShapeType="1" noTextEdit="1"/>
              </p:cNvSpPr>
              <p:nvPr/>
            </p:nvSpPr>
            <p:spPr>
              <a:xfrm>
                <a:off x="6859405" y="1805097"/>
                <a:ext cx="1148643" cy="461665"/>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BB2B9370-C499-17BD-31B3-445778C545C9}"/>
                  </a:ext>
                </a:extLst>
              </p:cNvPr>
              <p:cNvSpPr txBox="1"/>
              <p:nvPr/>
            </p:nvSpPr>
            <p:spPr>
              <a:xfrm>
                <a:off x="6859405" y="4207044"/>
                <a:ext cx="114864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𝑛</m:t>
                      </m:r>
                    </m:oMath>
                  </m:oMathPara>
                </a14:m>
                <a:endParaRPr lang="vi-VN" sz="2400">
                  <a:latin typeface="Calibri (Body)"/>
                </a:endParaRPr>
              </a:p>
            </p:txBody>
          </p:sp>
        </mc:Choice>
        <mc:Fallback>
          <p:sp>
            <p:nvSpPr>
              <p:cNvPr id="16" name="TextBox 15">
                <a:extLst>
                  <a:ext uri="{FF2B5EF4-FFF2-40B4-BE49-F238E27FC236}">
                    <a16:creationId xmlns:a16="http://schemas.microsoft.com/office/drawing/2014/main" id="{BB2B9370-C499-17BD-31B3-445778C545C9}"/>
                  </a:ext>
                </a:extLst>
              </p:cNvPr>
              <p:cNvSpPr txBox="1">
                <a:spLocks noRot="1" noChangeAspect="1" noMove="1" noResize="1" noEditPoints="1" noAdjustHandles="1" noChangeArrowheads="1" noChangeShapeType="1" noTextEdit="1"/>
              </p:cNvSpPr>
              <p:nvPr/>
            </p:nvSpPr>
            <p:spPr>
              <a:xfrm>
                <a:off x="6859405" y="4207044"/>
                <a:ext cx="1148643" cy="461665"/>
              </a:xfrm>
              <a:prstGeom prst="rect">
                <a:avLst/>
              </a:prstGeom>
              <a:blipFill>
                <a:blip r:embed="rId8"/>
                <a:stretch>
                  <a:fillRect/>
                </a:stretch>
              </a:blipFill>
            </p:spPr>
            <p:txBody>
              <a:bodyPr/>
              <a:lstStyle/>
              <a:p>
                <a:r>
                  <a:rPr lang="en-VN">
                    <a:noFill/>
                  </a:rPr>
                  <a:t> </a:t>
                </a:r>
              </a:p>
            </p:txBody>
          </p:sp>
        </mc:Fallback>
      </mc:AlternateContent>
      <p:cxnSp>
        <p:nvCxnSpPr>
          <p:cNvPr id="18" name="Straight Connector 17">
            <a:extLst>
              <a:ext uri="{FF2B5EF4-FFF2-40B4-BE49-F238E27FC236}">
                <a16:creationId xmlns:a16="http://schemas.microsoft.com/office/drawing/2014/main" id="{FF5F301B-CD3A-8A14-DF54-EE7530D94B91}"/>
              </a:ext>
            </a:extLst>
          </p:cNvPr>
          <p:cNvCxnSpPr>
            <a:cxnSpLocks/>
            <a:endCxn id="61" idx="1"/>
          </p:cNvCxnSpPr>
          <p:nvPr/>
        </p:nvCxnSpPr>
        <p:spPr>
          <a:xfrm flipV="1">
            <a:off x="415521" y="3129338"/>
            <a:ext cx="4245896" cy="364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E245E59F-4541-C0C5-EF55-166AA3A81C0F}"/>
                  </a:ext>
                </a:extLst>
              </p:cNvPr>
              <p:cNvSpPr/>
              <p:nvPr/>
            </p:nvSpPr>
            <p:spPr>
              <a:xfrm>
                <a:off x="891826" y="2729794"/>
                <a:ext cx="400756"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𝑐</m:t>
                          </m:r>
                        </m:sub>
                      </m:sSub>
                    </m:oMath>
                  </m:oMathPara>
                </a14:m>
                <a:endParaRPr sz="2400"/>
              </a:p>
            </p:txBody>
          </p:sp>
        </mc:Choice>
        <mc:Fallback>
          <p:sp>
            <p:nvSpPr>
              <p:cNvPr id="19" name="Rectangle 18">
                <a:extLst>
                  <a:ext uri="{FF2B5EF4-FFF2-40B4-BE49-F238E27FC236}">
                    <a16:creationId xmlns:a16="http://schemas.microsoft.com/office/drawing/2014/main" id="{E245E59F-4541-C0C5-EF55-166AA3A81C0F}"/>
                  </a:ext>
                </a:extLst>
              </p:cNvPr>
              <p:cNvSpPr>
                <a:spLocks noRot="1" noChangeAspect="1" noMove="1" noResize="1" noEditPoints="1" noAdjustHandles="1" noChangeArrowheads="1" noChangeShapeType="1" noTextEdit="1"/>
              </p:cNvSpPr>
              <p:nvPr/>
            </p:nvSpPr>
            <p:spPr>
              <a:xfrm>
                <a:off x="891826" y="2729794"/>
                <a:ext cx="400756" cy="867719"/>
              </a:xfrm>
              <a:prstGeom prst="rect">
                <a:avLst/>
              </a:prstGeom>
              <a:blipFill>
                <a:blip r:embed="rId9"/>
                <a:stretch>
                  <a:fillRect l="-38235"/>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6E19EC07-E2F6-0501-E2CC-F0519301671C}"/>
                  </a:ext>
                </a:extLst>
              </p:cNvPr>
              <p:cNvSpPr/>
              <p:nvPr/>
            </p:nvSpPr>
            <p:spPr>
              <a:xfrm>
                <a:off x="1400082" y="2729794"/>
                <a:ext cx="104396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𝑑</m:t>
                          </m:r>
                        </m:sub>
                      </m:sSub>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𝛽</m:t>
                              </m:r>
                            </m:e>
                            <m:sub>
                              <m:r>
                                <a:rPr lang="en-US" sz="2400" i="1">
                                  <a:solidFill>
                                    <a:schemeClr val="tx1"/>
                                  </a:solidFill>
                                  <a:latin typeface="Cambria Math" panose="02040503050406030204" pitchFamily="18" charset="0"/>
                                </a:rPr>
                                <m:t>1</m:t>
                              </m:r>
                            </m:sub>
                          </m:sSub>
                        </m:e>
                      </m:d>
                    </m:oMath>
                  </m:oMathPara>
                </a14:m>
                <a:endParaRPr sz="2400"/>
              </a:p>
            </p:txBody>
          </p:sp>
        </mc:Choice>
        <mc:Fallback>
          <p:sp>
            <p:nvSpPr>
              <p:cNvPr id="21" name="Rectangle 20">
                <a:extLst>
                  <a:ext uri="{FF2B5EF4-FFF2-40B4-BE49-F238E27FC236}">
                    <a16:creationId xmlns:a16="http://schemas.microsoft.com/office/drawing/2014/main" id="{6E19EC07-E2F6-0501-E2CC-F0519301671C}"/>
                  </a:ext>
                </a:extLst>
              </p:cNvPr>
              <p:cNvSpPr>
                <a:spLocks noRot="1" noChangeAspect="1" noMove="1" noResize="1" noEditPoints="1" noAdjustHandles="1" noChangeArrowheads="1" noChangeShapeType="1" noTextEdit="1"/>
              </p:cNvSpPr>
              <p:nvPr/>
            </p:nvSpPr>
            <p:spPr>
              <a:xfrm>
                <a:off x="1400082" y="2729794"/>
                <a:ext cx="1043967" cy="867719"/>
              </a:xfrm>
              <a:prstGeom prst="rect">
                <a:avLst/>
              </a:prstGeom>
              <a:blipFill>
                <a:blip r:embed="rId10"/>
                <a:stretch>
                  <a:fillRect l="-12941"/>
                </a:stretch>
              </a:blipFill>
              <a:ln>
                <a:solidFill>
                  <a:schemeClr val="tx1"/>
                </a:solidFill>
              </a:ln>
            </p:spPr>
            <p:txBody>
              <a:bodyPr/>
              <a:lstStyle/>
              <a:p>
                <a:r>
                  <a:rPr lang="en-VN">
                    <a:noFill/>
                  </a:rPr>
                  <a:t> </a:t>
                </a:r>
              </a:p>
            </p:txBody>
          </p:sp>
        </mc:Fallback>
      </mc:AlternateContent>
      <p:cxnSp>
        <p:nvCxnSpPr>
          <p:cNvPr id="22" name="Straight Connector 21">
            <a:extLst>
              <a:ext uri="{FF2B5EF4-FFF2-40B4-BE49-F238E27FC236}">
                <a16:creationId xmlns:a16="http://schemas.microsoft.com/office/drawing/2014/main" id="{C87B1FC1-5A59-CF74-7BC0-F7A004B665EB}"/>
              </a:ext>
            </a:extLst>
          </p:cNvPr>
          <p:cNvCxnSpPr>
            <a:cxnSpLocks/>
          </p:cNvCxnSpPr>
          <p:nvPr/>
        </p:nvCxnSpPr>
        <p:spPr>
          <a:xfrm flipV="1">
            <a:off x="611404" y="3022860"/>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774C1DCF-09B5-B205-D90C-B39F7EB8EE2D}"/>
                  </a:ext>
                </a:extLst>
              </p:cNvPr>
              <p:cNvSpPr/>
              <p:nvPr/>
            </p:nvSpPr>
            <p:spPr>
              <a:xfrm>
                <a:off x="2551549" y="2729794"/>
                <a:ext cx="400756"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𝑐</m:t>
                          </m:r>
                        </m:sub>
                      </m:sSub>
                    </m:oMath>
                  </m:oMathPara>
                </a14:m>
                <a:endParaRPr sz="2400"/>
              </a:p>
            </p:txBody>
          </p:sp>
        </mc:Choice>
        <mc:Fallback>
          <p:sp>
            <p:nvSpPr>
              <p:cNvPr id="25" name="Rectangle 24">
                <a:extLst>
                  <a:ext uri="{FF2B5EF4-FFF2-40B4-BE49-F238E27FC236}">
                    <a16:creationId xmlns:a16="http://schemas.microsoft.com/office/drawing/2014/main" id="{774C1DCF-09B5-B205-D90C-B39F7EB8EE2D}"/>
                  </a:ext>
                </a:extLst>
              </p:cNvPr>
              <p:cNvSpPr>
                <a:spLocks noRot="1" noChangeAspect="1" noMove="1" noResize="1" noEditPoints="1" noAdjustHandles="1" noChangeArrowheads="1" noChangeShapeType="1" noTextEdit="1"/>
              </p:cNvSpPr>
              <p:nvPr/>
            </p:nvSpPr>
            <p:spPr>
              <a:xfrm>
                <a:off x="2551549" y="2729794"/>
                <a:ext cx="400756" cy="867719"/>
              </a:xfrm>
              <a:prstGeom prst="rect">
                <a:avLst/>
              </a:prstGeom>
              <a:blipFill>
                <a:blip r:embed="rId11"/>
                <a:stretch>
                  <a:fillRect l="-41176"/>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AA6F56AE-F24B-1A6A-CA84-FDEF2DED0836}"/>
                  </a:ext>
                </a:extLst>
              </p:cNvPr>
              <p:cNvSpPr/>
              <p:nvPr/>
            </p:nvSpPr>
            <p:spPr>
              <a:xfrm>
                <a:off x="3059805" y="2729794"/>
                <a:ext cx="104396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𝑑</m:t>
                          </m:r>
                        </m:sub>
                      </m:sSub>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𝛽</m:t>
                              </m:r>
                            </m:e>
                            <m:sub>
                              <m:r>
                                <a:rPr lang="en-US" sz="2400" i="1">
                                  <a:solidFill>
                                    <a:schemeClr val="tx1"/>
                                  </a:solidFill>
                                  <a:latin typeface="Cambria Math" panose="02040503050406030204" pitchFamily="18" charset="0"/>
                                </a:rPr>
                                <m:t>2</m:t>
                              </m:r>
                            </m:sub>
                          </m:sSub>
                        </m:e>
                      </m:d>
                    </m:oMath>
                  </m:oMathPara>
                </a14:m>
                <a:endParaRPr sz="2400"/>
              </a:p>
            </p:txBody>
          </p:sp>
        </mc:Choice>
        <mc:Fallback>
          <p:sp>
            <p:nvSpPr>
              <p:cNvPr id="26" name="Rectangle 25">
                <a:extLst>
                  <a:ext uri="{FF2B5EF4-FFF2-40B4-BE49-F238E27FC236}">
                    <a16:creationId xmlns:a16="http://schemas.microsoft.com/office/drawing/2014/main" id="{AA6F56AE-F24B-1A6A-CA84-FDEF2DED0836}"/>
                  </a:ext>
                </a:extLst>
              </p:cNvPr>
              <p:cNvSpPr>
                <a:spLocks noRot="1" noChangeAspect="1" noMove="1" noResize="1" noEditPoints="1" noAdjustHandles="1" noChangeArrowheads="1" noChangeShapeType="1" noTextEdit="1"/>
              </p:cNvSpPr>
              <p:nvPr/>
            </p:nvSpPr>
            <p:spPr>
              <a:xfrm>
                <a:off x="3059805" y="2729794"/>
                <a:ext cx="1043967" cy="867719"/>
              </a:xfrm>
              <a:prstGeom prst="rect">
                <a:avLst/>
              </a:prstGeom>
              <a:blipFill>
                <a:blip r:embed="rId12"/>
                <a:stretch>
                  <a:fillRect l="-14286"/>
                </a:stretch>
              </a:blipFill>
              <a:ln>
                <a:solidFill>
                  <a:schemeClr val="tx1"/>
                </a:solidFill>
              </a:ln>
            </p:spPr>
            <p:txBody>
              <a:bodyPr/>
              <a:lstStyle/>
              <a:p>
                <a:r>
                  <a:rPr lang="en-VN">
                    <a:noFill/>
                  </a:rPr>
                  <a:t> </a:t>
                </a:r>
              </a:p>
            </p:txBody>
          </p:sp>
        </mc:Fallback>
      </mc:AlternateContent>
      <p:cxnSp>
        <p:nvCxnSpPr>
          <p:cNvPr id="27" name="Straight Connector 26">
            <a:extLst>
              <a:ext uri="{FF2B5EF4-FFF2-40B4-BE49-F238E27FC236}">
                <a16:creationId xmlns:a16="http://schemas.microsoft.com/office/drawing/2014/main" id="{2F95628E-43D7-CC17-2619-9CED56729A82}"/>
              </a:ext>
            </a:extLst>
          </p:cNvPr>
          <p:cNvCxnSpPr>
            <a:cxnSpLocks/>
          </p:cNvCxnSpPr>
          <p:nvPr/>
        </p:nvCxnSpPr>
        <p:spPr>
          <a:xfrm>
            <a:off x="415521" y="4438457"/>
            <a:ext cx="213602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 name="Rectangle 27">
                <a:extLst>
                  <a:ext uri="{FF2B5EF4-FFF2-40B4-BE49-F238E27FC236}">
                    <a16:creationId xmlns:a16="http://schemas.microsoft.com/office/drawing/2014/main" id="{22406C3C-39BF-5A1A-C564-FCEB3C66DAD5}"/>
                  </a:ext>
                </a:extLst>
              </p:cNvPr>
              <p:cNvSpPr/>
              <p:nvPr/>
            </p:nvSpPr>
            <p:spPr>
              <a:xfrm>
                <a:off x="891826" y="4013738"/>
                <a:ext cx="400756"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𝑐</m:t>
                          </m:r>
                        </m:sub>
                      </m:sSub>
                    </m:oMath>
                  </m:oMathPara>
                </a14:m>
                <a:endParaRPr sz="2400"/>
              </a:p>
            </p:txBody>
          </p:sp>
        </mc:Choice>
        <mc:Fallback>
          <p:sp>
            <p:nvSpPr>
              <p:cNvPr id="28" name="Rectangle 27">
                <a:extLst>
                  <a:ext uri="{FF2B5EF4-FFF2-40B4-BE49-F238E27FC236}">
                    <a16:creationId xmlns:a16="http://schemas.microsoft.com/office/drawing/2014/main" id="{22406C3C-39BF-5A1A-C564-FCEB3C66DAD5}"/>
                  </a:ext>
                </a:extLst>
              </p:cNvPr>
              <p:cNvSpPr>
                <a:spLocks noRot="1" noChangeAspect="1" noMove="1" noResize="1" noEditPoints="1" noAdjustHandles="1" noChangeArrowheads="1" noChangeShapeType="1" noTextEdit="1"/>
              </p:cNvSpPr>
              <p:nvPr/>
            </p:nvSpPr>
            <p:spPr>
              <a:xfrm>
                <a:off x="891826" y="4013738"/>
                <a:ext cx="400756" cy="867719"/>
              </a:xfrm>
              <a:prstGeom prst="rect">
                <a:avLst/>
              </a:prstGeom>
              <a:blipFill>
                <a:blip r:embed="rId13"/>
                <a:stretch>
                  <a:fillRect l="-38235"/>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9" name="Rectangle 28">
                <a:extLst>
                  <a:ext uri="{FF2B5EF4-FFF2-40B4-BE49-F238E27FC236}">
                    <a16:creationId xmlns:a16="http://schemas.microsoft.com/office/drawing/2014/main" id="{005E67F5-BF09-9B00-2F07-7D68EE264EB0}"/>
                  </a:ext>
                </a:extLst>
              </p:cNvPr>
              <p:cNvSpPr/>
              <p:nvPr/>
            </p:nvSpPr>
            <p:spPr>
              <a:xfrm>
                <a:off x="1400082" y="4013738"/>
                <a:ext cx="104396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𝑑</m:t>
                          </m:r>
                        </m:sub>
                      </m:sSub>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𝛽</m:t>
                              </m:r>
                            </m:e>
                            <m:sub>
                              <m:r>
                                <a:rPr lang="en-US" sz="2400" i="1">
                                  <a:solidFill>
                                    <a:schemeClr val="tx1"/>
                                  </a:solidFill>
                                  <a:latin typeface="Cambria Math" panose="02040503050406030204" pitchFamily="18" charset="0"/>
                                </a:rPr>
                                <m:t>1</m:t>
                              </m:r>
                            </m:sub>
                          </m:sSub>
                        </m:e>
                      </m:d>
                    </m:oMath>
                  </m:oMathPara>
                </a14:m>
                <a:endParaRPr sz="2400"/>
              </a:p>
            </p:txBody>
          </p:sp>
        </mc:Choice>
        <mc:Fallback>
          <p:sp>
            <p:nvSpPr>
              <p:cNvPr id="29" name="Rectangle 28">
                <a:extLst>
                  <a:ext uri="{FF2B5EF4-FFF2-40B4-BE49-F238E27FC236}">
                    <a16:creationId xmlns:a16="http://schemas.microsoft.com/office/drawing/2014/main" id="{005E67F5-BF09-9B00-2F07-7D68EE264EB0}"/>
                  </a:ext>
                </a:extLst>
              </p:cNvPr>
              <p:cNvSpPr>
                <a:spLocks noRot="1" noChangeAspect="1" noMove="1" noResize="1" noEditPoints="1" noAdjustHandles="1" noChangeArrowheads="1" noChangeShapeType="1" noTextEdit="1"/>
              </p:cNvSpPr>
              <p:nvPr/>
            </p:nvSpPr>
            <p:spPr>
              <a:xfrm>
                <a:off x="1400082" y="4013738"/>
                <a:ext cx="1043967" cy="867719"/>
              </a:xfrm>
              <a:prstGeom prst="rect">
                <a:avLst/>
              </a:prstGeom>
              <a:blipFill>
                <a:blip r:embed="rId14"/>
                <a:stretch>
                  <a:fillRect l="-12941"/>
                </a:stretch>
              </a:blipFill>
              <a:ln>
                <a:solidFill>
                  <a:schemeClr val="tx1"/>
                </a:solidFill>
              </a:ln>
            </p:spPr>
            <p:txBody>
              <a:bodyPr/>
              <a:lstStyle/>
              <a:p>
                <a:r>
                  <a:rPr lang="en-VN">
                    <a:noFill/>
                  </a:rPr>
                  <a:t> </a:t>
                </a:r>
              </a:p>
            </p:txBody>
          </p:sp>
        </mc:Fallback>
      </mc:AlternateContent>
      <p:cxnSp>
        <p:nvCxnSpPr>
          <p:cNvPr id="31" name="Straight Connector 30">
            <a:extLst>
              <a:ext uri="{FF2B5EF4-FFF2-40B4-BE49-F238E27FC236}">
                <a16:creationId xmlns:a16="http://schemas.microsoft.com/office/drawing/2014/main" id="{DBE05D2E-CD26-D7C5-FEED-7D772573CA61}"/>
              </a:ext>
            </a:extLst>
          </p:cNvPr>
          <p:cNvCxnSpPr>
            <a:cxnSpLocks/>
          </p:cNvCxnSpPr>
          <p:nvPr/>
        </p:nvCxnSpPr>
        <p:spPr>
          <a:xfrm flipV="1">
            <a:off x="611404" y="4306804"/>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 name="Rectangle 34">
                <a:extLst>
                  <a:ext uri="{FF2B5EF4-FFF2-40B4-BE49-F238E27FC236}">
                    <a16:creationId xmlns:a16="http://schemas.microsoft.com/office/drawing/2014/main" id="{2DCD7C64-C04D-BA05-B29B-894109B83428}"/>
                  </a:ext>
                </a:extLst>
              </p:cNvPr>
              <p:cNvSpPr/>
              <p:nvPr/>
            </p:nvSpPr>
            <p:spPr>
              <a:xfrm>
                <a:off x="3466207" y="4013738"/>
                <a:ext cx="400756"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𝑐</m:t>
                          </m:r>
                        </m:sub>
                      </m:sSub>
                    </m:oMath>
                  </m:oMathPara>
                </a14:m>
                <a:endParaRPr sz="2400"/>
              </a:p>
            </p:txBody>
          </p:sp>
        </mc:Choice>
        <mc:Fallback>
          <p:sp>
            <p:nvSpPr>
              <p:cNvPr id="35" name="Rectangle 34">
                <a:extLst>
                  <a:ext uri="{FF2B5EF4-FFF2-40B4-BE49-F238E27FC236}">
                    <a16:creationId xmlns:a16="http://schemas.microsoft.com/office/drawing/2014/main" id="{2DCD7C64-C04D-BA05-B29B-894109B83428}"/>
                  </a:ext>
                </a:extLst>
              </p:cNvPr>
              <p:cNvSpPr>
                <a:spLocks noRot="1" noChangeAspect="1" noMove="1" noResize="1" noEditPoints="1" noAdjustHandles="1" noChangeArrowheads="1" noChangeShapeType="1" noTextEdit="1"/>
              </p:cNvSpPr>
              <p:nvPr/>
            </p:nvSpPr>
            <p:spPr>
              <a:xfrm>
                <a:off x="3466207" y="4013738"/>
                <a:ext cx="400756" cy="867719"/>
              </a:xfrm>
              <a:prstGeom prst="rect">
                <a:avLst/>
              </a:prstGeom>
              <a:blipFill>
                <a:blip r:embed="rId15"/>
                <a:stretch>
                  <a:fillRect l="-41176"/>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6" name="Rectangle 35">
                <a:extLst>
                  <a:ext uri="{FF2B5EF4-FFF2-40B4-BE49-F238E27FC236}">
                    <a16:creationId xmlns:a16="http://schemas.microsoft.com/office/drawing/2014/main" id="{D6D5B971-A328-C78F-341B-7737227F21D8}"/>
                  </a:ext>
                </a:extLst>
              </p:cNvPr>
              <p:cNvSpPr/>
              <p:nvPr/>
            </p:nvSpPr>
            <p:spPr>
              <a:xfrm>
                <a:off x="3974463" y="4013738"/>
                <a:ext cx="104396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𝑑</m:t>
                          </m:r>
                        </m:sub>
                      </m:sSub>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𝛽</m:t>
                              </m:r>
                            </m:e>
                            <m:sub>
                              <m:r>
                                <a:rPr lang="en-US" sz="2400" i="1">
                                  <a:solidFill>
                                    <a:schemeClr val="tx1"/>
                                  </a:solidFill>
                                  <a:latin typeface="Cambria Math" panose="02040503050406030204" pitchFamily="18" charset="0"/>
                                </a:rPr>
                                <m:t>𝑛</m:t>
                              </m:r>
                            </m:sub>
                          </m:sSub>
                        </m:e>
                      </m:d>
                    </m:oMath>
                  </m:oMathPara>
                </a14:m>
                <a:endParaRPr sz="2400"/>
              </a:p>
            </p:txBody>
          </p:sp>
        </mc:Choice>
        <mc:Fallback>
          <p:sp>
            <p:nvSpPr>
              <p:cNvPr id="36" name="Rectangle 35">
                <a:extLst>
                  <a:ext uri="{FF2B5EF4-FFF2-40B4-BE49-F238E27FC236}">
                    <a16:creationId xmlns:a16="http://schemas.microsoft.com/office/drawing/2014/main" id="{D6D5B971-A328-C78F-341B-7737227F21D8}"/>
                  </a:ext>
                </a:extLst>
              </p:cNvPr>
              <p:cNvSpPr>
                <a:spLocks noRot="1" noChangeAspect="1" noMove="1" noResize="1" noEditPoints="1" noAdjustHandles="1" noChangeArrowheads="1" noChangeShapeType="1" noTextEdit="1"/>
              </p:cNvSpPr>
              <p:nvPr/>
            </p:nvSpPr>
            <p:spPr>
              <a:xfrm>
                <a:off x="3974463" y="4013738"/>
                <a:ext cx="1043967" cy="867719"/>
              </a:xfrm>
              <a:prstGeom prst="rect">
                <a:avLst/>
              </a:prstGeom>
              <a:blipFill>
                <a:blip r:embed="rId16"/>
                <a:stretch>
                  <a:fillRect l="-14286"/>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AB590E58-D2C3-3124-4F72-D5A23BD44389}"/>
                  </a:ext>
                </a:extLst>
              </p:cNvPr>
              <p:cNvSpPr txBox="1"/>
              <p:nvPr/>
            </p:nvSpPr>
            <p:spPr>
              <a:xfrm>
                <a:off x="2384532" y="4119932"/>
                <a:ext cx="80381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latin typeface="Calibri (Body)"/>
                </a:endParaRPr>
              </a:p>
            </p:txBody>
          </p:sp>
        </mc:Choice>
        <mc:Fallback>
          <p:sp>
            <p:nvSpPr>
              <p:cNvPr id="39" name="TextBox 38">
                <a:extLst>
                  <a:ext uri="{FF2B5EF4-FFF2-40B4-BE49-F238E27FC236}">
                    <a16:creationId xmlns:a16="http://schemas.microsoft.com/office/drawing/2014/main" id="{AB590E58-D2C3-3124-4F72-D5A23BD44389}"/>
                  </a:ext>
                </a:extLst>
              </p:cNvPr>
              <p:cNvSpPr txBox="1">
                <a:spLocks noRot="1" noChangeAspect="1" noMove="1" noResize="1" noEditPoints="1" noAdjustHandles="1" noChangeArrowheads="1" noChangeShapeType="1" noTextEdit="1"/>
              </p:cNvSpPr>
              <p:nvPr/>
            </p:nvSpPr>
            <p:spPr>
              <a:xfrm>
                <a:off x="2384532" y="4119932"/>
                <a:ext cx="803816" cy="461665"/>
              </a:xfrm>
              <a:prstGeom prst="rect">
                <a:avLst/>
              </a:prstGeom>
              <a:blipFill>
                <a:blip r:embed="rId17"/>
                <a:stretch>
                  <a:fillRect/>
                </a:stretch>
              </a:blipFill>
            </p:spPr>
            <p:txBody>
              <a:bodyPr/>
              <a:lstStyle/>
              <a:p>
                <a:r>
                  <a:rPr lang="en-VN">
                    <a:noFill/>
                  </a:rPr>
                  <a:t> </a:t>
                </a:r>
              </a:p>
            </p:txBody>
          </p:sp>
        </mc:Fallback>
      </mc:AlternateContent>
      <p:sp>
        <p:nvSpPr>
          <p:cNvPr id="48" name="Rectangle 47">
            <a:extLst>
              <a:ext uri="{FF2B5EF4-FFF2-40B4-BE49-F238E27FC236}">
                <a16:creationId xmlns:a16="http://schemas.microsoft.com/office/drawing/2014/main" id="{39DDFFB0-141A-0A9A-FE69-060FA6AEC8FE}"/>
              </a:ext>
            </a:extLst>
          </p:cNvPr>
          <p:cNvSpPr/>
          <p:nvPr/>
        </p:nvSpPr>
        <p:spPr>
          <a:xfrm>
            <a:off x="95128" y="1913277"/>
            <a:ext cx="132008" cy="4083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p:sp>
        <p:nvSpPr>
          <p:cNvPr id="49" name="Rectangle 48">
            <a:extLst>
              <a:ext uri="{FF2B5EF4-FFF2-40B4-BE49-F238E27FC236}">
                <a16:creationId xmlns:a16="http://schemas.microsoft.com/office/drawing/2014/main" id="{8910F583-7937-080C-0F0E-14ED933D71A0}"/>
              </a:ext>
            </a:extLst>
          </p:cNvPr>
          <p:cNvSpPr/>
          <p:nvPr/>
        </p:nvSpPr>
        <p:spPr>
          <a:xfrm>
            <a:off x="89892" y="2950316"/>
            <a:ext cx="132008" cy="4083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p:sp>
        <p:nvSpPr>
          <p:cNvPr id="50" name="Rectangle 49">
            <a:extLst>
              <a:ext uri="{FF2B5EF4-FFF2-40B4-BE49-F238E27FC236}">
                <a16:creationId xmlns:a16="http://schemas.microsoft.com/office/drawing/2014/main" id="{0AB03537-AA3E-C893-B7D5-07EA21BDA2D5}"/>
              </a:ext>
            </a:extLst>
          </p:cNvPr>
          <p:cNvSpPr/>
          <p:nvPr/>
        </p:nvSpPr>
        <p:spPr>
          <a:xfrm>
            <a:off x="79683" y="4254949"/>
            <a:ext cx="132008" cy="4083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p:sp>
        <p:nvSpPr>
          <p:cNvPr id="59" name="TextBox 58">
            <a:extLst>
              <a:ext uri="{FF2B5EF4-FFF2-40B4-BE49-F238E27FC236}">
                <a16:creationId xmlns:a16="http://schemas.microsoft.com/office/drawing/2014/main" id="{6B46ED22-FD77-784E-7D68-E830E7765D53}"/>
              </a:ext>
            </a:extLst>
          </p:cNvPr>
          <p:cNvSpPr txBox="1"/>
          <p:nvPr/>
        </p:nvSpPr>
        <p:spPr>
          <a:xfrm>
            <a:off x="7043296" y="1424374"/>
            <a:ext cx="953912" cy="461665"/>
          </a:xfrm>
          <a:prstGeom prst="rect">
            <a:avLst/>
          </a:prstGeom>
          <a:noFill/>
        </p:spPr>
        <p:txBody>
          <a:bodyPr wrap="square">
            <a:spAutoFit/>
          </a:bodyPr>
          <a:lstStyle/>
          <a:p>
            <a:r>
              <a:rPr lang="en-US" sz="2400">
                <a:latin typeface="Calibri (Body)"/>
              </a:rPr>
              <a:t>Step</a:t>
            </a:r>
            <a:endParaRPr lang="vi-VN" sz="2400">
              <a:latin typeface="Calibri (Body)"/>
            </a:endParaRPr>
          </a:p>
        </p:txBody>
      </p: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423588BA-72FD-C9DB-B52A-76E94C1AAE27}"/>
                  </a:ext>
                </a:extLst>
              </p:cNvPr>
              <p:cNvSpPr txBox="1"/>
              <p:nvPr/>
            </p:nvSpPr>
            <p:spPr>
              <a:xfrm>
                <a:off x="2658539" y="1894885"/>
                <a:ext cx="1710264"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e>
                              </m:d>
                            </m:e>
                          </m:d>
                        </m:e>
                        <m:sub>
                          <m:r>
                            <a:rPr lang="en-US" sz="2400" i="1">
                              <a:latin typeface="Cambria Math" panose="02040503050406030204" pitchFamily="18" charset="0"/>
                            </a:rPr>
                            <m:t>1</m:t>
                          </m:r>
                        </m:sub>
                      </m:sSub>
                    </m:oMath>
                  </m:oMathPara>
                </a14:m>
                <a:endParaRPr lang="vi-VN" sz="2400"/>
              </a:p>
            </p:txBody>
          </p:sp>
        </mc:Choice>
        <mc:Fallback>
          <p:sp>
            <p:nvSpPr>
              <p:cNvPr id="60" name="TextBox 59">
                <a:extLst>
                  <a:ext uri="{FF2B5EF4-FFF2-40B4-BE49-F238E27FC236}">
                    <a16:creationId xmlns:a16="http://schemas.microsoft.com/office/drawing/2014/main" id="{423588BA-72FD-C9DB-B52A-76E94C1AAE27}"/>
                  </a:ext>
                </a:extLst>
              </p:cNvPr>
              <p:cNvSpPr txBox="1">
                <a:spLocks noRot="1" noChangeAspect="1" noMove="1" noResize="1" noEditPoints="1" noAdjustHandles="1" noChangeArrowheads="1" noChangeShapeType="1" noTextEdit="1"/>
              </p:cNvSpPr>
              <p:nvPr/>
            </p:nvSpPr>
            <p:spPr>
              <a:xfrm>
                <a:off x="2658539" y="1894885"/>
                <a:ext cx="1710264" cy="369332"/>
              </a:xfrm>
              <a:prstGeom prst="rect">
                <a:avLst/>
              </a:prstGeom>
              <a:blipFill>
                <a:blip r:embed="rId18"/>
                <a:stretch>
                  <a:fillRect b="-1666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D689FDF9-F34B-E3DF-8442-C11209627770}"/>
                  </a:ext>
                </a:extLst>
              </p:cNvPr>
              <p:cNvSpPr txBox="1"/>
              <p:nvPr/>
            </p:nvSpPr>
            <p:spPr>
              <a:xfrm>
                <a:off x="4661417" y="2944672"/>
                <a:ext cx="15962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e>
                              </m:d>
                            </m:e>
                          </m:d>
                        </m:e>
                        <m:sub>
                          <m:r>
                            <a:rPr lang="en-US" sz="2400" i="1">
                              <a:latin typeface="Cambria Math" panose="02040503050406030204" pitchFamily="18" charset="0"/>
                            </a:rPr>
                            <m:t>2</m:t>
                          </m:r>
                        </m:sub>
                      </m:sSub>
                    </m:oMath>
                  </m:oMathPara>
                </a14:m>
                <a:endParaRPr lang="vi-VN" sz="2400"/>
              </a:p>
            </p:txBody>
          </p:sp>
        </mc:Choice>
        <mc:Fallback>
          <p:sp>
            <p:nvSpPr>
              <p:cNvPr id="61" name="TextBox 60">
                <a:extLst>
                  <a:ext uri="{FF2B5EF4-FFF2-40B4-BE49-F238E27FC236}">
                    <a16:creationId xmlns:a16="http://schemas.microsoft.com/office/drawing/2014/main" id="{D689FDF9-F34B-E3DF-8442-C11209627770}"/>
                  </a:ext>
                </a:extLst>
              </p:cNvPr>
              <p:cNvSpPr txBox="1">
                <a:spLocks noRot="1" noChangeAspect="1" noMove="1" noResize="1" noEditPoints="1" noAdjustHandles="1" noChangeArrowheads="1" noChangeShapeType="1" noTextEdit="1"/>
              </p:cNvSpPr>
              <p:nvPr/>
            </p:nvSpPr>
            <p:spPr>
              <a:xfrm>
                <a:off x="4661417" y="2944672"/>
                <a:ext cx="1596206" cy="369332"/>
              </a:xfrm>
              <a:prstGeom prst="rect">
                <a:avLst/>
              </a:prstGeom>
              <a:blipFill>
                <a:blip r:embed="rId19"/>
                <a:stretch>
                  <a:fillRect r="-794" b="-1290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291" name="TextBox 12290">
                <a:extLst>
                  <a:ext uri="{FF2B5EF4-FFF2-40B4-BE49-F238E27FC236}">
                    <a16:creationId xmlns:a16="http://schemas.microsoft.com/office/drawing/2014/main" id="{0B423D0F-421C-2CFC-CCF2-7F28588F17B2}"/>
                  </a:ext>
                </a:extLst>
              </p:cNvPr>
              <p:cNvSpPr txBox="1"/>
              <p:nvPr/>
            </p:nvSpPr>
            <p:spPr>
              <a:xfrm>
                <a:off x="5363378" y="4253791"/>
                <a:ext cx="157538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𝑛</m:t>
                          </m:r>
                        </m:sub>
                      </m:sSub>
                      <m:r>
                        <a:rPr lang="en-US" sz="2400" i="1">
                          <a:latin typeface="Cambria Math" panose="02040503050406030204" pitchFamily="18" charset="0"/>
                        </a:rPr>
                        <m:t>⟩</m:t>
                      </m:r>
                    </m:oMath>
                  </m:oMathPara>
                </a14:m>
                <a:endParaRPr lang="vi-VN" sz="2400"/>
              </a:p>
            </p:txBody>
          </p:sp>
        </mc:Choice>
        <mc:Fallback>
          <p:sp>
            <p:nvSpPr>
              <p:cNvPr id="12291" name="TextBox 12290">
                <a:extLst>
                  <a:ext uri="{FF2B5EF4-FFF2-40B4-BE49-F238E27FC236}">
                    <a16:creationId xmlns:a16="http://schemas.microsoft.com/office/drawing/2014/main" id="{0B423D0F-421C-2CFC-CCF2-7F28588F17B2}"/>
                  </a:ext>
                </a:extLst>
              </p:cNvPr>
              <p:cNvSpPr txBox="1">
                <a:spLocks noRot="1" noChangeAspect="1" noMove="1" noResize="1" noEditPoints="1" noAdjustHandles="1" noChangeArrowheads="1" noChangeShapeType="1" noTextEdit="1"/>
              </p:cNvSpPr>
              <p:nvPr/>
            </p:nvSpPr>
            <p:spPr>
              <a:xfrm>
                <a:off x="5363378" y="4253791"/>
                <a:ext cx="1575388" cy="369332"/>
              </a:xfrm>
              <a:prstGeom prst="rect">
                <a:avLst/>
              </a:prstGeom>
              <a:blipFill>
                <a:blip r:embed="rId20"/>
                <a:stretch>
                  <a:fillRect l="-6400" r="-5600" b="-37931"/>
                </a:stretch>
              </a:blipFill>
            </p:spPr>
            <p:txBody>
              <a:bodyPr/>
              <a:lstStyle/>
              <a:p>
                <a:r>
                  <a:rPr lang="en-VN">
                    <a:noFill/>
                  </a:rPr>
                  <a:t> </a:t>
                </a:r>
              </a:p>
            </p:txBody>
          </p:sp>
        </mc:Fallback>
      </mc:AlternateContent>
      <p:cxnSp>
        <p:nvCxnSpPr>
          <p:cNvPr id="12292" name="Connector: Curved 12291">
            <a:extLst>
              <a:ext uri="{FF2B5EF4-FFF2-40B4-BE49-F238E27FC236}">
                <a16:creationId xmlns:a16="http://schemas.microsoft.com/office/drawing/2014/main" id="{97F178D0-AE49-1147-E87E-9E757F0446A1}"/>
              </a:ext>
            </a:extLst>
          </p:cNvPr>
          <p:cNvCxnSpPr>
            <a:cxnSpLocks/>
            <a:stCxn id="60" idx="3"/>
            <a:endCxn id="61" idx="0"/>
          </p:cNvCxnSpPr>
          <p:nvPr/>
        </p:nvCxnSpPr>
        <p:spPr>
          <a:xfrm>
            <a:off x="4368803" y="2079551"/>
            <a:ext cx="1090717" cy="865121"/>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2295" name="Connector: Curved 12294">
            <a:extLst>
              <a:ext uri="{FF2B5EF4-FFF2-40B4-BE49-F238E27FC236}">
                <a16:creationId xmlns:a16="http://schemas.microsoft.com/office/drawing/2014/main" id="{69032ABD-B90A-AFF8-0952-78F29BA3C5B1}"/>
              </a:ext>
            </a:extLst>
          </p:cNvPr>
          <p:cNvCxnSpPr>
            <a:cxnSpLocks/>
            <a:stCxn id="61" idx="2"/>
            <a:endCxn id="12291" idx="0"/>
          </p:cNvCxnSpPr>
          <p:nvPr/>
        </p:nvCxnSpPr>
        <p:spPr>
          <a:xfrm rot="16200000" flipH="1">
            <a:off x="5335403" y="3438121"/>
            <a:ext cx="939787" cy="691552"/>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2299" name="TextBox 12298">
            <a:extLst>
              <a:ext uri="{FF2B5EF4-FFF2-40B4-BE49-F238E27FC236}">
                <a16:creationId xmlns:a16="http://schemas.microsoft.com/office/drawing/2014/main" id="{B47B85A8-79C4-D913-0909-AB34818B20C8}"/>
              </a:ext>
            </a:extLst>
          </p:cNvPr>
          <p:cNvSpPr txBox="1"/>
          <p:nvPr/>
        </p:nvSpPr>
        <p:spPr>
          <a:xfrm>
            <a:off x="5378030" y="4926697"/>
            <a:ext cx="1516561" cy="338554"/>
          </a:xfrm>
          <a:prstGeom prst="rect">
            <a:avLst/>
          </a:prstGeom>
          <a:noFill/>
        </p:spPr>
        <p:txBody>
          <a:bodyPr wrap="square" rtlCol="0">
            <a:spAutoFit/>
          </a:bodyPr>
          <a:lstStyle/>
          <a:p>
            <a:r>
              <a:rPr lang="en-US" sz="1600">
                <a:solidFill>
                  <a:srgbClr val="FF0000"/>
                </a:solidFill>
              </a:rPr>
              <a:t>Ground energy</a:t>
            </a:r>
            <a:endParaRPr lang="vi-VN" sz="1600" b="1">
              <a:solidFill>
                <a:srgbClr val="FF0000"/>
              </a:solidFill>
            </a:endParaRPr>
          </a:p>
        </p:txBody>
      </p:sp>
      <p:cxnSp>
        <p:nvCxnSpPr>
          <p:cNvPr id="12300" name="Straight Arrow Connector 12299">
            <a:extLst>
              <a:ext uri="{FF2B5EF4-FFF2-40B4-BE49-F238E27FC236}">
                <a16:creationId xmlns:a16="http://schemas.microsoft.com/office/drawing/2014/main" id="{6A492C03-0663-092E-96C1-6A956C523A9D}"/>
              </a:ext>
            </a:extLst>
          </p:cNvPr>
          <p:cNvCxnSpPr>
            <a:cxnSpLocks/>
            <a:stCxn id="12301" idx="2"/>
            <a:endCxn id="12299" idx="0"/>
          </p:cNvCxnSpPr>
          <p:nvPr/>
        </p:nvCxnSpPr>
        <p:spPr>
          <a:xfrm flipH="1">
            <a:off x="6136311" y="4692285"/>
            <a:ext cx="1" cy="2344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301" name="Rectangle 12300">
            <a:extLst>
              <a:ext uri="{FF2B5EF4-FFF2-40B4-BE49-F238E27FC236}">
                <a16:creationId xmlns:a16="http://schemas.microsoft.com/office/drawing/2014/main" id="{1BB955A9-2712-CE87-953C-4071FEEA681B}"/>
              </a:ext>
            </a:extLst>
          </p:cNvPr>
          <p:cNvSpPr/>
          <p:nvPr/>
        </p:nvSpPr>
        <p:spPr>
          <a:xfrm>
            <a:off x="5348618" y="4279456"/>
            <a:ext cx="1575388"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12307" name="Straight Connector 12306">
            <a:extLst>
              <a:ext uri="{FF2B5EF4-FFF2-40B4-BE49-F238E27FC236}">
                <a16:creationId xmlns:a16="http://schemas.microsoft.com/office/drawing/2014/main" id="{2970B8FD-2794-CEB2-9FD9-327F18BDFBE0}"/>
              </a:ext>
            </a:extLst>
          </p:cNvPr>
          <p:cNvCxnSpPr>
            <a:cxnSpLocks/>
          </p:cNvCxnSpPr>
          <p:nvPr/>
        </p:nvCxnSpPr>
        <p:spPr>
          <a:xfrm>
            <a:off x="7077052" y="3136580"/>
            <a:ext cx="255085" cy="0"/>
          </a:xfrm>
          <a:prstGeom prst="line">
            <a:avLst/>
          </a:prstGeom>
          <a:ln w="3175">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311" name="TextBox 12310">
                <a:extLst>
                  <a:ext uri="{FF2B5EF4-FFF2-40B4-BE49-F238E27FC236}">
                    <a16:creationId xmlns:a16="http://schemas.microsoft.com/office/drawing/2014/main" id="{D197B860-A669-3E98-9266-00C90430EB47}"/>
                  </a:ext>
                </a:extLst>
              </p:cNvPr>
              <p:cNvSpPr txBox="1"/>
              <p:nvPr/>
            </p:nvSpPr>
            <p:spPr>
              <a:xfrm rot="5400000">
                <a:off x="785537" y="3570878"/>
                <a:ext cx="80381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latin typeface="Calibri (Body)"/>
                </a:endParaRPr>
              </a:p>
            </p:txBody>
          </p:sp>
        </mc:Choice>
        <mc:Fallback>
          <p:sp>
            <p:nvSpPr>
              <p:cNvPr id="12311" name="TextBox 12310">
                <a:extLst>
                  <a:ext uri="{FF2B5EF4-FFF2-40B4-BE49-F238E27FC236}">
                    <a16:creationId xmlns:a16="http://schemas.microsoft.com/office/drawing/2014/main" id="{D197B860-A669-3E98-9266-00C90430EB47}"/>
                  </a:ext>
                </a:extLst>
              </p:cNvPr>
              <p:cNvSpPr txBox="1">
                <a:spLocks noRot="1" noChangeAspect="1" noMove="1" noResize="1" noEditPoints="1" noAdjustHandles="1" noChangeArrowheads="1" noChangeShapeType="1" noTextEdit="1"/>
              </p:cNvSpPr>
              <p:nvPr/>
            </p:nvSpPr>
            <p:spPr>
              <a:xfrm rot="5400000">
                <a:off x="785537" y="3570878"/>
                <a:ext cx="803816" cy="461665"/>
              </a:xfrm>
              <a:prstGeom prst="rect">
                <a:avLst/>
              </a:prstGeom>
              <a:blipFill>
                <a:blip r:embed="rId21"/>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312" name="TextBox 12311">
                <a:extLst>
                  <a:ext uri="{FF2B5EF4-FFF2-40B4-BE49-F238E27FC236}">
                    <a16:creationId xmlns:a16="http://schemas.microsoft.com/office/drawing/2014/main" id="{A7518A78-A784-4439-30E8-3CEE73597777}"/>
                  </a:ext>
                </a:extLst>
              </p:cNvPr>
              <p:cNvSpPr txBox="1"/>
              <p:nvPr/>
            </p:nvSpPr>
            <p:spPr>
              <a:xfrm rot="5400000">
                <a:off x="6945801" y="3565768"/>
                <a:ext cx="80381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latin typeface="Calibri (Body)"/>
                </a:endParaRPr>
              </a:p>
            </p:txBody>
          </p:sp>
        </mc:Choice>
        <mc:Fallback>
          <p:sp>
            <p:nvSpPr>
              <p:cNvPr id="12312" name="TextBox 12311">
                <a:extLst>
                  <a:ext uri="{FF2B5EF4-FFF2-40B4-BE49-F238E27FC236}">
                    <a16:creationId xmlns:a16="http://schemas.microsoft.com/office/drawing/2014/main" id="{A7518A78-A784-4439-30E8-3CEE73597777}"/>
                  </a:ext>
                </a:extLst>
              </p:cNvPr>
              <p:cNvSpPr txBox="1">
                <a:spLocks noRot="1" noChangeAspect="1" noMove="1" noResize="1" noEditPoints="1" noAdjustHandles="1" noChangeArrowheads="1" noChangeShapeType="1" noTextEdit="1"/>
              </p:cNvSpPr>
              <p:nvPr/>
            </p:nvSpPr>
            <p:spPr>
              <a:xfrm rot="5400000">
                <a:off x="6945801" y="3565768"/>
                <a:ext cx="803816" cy="461665"/>
              </a:xfrm>
              <a:prstGeom prst="rect">
                <a:avLst/>
              </a:prstGeom>
              <a:blipFill>
                <a:blip r:embed="rId22"/>
                <a:stretch>
                  <a:fillRect/>
                </a:stretch>
              </a:blipFill>
            </p:spPr>
            <p:txBody>
              <a:bodyPr/>
              <a:lstStyle/>
              <a:p>
                <a:r>
                  <a:rPr lang="en-VN">
                    <a:noFill/>
                  </a:rPr>
                  <a:t> </a:t>
                </a:r>
              </a:p>
            </p:txBody>
          </p:sp>
        </mc:Fallback>
      </mc:AlternateContent>
      <p:cxnSp>
        <p:nvCxnSpPr>
          <p:cNvPr id="12313" name="Straight Arrow Connector 12312">
            <a:extLst>
              <a:ext uri="{FF2B5EF4-FFF2-40B4-BE49-F238E27FC236}">
                <a16:creationId xmlns:a16="http://schemas.microsoft.com/office/drawing/2014/main" id="{32C90531-FD3C-A03B-EFB0-8084F785D032}"/>
              </a:ext>
            </a:extLst>
          </p:cNvPr>
          <p:cNvCxnSpPr>
            <a:cxnSpLocks/>
          </p:cNvCxnSpPr>
          <p:nvPr/>
        </p:nvCxnSpPr>
        <p:spPr>
          <a:xfrm>
            <a:off x="3734317" y="2306608"/>
            <a:ext cx="0" cy="6793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315" name="TextBox 12314">
                <a:extLst>
                  <a:ext uri="{FF2B5EF4-FFF2-40B4-BE49-F238E27FC236}">
                    <a16:creationId xmlns:a16="http://schemas.microsoft.com/office/drawing/2014/main" id="{ED0BABDE-76CA-16A9-BEBF-C4A7E54D5197}"/>
                  </a:ext>
                </a:extLst>
              </p:cNvPr>
              <p:cNvSpPr txBox="1"/>
              <p:nvPr/>
            </p:nvSpPr>
            <p:spPr>
              <a:xfrm>
                <a:off x="3754075" y="2310028"/>
                <a:ext cx="3019264" cy="338554"/>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𝛽</m:t>
                          </m:r>
                        </m:e>
                        <m:sub>
                          <m:r>
                            <a:rPr lang="en-US" sz="1600" i="1">
                              <a:solidFill>
                                <a:srgbClr val="FF0000"/>
                              </a:solidFill>
                              <a:latin typeface="Cambria Math" panose="02040503050406030204" pitchFamily="18" charset="0"/>
                            </a:rPr>
                            <m:t>2</m:t>
                          </m:r>
                        </m:sub>
                      </m:sSub>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d>
                            <m:dPr>
                              <m:begChr m:val="⟨"/>
                              <m:endChr m:val="⟩"/>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𝑖</m:t>
                              </m:r>
                              <m:d>
                                <m:dPr>
                                  <m:begChr m:val="["/>
                                  <m:endChr m:val="]"/>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𝐻</m:t>
                                      </m:r>
                                    </m:e>
                                    <m:sub>
                                      <m:r>
                                        <a:rPr lang="en-US" sz="1600" i="1">
                                          <a:solidFill>
                                            <a:srgbClr val="FF0000"/>
                                          </a:solidFill>
                                          <a:latin typeface="Cambria Math" panose="02040503050406030204" pitchFamily="18" charset="0"/>
                                        </a:rPr>
                                        <m:t>𝑑</m:t>
                                      </m:r>
                                    </m:sub>
                                  </m:sSub>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𝐻</m:t>
                                      </m:r>
                                    </m:e>
                                    <m:sub>
                                      <m:r>
                                        <a:rPr lang="en-US" sz="1600" i="1">
                                          <a:solidFill>
                                            <a:srgbClr val="FF0000"/>
                                          </a:solidFill>
                                          <a:latin typeface="Cambria Math" panose="02040503050406030204" pitchFamily="18" charset="0"/>
                                        </a:rPr>
                                        <m:t>𝑐</m:t>
                                      </m:r>
                                    </m:sub>
                                  </m:sSub>
                                </m:e>
                              </m:d>
                            </m:e>
                          </m:d>
                        </m:e>
                        <m:sub>
                          <m:r>
                            <a:rPr lang="en-US" sz="1600" i="1">
                              <a:solidFill>
                                <a:srgbClr val="FF0000"/>
                              </a:solidFill>
                              <a:latin typeface="Cambria Math" panose="02040503050406030204" pitchFamily="18" charset="0"/>
                            </a:rPr>
                            <m:t>1</m:t>
                          </m:r>
                        </m:sub>
                      </m:sSub>
                      <m:r>
                        <a:rPr lang="en-US" sz="1600" i="1">
                          <a:solidFill>
                            <a:srgbClr val="FF0000"/>
                          </a:solidFill>
                          <a:latin typeface="Cambria Math" panose="02040503050406030204" pitchFamily="18" charset="0"/>
                        </a:rPr>
                        <m:t>∗</m:t>
                      </m:r>
                      <m:r>
                        <m:rPr>
                          <m:sty m:val="p"/>
                        </m:rPr>
                        <a:rPr lang="en-US" sz="1600">
                          <a:solidFill>
                            <a:srgbClr val="FF0000"/>
                          </a:solidFill>
                          <a:latin typeface="Cambria Math" panose="02040503050406030204" pitchFamily="18" charset="0"/>
                        </a:rPr>
                        <m:t>Δ</m:t>
                      </m:r>
                      <m:r>
                        <a:rPr lang="en-US" sz="1600" i="1">
                          <a:solidFill>
                            <a:srgbClr val="FF0000"/>
                          </a:solidFill>
                          <a:latin typeface="Cambria Math" panose="02040503050406030204" pitchFamily="18" charset="0"/>
                        </a:rPr>
                        <m:t>𝑡</m:t>
                      </m:r>
                    </m:oMath>
                  </m:oMathPara>
                </a14:m>
                <a:endParaRPr lang="vi-VN" sz="1600">
                  <a:solidFill>
                    <a:srgbClr val="FF0000"/>
                  </a:solidFill>
                </a:endParaRPr>
              </a:p>
            </p:txBody>
          </p:sp>
        </mc:Choice>
        <mc:Fallback>
          <p:sp>
            <p:nvSpPr>
              <p:cNvPr id="12315" name="TextBox 12314">
                <a:extLst>
                  <a:ext uri="{FF2B5EF4-FFF2-40B4-BE49-F238E27FC236}">
                    <a16:creationId xmlns:a16="http://schemas.microsoft.com/office/drawing/2014/main" id="{ED0BABDE-76CA-16A9-BEBF-C4A7E54D5197}"/>
                  </a:ext>
                </a:extLst>
              </p:cNvPr>
              <p:cNvSpPr txBox="1">
                <a:spLocks noRot="1" noChangeAspect="1" noMove="1" noResize="1" noEditPoints="1" noAdjustHandles="1" noChangeArrowheads="1" noChangeShapeType="1" noTextEdit="1"/>
              </p:cNvSpPr>
              <p:nvPr/>
            </p:nvSpPr>
            <p:spPr>
              <a:xfrm>
                <a:off x="3754075" y="2310028"/>
                <a:ext cx="3019264" cy="338554"/>
              </a:xfrm>
              <a:prstGeom prst="rect">
                <a:avLst/>
              </a:prstGeom>
              <a:blipFill>
                <a:blip r:embed="rId23"/>
                <a:stretch>
                  <a:fillRect b="-10714"/>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316" name="TextBox 12315">
                <a:extLst>
                  <a:ext uri="{FF2B5EF4-FFF2-40B4-BE49-F238E27FC236}">
                    <a16:creationId xmlns:a16="http://schemas.microsoft.com/office/drawing/2014/main" id="{41120E98-48BF-5088-6209-E5AD8940A924}"/>
                  </a:ext>
                </a:extLst>
              </p:cNvPr>
              <p:cNvSpPr txBox="1"/>
              <p:nvPr/>
            </p:nvSpPr>
            <p:spPr>
              <a:xfrm>
                <a:off x="2689327" y="1129692"/>
                <a:ext cx="4262024" cy="369332"/>
              </a:xfrm>
              <a:prstGeom prst="rect">
                <a:avLst/>
              </a:prstGeom>
              <a:noFill/>
              <a:ln>
                <a:solidFill>
                  <a:srgbClr val="FF0000"/>
                </a:solidFill>
              </a:ln>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e>
                              </m:d>
                            </m:e>
                          </m:d>
                        </m:e>
                        <m:sub>
                          <m:r>
                            <a:rPr lang="en-US" sz="2400" i="1">
                              <a:latin typeface="Cambria Math" panose="02040503050406030204" pitchFamily="18" charset="0"/>
                            </a:rPr>
                            <m:t>𝑘</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𝑖</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1</m:t>
                          </m:r>
                        </m:sub>
                      </m:sSub>
                      <m:r>
                        <a:rPr lang="en-US" sz="2400" i="1">
                          <a:latin typeface="Cambria Math" panose="02040503050406030204" pitchFamily="18" charset="0"/>
                        </a:rPr>
                        <m:t>⟩</m:t>
                      </m:r>
                    </m:oMath>
                  </m:oMathPara>
                </a14:m>
                <a:endParaRPr lang="vi-VN" sz="2400"/>
              </a:p>
            </p:txBody>
          </p:sp>
        </mc:Choice>
        <mc:Fallback>
          <p:sp>
            <p:nvSpPr>
              <p:cNvPr id="12316" name="TextBox 12315">
                <a:extLst>
                  <a:ext uri="{FF2B5EF4-FFF2-40B4-BE49-F238E27FC236}">
                    <a16:creationId xmlns:a16="http://schemas.microsoft.com/office/drawing/2014/main" id="{41120E98-48BF-5088-6209-E5AD8940A924}"/>
                  </a:ext>
                </a:extLst>
              </p:cNvPr>
              <p:cNvSpPr txBox="1">
                <a:spLocks noRot="1" noChangeAspect="1" noMove="1" noResize="1" noEditPoints="1" noAdjustHandles="1" noChangeArrowheads="1" noChangeShapeType="1" noTextEdit="1"/>
              </p:cNvSpPr>
              <p:nvPr/>
            </p:nvSpPr>
            <p:spPr>
              <a:xfrm>
                <a:off x="2689327" y="1129692"/>
                <a:ext cx="4262024" cy="369332"/>
              </a:xfrm>
              <a:prstGeom prst="rect">
                <a:avLst/>
              </a:prstGeom>
              <a:blipFill>
                <a:blip r:embed="rId24"/>
                <a:stretch>
                  <a:fillRect r="-890" b="-32258"/>
                </a:stretch>
              </a:blipFill>
              <a:ln>
                <a:solidFill>
                  <a:srgbClr val="FF0000"/>
                </a:solidFill>
              </a:ln>
            </p:spPr>
            <p:txBody>
              <a:bodyPr/>
              <a:lstStyle/>
              <a:p>
                <a:r>
                  <a:rPr lang="en-VN">
                    <a:noFill/>
                  </a:rPr>
                  <a:t> </a:t>
                </a:r>
              </a:p>
            </p:txBody>
          </p:sp>
        </mc:Fallback>
      </mc:AlternateContent>
      <p:sp>
        <p:nvSpPr>
          <p:cNvPr id="12318" name="Rectangle 12317">
            <a:extLst>
              <a:ext uri="{FF2B5EF4-FFF2-40B4-BE49-F238E27FC236}">
                <a16:creationId xmlns:a16="http://schemas.microsoft.com/office/drawing/2014/main" id="{FC250B7F-A5DA-1803-94E5-F86013297923}"/>
              </a:ext>
            </a:extLst>
          </p:cNvPr>
          <p:cNvSpPr/>
          <p:nvPr/>
        </p:nvSpPr>
        <p:spPr>
          <a:xfrm>
            <a:off x="2973838" y="5602767"/>
            <a:ext cx="401265"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2319" name="TextBox 12318">
            <a:extLst>
              <a:ext uri="{FF2B5EF4-FFF2-40B4-BE49-F238E27FC236}">
                <a16:creationId xmlns:a16="http://schemas.microsoft.com/office/drawing/2014/main" id="{41C99F54-A94F-68E6-41AE-167638E1F040}"/>
              </a:ext>
            </a:extLst>
          </p:cNvPr>
          <p:cNvSpPr txBox="1"/>
          <p:nvPr/>
        </p:nvSpPr>
        <p:spPr>
          <a:xfrm>
            <a:off x="3790294" y="5238193"/>
            <a:ext cx="2146044" cy="338554"/>
          </a:xfrm>
          <a:prstGeom prst="rect">
            <a:avLst/>
          </a:prstGeom>
          <a:noFill/>
        </p:spPr>
        <p:txBody>
          <a:bodyPr wrap="square" rtlCol="0">
            <a:spAutoFit/>
          </a:bodyPr>
          <a:lstStyle/>
          <a:p>
            <a:r>
              <a:rPr lang="en-US" sz="1600">
                <a:solidFill>
                  <a:srgbClr val="FF0000"/>
                </a:solidFill>
              </a:rPr>
              <a:t>Avoid local minimals</a:t>
            </a:r>
            <a:endParaRPr lang="vi-VN" sz="1600" b="1">
              <a:solidFill>
                <a:srgbClr val="FF0000"/>
              </a:solidFill>
            </a:endParaRPr>
          </a:p>
        </p:txBody>
      </p:sp>
      <mc:AlternateContent xmlns:mc="http://schemas.openxmlformats.org/markup-compatibility/2006">
        <mc:Choice xmlns:a14="http://schemas.microsoft.com/office/drawing/2010/main" Requires="a14">
          <p:sp>
            <p:nvSpPr>
              <p:cNvPr id="12322" name="TextBox 12321">
                <a:extLst>
                  <a:ext uri="{FF2B5EF4-FFF2-40B4-BE49-F238E27FC236}">
                    <a16:creationId xmlns:a16="http://schemas.microsoft.com/office/drawing/2014/main" id="{CB2DA1AA-78A9-50B4-D360-2C6A6FEA46D9}"/>
                  </a:ext>
                </a:extLst>
              </p:cNvPr>
              <p:cNvSpPr txBox="1"/>
              <p:nvPr/>
            </p:nvSpPr>
            <p:spPr>
              <a:xfrm>
                <a:off x="7572191" y="2314036"/>
                <a:ext cx="4676252" cy="1528945"/>
              </a:xfrm>
              <a:prstGeom prst="rect">
                <a:avLst/>
              </a:prstGeom>
              <a:noFill/>
              <a:ln>
                <a:solidFill>
                  <a:srgbClr val="FF0000"/>
                </a:solidFill>
              </a:ln>
            </p:spPr>
            <p:txBody>
              <a:bodyPr wrap="square">
                <a:spAutoFit/>
              </a:bodyPr>
              <a:lstStyle/>
              <a:p>
                <a:pPr algn="l"/>
                <a:r>
                  <a:rPr lang="en-US" sz="1867">
                    <a:latin typeface="__Roboto_22ceb1"/>
                  </a:rPr>
                  <a:t>Repeat </a:t>
                </a:r>
                <a14:m>
                  <m:oMath xmlns:m="http://schemas.openxmlformats.org/officeDocument/2006/math">
                    <m:r>
                      <a:rPr lang="en-US" sz="1867" i="1">
                        <a:latin typeface="Cambria Math" panose="02040503050406030204" pitchFamily="18" charset="0"/>
                      </a:rPr>
                      <m:t>𝑘</m:t>
                    </m:r>
                    <m:r>
                      <a:rPr lang="en-US" sz="1867" i="1">
                        <a:latin typeface="Cambria Math" panose="02040503050406030204" pitchFamily="18" charset="0"/>
                      </a:rPr>
                      <m:t>=1</m:t>
                    </m:r>
                  </m:oMath>
                </a14:m>
                <a:r>
                  <a:rPr lang="en-US" sz="1867">
                    <a:latin typeface="__Roboto_22ceb1"/>
                  </a:rPr>
                  <a:t> to </a:t>
                </a:r>
                <a14:m>
                  <m:oMath xmlns:m="http://schemas.openxmlformats.org/officeDocument/2006/math">
                    <m:r>
                      <a:rPr lang="en-US" sz="1867" i="1">
                        <a:latin typeface="Cambria Math" panose="02040503050406030204" pitchFamily="18" charset="0"/>
                      </a:rPr>
                      <m:t>𝑛</m:t>
                    </m:r>
                  </m:oMath>
                </a14:m>
                <a:r>
                  <a:rPr lang="en-US" sz="1867">
                    <a:latin typeface="__Roboto_22ceb1"/>
                  </a:rPr>
                  <a:t>:</a:t>
                </a:r>
              </a:p>
              <a:p>
                <a:r>
                  <a:rPr lang="en-US" sz="1867">
                    <a:latin typeface="__Roboto_22ceb1"/>
                  </a:rPr>
                  <a:t>1. Prepare</a:t>
                </a:r>
                <a14:m>
                  <m:oMath xmlns:m="http://schemas.openxmlformats.org/officeDocument/2006/math">
                    <m:r>
                      <a:rPr lang="en-US" sz="1867" i="1">
                        <a:latin typeface="Cambria Math" panose="02040503050406030204" pitchFamily="18" charset="0"/>
                      </a:rPr>
                      <m:t> </m:t>
                    </m:r>
                    <m:d>
                      <m:dPr>
                        <m:begChr m:val="|"/>
                        <m:endChr m:val="⟩"/>
                        <m:ctrlPr>
                          <a:rPr lang="en-US" sz="1867" i="1">
                            <a:latin typeface="Cambria Math" panose="02040503050406030204" pitchFamily="18" charset="0"/>
                          </a:rPr>
                        </m:ctrlPr>
                      </m:dPr>
                      <m:e>
                        <m:sSub>
                          <m:sSubPr>
                            <m:ctrlPr>
                              <a:rPr lang="en-US" sz="1867" i="1">
                                <a:latin typeface="Cambria Math" panose="02040503050406030204" pitchFamily="18" charset="0"/>
                              </a:rPr>
                            </m:ctrlPr>
                          </m:sSubPr>
                          <m:e>
                            <m:r>
                              <a:rPr lang="en-US" sz="1867" i="1">
                                <a:latin typeface="Cambria Math" panose="02040503050406030204" pitchFamily="18" charset="0"/>
                              </a:rPr>
                              <m:t>𝜓</m:t>
                            </m:r>
                          </m:e>
                          <m:sub>
                            <m:r>
                              <a:rPr lang="en-US" sz="1867" i="1">
                                <a:latin typeface="Cambria Math" panose="02040503050406030204" pitchFamily="18" charset="0"/>
                              </a:rPr>
                              <m:t>𝑘</m:t>
                            </m:r>
                          </m:sub>
                        </m:sSub>
                      </m:e>
                    </m:d>
                    <m:r>
                      <a:rPr lang="en-US" sz="1867" i="1">
                        <a:latin typeface="Cambria Math" panose="02040503050406030204" pitchFamily="18" charset="0"/>
                      </a:rPr>
                      <m:t>=</m:t>
                    </m:r>
                    <m:sSub>
                      <m:sSubPr>
                        <m:ctrlPr>
                          <a:rPr lang="en-US" sz="1867" i="1">
                            <a:latin typeface="Cambria Math" panose="02040503050406030204" pitchFamily="18" charset="0"/>
                          </a:rPr>
                        </m:ctrlPr>
                      </m:sSubPr>
                      <m:e>
                        <m:r>
                          <a:rPr lang="en-US" sz="1867" i="1">
                            <a:latin typeface="Cambria Math" panose="02040503050406030204" pitchFamily="18" charset="0"/>
                          </a:rPr>
                          <m:t>𝑈</m:t>
                        </m:r>
                      </m:e>
                      <m:sub>
                        <m:r>
                          <a:rPr lang="en-US" sz="1867" i="1">
                            <a:latin typeface="Cambria Math" panose="02040503050406030204" pitchFamily="18" charset="0"/>
                          </a:rPr>
                          <m:t>𝑑</m:t>
                        </m:r>
                      </m:sub>
                    </m:sSub>
                    <m:d>
                      <m:dPr>
                        <m:ctrlPr>
                          <a:rPr lang="en-US" sz="1867" i="1">
                            <a:latin typeface="Cambria Math" panose="02040503050406030204" pitchFamily="18" charset="0"/>
                          </a:rPr>
                        </m:ctrlPr>
                      </m:dPr>
                      <m:e>
                        <m:sSub>
                          <m:sSubPr>
                            <m:ctrlPr>
                              <a:rPr lang="en-US" sz="1867" i="1">
                                <a:latin typeface="Cambria Math" panose="02040503050406030204" pitchFamily="18" charset="0"/>
                              </a:rPr>
                            </m:ctrlPr>
                          </m:sSubPr>
                          <m:e>
                            <m:r>
                              <a:rPr lang="en-US" sz="1867" i="1">
                                <a:latin typeface="Cambria Math" panose="02040503050406030204" pitchFamily="18" charset="0"/>
                              </a:rPr>
                              <m:t>𝛽</m:t>
                            </m:r>
                          </m:e>
                          <m:sub>
                            <m:r>
                              <a:rPr lang="en-US" sz="1867" i="1">
                                <a:latin typeface="Cambria Math" panose="02040503050406030204" pitchFamily="18" charset="0"/>
                              </a:rPr>
                              <m:t>𝑘</m:t>
                            </m:r>
                          </m:sub>
                        </m:sSub>
                      </m:e>
                    </m:d>
                    <m:sSub>
                      <m:sSubPr>
                        <m:ctrlPr>
                          <a:rPr lang="en-US" sz="1867" i="1">
                            <a:latin typeface="Cambria Math" panose="02040503050406030204" pitchFamily="18" charset="0"/>
                          </a:rPr>
                        </m:ctrlPr>
                      </m:sSubPr>
                      <m:e>
                        <m:r>
                          <a:rPr lang="en-US" sz="1867" i="1">
                            <a:latin typeface="Cambria Math" panose="02040503050406030204" pitchFamily="18" charset="0"/>
                          </a:rPr>
                          <m:t>𝑈</m:t>
                        </m:r>
                      </m:e>
                      <m:sub>
                        <m:r>
                          <a:rPr lang="en-US" sz="1867" i="1">
                            <a:latin typeface="Cambria Math" panose="02040503050406030204" pitchFamily="18" charset="0"/>
                          </a:rPr>
                          <m:t>𝑐</m:t>
                        </m:r>
                      </m:sub>
                    </m:sSub>
                    <m:r>
                      <a:rPr lang="en-US" sz="1867" i="1">
                        <a:latin typeface="Cambria Math" panose="02040503050406030204" pitchFamily="18" charset="0"/>
                      </a:rPr>
                      <m:t>…</m:t>
                    </m:r>
                    <m:sSub>
                      <m:sSubPr>
                        <m:ctrlPr>
                          <a:rPr lang="en-US" sz="1867" i="1">
                            <a:latin typeface="Cambria Math" panose="02040503050406030204" pitchFamily="18" charset="0"/>
                          </a:rPr>
                        </m:ctrlPr>
                      </m:sSubPr>
                      <m:e>
                        <m:r>
                          <a:rPr lang="en-US" sz="1867" i="1">
                            <a:latin typeface="Cambria Math" panose="02040503050406030204" pitchFamily="18" charset="0"/>
                          </a:rPr>
                          <m:t>𝑈</m:t>
                        </m:r>
                      </m:e>
                      <m:sub>
                        <m:r>
                          <a:rPr lang="en-US" sz="1867" i="1">
                            <a:latin typeface="Cambria Math" panose="02040503050406030204" pitchFamily="18" charset="0"/>
                          </a:rPr>
                          <m:t>𝑑</m:t>
                        </m:r>
                      </m:sub>
                    </m:sSub>
                    <m:d>
                      <m:dPr>
                        <m:ctrlPr>
                          <a:rPr lang="en-US" sz="1867" i="1">
                            <a:latin typeface="Cambria Math" panose="02040503050406030204" pitchFamily="18" charset="0"/>
                          </a:rPr>
                        </m:ctrlPr>
                      </m:dPr>
                      <m:e>
                        <m:sSub>
                          <m:sSubPr>
                            <m:ctrlPr>
                              <a:rPr lang="en-US" sz="1867" i="1">
                                <a:latin typeface="Cambria Math" panose="02040503050406030204" pitchFamily="18" charset="0"/>
                              </a:rPr>
                            </m:ctrlPr>
                          </m:sSubPr>
                          <m:e>
                            <m:r>
                              <a:rPr lang="en-US" sz="1867" i="1">
                                <a:latin typeface="Cambria Math" panose="02040503050406030204" pitchFamily="18" charset="0"/>
                              </a:rPr>
                              <m:t>𝛽</m:t>
                            </m:r>
                          </m:e>
                          <m:sub>
                            <m:r>
                              <a:rPr lang="en-US" sz="1867" i="1">
                                <a:latin typeface="Cambria Math" panose="02040503050406030204" pitchFamily="18" charset="0"/>
                              </a:rPr>
                              <m:t>1</m:t>
                            </m:r>
                          </m:sub>
                        </m:sSub>
                      </m:e>
                    </m:d>
                    <m:sSub>
                      <m:sSubPr>
                        <m:ctrlPr>
                          <a:rPr lang="en-US" sz="1867" i="1">
                            <a:latin typeface="Cambria Math" panose="02040503050406030204" pitchFamily="18" charset="0"/>
                          </a:rPr>
                        </m:ctrlPr>
                      </m:sSubPr>
                      <m:e>
                        <m:r>
                          <a:rPr lang="en-US" sz="1867" i="1">
                            <a:latin typeface="Cambria Math" panose="02040503050406030204" pitchFamily="18" charset="0"/>
                          </a:rPr>
                          <m:t>𝑈</m:t>
                        </m:r>
                      </m:e>
                      <m:sub>
                        <m:r>
                          <a:rPr lang="en-US" sz="1867" i="1">
                            <a:latin typeface="Cambria Math" panose="02040503050406030204" pitchFamily="18" charset="0"/>
                          </a:rPr>
                          <m:t>𝑐</m:t>
                        </m:r>
                      </m:sub>
                    </m:sSub>
                    <m:r>
                      <a:rPr lang="en-US" sz="1867" i="1">
                        <a:latin typeface="Cambria Math" panose="02040503050406030204" pitchFamily="18" charset="0"/>
                      </a:rPr>
                      <m:t>|</m:t>
                    </m:r>
                    <m:sSub>
                      <m:sSubPr>
                        <m:ctrlPr>
                          <a:rPr lang="en-US" sz="1867" i="1">
                            <a:latin typeface="Cambria Math" panose="02040503050406030204" pitchFamily="18" charset="0"/>
                          </a:rPr>
                        </m:ctrlPr>
                      </m:sSubPr>
                      <m:e>
                        <m:r>
                          <a:rPr lang="en-US" sz="1867" i="1">
                            <a:latin typeface="Cambria Math" panose="02040503050406030204" pitchFamily="18" charset="0"/>
                          </a:rPr>
                          <m:t>𝜓</m:t>
                        </m:r>
                      </m:e>
                      <m:sub>
                        <m:r>
                          <a:rPr lang="en-US" sz="1867" i="1">
                            <a:latin typeface="Cambria Math" panose="02040503050406030204" pitchFamily="18" charset="0"/>
                          </a:rPr>
                          <m:t>0</m:t>
                        </m:r>
                      </m:sub>
                    </m:sSub>
                    <m:r>
                      <a:rPr lang="en-US" sz="1867" i="1">
                        <a:latin typeface="Cambria Math" panose="02040503050406030204" pitchFamily="18" charset="0"/>
                      </a:rPr>
                      <m:t>⟩</m:t>
                    </m:r>
                  </m:oMath>
                </a14:m>
                <a:endParaRPr lang="en-US" sz="1867">
                  <a:latin typeface="__Roboto_22ceb1"/>
                </a:endParaRPr>
              </a:p>
              <a:p>
                <a:pPr algn="l"/>
                <a:r>
                  <a:rPr lang="en-US" sz="1867">
                    <a:latin typeface="__Roboto_22ceb1"/>
                  </a:rPr>
                  <a:t>2. Measure the expectation value </a:t>
                </a:r>
                <a14:m>
                  <m:oMath xmlns:m="http://schemas.openxmlformats.org/officeDocument/2006/math">
                    <m:sSub>
                      <m:sSubPr>
                        <m:ctrlPr>
                          <a:rPr lang="en-US" sz="1867" i="1">
                            <a:latin typeface="Cambria Math" panose="02040503050406030204" pitchFamily="18" charset="0"/>
                          </a:rPr>
                        </m:ctrlPr>
                      </m:sSubPr>
                      <m:e>
                        <m:d>
                          <m:dPr>
                            <m:begChr m:val="⟨"/>
                            <m:endChr m:val="⟩"/>
                            <m:ctrlPr>
                              <a:rPr lang="en-US" sz="1867" i="1">
                                <a:latin typeface="Cambria Math" panose="02040503050406030204" pitchFamily="18" charset="0"/>
                              </a:rPr>
                            </m:ctrlPr>
                          </m:dPr>
                          <m:e>
                            <m:r>
                              <a:rPr lang="en-US" sz="1867" i="1">
                                <a:latin typeface="Cambria Math" panose="02040503050406030204" pitchFamily="18" charset="0"/>
                              </a:rPr>
                              <m:t>𝑖</m:t>
                            </m:r>
                            <m:d>
                              <m:dPr>
                                <m:begChr m:val="["/>
                                <m:endChr m:val="]"/>
                                <m:ctrlPr>
                                  <a:rPr lang="en-US" sz="1867" i="1">
                                    <a:latin typeface="Cambria Math" panose="02040503050406030204" pitchFamily="18" charset="0"/>
                                  </a:rPr>
                                </m:ctrlPr>
                              </m:dPr>
                              <m:e>
                                <m:sSub>
                                  <m:sSubPr>
                                    <m:ctrlPr>
                                      <a:rPr lang="en-US" sz="1867" i="1">
                                        <a:latin typeface="Cambria Math" panose="02040503050406030204" pitchFamily="18" charset="0"/>
                                      </a:rPr>
                                    </m:ctrlPr>
                                  </m:sSubPr>
                                  <m:e>
                                    <m:r>
                                      <a:rPr lang="en-US" sz="1867" i="1">
                                        <a:latin typeface="Cambria Math" panose="02040503050406030204" pitchFamily="18" charset="0"/>
                                      </a:rPr>
                                      <m:t>𝐻</m:t>
                                    </m:r>
                                  </m:e>
                                  <m:sub>
                                    <m:r>
                                      <a:rPr lang="en-US" sz="1867" i="1">
                                        <a:latin typeface="Cambria Math" panose="02040503050406030204" pitchFamily="18" charset="0"/>
                                      </a:rPr>
                                      <m:t>𝑑</m:t>
                                    </m:r>
                                  </m:sub>
                                </m:sSub>
                                <m:r>
                                  <a:rPr lang="en-US" sz="1867" i="1">
                                    <a:latin typeface="Cambria Math" panose="02040503050406030204" pitchFamily="18" charset="0"/>
                                  </a:rPr>
                                  <m:t>,</m:t>
                                </m:r>
                                <m:sSub>
                                  <m:sSubPr>
                                    <m:ctrlPr>
                                      <a:rPr lang="en-US" sz="1867" i="1">
                                        <a:latin typeface="Cambria Math" panose="02040503050406030204" pitchFamily="18" charset="0"/>
                                      </a:rPr>
                                    </m:ctrlPr>
                                  </m:sSubPr>
                                  <m:e>
                                    <m:r>
                                      <a:rPr lang="en-US" sz="1867" i="1">
                                        <a:latin typeface="Cambria Math" panose="02040503050406030204" pitchFamily="18" charset="0"/>
                                      </a:rPr>
                                      <m:t>𝐻</m:t>
                                    </m:r>
                                  </m:e>
                                  <m:sub>
                                    <m:r>
                                      <a:rPr lang="en-US" sz="1867" i="1">
                                        <a:latin typeface="Cambria Math" panose="02040503050406030204" pitchFamily="18" charset="0"/>
                                      </a:rPr>
                                      <m:t>𝑐</m:t>
                                    </m:r>
                                  </m:sub>
                                </m:sSub>
                              </m:e>
                            </m:d>
                          </m:e>
                        </m:d>
                      </m:e>
                      <m:sub>
                        <m:r>
                          <a:rPr lang="en-US" sz="1867" i="1">
                            <a:latin typeface="Cambria Math" panose="02040503050406030204" pitchFamily="18" charset="0"/>
                          </a:rPr>
                          <m:t>𝑘</m:t>
                        </m:r>
                      </m:sub>
                    </m:sSub>
                    <m:r>
                      <a:rPr lang="en-US" sz="1867" i="1">
                        <a:latin typeface="Cambria Math" panose="02040503050406030204" pitchFamily="18" charset="0"/>
                      </a:rPr>
                      <m:t> </m:t>
                    </m:r>
                  </m:oMath>
                </a14:m>
                <a:r>
                  <a:rPr lang="en-US" sz="1867">
                    <a:latin typeface="__Roboto_22ceb1"/>
                  </a:rPr>
                  <a:t> </a:t>
                </a:r>
              </a:p>
              <a:p>
                <a:r>
                  <a:rPr lang="en-US" sz="1867">
                    <a:latin typeface="__Roboto_22ceb1"/>
                  </a:rPr>
                  <a:t>3. Set </a:t>
                </a:r>
                <a14:m>
                  <m:oMath xmlns:m="http://schemas.openxmlformats.org/officeDocument/2006/math">
                    <m:sSub>
                      <m:sSubPr>
                        <m:ctrlPr>
                          <a:rPr lang="en-US" sz="1867" i="1">
                            <a:latin typeface="Cambria Math" panose="02040503050406030204" pitchFamily="18" charset="0"/>
                          </a:rPr>
                        </m:ctrlPr>
                      </m:sSubPr>
                      <m:e>
                        <m:r>
                          <a:rPr lang="en-US" sz="1867" i="1">
                            <a:latin typeface="Cambria Math" panose="02040503050406030204" pitchFamily="18" charset="0"/>
                          </a:rPr>
                          <m:t>𝛽</m:t>
                        </m:r>
                      </m:e>
                      <m:sub>
                        <m:r>
                          <a:rPr lang="en-US" sz="1867" i="1">
                            <a:latin typeface="Cambria Math" panose="02040503050406030204" pitchFamily="18" charset="0"/>
                          </a:rPr>
                          <m:t>𝑘</m:t>
                        </m:r>
                        <m:r>
                          <a:rPr lang="en-US" sz="1867" i="1">
                            <a:latin typeface="Cambria Math" panose="02040503050406030204" pitchFamily="18" charset="0"/>
                          </a:rPr>
                          <m:t>+1</m:t>
                        </m:r>
                      </m:sub>
                    </m:sSub>
                    <m:r>
                      <a:rPr lang="en-US" sz="1867" i="1">
                        <a:latin typeface="Cambria Math" panose="02040503050406030204" pitchFamily="18" charset="0"/>
                      </a:rPr>
                      <m:t>=−</m:t>
                    </m:r>
                    <m:sSub>
                      <m:sSubPr>
                        <m:ctrlPr>
                          <a:rPr lang="en-US" sz="1867" i="1">
                            <a:latin typeface="Cambria Math" panose="02040503050406030204" pitchFamily="18" charset="0"/>
                          </a:rPr>
                        </m:ctrlPr>
                      </m:sSubPr>
                      <m:e>
                        <m:d>
                          <m:dPr>
                            <m:begChr m:val="⟨"/>
                            <m:endChr m:val="⟩"/>
                            <m:ctrlPr>
                              <a:rPr lang="en-US" sz="1867" i="1">
                                <a:latin typeface="Cambria Math" panose="02040503050406030204" pitchFamily="18" charset="0"/>
                              </a:rPr>
                            </m:ctrlPr>
                          </m:dPr>
                          <m:e>
                            <m:r>
                              <a:rPr lang="en-US" sz="1867" i="1">
                                <a:latin typeface="Cambria Math" panose="02040503050406030204" pitchFamily="18" charset="0"/>
                              </a:rPr>
                              <m:t>𝑖</m:t>
                            </m:r>
                            <m:d>
                              <m:dPr>
                                <m:begChr m:val="["/>
                                <m:endChr m:val="]"/>
                                <m:ctrlPr>
                                  <a:rPr lang="en-US" sz="1867" i="1">
                                    <a:latin typeface="Cambria Math" panose="02040503050406030204" pitchFamily="18" charset="0"/>
                                  </a:rPr>
                                </m:ctrlPr>
                              </m:dPr>
                              <m:e>
                                <m:sSub>
                                  <m:sSubPr>
                                    <m:ctrlPr>
                                      <a:rPr lang="en-US" sz="1867" i="1">
                                        <a:latin typeface="Cambria Math" panose="02040503050406030204" pitchFamily="18" charset="0"/>
                                      </a:rPr>
                                    </m:ctrlPr>
                                  </m:sSubPr>
                                  <m:e>
                                    <m:r>
                                      <a:rPr lang="en-US" sz="1867" i="1">
                                        <a:latin typeface="Cambria Math" panose="02040503050406030204" pitchFamily="18" charset="0"/>
                                      </a:rPr>
                                      <m:t>𝐻</m:t>
                                    </m:r>
                                  </m:e>
                                  <m:sub>
                                    <m:r>
                                      <a:rPr lang="en-US" sz="1867" i="1">
                                        <a:latin typeface="Cambria Math" panose="02040503050406030204" pitchFamily="18" charset="0"/>
                                      </a:rPr>
                                      <m:t>𝑑</m:t>
                                    </m:r>
                                  </m:sub>
                                </m:sSub>
                                <m:r>
                                  <a:rPr lang="en-US" sz="1867" i="1">
                                    <a:latin typeface="Cambria Math" panose="02040503050406030204" pitchFamily="18" charset="0"/>
                                  </a:rPr>
                                  <m:t>,</m:t>
                                </m:r>
                                <m:sSub>
                                  <m:sSubPr>
                                    <m:ctrlPr>
                                      <a:rPr lang="en-US" sz="1867" i="1">
                                        <a:latin typeface="Cambria Math" panose="02040503050406030204" pitchFamily="18" charset="0"/>
                                      </a:rPr>
                                    </m:ctrlPr>
                                  </m:sSubPr>
                                  <m:e>
                                    <m:r>
                                      <a:rPr lang="en-US" sz="1867" i="1">
                                        <a:latin typeface="Cambria Math" panose="02040503050406030204" pitchFamily="18" charset="0"/>
                                      </a:rPr>
                                      <m:t>𝐻</m:t>
                                    </m:r>
                                  </m:e>
                                  <m:sub>
                                    <m:r>
                                      <a:rPr lang="en-US" sz="1867" i="1">
                                        <a:latin typeface="Cambria Math" panose="02040503050406030204" pitchFamily="18" charset="0"/>
                                      </a:rPr>
                                      <m:t>𝑐</m:t>
                                    </m:r>
                                  </m:sub>
                                </m:sSub>
                              </m:e>
                            </m:d>
                          </m:e>
                        </m:d>
                      </m:e>
                      <m:sub>
                        <m:r>
                          <a:rPr lang="en-US" sz="1867" i="1">
                            <a:latin typeface="Cambria Math" panose="02040503050406030204" pitchFamily="18" charset="0"/>
                          </a:rPr>
                          <m:t>𝑘</m:t>
                        </m:r>
                      </m:sub>
                    </m:sSub>
                    <m:r>
                      <a:rPr lang="en-US" sz="1867" i="1">
                        <a:latin typeface="Cambria Math" panose="02040503050406030204" pitchFamily="18" charset="0"/>
                      </a:rPr>
                      <m:t>∗</m:t>
                    </m:r>
                    <m:r>
                      <m:rPr>
                        <m:sty m:val="p"/>
                      </m:rPr>
                      <a:rPr lang="en-US" sz="1867">
                        <a:latin typeface="Cambria Math" panose="02040503050406030204" pitchFamily="18" charset="0"/>
                      </a:rPr>
                      <m:t>Δ</m:t>
                    </m:r>
                    <m:r>
                      <a:rPr lang="en-US" sz="1867" i="1">
                        <a:latin typeface="Cambria Math" panose="02040503050406030204" pitchFamily="18" charset="0"/>
                      </a:rPr>
                      <m:t>𝑡</m:t>
                    </m:r>
                  </m:oMath>
                </a14:m>
                <a:endParaRPr lang="vi-VN" sz="1867"/>
              </a:p>
            </p:txBody>
          </p:sp>
        </mc:Choice>
        <mc:Fallback>
          <p:sp>
            <p:nvSpPr>
              <p:cNvPr id="12322" name="TextBox 12321">
                <a:extLst>
                  <a:ext uri="{FF2B5EF4-FFF2-40B4-BE49-F238E27FC236}">
                    <a16:creationId xmlns:a16="http://schemas.microsoft.com/office/drawing/2014/main" id="{CB2DA1AA-78A9-50B4-D360-2C6A6FEA46D9}"/>
                  </a:ext>
                </a:extLst>
              </p:cNvPr>
              <p:cNvSpPr txBox="1">
                <a:spLocks noRot="1" noChangeAspect="1" noMove="1" noResize="1" noEditPoints="1" noAdjustHandles="1" noChangeArrowheads="1" noChangeShapeType="1" noTextEdit="1"/>
              </p:cNvSpPr>
              <p:nvPr/>
            </p:nvSpPr>
            <p:spPr>
              <a:xfrm>
                <a:off x="7572191" y="2314036"/>
                <a:ext cx="4676252" cy="1528945"/>
              </a:xfrm>
              <a:prstGeom prst="rect">
                <a:avLst/>
              </a:prstGeom>
              <a:blipFill>
                <a:blip r:embed="rId25"/>
                <a:stretch>
                  <a:fillRect l="-811" t="-820" b="-5738"/>
                </a:stretch>
              </a:blipFill>
              <a:ln>
                <a:solidFill>
                  <a:srgbClr val="FF0000"/>
                </a:solidFill>
              </a:ln>
            </p:spPr>
            <p:txBody>
              <a:bodyPr/>
              <a:lstStyle/>
              <a:p>
                <a:r>
                  <a:rPr lang="en-VN">
                    <a:noFill/>
                  </a:rPr>
                  <a:t> </a:t>
                </a:r>
              </a:p>
            </p:txBody>
          </p:sp>
        </mc:Fallback>
      </mc:AlternateContent>
      <p:cxnSp>
        <p:nvCxnSpPr>
          <p:cNvPr id="43" name="Connector: Curved 42">
            <a:extLst>
              <a:ext uri="{FF2B5EF4-FFF2-40B4-BE49-F238E27FC236}">
                <a16:creationId xmlns:a16="http://schemas.microsoft.com/office/drawing/2014/main" id="{B4E22001-3D97-96E2-B9FA-F58402151F52}"/>
              </a:ext>
            </a:extLst>
          </p:cNvPr>
          <p:cNvCxnSpPr>
            <a:cxnSpLocks/>
          </p:cNvCxnSpPr>
          <p:nvPr/>
        </p:nvCxnSpPr>
        <p:spPr>
          <a:xfrm rot="10800000" flipV="1">
            <a:off x="355182" y="2117474"/>
            <a:ext cx="5236" cy="1037039"/>
          </a:xfrm>
          <a:prstGeom prst="curvedConnector3">
            <a:avLst>
              <a:gd name="adj1" fmla="val 5921238"/>
            </a:avLst>
          </a:prstGeom>
          <a:ln>
            <a:tailEnd type="triangle"/>
          </a:ln>
        </p:spPr>
        <p:style>
          <a:lnRef idx="1">
            <a:schemeClr val="dk1"/>
          </a:lnRef>
          <a:fillRef idx="0">
            <a:schemeClr val="dk1"/>
          </a:fillRef>
          <a:effectRef idx="0">
            <a:schemeClr val="dk1"/>
          </a:effectRef>
          <a:fontRef idx="minor">
            <a:schemeClr val="tx1"/>
          </a:fontRef>
        </p:style>
      </p:cxnSp>
      <p:cxnSp>
        <p:nvCxnSpPr>
          <p:cNvPr id="55" name="Connector: Curved 54">
            <a:extLst>
              <a:ext uri="{FF2B5EF4-FFF2-40B4-BE49-F238E27FC236}">
                <a16:creationId xmlns:a16="http://schemas.microsoft.com/office/drawing/2014/main" id="{8ECB18E3-C4B3-E5F3-A6FA-E694C5366B8D}"/>
              </a:ext>
            </a:extLst>
          </p:cNvPr>
          <p:cNvCxnSpPr>
            <a:cxnSpLocks/>
          </p:cNvCxnSpPr>
          <p:nvPr/>
        </p:nvCxnSpPr>
        <p:spPr>
          <a:xfrm rot="10800000" flipV="1">
            <a:off x="344973" y="3154513"/>
            <a:ext cx="10209" cy="1304633"/>
          </a:xfrm>
          <a:prstGeom prst="curvedConnector3">
            <a:avLst>
              <a:gd name="adj1" fmla="val 3085503"/>
            </a:avLst>
          </a:prstGeom>
          <a:ln>
            <a:tailEnd type="triangle"/>
          </a:ln>
        </p:spPr>
        <p:style>
          <a:lnRef idx="1">
            <a:schemeClr val="dk1"/>
          </a:lnRef>
          <a:fillRef idx="0">
            <a:schemeClr val="dk1"/>
          </a:fillRef>
          <a:effectRef idx="0">
            <a:schemeClr val="dk1"/>
          </a:effectRef>
          <a:fontRef idx="minor">
            <a:schemeClr val="tx1"/>
          </a:fontRef>
        </p:style>
      </p:cxnSp>
      <p:sp>
        <p:nvSpPr>
          <p:cNvPr id="12328" name="Rectangle 12327">
            <a:extLst>
              <a:ext uri="{FF2B5EF4-FFF2-40B4-BE49-F238E27FC236}">
                <a16:creationId xmlns:a16="http://schemas.microsoft.com/office/drawing/2014/main" id="{856791F9-424C-DEE2-86FA-28CED21A60B3}"/>
              </a:ext>
            </a:extLst>
          </p:cNvPr>
          <p:cNvSpPr/>
          <p:nvPr/>
        </p:nvSpPr>
        <p:spPr>
          <a:xfrm>
            <a:off x="4305929" y="5596018"/>
            <a:ext cx="401265"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2329" name="TextBox 12328">
            <a:extLst>
              <a:ext uri="{FF2B5EF4-FFF2-40B4-BE49-F238E27FC236}">
                <a16:creationId xmlns:a16="http://schemas.microsoft.com/office/drawing/2014/main" id="{5B52B2E0-EDF3-7537-AEAF-71E2D5DEFC97}"/>
              </a:ext>
            </a:extLst>
          </p:cNvPr>
          <p:cNvSpPr txBox="1"/>
          <p:nvPr/>
        </p:nvSpPr>
        <p:spPr>
          <a:xfrm>
            <a:off x="2839461" y="5225997"/>
            <a:ext cx="1116291" cy="338554"/>
          </a:xfrm>
          <a:prstGeom prst="rect">
            <a:avLst/>
          </a:prstGeom>
          <a:noFill/>
        </p:spPr>
        <p:txBody>
          <a:bodyPr wrap="square" rtlCol="0">
            <a:spAutoFit/>
          </a:bodyPr>
          <a:lstStyle/>
          <a:p>
            <a:r>
              <a:rPr lang="en-US" sz="1600">
                <a:solidFill>
                  <a:srgbClr val="FF0000"/>
                </a:solidFill>
              </a:rPr>
              <a:t>Objective</a:t>
            </a:r>
            <a:endParaRPr lang="vi-VN" sz="1600" b="1">
              <a:solidFill>
                <a:srgbClr val="FF0000"/>
              </a:solidFill>
            </a:endParaRPr>
          </a:p>
        </p:txBody>
      </p:sp>
      <mc:AlternateContent xmlns:mc="http://schemas.openxmlformats.org/markup-compatibility/2006">
        <mc:Choice xmlns:a14="http://schemas.microsoft.com/office/drawing/2010/main" Requires="a14">
          <p:sp>
            <p:nvSpPr>
              <p:cNvPr id="12332" name="TextBox 12331">
                <a:extLst>
                  <a:ext uri="{FF2B5EF4-FFF2-40B4-BE49-F238E27FC236}">
                    <a16:creationId xmlns:a16="http://schemas.microsoft.com/office/drawing/2014/main" id="{59F0F3FB-7408-0037-F8A2-6942D65F0A18}"/>
                  </a:ext>
                </a:extLst>
              </p:cNvPr>
              <p:cNvSpPr txBox="1"/>
              <p:nvPr/>
            </p:nvSpPr>
            <p:spPr>
              <a:xfrm>
                <a:off x="4234959" y="3488450"/>
                <a:ext cx="3019264" cy="338554"/>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𝛽</m:t>
                          </m:r>
                        </m:e>
                        <m:sub>
                          <m:r>
                            <a:rPr lang="en-US" sz="1600" i="1">
                              <a:solidFill>
                                <a:srgbClr val="FF0000"/>
                              </a:solidFill>
                              <a:latin typeface="Cambria Math" panose="02040503050406030204" pitchFamily="18" charset="0"/>
                            </a:rPr>
                            <m:t>𝑘</m:t>
                          </m:r>
                          <m:r>
                            <a:rPr lang="en-US" sz="1600" i="1">
                              <a:solidFill>
                                <a:srgbClr val="FF0000"/>
                              </a:solidFill>
                              <a:latin typeface="Cambria Math" panose="02040503050406030204" pitchFamily="18" charset="0"/>
                            </a:rPr>
                            <m:t>+1</m:t>
                          </m:r>
                        </m:sub>
                      </m:sSub>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d>
                            <m:dPr>
                              <m:begChr m:val="⟨"/>
                              <m:endChr m:val="⟩"/>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𝑖</m:t>
                              </m:r>
                              <m:d>
                                <m:dPr>
                                  <m:begChr m:val="["/>
                                  <m:endChr m:val="]"/>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𝐻</m:t>
                                      </m:r>
                                    </m:e>
                                    <m:sub>
                                      <m:r>
                                        <a:rPr lang="en-US" sz="1600" i="1">
                                          <a:solidFill>
                                            <a:srgbClr val="FF0000"/>
                                          </a:solidFill>
                                          <a:latin typeface="Cambria Math" panose="02040503050406030204" pitchFamily="18" charset="0"/>
                                        </a:rPr>
                                        <m:t>𝑑</m:t>
                                      </m:r>
                                    </m:sub>
                                  </m:sSub>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𝐻</m:t>
                                      </m:r>
                                    </m:e>
                                    <m:sub>
                                      <m:r>
                                        <a:rPr lang="en-US" sz="1600" i="1">
                                          <a:solidFill>
                                            <a:srgbClr val="FF0000"/>
                                          </a:solidFill>
                                          <a:latin typeface="Cambria Math" panose="02040503050406030204" pitchFamily="18" charset="0"/>
                                        </a:rPr>
                                        <m:t>𝑐</m:t>
                                      </m:r>
                                    </m:sub>
                                  </m:sSub>
                                </m:e>
                              </m:d>
                            </m:e>
                          </m:d>
                        </m:e>
                        <m:sub>
                          <m:r>
                            <a:rPr lang="en-US" sz="1600" i="1">
                              <a:solidFill>
                                <a:srgbClr val="FF0000"/>
                              </a:solidFill>
                              <a:latin typeface="Cambria Math" panose="02040503050406030204" pitchFamily="18" charset="0"/>
                            </a:rPr>
                            <m:t>𝑘</m:t>
                          </m:r>
                        </m:sub>
                      </m:sSub>
                      <m:r>
                        <a:rPr lang="en-US" sz="1600" i="1">
                          <a:solidFill>
                            <a:srgbClr val="FF0000"/>
                          </a:solidFill>
                          <a:latin typeface="Cambria Math" panose="02040503050406030204" pitchFamily="18" charset="0"/>
                        </a:rPr>
                        <m:t>∗</m:t>
                      </m:r>
                      <m:r>
                        <m:rPr>
                          <m:sty m:val="p"/>
                        </m:rPr>
                        <a:rPr lang="en-US" sz="1600">
                          <a:solidFill>
                            <a:srgbClr val="FF0000"/>
                          </a:solidFill>
                          <a:latin typeface="Cambria Math" panose="02040503050406030204" pitchFamily="18" charset="0"/>
                        </a:rPr>
                        <m:t>Δ</m:t>
                      </m:r>
                      <m:r>
                        <a:rPr lang="en-US" sz="1600" i="1">
                          <a:solidFill>
                            <a:srgbClr val="FF0000"/>
                          </a:solidFill>
                          <a:latin typeface="Cambria Math" panose="02040503050406030204" pitchFamily="18" charset="0"/>
                        </a:rPr>
                        <m:t>𝑡</m:t>
                      </m:r>
                    </m:oMath>
                  </m:oMathPara>
                </a14:m>
                <a:endParaRPr lang="vi-VN" sz="1600">
                  <a:solidFill>
                    <a:srgbClr val="FF0000"/>
                  </a:solidFill>
                </a:endParaRPr>
              </a:p>
            </p:txBody>
          </p:sp>
        </mc:Choice>
        <mc:Fallback>
          <p:sp>
            <p:nvSpPr>
              <p:cNvPr id="12332" name="TextBox 12331">
                <a:extLst>
                  <a:ext uri="{FF2B5EF4-FFF2-40B4-BE49-F238E27FC236}">
                    <a16:creationId xmlns:a16="http://schemas.microsoft.com/office/drawing/2014/main" id="{59F0F3FB-7408-0037-F8A2-6942D65F0A18}"/>
                  </a:ext>
                </a:extLst>
              </p:cNvPr>
              <p:cNvSpPr txBox="1">
                <a:spLocks noRot="1" noChangeAspect="1" noMove="1" noResize="1" noEditPoints="1" noAdjustHandles="1" noChangeArrowheads="1" noChangeShapeType="1" noTextEdit="1"/>
              </p:cNvSpPr>
              <p:nvPr/>
            </p:nvSpPr>
            <p:spPr>
              <a:xfrm>
                <a:off x="4234959" y="3488450"/>
                <a:ext cx="3019264" cy="338554"/>
              </a:xfrm>
              <a:prstGeom prst="rect">
                <a:avLst/>
              </a:prstGeom>
              <a:blipFill>
                <a:blip r:embed="rId26"/>
                <a:stretch>
                  <a:fillRect b="-10714"/>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333" name="TextBox 12332">
                <a:extLst>
                  <a:ext uri="{FF2B5EF4-FFF2-40B4-BE49-F238E27FC236}">
                    <a16:creationId xmlns:a16="http://schemas.microsoft.com/office/drawing/2014/main" id="{2773B44B-F907-79AC-E739-B4C79C35BCD7}"/>
                  </a:ext>
                </a:extLst>
              </p:cNvPr>
              <p:cNvSpPr txBox="1"/>
              <p:nvPr/>
            </p:nvSpPr>
            <p:spPr>
              <a:xfrm rot="5400000">
                <a:off x="3432708" y="3570716"/>
                <a:ext cx="80381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latin typeface="Calibri (Body)"/>
                </a:endParaRPr>
              </a:p>
            </p:txBody>
          </p:sp>
        </mc:Choice>
        <mc:Fallback>
          <p:sp>
            <p:nvSpPr>
              <p:cNvPr id="12333" name="TextBox 12332">
                <a:extLst>
                  <a:ext uri="{FF2B5EF4-FFF2-40B4-BE49-F238E27FC236}">
                    <a16:creationId xmlns:a16="http://schemas.microsoft.com/office/drawing/2014/main" id="{2773B44B-F907-79AC-E739-B4C79C35BCD7}"/>
                  </a:ext>
                </a:extLst>
              </p:cNvPr>
              <p:cNvSpPr txBox="1">
                <a:spLocks noRot="1" noChangeAspect="1" noMove="1" noResize="1" noEditPoints="1" noAdjustHandles="1" noChangeArrowheads="1" noChangeShapeType="1" noTextEdit="1"/>
              </p:cNvSpPr>
              <p:nvPr/>
            </p:nvSpPr>
            <p:spPr>
              <a:xfrm rot="5400000">
                <a:off x="3432708" y="3570716"/>
                <a:ext cx="803816" cy="461665"/>
              </a:xfrm>
              <a:prstGeom prst="rect">
                <a:avLst/>
              </a:prstGeom>
              <a:blipFill>
                <a:blip r:embed="rId27"/>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1343480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 name="Straight Connector 91">
            <a:extLst>
              <a:ext uri="{FF2B5EF4-FFF2-40B4-BE49-F238E27FC236}">
                <a16:creationId xmlns:a16="http://schemas.microsoft.com/office/drawing/2014/main" id="{F6B25323-C2BC-2235-5AE4-B7D2F6EAE2DB}"/>
              </a:ext>
            </a:extLst>
          </p:cNvPr>
          <p:cNvCxnSpPr>
            <a:cxnSpLocks/>
            <a:stCxn id="65" idx="1"/>
          </p:cNvCxnSpPr>
          <p:nvPr/>
        </p:nvCxnSpPr>
        <p:spPr>
          <a:xfrm flipH="1" flipV="1">
            <a:off x="1686453" y="2626638"/>
            <a:ext cx="2019387" cy="83630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31">
                <a:extLst>
                  <a:ext uri="{FF2B5EF4-FFF2-40B4-BE49-F238E27FC236}">
                    <a16:creationId xmlns:a16="http://schemas.microsoft.com/office/drawing/2014/main" id="{13652847-0546-FEEC-2AFE-6B1837EEAC74}"/>
                  </a:ext>
                </a:extLst>
              </p:cNvPr>
              <p:cNvSpPr/>
              <p:nvPr/>
            </p:nvSpPr>
            <p:spPr>
              <a:xfrm>
                <a:off x="1678892" y="2944178"/>
                <a:ext cx="1577953" cy="114240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32" name="Rectangle 31">
                <a:extLst>
                  <a:ext uri="{FF2B5EF4-FFF2-40B4-BE49-F238E27FC236}">
                    <a16:creationId xmlns:a16="http://schemas.microsoft.com/office/drawing/2014/main" id="{13652847-0546-FEEC-2AFE-6B1837EEAC74}"/>
                  </a:ext>
                </a:extLst>
              </p:cNvPr>
              <p:cNvSpPr>
                <a:spLocks noRot="1" noChangeAspect="1" noMove="1" noResize="1" noEditPoints="1" noAdjustHandles="1" noChangeArrowheads="1" noChangeShapeType="1" noTextEdit="1"/>
              </p:cNvSpPr>
              <p:nvPr/>
            </p:nvSpPr>
            <p:spPr>
              <a:xfrm>
                <a:off x="1678892" y="2944178"/>
                <a:ext cx="1577953" cy="1142407"/>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89" name="Straight Connector 88">
            <a:extLst>
              <a:ext uri="{FF2B5EF4-FFF2-40B4-BE49-F238E27FC236}">
                <a16:creationId xmlns:a16="http://schemas.microsoft.com/office/drawing/2014/main" id="{BED7ED17-DF68-6CF8-F900-BEE4B3B2808E}"/>
              </a:ext>
            </a:extLst>
          </p:cNvPr>
          <p:cNvCxnSpPr>
            <a:cxnSpLocks/>
            <a:stCxn id="65" idx="3"/>
            <a:endCxn id="19" idx="2"/>
          </p:cNvCxnSpPr>
          <p:nvPr/>
        </p:nvCxnSpPr>
        <p:spPr>
          <a:xfrm flipV="1">
            <a:off x="4175520" y="2670456"/>
            <a:ext cx="1611828" cy="79248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2" name="Rectangle 51">
                <a:extLst>
                  <a:ext uri="{FF2B5EF4-FFF2-40B4-BE49-F238E27FC236}">
                    <a16:creationId xmlns:a16="http://schemas.microsoft.com/office/drawing/2014/main" id="{98271B2C-5448-2330-53AA-F51E5AD3E2BD}"/>
                  </a:ext>
                </a:extLst>
              </p:cNvPr>
              <p:cNvSpPr/>
              <p:nvPr/>
            </p:nvSpPr>
            <p:spPr>
              <a:xfrm>
                <a:off x="4887261" y="2943589"/>
                <a:ext cx="1801407" cy="114240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52" name="Rectangle 51">
                <a:extLst>
                  <a:ext uri="{FF2B5EF4-FFF2-40B4-BE49-F238E27FC236}">
                    <a16:creationId xmlns:a16="http://schemas.microsoft.com/office/drawing/2014/main" id="{98271B2C-5448-2330-53AA-F51E5AD3E2BD}"/>
                  </a:ext>
                </a:extLst>
              </p:cNvPr>
              <p:cNvSpPr>
                <a:spLocks noRot="1" noChangeAspect="1" noMove="1" noResize="1" noEditPoints="1" noAdjustHandles="1" noChangeArrowheads="1" noChangeShapeType="1" noTextEdit="1"/>
              </p:cNvSpPr>
              <p:nvPr/>
            </p:nvSpPr>
            <p:spPr>
              <a:xfrm>
                <a:off x="4887261" y="2943589"/>
                <a:ext cx="1801407" cy="1142407"/>
              </a:xfrm>
              <a:prstGeom prst="rect">
                <a:avLst/>
              </a:prstGeom>
              <a:blipFill>
                <a:blip r:embed="rId3"/>
                <a:stretch>
                  <a:fillRect/>
                </a:stretch>
              </a:blipFill>
              <a:ln>
                <a:solidFill>
                  <a:schemeClr val="tx1"/>
                </a:solidFill>
              </a:ln>
            </p:spPr>
            <p:txBody>
              <a:bodyPr/>
              <a:lstStyle/>
              <a:p>
                <a:r>
                  <a:rPr lang="en-VN">
                    <a:noFill/>
                  </a:rPr>
                  <a:t> </a:t>
                </a:r>
              </a:p>
            </p:txBody>
          </p:sp>
        </mc:Fallback>
      </mc:AlternateContent>
      <p:cxnSp>
        <p:nvCxnSpPr>
          <p:cNvPr id="33" name="Straight Connector 32">
            <a:extLst>
              <a:ext uri="{FF2B5EF4-FFF2-40B4-BE49-F238E27FC236}">
                <a16:creationId xmlns:a16="http://schemas.microsoft.com/office/drawing/2014/main" id="{7B4A3C63-AA26-3C1B-5157-08F0D9AAA017}"/>
              </a:ext>
            </a:extLst>
          </p:cNvPr>
          <p:cNvCxnSpPr>
            <a:cxnSpLocks/>
          </p:cNvCxnSpPr>
          <p:nvPr/>
        </p:nvCxnSpPr>
        <p:spPr>
          <a:xfrm>
            <a:off x="1047697" y="3489577"/>
            <a:ext cx="254505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49E4837-2C39-731E-E73C-84DF52AC73D7}"/>
              </a:ext>
            </a:extLst>
          </p:cNvPr>
          <p:cNvCxnSpPr>
            <a:cxnSpLocks/>
          </p:cNvCxnSpPr>
          <p:nvPr/>
        </p:nvCxnSpPr>
        <p:spPr>
          <a:xfrm flipV="1">
            <a:off x="1243581" y="3357924"/>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4085ED-6442-0098-8E1E-A22E17519136}"/>
              </a:ext>
            </a:extLst>
          </p:cNvPr>
          <p:cNvSpPr>
            <a:spLocks noGrp="1"/>
          </p:cNvSpPr>
          <p:nvPr>
            <p:ph type="title"/>
          </p:nvPr>
        </p:nvSpPr>
        <p:spPr>
          <a:xfrm>
            <a:off x="838201" y="-7403"/>
            <a:ext cx="8621889" cy="1325563"/>
          </a:xfrm>
        </p:spPr>
        <p:txBody>
          <a:bodyPr>
            <a:normAutofit/>
          </a:bodyPr>
          <a:lstStyle/>
          <a:p>
            <a:r>
              <a:rPr lang="en-US"/>
              <a:t>1.6.3. Quantum Optimization</a:t>
            </a:r>
            <a:br>
              <a:rPr lang="en-US"/>
            </a:br>
            <a:r>
              <a:rPr lang="en-US" sz="2667"/>
              <a:t>Quantum compiling</a:t>
            </a:r>
            <a:endParaRPr lang="vi-VN" sz="2667"/>
          </a:p>
        </p:txBody>
      </p:sp>
      <p:sp>
        <p:nvSpPr>
          <p:cNvPr id="4" name="Slide Number Placeholder 3">
            <a:extLst>
              <a:ext uri="{FF2B5EF4-FFF2-40B4-BE49-F238E27FC236}">
                <a16:creationId xmlns:a16="http://schemas.microsoft.com/office/drawing/2014/main" id="{AC847E43-9ECB-D3C7-47DC-B5E745E4CA4A}"/>
              </a:ext>
            </a:extLst>
          </p:cNvPr>
          <p:cNvSpPr>
            <a:spLocks noGrp="1"/>
          </p:cNvSpPr>
          <p:nvPr>
            <p:ph type="sldNum" sz="quarter" idx="12"/>
          </p:nvPr>
        </p:nvSpPr>
        <p:spPr/>
        <p:txBody>
          <a:bodyPr/>
          <a:lstStyle/>
          <a:p>
            <a:fld id="{6A45828D-F580-42DE-B77E-860980F07F32}" type="slidenum">
              <a:rPr lang="vi-VN" smtClean="0"/>
              <a:t>15</a:t>
            </a:fld>
            <a:endParaRPr lang="vi-VN"/>
          </a:p>
        </p:txBody>
      </p:sp>
      <p:cxnSp>
        <p:nvCxnSpPr>
          <p:cNvPr id="5" name="Straight Connector 4">
            <a:extLst>
              <a:ext uri="{FF2B5EF4-FFF2-40B4-BE49-F238E27FC236}">
                <a16:creationId xmlns:a16="http://schemas.microsoft.com/office/drawing/2014/main" id="{F467B375-E6FB-C3A6-4D74-51323FE57918}"/>
              </a:ext>
            </a:extLst>
          </p:cNvPr>
          <p:cNvCxnSpPr>
            <a:cxnSpLocks/>
          </p:cNvCxnSpPr>
          <p:nvPr/>
        </p:nvCxnSpPr>
        <p:spPr>
          <a:xfrm>
            <a:off x="1047697" y="1757353"/>
            <a:ext cx="22768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3DBFF382-CFA6-76CE-55F7-4C9460110371}"/>
                  </a:ext>
                </a:extLst>
              </p:cNvPr>
              <p:cNvSpPr/>
              <p:nvPr/>
            </p:nvSpPr>
            <p:spPr>
              <a:xfrm>
                <a:off x="1794990" y="1332634"/>
                <a:ext cx="429916"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sz="2400"/>
              </a:p>
            </p:txBody>
          </p:sp>
        </mc:Choice>
        <mc:Fallback>
          <p:sp>
            <p:nvSpPr>
              <p:cNvPr id="6" name="Rectangle 5">
                <a:extLst>
                  <a:ext uri="{FF2B5EF4-FFF2-40B4-BE49-F238E27FC236}">
                    <a16:creationId xmlns:a16="http://schemas.microsoft.com/office/drawing/2014/main" id="{3DBFF382-CFA6-76CE-55F7-4C9460110371}"/>
                  </a:ext>
                </a:extLst>
              </p:cNvPr>
              <p:cNvSpPr>
                <a:spLocks noRot="1" noChangeAspect="1" noMove="1" noResize="1" noEditPoints="1" noAdjustHandles="1" noChangeArrowheads="1" noChangeShapeType="1" noTextEdit="1"/>
              </p:cNvSpPr>
              <p:nvPr/>
            </p:nvSpPr>
            <p:spPr>
              <a:xfrm>
                <a:off x="1794990" y="1332634"/>
                <a:ext cx="429916" cy="867719"/>
              </a:xfrm>
              <a:prstGeom prst="rect">
                <a:avLst/>
              </a:prstGeom>
              <a:blipFill>
                <a:blip r:embed="rId4"/>
                <a:stretch>
                  <a:fillRect l="-21622"/>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6A8135C1-BC53-0406-EC59-C3BB00EE2FFF}"/>
                  </a:ext>
                </a:extLst>
              </p:cNvPr>
              <p:cNvSpPr/>
              <p:nvPr/>
            </p:nvSpPr>
            <p:spPr>
              <a:xfrm>
                <a:off x="2359639" y="1332634"/>
                <a:ext cx="42307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𝑉</m:t>
                      </m:r>
                    </m:oMath>
                  </m:oMathPara>
                </a14:m>
                <a:endParaRPr sz="2400"/>
              </a:p>
            </p:txBody>
          </p:sp>
        </mc:Choice>
        <mc:Fallback>
          <p:sp>
            <p:nvSpPr>
              <p:cNvPr id="7" name="Rectangle 6">
                <a:extLst>
                  <a:ext uri="{FF2B5EF4-FFF2-40B4-BE49-F238E27FC236}">
                    <a16:creationId xmlns:a16="http://schemas.microsoft.com/office/drawing/2014/main" id="{6A8135C1-BC53-0406-EC59-C3BB00EE2FFF}"/>
                  </a:ext>
                </a:extLst>
              </p:cNvPr>
              <p:cNvSpPr>
                <a:spLocks noRot="1" noChangeAspect="1" noMove="1" noResize="1" noEditPoints="1" noAdjustHandles="1" noChangeArrowheads="1" noChangeShapeType="1" noTextEdit="1"/>
              </p:cNvSpPr>
              <p:nvPr/>
            </p:nvSpPr>
            <p:spPr>
              <a:xfrm>
                <a:off x="2359639" y="1332634"/>
                <a:ext cx="423077" cy="867719"/>
              </a:xfrm>
              <a:prstGeom prst="rect">
                <a:avLst/>
              </a:prstGeom>
              <a:blipFill>
                <a:blip r:embed="rId5"/>
                <a:stretch>
                  <a:fillRect l="-22857"/>
                </a:stretch>
              </a:blipFill>
              <a:ln>
                <a:solidFill>
                  <a:schemeClr val="tx1"/>
                </a:solidFill>
              </a:ln>
            </p:spPr>
            <p:txBody>
              <a:bodyPr/>
              <a:lstStyle/>
              <a:p>
                <a:r>
                  <a:rPr lang="en-VN">
                    <a:noFill/>
                  </a:rPr>
                  <a:t> </a:t>
                </a:r>
              </a:p>
            </p:txBody>
          </p:sp>
        </mc:Fallback>
      </mc:AlternateContent>
      <p:cxnSp>
        <p:nvCxnSpPr>
          <p:cNvPr id="8" name="Straight Connector 7">
            <a:extLst>
              <a:ext uri="{FF2B5EF4-FFF2-40B4-BE49-F238E27FC236}">
                <a16:creationId xmlns:a16="http://schemas.microsoft.com/office/drawing/2014/main" id="{C4BF1FC8-04C4-F14F-A3BE-0E298C4F23C2}"/>
              </a:ext>
            </a:extLst>
          </p:cNvPr>
          <p:cNvCxnSpPr>
            <a:cxnSpLocks/>
          </p:cNvCxnSpPr>
          <p:nvPr/>
        </p:nvCxnSpPr>
        <p:spPr>
          <a:xfrm flipV="1">
            <a:off x="1243581" y="1625700"/>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6C510D3-4134-1E86-3849-D154A7AFCA26}"/>
              </a:ext>
            </a:extLst>
          </p:cNvPr>
          <p:cNvSpPr/>
          <p:nvPr/>
        </p:nvSpPr>
        <p:spPr>
          <a:xfrm>
            <a:off x="711860" y="1573845"/>
            <a:ext cx="132008" cy="4083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D970A9B-8256-EEC4-E04F-0D64B063B71F}"/>
                  </a:ext>
                </a:extLst>
              </p:cNvPr>
              <p:cNvSpPr txBox="1"/>
              <p:nvPr/>
            </p:nvSpPr>
            <p:spPr>
              <a:xfrm>
                <a:off x="4244475" y="1559265"/>
                <a:ext cx="814710" cy="369332"/>
              </a:xfrm>
              <a:prstGeom prst="rect">
                <a:avLst/>
              </a:prstGeom>
              <a:noFill/>
            </p:spPr>
            <p:txBody>
              <a:bodyPr wrap="none" lIns="0" tIns="0" rIns="0" bIns="0" rtlCol="0">
                <a:spAutoFit/>
              </a:bodyPr>
              <a:lstStyle/>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0</m:t>
                        </m:r>
                      </m:sub>
                    </m:sSub>
                    <m:d>
                      <m:dPr>
                        <m:ctrlPr>
                          <a:rPr lang="en-US" sz="2400" i="1">
                            <a:latin typeface="Cambria Math" panose="02040503050406030204" pitchFamily="18" charset="0"/>
                          </a:rPr>
                        </m:ctrlPr>
                      </m:dPr>
                      <m:e>
                        <m:r>
                          <a:rPr lang="en-US" sz="2400" b="1" i="1">
                            <a:latin typeface="Cambria Math" panose="02040503050406030204" pitchFamily="18" charset="0"/>
                          </a:rPr>
                          <m:t>𝜽</m:t>
                        </m:r>
                      </m:e>
                    </m:d>
                  </m:oMath>
                </a14:m>
                <a:r>
                  <a:rPr lang="en-US" sz="2400" i="1"/>
                  <a:t> </a:t>
                </a:r>
                <a:endParaRPr lang="vi-VN" sz="2400" i="1"/>
              </a:p>
            </p:txBody>
          </p:sp>
        </mc:Choice>
        <mc:Fallback>
          <p:sp>
            <p:nvSpPr>
              <p:cNvPr id="12" name="TextBox 11">
                <a:extLst>
                  <a:ext uri="{FF2B5EF4-FFF2-40B4-BE49-F238E27FC236}">
                    <a16:creationId xmlns:a16="http://schemas.microsoft.com/office/drawing/2014/main" id="{3D970A9B-8256-EEC4-E04F-0D64B063B71F}"/>
                  </a:ext>
                </a:extLst>
              </p:cNvPr>
              <p:cNvSpPr txBox="1">
                <a:spLocks noRot="1" noChangeAspect="1" noMove="1" noResize="1" noEditPoints="1" noAdjustHandles="1" noChangeArrowheads="1" noChangeShapeType="1" noTextEdit="1"/>
              </p:cNvSpPr>
              <p:nvPr/>
            </p:nvSpPr>
            <p:spPr>
              <a:xfrm>
                <a:off x="4244475" y="1559265"/>
                <a:ext cx="814710" cy="369332"/>
              </a:xfrm>
              <a:prstGeom prst="rect">
                <a:avLst/>
              </a:prstGeom>
              <a:blipFill>
                <a:blip r:embed="rId6"/>
                <a:stretch>
                  <a:fillRect l="-13846" b="-20000"/>
                </a:stretch>
              </a:blipFill>
            </p:spPr>
            <p:txBody>
              <a:bodyPr/>
              <a:lstStyle/>
              <a:p>
                <a:r>
                  <a:rPr lang="en-VN">
                    <a:noFill/>
                  </a:rPr>
                  <a:t> </a:t>
                </a:r>
              </a:p>
            </p:txBody>
          </p:sp>
        </mc:Fallback>
      </mc:AlternateContent>
      <p:cxnSp>
        <p:nvCxnSpPr>
          <p:cNvPr id="13" name="Straight Arrow Connector 12">
            <a:extLst>
              <a:ext uri="{FF2B5EF4-FFF2-40B4-BE49-F238E27FC236}">
                <a16:creationId xmlns:a16="http://schemas.microsoft.com/office/drawing/2014/main" id="{D3ADD803-DCF8-0DE8-3229-AD463FC01C4B}"/>
              </a:ext>
            </a:extLst>
          </p:cNvPr>
          <p:cNvCxnSpPr>
            <a:endCxn id="12" idx="1"/>
          </p:cNvCxnSpPr>
          <p:nvPr/>
        </p:nvCxnSpPr>
        <p:spPr>
          <a:xfrm flipV="1">
            <a:off x="3422344" y="1743931"/>
            <a:ext cx="822131" cy="1"/>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638A010-1089-DB5A-0404-726A8697A008}"/>
                  </a:ext>
                </a:extLst>
              </p:cNvPr>
              <p:cNvSpPr txBox="1"/>
              <p:nvPr/>
            </p:nvSpPr>
            <p:spPr>
              <a:xfrm>
                <a:off x="5422302" y="1559265"/>
                <a:ext cx="197118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𝐶</m:t>
                      </m:r>
                      <m:d>
                        <m:dPr>
                          <m:ctrlPr>
                            <a:rPr lang="en-US" sz="2400" i="1">
                              <a:latin typeface="Cambria Math" panose="02040503050406030204" pitchFamily="18" charset="0"/>
                            </a:rPr>
                          </m:ctrlPr>
                        </m:dPr>
                        <m:e>
                          <m:r>
                            <a:rPr lang="en-US" sz="2400" b="1" i="1">
                              <a:latin typeface="Cambria Math" panose="02040503050406030204" pitchFamily="18" charset="0"/>
                            </a:rPr>
                            <m:t>𝜽</m:t>
                          </m:r>
                        </m:e>
                      </m:d>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0</m:t>
                          </m:r>
                        </m:sub>
                      </m:sSub>
                    </m:oMath>
                  </m:oMathPara>
                </a14:m>
                <a:endParaRPr lang="vi-VN" sz="2400" i="1"/>
              </a:p>
            </p:txBody>
          </p:sp>
        </mc:Choice>
        <mc:Fallback>
          <p:sp>
            <p:nvSpPr>
              <p:cNvPr id="14" name="TextBox 13">
                <a:extLst>
                  <a:ext uri="{FF2B5EF4-FFF2-40B4-BE49-F238E27FC236}">
                    <a16:creationId xmlns:a16="http://schemas.microsoft.com/office/drawing/2014/main" id="{E638A010-1089-DB5A-0404-726A8697A008}"/>
                  </a:ext>
                </a:extLst>
              </p:cNvPr>
              <p:cNvSpPr txBox="1">
                <a:spLocks noRot="1" noChangeAspect="1" noMove="1" noResize="1" noEditPoints="1" noAdjustHandles="1" noChangeArrowheads="1" noChangeShapeType="1" noTextEdit="1"/>
              </p:cNvSpPr>
              <p:nvPr/>
            </p:nvSpPr>
            <p:spPr>
              <a:xfrm>
                <a:off x="5422302" y="1559265"/>
                <a:ext cx="1971181" cy="369332"/>
              </a:xfrm>
              <a:prstGeom prst="rect">
                <a:avLst/>
              </a:prstGeom>
              <a:blipFill>
                <a:blip r:embed="rId7"/>
                <a:stretch>
                  <a:fillRect l="-2548" b="-23333"/>
                </a:stretch>
              </a:blipFill>
            </p:spPr>
            <p:txBody>
              <a:bodyPr/>
              <a:lstStyle/>
              <a:p>
                <a:r>
                  <a:rPr lang="en-VN">
                    <a:noFill/>
                  </a:rPr>
                  <a:t> </a:t>
                </a:r>
              </a:p>
            </p:txBody>
          </p:sp>
        </mc:Fallback>
      </mc:AlternateContent>
      <p:cxnSp>
        <p:nvCxnSpPr>
          <p:cNvPr id="15" name="Straight Arrow Connector 14">
            <a:extLst>
              <a:ext uri="{FF2B5EF4-FFF2-40B4-BE49-F238E27FC236}">
                <a16:creationId xmlns:a16="http://schemas.microsoft.com/office/drawing/2014/main" id="{91C5D91D-96D3-42AE-84EC-535DEE1D0AB3}"/>
              </a:ext>
            </a:extLst>
          </p:cNvPr>
          <p:cNvCxnSpPr>
            <a:cxnSpLocks/>
            <a:stCxn id="12" idx="3"/>
            <a:endCxn id="14" idx="1"/>
          </p:cNvCxnSpPr>
          <p:nvPr/>
        </p:nvCxnSpPr>
        <p:spPr>
          <a:xfrm>
            <a:off x="5059185" y="1743931"/>
            <a:ext cx="363117"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6" name="Hình chữ nhật 93">
            <a:extLst>
              <a:ext uri="{FF2B5EF4-FFF2-40B4-BE49-F238E27FC236}">
                <a16:creationId xmlns:a16="http://schemas.microsoft.com/office/drawing/2014/main" id="{8DC62D6A-745F-400A-9145-E65A4F7C3DF4}"/>
              </a:ext>
            </a:extLst>
          </p:cNvPr>
          <p:cNvSpPr/>
          <p:nvPr/>
        </p:nvSpPr>
        <p:spPr>
          <a:xfrm>
            <a:off x="3446198" y="1534985"/>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17" name="Arc 16">
            <a:extLst>
              <a:ext uri="{FF2B5EF4-FFF2-40B4-BE49-F238E27FC236}">
                <a16:creationId xmlns:a16="http://schemas.microsoft.com/office/drawing/2014/main" id="{C291DA55-55A6-F23D-9CA8-C086744260BC}"/>
              </a:ext>
            </a:extLst>
          </p:cNvPr>
          <p:cNvSpPr/>
          <p:nvPr/>
        </p:nvSpPr>
        <p:spPr>
          <a:xfrm>
            <a:off x="3520460" y="1727784"/>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18" name="Straight Arrow Connector 17">
            <a:extLst>
              <a:ext uri="{FF2B5EF4-FFF2-40B4-BE49-F238E27FC236}">
                <a16:creationId xmlns:a16="http://schemas.microsoft.com/office/drawing/2014/main" id="{50E02F61-F408-4F4E-6558-D43848883A31}"/>
              </a:ext>
            </a:extLst>
          </p:cNvPr>
          <p:cNvCxnSpPr>
            <a:cxnSpLocks/>
          </p:cNvCxnSpPr>
          <p:nvPr/>
        </p:nvCxnSpPr>
        <p:spPr>
          <a:xfrm flipV="1">
            <a:off x="3592749" y="1624279"/>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25BD52EC-1528-C3B1-CB8E-D7D7C7B23EA5}"/>
                  </a:ext>
                </a:extLst>
              </p:cNvPr>
              <p:cNvSpPr txBox="1"/>
              <p:nvPr/>
            </p:nvSpPr>
            <p:spPr>
              <a:xfrm>
                <a:off x="5082379" y="2301124"/>
                <a:ext cx="14099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𝐶</m:t>
                      </m:r>
                      <m:d>
                        <m:dPr>
                          <m:ctrlPr>
                            <a:rPr lang="en-US" sz="2400" i="1">
                              <a:latin typeface="Cambria Math" panose="02040503050406030204" pitchFamily="18" charset="0"/>
                            </a:rPr>
                          </m:ctrlPr>
                        </m:dPr>
                        <m:e>
                          <m:r>
                            <a:rPr lang="en-US" sz="2400" b="1" i="1">
                              <a:latin typeface="Cambria Math" panose="02040503050406030204" pitchFamily="18" charset="0"/>
                            </a:rPr>
                            <m:t>𝜽</m:t>
                          </m:r>
                        </m:e>
                      </m:d>
                      <m:r>
                        <a:rPr lang="en-US" sz="2400" i="1">
                          <a:latin typeface="Cambria Math" panose="02040503050406030204" pitchFamily="18" charset="0"/>
                        </a:rPr>
                        <m:t>&lt;</m:t>
                      </m:r>
                      <m:r>
                        <a:rPr lang="en-US" sz="2400" i="1">
                          <a:latin typeface="Cambria Math" panose="02040503050406030204" pitchFamily="18" charset="0"/>
                        </a:rPr>
                        <m:t>𝜏</m:t>
                      </m:r>
                      <m:r>
                        <a:rPr lang="en-US" sz="2400" i="1">
                          <a:latin typeface="Cambria Math" panose="02040503050406030204" pitchFamily="18" charset="0"/>
                        </a:rPr>
                        <m:t>?</m:t>
                      </m:r>
                    </m:oMath>
                  </m:oMathPara>
                </a14:m>
                <a:endParaRPr lang="vi-VN" sz="2400" i="1"/>
              </a:p>
            </p:txBody>
          </p:sp>
        </mc:Choice>
        <mc:Fallback>
          <p:sp>
            <p:nvSpPr>
              <p:cNvPr id="19" name="TextBox 18">
                <a:extLst>
                  <a:ext uri="{FF2B5EF4-FFF2-40B4-BE49-F238E27FC236}">
                    <a16:creationId xmlns:a16="http://schemas.microsoft.com/office/drawing/2014/main" id="{25BD52EC-1528-C3B1-CB8E-D7D7C7B23EA5}"/>
                  </a:ext>
                </a:extLst>
              </p:cNvPr>
              <p:cNvSpPr txBox="1">
                <a:spLocks noRot="1" noChangeAspect="1" noMove="1" noResize="1" noEditPoints="1" noAdjustHandles="1" noChangeArrowheads="1" noChangeShapeType="1" noTextEdit="1"/>
              </p:cNvSpPr>
              <p:nvPr/>
            </p:nvSpPr>
            <p:spPr>
              <a:xfrm>
                <a:off x="5082379" y="2301124"/>
                <a:ext cx="1409938" cy="369332"/>
              </a:xfrm>
              <a:prstGeom prst="rect">
                <a:avLst/>
              </a:prstGeom>
              <a:blipFill>
                <a:blip r:embed="rId8"/>
                <a:stretch>
                  <a:fillRect l="-3571" r="-3571" b="-6452"/>
                </a:stretch>
              </a:blipFill>
            </p:spPr>
            <p:txBody>
              <a:bodyPr/>
              <a:lstStyle/>
              <a:p>
                <a:r>
                  <a:rPr lang="en-VN">
                    <a:noFill/>
                  </a:rPr>
                  <a:t> </a:t>
                </a:r>
              </a:p>
            </p:txBody>
          </p:sp>
        </mc:Fallback>
      </mc:AlternateContent>
      <p:cxnSp>
        <p:nvCxnSpPr>
          <p:cNvPr id="20" name="Straight Arrow Connector 19">
            <a:extLst>
              <a:ext uri="{FF2B5EF4-FFF2-40B4-BE49-F238E27FC236}">
                <a16:creationId xmlns:a16="http://schemas.microsoft.com/office/drawing/2014/main" id="{DED20DC9-4D9D-78E3-2050-86F6C2ECB4D0}"/>
              </a:ext>
            </a:extLst>
          </p:cNvPr>
          <p:cNvCxnSpPr>
            <a:cxnSpLocks/>
            <a:endCxn id="19" idx="0"/>
          </p:cNvCxnSpPr>
          <p:nvPr/>
        </p:nvCxnSpPr>
        <p:spPr>
          <a:xfrm flipH="1">
            <a:off x="5787348" y="1941969"/>
            <a:ext cx="267" cy="3591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25" name="Connector: Elbow 24">
            <a:extLst>
              <a:ext uri="{FF2B5EF4-FFF2-40B4-BE49-F238E27FC236}">
                <a16:creationId xmlns:a16="http://schemas.microsoft.com/office/drawing/2014/main" id="{1E655DD9-A879-2706-A3C6-A7487B96CE55}"/>
              </a:ext>
            </a:extLst>
          </p:cNvPr>
          <p:cNvCxnSpPr>
            <a:cxnSpLocks/>
            <a:stCxn id="19" idx="1"/>
            <a:endCxn id="27" idx="2"/>
          </p:cNvCxnSpPr>
          <p:nvPr/>
        </p:nvCxnSpPr>
        <p:spPr>
          <a:xfrm rot="10800000">
            <a:off x="2283203" y="2301118"/>
            <a:ext cx="2799176" cy="184673"/>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D1240CB2-83E4-3033-EF10-5982088FAB89}"/>
                  </a:ext>
                </a:extLst>
              </p:cNvPr>
              <p:cNvSpPr txBox="1"/>
              <p:nvPr/>
            </p:nvSpPr>
            <p:spPr>
              <a:xfrm>
                <a:off x="3324577" y="2117052"/>
                <a:ext cx="3019264" cy="338554"/>
              </a:xfrm>
              <a:prstGeom prst="rect">
                <a:avLst/>
              </a:prstGeom>
              <a:noFill/>
            </p:spPr>
            <p:txBody>
              <a:bodyPr wrap="square">
                <a:spAutoFit/>
              </a:bodyPr>
              <a:lstStyle/>
              <a:p>
                <a:r>
                  <a:rPr lang="en-US" sz="1600">
                    <a:solidFill>
                      <a:srgbClr val="FF0000"/>
                    </a:solidFill>
                  </a:rPr>
                  <a:t>False </a:t>
                </a:r>
                <a14:m>
                  <m:oMath xmlns:m="http://schemas.openxmlformats.org/officeDocument/2006/math">
                    <m:r>
                      <a:rPr lang="en-US" sz="1600" i="1">
                        <a:solidFill>
                          <a:srgbClr val="FF0000"/>
                        </a:solidFill>
                        <a:latin typeface="Cambria Math" panose="02040503050406030204" pitchFamily="18" charset="0"/>
                      </a:rPr>
                      <m:t>→</m:t>
                    </m:r>
                  </m:oMath>
                </a14:m>
                <a:r>
                  <a:rPr lang="en-US" sz="1600">
                    <a:solidFill>
                      <a:srgbClr val="FF0000"/>
                    </a:solidFill>
                  </a:rPr>
                  <a:t> Update </a:t>
                </a:r>
                <a14:m>
                  <m:oMath xmlns:m="http://schemas.openxmlformats.org/officeDocument/2006/math">
                    <m:r>
                      <a:rPr lang="en-US" sz="1600" b="1" i="1">
                        <a:solidFill>
                          <a:srgbClr val="FF0000"/>
                        </a:solidFill>
                        <a:latin typeface="Cambria Math" panose="02040503050406030204" pitchFamily="18" charset="0"/>
                      </a:rPr>
                      <m:t>𝜽</m:t>
                    </m:r>
                  </m:oMath>
                </a14:m>
                <a:endParaRPr lang="vi-VN" sz="1600" b="1">
                  <a:solidFill>
                    <a:srgbClr val="FF0000"/>
                  </a:solidFill>
                </a:endParaRPr>
              </a:p>
            </p:txBody>
          </p:sp>
        </mc:Choice>
        <mc:Fallback>
          <p:sp>
            <p:nvSpPr>
              <p:cNvPr id="26" name="TextBox 25">
                <a:extLst>
                  <a:ext uri="{FF2B5EF4-FFF2-40B4-BE49-F238E27FC236}">
                    <a16:creationId xmlns:a16="http://schemas.microsoft.com/office/drawing/2014/main" id="{D1240CB2-83E4-3033-EF10-5982088FAB89}"/>
                  </a:ext>
                </a:extLst>
              </p:cNvPr>
              <p:cNvSpPr txBox="1">
                <a:spLocks noRot="1" noChangeAspect="1" noMove="1" noResize="1" noEditPoints="1" noAdjustHandles="1" noChangeArrowheads="1" noChangeShapeType="1" noTextEdit="1"/>
              </p:cNvSpPr>
              <p:nvPr/>
            </p:nvSpPr>
            <p:spPr>
              <a:xfrm>
                <a:off x="3324577" y="2117052"/>
                <a:ext cx="3019264" cy="338554"/>
              </a:xfrm>
              <a:prstGeom prst="rect">
                <a:avLst/>
              </a:prstGeom>
              <a:blipFill>
                <a:blip r:embed="rId9"/>
                <a:stretch>
                  <a:fillRect l="-837" t="-3571" b="-21429"/>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7" name="Rectangle 26">
                <a:extLst>
                  <a:ext uri="{FF2B5EF4-FFF2-40B4-BE49-F238E27FC236}">
                    <a16:creationId xmlns:a16="http://schemas.microsoft.com/office/drawing/2014/main" id="{39ACA6FA-2BD4-C8CC-B1A9-EC6818045DD6}"/>
                  </a:ext>
                </a:extLst>
              </p:cNvPr>
              <p:cNvSpPr/>
              <p:nvPr/>
            </p:nvSpPr>
            <p:spPr>
              <a:xfrm>
                <a:off x="1678892" y="1247141"/>
                <a:ext cx="1208621" cy="105397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27" name="Rectangle 26">
                <a:extLst>
                  <a:ext uri="{FF2B5EF4-FFF2-40B4-BE49-F238E27FC236}">
                    <a16:creationId xmlns:a16="http://schemas.microsoft.com/office/drawing/2014/main" id="{39ACA6FA-2BD4-C8CC-B1A9-EC6818045DD6}"/>
                  </a:ext>
                </a:extLst>
              </p:cNvPr>
              <p:cNvSpPr>
                <a:spLocks noRot="1" noChangeAspect="1" noMove="1" noResize="1" noEditPoints="1" noAdjustHandles="1" noChangeArrowheads="1" noChangeShapeType="1" noTextEdit="1"/>
              </p:cNvSpPr>
              <p:nvPr/>
            </p:nvSpPr>
            <p:spPr>
              <a:xfrm>
                <a:off x="1678892" y="1247141"/>
                <a:ext cx="1208621" cy="1053976"/>
              </a:xfrm>
              <a:prstGeom prst="rect">
                <a:avLst/>
              </a:prstGeom>
              <a:blipFill>
                <a:blip r:embed="rId10"/>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0" name="Rectangle 29">
                <a:extLst>
                  <a:ext uri="{FF2B5EF4-FFF2-40B4-BE49-F238E27FC236}">
                    <a16:creationId xmlns:a16="http://schemas.microsoft.com/office/drawing/2014/main" id="{DCB2E593-C14F-B7AC-1916-7DF7F83D6934}"/>
                  </a:ext>
                </a:extLst>
              </p:cNvPr>
              <p:cNvSpPr/>
              <p:nvPr/>
            </p:nvSpPr>
            <p:spPr>
              <a:xfrm>
                <a:off x="1794988" y="3029671"/>
                <a:ext cx="773235"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d>
                        <m:dPr>
                          <m:ctrlPr>
                            <a:rPr lang="en-US" sz="2400"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𝜽</m:t>
                          </m:r>
                        </m:e>
                      </m:d>
                    </m:oMath>
                  </m:oMathPara>
                </a14:m>
                <a:endParaRPr sz="2400"/>
              </a:p>
            </p:txBody>
          </p:sp>
        </mc:Choice>
        <mc:Fallback>
          <p:sp>
            <p:nvSpPr>
              <p:cNvPr id="30" name="Rectangle 29">
                <a:extLst>
                  <a:ext uri="{FF2B5EF4-FFF2-40B4-BE49-F238E27FC236}">
                    <a16:creationId xmlns:a16="http://schemas.microsoft.com/office/drawing/2014/main" id="{DCB2E593-C14F-B7AC-1916-7DF7F83D6934}"/>
                  </a:ext>
                </a:extLst>
              </p:cNvPr>
              <p:cNvSpPr>
                <a:spLocks noRot="1" noChangeAspect="1" noMove="1" noResize="1" noEditPoints="1" noAdjustHandles="1" noChangeArrowheads="1" noChangeShapeType="1" noTextEdit="1"/>
              </p:cNvSpPr>
              <p:nvPr/>
            </p:nvSpPr>
            <p:spPr>
              <a:xfrm>
                <a:off x="1794988" y="3029671"/>
                <a:ext cx="773235" cy="867719"/>
              </a:xfrm>
              <a:prstGeom prst="rect">
                <a:avLst/>
              </a:prstGeom>
              <a:blipFill>
                <a:blip r:embed="rId11"/>
                <a:stretch>
                  <a:fillRect l="-18750"/>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1" name="Rectangle 30">
                <a:extLst>
                  <a:ext uri="{FF2B5EF4-FFF2-40B4-BE49-F238E27FC236}">
                    <a16:creationId xmlns:a16="http://schemas.microsoft.com/office/drawing/2014/main" id="{F45E0A4D-0676-306E-6928-7BA4B396331C}"/>
                  </a:ext>
                </a:extLst>
              </p:cNvPr>
              <p:cNvSpPr/>
              <p:nvPr/>
            </p:nvSpPr>
            <p:spPr>
              <a:xfrm>
                <a:off x="2630603" y="3029671"/>
                <a:ext cx="496421" cy="86771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 </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𝑉</m:t>
                          </m:r>
                        </m:e>
                        <m:sup>
                          <m:r>
                            <a:rPr lang="en-US" sz="2400" i="1">
                              <a:solidFill>
                                <a:srgbClr val="FF0000"/>
                              </a:solidFill>
                              <a:latin typeface="Cambria Math" panose="02040503050406030204" pitchFamily="18" charset="0"/>
                              <a:ea typeface="Cambria Math" panose="02040503050406030204" pitchFamily="18" charset="0"/>
                            </a:rPr>
                            <m:t>†</m:t>
                          </m:r>
                        </m:sup>
                      </m:sSup>
                    </m:oMath>
                  </m:oMathPara>
                </a14:m>
                <a:endParaRPr lang="en-US" sz="2400">
                  <a:solidFill>
                    <a:srgbClr val="FF0000"/>
                  </a:solidFill>
                </a:endParaRPr>
              </a:p>
            </p:txBody>
          </p:sp>
        </mc:Choice>
        <mc:Fallback>
          <p:sp>
            <p:nvSpPr>
              <p:cNvPr id="31" name="Rectangle 30">
                <a:extLst>
                  <a:ext uri="{FF2B5EF4-FFF2-40B4-BE49-F238E27FC236}">
                    <a16:creationId xmlns:a16="http://schemas.microsoft.com/office/drawing/2014/main" id="{F45E0A4D-0676-306E-6928-7BA4B396331C}"/>
                  </a:ext>
                </a:extLst>
              </p:cNvPr>
              <p:cNvSpPr>
                <a:spLocks noRot="1" noChangeAspect="1" noMove="1" noResize="1" noEditPoints="1" noAdjustHandles="1" noChangeArrowheads="1" noChangeShapeType="1" noTextEdit="1"/>
              </p:cNvSpPr>
              <p:nvPr/>
            </p:nvSpPr>
            <p:spPr>
              <a:xfrm>
                <a:off x="2630603" y="3029671"/>
                <a:ext cx="496421" cy="867719"/>
              </a:xfrm>
              <a:prstGeom prst="rect">
                <a:avLst/>
              </a:prstGeom>
              <a:blipFill>
                <a:blip r:embed="rId12"/>
                <a:stretch>
                  <a:fillRect l="-26190"/>
                </a:stretch>
              </a:blipFill>
              <a:ln>
                <a:solidFill>
                  <a:srgbClr val="FF0000"/>
                </a:solidFill>
              </a:ln>
            </p:spPr>
            <p:txBody>
              <a:bodyPr/>
              <a:lstStyle/>
              <a:p>
                <a:r>
                  <a:rPr lang="en-VN">
                    <a:noFill/>
                  </a:rPr>
                  <a:t> </a:t>
                </a:r>
              </a:p>
            </p:txBody>
          </p:sp>
        </mc:Fallback>
      </mc:AlternateContent>
      <p:sp>
        <p:nvSpPr>
          <p:cNvPr id="36" name="TextBox 35">
            <a:extLst>
              <a:ext uri="{FF2B5EF4-FFF2-40B4-BE49-F238E27FC236}">
                <a16:creationId xmlns:a16="http://schemas.microsoft.com/office/drawing/2014/main" id="{7EE13168-F00B-AFFB-394B-BD0B48D03CB4}"/>
              </a:ext>
            </a:extLst>
          </p:cNvPr>
          <p:cNvSpPr txBox="1"/>
          <p:nvPr/>
        </p:nvSpPr>
        <p:spPr>
          <a:xfrm>
            <a:off x="1629693" y="4201989"/>
            <a:ext cx="1103825" cy="584775"/>
          </a:xfrm>
          <a:prstGeom prst="rect">
            <a:avLst/>
          </a:prstGeom>
          <a:noFill/>
        </p:spPr>
        <p:txBody>
          <a:bodyPr wrap="square">
            <a:spAutoFit/>
          </a:bodyPr>
          <a:lstStyle/>
          <a:p>
            <a:r>
              <a:rPr lang="en-US" sz="1600"/>
              <a:t>Trainable unitary</a:t>
            </a:r>
            <a:endParaRPr lang="vi-VN" sz="1600" b="1"/>
          </a:p>
        </p:txBody>
      </p:sp>
      <p:sp>
        <p:nvSpPr>
          <p:cNvPr id="37" name="TextBox 36">
            <a:extLst>
              <a:ext uri="{FF2B5EF4-FFF2-40B4-BE49-F238E27FC236}">
                <a16:creationId xmlns:a16="http://schemas.microsoft.com/office/drawing/2014/main" id="{9681B7FE-C233-4A1D-C5F7-34B7C75E192E}"/>
              </a:ext>
            </a:extLst>
          </p:cNvPr>
          <p:cNvSpPr txBox="1"/>
          <p:nvPr/>
        </p:nvSpPr>
        <p:spPr>
          <a:xfrm>
            <a:off x="2434599" y="4201399"/>
            <a:ext cx="875760" cy="584775"/>
          </a:xfrm>
          <a:prstGeom prst="rect">
            <a:avLst/>
          </a:prstGeom>
          <a:noFill/>
        </p:spPr>
        <p:txBody>
          <a:bodyPr wrap="square">
            <a:spAutoFit/>
          </a:bodyPr>
          <a:lstStyle/>
          <a:p>
            <a:r>
              <a:rPr lang="en-US" sz="1600"/>
              <a:t>Target unitary</a:t>
            </a:r>
            <a:endParaRPr lang="vi-VN" sz="1600" b="1"/>
          </a:p>
        </p:txBody>
      </p:sp>
      <p:cxnSp>
        <p:nvCxnSpPr>
          <p:cNvPr id="38" name="Straight Arrow Connector 37">
            <a:extLst>
              <a:ext uri="{FF2B5EF4-FFF2-40B4-BE49-F238E27FC236}">
                <a16:creationId xmlns:a16="http://schemas.microsoft.com/office/drawing/2014/main" id="{9893284C-7EB0-10C2-258A-22198751969F}"/>
              </a:ext>
            </a:extLst>
          </p:cNvPr>
          <p:cNvCxnSpPr>
            <a:cxnSpLocks/>
            <a:stCxn id="36" idx="0"/>
            <a:endCxn id="30" idx="2"/>
          </p:cNvCxnSpPr>
          <p:nvPr/>
        </p:nvCxnSpPr>
        <p:spPr>
          <a:xfrm flipV="1">
            <a:off x="2181606" y="3897390"/>
            <a:ext cx="0" cy="30459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555620E2-2228-665D-583E-CCAF4C442BB7}"/>
              </a:ext>
            </a:extLst>
          </p:cNvPr>
          <p:cNvCxnSpPr>
            <a:cxnSpLocks/>
            <a:stCxn id="37" idx="0"/>
            <a:endCxn id="31" idx="2"/>
          </p:cNvCxnSpPr>
          <p:nvPr/>
        </p:nvCxnSpPr>
        <p:spPr>
          <a:xfrm flipV="1">
            <a:off x="2872479" y="3897390"/>
            <a:ext cx="6335" cy="30400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0E5F9420-EB3D-F28B-E9CB-2C4E6FDF8BB8}"/>
              </a:ext>
            </a:extLst>
          </p:cNvPr>
          <p:cNvCxnSpPr>
            <a:cxnSpLocks/>
          </p:cNvCxnSpPr>
          <p:nvPr/>
        </p:nvCxnSpPr>
        <p:spPr>
          <a:xfrm>
            <a:off x="4256067" y="3488988"/>
            <a:ext cx="254505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2A9CC46-9F66-EE96-E4E1-473475304F03}"/>
              </a:ext>
            </a:extLst>
          </p:cNvPr>
          <p:cNvCxnSpPr>
            <a:cxnSpLocks/>
          </p:cNvCxnSpPr>
          <p:nvPr/>
        </p:nvCxnSpPr>
        <p:spPr>
          <a:xfrm flipV="1">
            <a:off x="4451950" y="3357335"/>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0" name="Rectangle 49">
                <a:extLst>
                  <a:ext uri="{FF2B5EF4-FFF2-40B4-BE49-F238E27FC236}">
                    <a16:creationId xmlns:a16="http://schemas.microsoft.com/office/drawing/2014/main" id="{78906143-7CBC-E854-82CE-BED41F50DEE3}"/>
                  </a:ext>
                </a:extLst>
              </p:cNvPr>
              <p:cNvSpPr/>
              <p:nvPr/>
            </p:nvSpPr>
            <p:spPr>
              <a:xfrm>
                <a:off x="5003357" y="3029082"/>
                <a:ext cx="1022284"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d>
                        <m:dPr>
                          <m:ctrlPr>
                            <a:rPr lang="en-US" sz="2400" i="1">
                              <a:solidFill>
                                <a:schemeClr val="tx1"/>
                              </a:solidFill>
                              <a:latin typeface="Cambria Math" panose="02040503050406030204" pitchFamily="18" charset="0"/>
                            </a:rPr>
                          </m:ctrlPr>
                        </m:dPr>
                        <m:e>
                          <m:sSup>
                            <m:sSupPr>
                              <m:ctrlPr>
                                <a:rPr lang="en-US" sz="2400"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𝜽</m:t>
                              </m:r>
                            </m:e>
                            <m:sup>
                              <m:r>
                                <a:rPr lang="en-US" sz="2400" i="1">
                                  <a:solidFill>
                                    <a:schemeClr val="tx1"/>
                                  </a:solidFill>
                                  <a:latin typeface="Cambria Math" panose="02040503050406030204" pitchFamily="18" charset="0"/>
                                </a:rPr>
                                <m:t>∗</m:t>
                              </m:r>
                            </m:sup>
                          </m:sSup>
                        </m:e>
                      </m:d>
                    </m:oMath>
                  </m:oMathPara>
                </a14:m>
                <a:endParaRPr sz="2400"/>
              </a:p>
            </p:txBody>
          </p:sp>
        </mc:Choice>
        <mc:Fallback>
          <p:sp>
            <p:nvSpPr>
              <p:cNvPr id="50" name="Rectangle 49">
                <a:extLst>
                  <a:ext uri="{FF2B5EF4-FFF2-40B4-BE49-F238E27FC236}">
                    <a16:creationId xmlns:a16="http://schemas.microsoft.com/office/drawing/2014/main" id="{78906143-7CBC-E854-82CE-BED41F50DEE3}"/>
                  </a:ext>
                </a:extLst>
              </p:cNvPr>
              <p:cNvSpPr>
                <a:spLocks noRot="1" noChangeAspect="1" noMove="1" noResize="1" noEditPoints="1" noAdjustHandles="1" noChangeArrowheads="1" noChangeShapeType="1" noTextEdit="1"/>
              </p:cNvSpPr>
              <p:nvPr/>
            </p:nvSpPr>
            <p:spPr>
              <a:xfrm>
                <a:off x="5003357" y="3029082"/>
                <a:ext cx="1022284" cy="867719"/>
              </a:xfrm>
              <a:prstGeom prst="rect">
                <a:avLst/>
              </a:prstGeom>
              <a:blipFill>
                <a:blip r:embed="rId13"/>
                <a:stretch>
                  <a:fillRect l="-8434"/>
                </a:stretch>
              </a:blipFill>
              <a:ln>
                <a:solidFill>
                  <a:schemeClr val="tx1"/>
                </a:solidFill>
              </a:ln>
            </p:spPr>
            <p:txBody>
              <a:bodyPr/>
              <a:lstStyle/>
              <a:p>
                <a:r>
                  <a:rPr lang="en-VN">
                    <a:noFill/>
                  </a:rPr>
                  <a:t> </a:t>
                </a:r>
              </a:p>
            </p:txBody>
          </p:sp>
        </mc:Fallback>
      </mc:AlternateContent>
      <p:sp>
        <p:nvSpPr>
          <p:cNvPr id="53" name="TextBox 52">
            <a:extLst>
              <a:ext uri="{FF2B5EF4-FFF2-40B4-BE49-F238E27FC236}">
                <a16:creationId xmlns:a16="http://schemas.microsoft.com/office/drawing/2014/main" id="{D197D7C8-52D5-97BC-82FC-668476467319}"/>
              </a:ext>
            </a:extLst>
          </p:cNvPr>
          <p:cNvSpPr txBox="1"/>
          <p:nvPr/>
        </p:nvSpPr>
        <p:spPr>
          <a:xfrm>
            <a:off x="4967884" y="4237407"/>
            <a:ext cx="1103825" cy="584775"/>
          </a:xfrm>
          <a:prstGeom prst="rect">
            <a:avLst/>
          </a:prstGeom>
          <a:noFill/>
        </p:spPr>
        <p:txBody>
          <a:bodyPr wrap="square">
            <a:spAutoFit/>
          </a:bodyPr>
          <a:lstStyle/>
          <a:p>
            <a:r>
              <a:rPr lang="en-US" sz="1600"/>
              <a:t>Optimized unitary</a:t>
            </a:r>
            <a:endParaRPr lang="vi-VN" sz="1600" b="1"/>
          </a:p>
        </p:txBody>
      </p:sp>
      <p:sp>
        <p:nvSpPr>
          <p:cNvPr id="54" name="TextBox 53">
            <a:extLst>
              <a:ext uri="{FF2B5EF4-FFF2-40B4-BE49-F238E27FC236}">
                <a16:creationId xmlns:a16="http://schemas.microsoft.com/office/drawing/2014/main" id="{0435B402-CC66-8134-3364-A886EBF4D5EB}"/>
              </a:ext>
            </a:extLst>
          </p:cNvPr>
          <p:cNvSpPr txBox="1"/>
          <p:nvPr/>
        </p:nvSpPr>
        <p:spPr>
          <a:xfrm>
            <a:off x="5911751" y="4237407"/>
            <a:ext cx="875760" cy="584775"/>
          </a:xfrm>
          <a:prstGeom prst="rect">
            <a:avLst/>
          </a:prstGeom>
          <a:noFill/>
        </p:spPr>
        <p:txBody>
          <a:bodyPr wrap="square">
            <a:spAutoFit/>
          </a:bodyPr>
          <a:lstStyle/>
          <a:p>
            <a:r>
              <a:rPr lang="en-US" sz="1600"/>
              <a:t>Target unitary</a:t>
            </a:r>
            <a:endParaRPr lang="vi-VN" sz="1600" b="1"/>
          </a:p>
        </p:txBody>
      </p:sp>
      <p:cxnSp>
        <p:nvCxnSpPr>
          <p:cNvPr id="55" name="Straight Arrow Connector 54">
            <a:extLst>
              <a:ext uri="{FF2B5EF4-FFF2-40B4-BE49-F238E27FC236}">
                <a16:creationId xmlns:a16="http://schemas.microsoft.com/office/drawing/2014/main" id="{AC933C90-53B1-1323-EAB5-F321FCE4A559}"/>
              </a:ext>
            </a:extLst>
          </p:cNvPr>
          <p:cNvCxnSpPr>
            <a:cxnSpLocks/>
            <a:stCxn id="53" idx="0"/>
            <a:endCxn id="50" idx="2"/>
          </p:cNvCxnSpPr>
          <p:nvPr/>
        </p:nvCxnSpPr>
        <p:spPr>
          <a:xfrm flipH="1" flipV="1">
            <a:off x="5514499" y="3896801"/>
            <a:ext cx="5298" cy="340606"/>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5AC0E167-5D6E-299F-F5BD-287902EBC07D}"/>
              </a:ext>
            </a:extLst>
          </p:cNvPr>
          <p:cNvCxnSpPr>
            <a:cxnSpLocks/>
            <a:stCxn id="54" idx="0"/>
          </p:cNvCxnSpPr>
          <p:nvPr/>
        </p:nvCxnSpPr>
        <p:spPr>
          <a:xfrm flipV="1">
            <a:off x="6349631" y="3896801"/>
            <a:ext cx="0" cy="340606"/>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9" name="Connector: Curved 58">
            <a:extLst>
              <a:ext uri="{FF2B5EF4-FFF2-40B4-BE49-F238E27FC236}">
                <a16:creationId xmlns:a16="http://schemas.microsoft.com/office/drawing/2014/main" id="{0624902E-67D5-F682-1261-87BE4FAB43A4}"/>
              </a:ext>
            </a:extLst>
          </p:cNvPr>
          <p:cNvCxnSpPr>
            <a:cxnSpLocks/>
            <a:stCxn id="31" idx="0"/>
            <a:endCxn id="30" idx="0"/>
          </p:cNvCxnSpPr>
          <p:nvPr/>
        </p:nvCxnSpPr>
        <p:spPr>
          <a:xfrm rot="16200000" flipV="1">
            <a:off x="2530210" y="2681067"/>
            <a:ext cx="16933" cy="697208"/>
          </a:xfrm>
          <a:prstGeom prst="curvedConnector3">
            <a:avLst>
              <a:gd name="adj1" fmla="val 1000000"/>
            </a:avLst>
          </a:prstGeom>
          <a:ln>
            <a:solidFill>
              <a:srgbClr val="FF0000"/>
            </a:solidFill>
            <a:prstDash val="lgDash"/>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DD9B5112-DF14-F182-8669-BB59811E2BAE}"/>
              </a:ext>
            </a:extLst>
          </p:cNvPr>
          <p:cNvSpPr txBox="1"/>
          <p:nvPr/>
        </p:nvSpPr>
        <p:spPr>
          <a:xfrm>
            <a:off x="2672698" y="2688379"/>
            <a:ext cx="1033143" cy="256545"/>
          </a:xfrm>
          <a:prstGeom prst="rect">
            <a:avLst/>
          </a:prstGeom>
          <a:noFill/>
        </p:spPr>
        <p:txBody>
          <a:bodyPr wrap="square">
            <a:spAutoFit/>
          </a:bodyPr>
          <a:lstStyle/>
          <a:p>
            <a:r>
              <a:rPr lang="en-US" sz="1067">
                <a:solidFill>
                  <a:srgbClr val="FF0000"/>
                </a:solidFill>
              </a:rPr>
              <a:t>Transfer</a:t>
            </a:r>
            <a:endParaRPr lang="vi-VN" sz="1067" b="1">
              <a:solidFill>
                <a:srgbClr val="FF0000"/>
              </a:solidFill>
            </a:endParaRPr>
          </a:p>
        </p:txBody>
      </p:sp>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DA298A16-5C9B-DC46-E0BB-393F2B27A4B6}"/>
                  </a:ext>
                </a:extLst>
              </p:cNvPr>
              <p:cNvSpPr txBox="1"/>
              <p:nvPr/>
            </p:nvSpPr>
            <p:spPr>
              <a:xfrm>
                <a:off x="3705840" y="3216719"/>
                <a:ext cx="46968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vi-VN" sz="3200"/>
              </a:p>
            </p:txBody>
          </p:sp>
        </mc:Choice>
        <mc:Fallback>
          <p:sp>
            <p:nvSpPr>
              <p:cNvPr id="65" name="TextBox 64">
                <a:extLst>
                  <a:ext uri="{FF2B5EF4-FFF2-40B4-BE49-F238E27FC236}">
                    <a16:creationId xmlns:a16="http://schemas.microsoft.com/office/drawing/2014/main" id="{DA298A16-5C9B-DC46-E0BB-393F2B27A4B6}"/>
                  </a:ext>
                </a:extLst>
              </p:cNvPr>
              <p:cNvSpPr txBox="1">
                <a:spLocks noRot="1" noChangeAspect="1" noMove="1" noResize="1" noEditPoints="1" noAdjustHandles="1" noChangeArrowheads="1" noChangeShapeType="1" noTextEdit="1"/>
              </p:cNvSpPr>
              <p:nvPr/>
            </p:nvSpPr>
            <p:spPr>
              <a:xfrm>
                <a:off x="3705840" y="3216719"/>
                <a:ext cx="469680" cy="492443"/>
              </a:xfrm>
              <a:prstGeom prst="rect">
                <a:avLst/>
              </a:prstGeom>
              <a:blipFill>
                <a:blip r:embed="rId14"/>
                <a:stretch>
                  <a:fillRect l="-10526" r="-10526" b="-2564"/>
                </a:stretch>
              </a:blipFill>
            </p:spPr>
            <p:txBody>
              <a:bodyPr/>
              <a:lstStyle/>
              <a:p>
                <a:r>
                  <a:rPr lang="en-VN">
                    <a:noFill/>
                  </a:rPr>
                  <a:t> </a:t>
                </a:r>
              </a:p>
            </p:txBody>
          </p:sp>
        </mc:Fallback>
      </mc:AlternateContent>
      <p:cxnSp>
        <p:nvCxnSpPr>
          <p:cNvPr id="71" name="Straight Connector 70">
            <a:extLst>
              <a:ext uri="{FF2B5EF4-FFF2-40B4-BE49-F238E27FC236}">
                <a16:creationId xmlns:a16="http://schemas.microsoft.com/office/drawing/2014/main" id="{388C17AD-A0AE-7C25-E696-BDE9453F8A8B}"/>
              </a:ext>
            </a:extLst>
          </p:cNvPr>
          <p:cNvCxnSpPr>
            <a:cxnSpLocks/>
          </p:cNvCxnSpPr>
          <p:nvPr/>
        </p:nvCxnSpPr>
        <p:spPr>
          <a:xfrm>
            <a:off x="7487615" y="3488988"/>
            <a:ext cx="254505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7630289-B7BC-4AB1-F3FE-27EE9F6B8F52}"/>
              </a:ext>
            </a:extLst>
          </p:cNvPr>
          <p:cNvCxnSpPr>
            <a:cxnSpLocks/>
          </p:cNvCxnSpPr>
          <p:nvPr/>
        </p:nvCxnSpPr>
        <p:spPr>
          <a:xfrm flipV="1">
            <a:off x="7683498" y="3357335"/>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4" name="Rectangle 73">
                <a:extLst>
                  <a:ext uri="{FF2B5EF4-FFF2-40B4-BE49-F238E27FC236}">
                    <a16:creationId xmlns:a16="http://schemas.microsoft.com/office/drawing/2014/main" id="{47EEA35A-BAD2-D382-C576-DD5C4D39F753}"/>
                  </a:ext>
                </a:extLst>
              </p:cNvPr>
              <p:cNvSpPr/>
              <p:nvPr/>
            </p:nvSpPr>
            <p:spPr>
              <a:xfrm>
                <a:off x="8118809" y="2943590"/>
                <a:ext cx="1317995" cy="1142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74" name="Rectangle 73">
                <a:extLst>
                  <a:ext uri="{FF2B5EF4-FFF2-40B4-BE49-F238E27FC236}">
                    <a16:creationId xmlns:a16="http://schemas.microsoft.com/office/drawing/2014/main" id="{47EEA35A-BAD2-D382-C576-DD5C4D39F753}"/>
                  </a:ext>
                </a:extLst>
              </p:cNvPr>
              <p:cNvSpPr>
                <a:spLocks noRot="1" noChangeAspect="1" noMove="1" noResize="1" noEditPoints="1" noAdjustHandles="1" noChangeArrowheads="1" noChangeShapeType="1" noTextEdit="1"/>
              </p:cNvSpPr>
              <p:nvPr/>
            </p:nvSpPr>
            <p:spPr>
              <a:xfrm>
                <a:off x="8118809" y="2943590"/>
                <a:ext cx="1317995" cy="1142405"/>
              </a:xfrm>
              <a:prstGeom prst="rect">
                <a:avLst/>
              </a:prstGeom>
              <a:blipFill>
                <a:blip r:embed="rId15"/>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5" name="Rectangle 74">
                <a:extLst>
                  <a:ext uri="{FF2B5EF4-FFF2-40B4-BE49-F238E27FC236}">
                    <a16:creationId xmlns:a16="http://schemas.microsoft.com/office/drawing/2014/main" id="{2519F65F-932D-E503-3656-52C4C0B792E6}"/>
                  </a:ext>
                </a:extLst>
              </p:cNvPr>
              <p:cNvSpPr/>
              <p:nvPr/>
            </p:nvSpPr>
            <p:spPr>
              <a:xfrm>
                <a:off x="8211795" y="3026847"/>
                <a:ext cx="519599" cy="867719"/>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00B050"/>
                          </a:solidFill>
                          <a:latin typeface="Cambria Math" panose="02040503050406030204" pitchFamily="18" charset="0"/>
                        </a:rPr>
                        <m:t> </m:t>
                      </m:r>
                      <m:r>
                        <a:rPr lang="en-US" sz="2400" i="1">
                          <a:solidFill>
                            <a:srgbClr val="00B050"/>
                          </a:solidFill>
                          <a:latin typeface="Cambria Math" panose="02040503050406030204" pitchFamily="18" charset="0"/>
                        </a:rPr>
                        <m:t>𝑉</m:t>
                      </m:r>
                    </m:oMath>
                  </m:oMathPara>
                </a14:m>
                <a:endParaRPr lang="en-US" sz="2400">
                  <a:solidFill>
                    <a:srgbClr val="00B050"/>
                  </a:solidFill>
                </a:endParaRPr>
              </a:p>
            </p:txBody>
          </p:sp>
        </mc:Choice>
        <mc:Fallback>
          <p:sp>
            <p:nvSpPr>
              <p:cNvPr id="75" name="Rectangle 74">
                <a:extLst>
                  <a:ext uri="{FF2B5EF4-FFF2-40B4-BE49-F238E27FC236}">
                    <a16:creationId xmlns:a16="http://schemas.microsoft.com/office/drawing/2014/main" id="{2519F65F-932D-E503-3656-52C4C0B792E6}"/>
                  </a:ext>
                </a:extLst>
              </p:cNvPr>
              <p:cNvSpPr>
                <a:spLocks noRot="1" noChangeAspect="1" noMove="1" noResize="1" noEditPoints="1" noAdjustHandles="1" noChangeArrowheads="1" noChangeShapeType="1" noTextEdit="1"/>
              </p:cNvSpPr>
              <p:nvPr/>
            </p:nvSpPr>
            <p:spPr>
              <a:xfrm>
                <a:off x="8211795" y="3026847"/>
                <a:ext cx="519599" cy="867719"/>
              </a:xfrm>
              <a:prstGeom prst="rect">
                <a:avLst/>
              </a:prstGeom>
              <a:blipFill>
                <a:blip r:embed="rId16"/>
                <a:stretch>
                  <a:fillRect l="-11628"/>
                </a:stretch>
              </a:blipFill>
              <a:ln>
                <a:solidFill>
                  <a:srgbClr val="00B050"/>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9" name="Rectangle 78">
                <a:extLst>
                  <a:ext uri="{FF2B5EF4-FFF2-40B4-BE49-F238E27FC236}">
                    <a16:creationId xmlns:a16="http://schemas.microsoft.com/office/drawing/2014/main" id="{F97BA111-1792-A2B3-DFF0-B2B338888329}"/>
                  </a:ext>
                </a:extLst>
              </p:cNvPr>
              <p:cNvSpPr/>
              <p:nvPr/>
            </p:nvSpPr>
            <p:spPr>
              <a:xfrm>
                <a:off x="6096000" y="3018277"/>
                <a:ext cx="496421" cy="86771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 </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𝑉</m:t>
                          </m:r>
                        </m:e>
                        <m:sup>
                          <m:r>
                            <a:rPr lang="en-US" sz="2400" i="1">
                              <a:solidFill>
                                <a:srgbClr val="FF0000"/>
                              </a:solidFill>
                              <a:latin typeface="Cambria Math" panose="02040503050406030204" pitchFamily="18" charset="0"/>
                              <a:ea typeface="Cambria Math" panose="02040503050406030204" pitchFamily="18" charset="0"/>
                            </a:rPr>
                            <m:t>†</m:t>
                          </m:r>
                        </m:sup>
                      </m:sSup>
                    </m:oMath>
                  </m:oMathPara>
                </a14:m>
                <a:endParaRPr lang="en-US" sz="2400">
                  <a:solidFill>
                    <a:srgbClr val="FF0000"/>
                  </a:solidFill>
                </a:endParaRPr>
              </a:p>
            </p:txBody>
          </p:sp>
        </mc:Choice>
        <mc:Fallback>
          <p:sp>
            <p:nvSpPr>
              <p:cNvPr id="79" name="Rectangle 78">
                <a:extLst>
                  <a:ext uri="{FF2B5EF4-FFF2-40B4-BE49-F238E27FC236}">
                    <a16:creationId xmlns:a16="http://schemas.microsoft.com/office/drawing/2014/main" id="{F97BA111-1792-A2B3-DFF0-B2B338888329}"/>
                  </a:ext>
                </a:extLst>
              </p:cNvPr>
              <p:cNvSpPr>
                <a:spLocks noRot="1" noChangeAspect="1" noMove="1" noResize="1" noEditPoints="1" noAdjustHandles="1" noChangeArrowheads="1" noChangeShapeType="1" noTextEdit="1"/>
              </p:cNvSpPr>
              <p:nvPr/>
            </p:nvSpPr>
            <p:spPr>
              <a:xfrm>
                <a:off x="6096000" y="3018277"/>
                <a:ext cx="496421" cy="867719"/>
              </a:xfrm>
              <a:prstGeom prst="rect">
                <a:avLst/>
              </a:prstGeom>
              <a:blipFill>
                <a:blip r:embed="rId17"/>
                <a:stretch>
                  <a:fillRect l="-26829"/>
                </a:stretch>
              </a:blipFill>
              <a:ln>
                <a:solidFill>
                  <a:srgbClr val="FF0000"/>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0" name="Rectangle 79">
                <a:extLst>
                  <a:ext uri="{FF2B5EF4-FFF2-40B4-BE49-F238E27FC236}">
                    <a16:creationId xmlns:a16="http://schemas.microsoft.com/office/drawing/2014/main" id="{6A891316-D130-6E8E-C97E-4254A94F6F18}"/>
                  </a:ext>
                </a:extLst>
              </p:cNvPr>
              <p:cNvSpPr/>
              <p:nvPr/>
            </p:nvSpPr>
            <p:spPr>
              <a:xfrm>
                <a:off x="8819859" y="3029082"/>
                <a:ext cx="496421" cy="86771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 </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𝑉</m:t>
                          </m:r>
                        </m:e>
                        <m:sup>
                          <m:r>
                            <a:rPr lang="en-US" sz="2400" i="1">
                              <a:solidFill>
                                <a:srgbClr val="FF0000"/>
                              </a:solidFill>
                              <a:latin typeface="Cambria Math" panose="02040503050406030204" pitchFamily="18" charset="0"/>
                              <a:ea typeface="Cambria Math" panose="02040503050406030204" pitchFamily="18" charset="0"/>
                            </a:rPr>
                            <m:t>†</m:t>
                          </m:r>
                        </m:sup>
                      </m:sSup>
                    </m:oMath>
                  </m:oMathPara>
                </a14:m>
                <a:endParaRPr lang="en-US" sz="2400">
                  <a:solidFill>
                    <a:srgbClr val="FF0000"/>
                  </a:solidFill>
                </a:endParaRPr>
              </a:p>
            </p:txBody>
          </p:sp>
        </mc:Choice>
        <mc:Fallback>
          <p:sp>
            <p:nvSpPr>
              <p:cNvPr id="80" name="Rectangle 79">
                <a:extLst>
                  <a:ext uri="{FF2B5EF4-FFF2-40B4-BE49-F238E27FC236}">
                    <a16:creationId xmlns:a16="http://schemas.microsoft.com/office/drawing/2014/main" id="{6A891316-D130-6E8E-C97E-4254A94F6F18}"/>
                  </a:ext>
                </a:extLst>
              </p:cNvPr>
              <p:cNvSpPr>
                <a:spLocks noRot="1" noChangeAspect="1" noMove="1" noResize="1" noEditPoints="1" noAdjustHandles="1" noChangeArrowheads="1" noChangeShapeType="1" noTextEdit="1"/>
              </p:cNvSpPr>
              <p:nvPr/>
            </p:nvSpPr>
            <p:spPr>
              <a:xfrm>
                <a:off x="8819859" y="3029082"/>
                <a:ext cx="496421" cy="867719"/>
              </a:xfrm>
              <a:prstGeom prst="rect">
                <a:avLst/>
              </a:prstGeom>
              <a:blipFill>
                <a:blip r:embed="rId18"/>
                <a:stretch>
                  <a:fillRect l="-26829"/>
                </a:stretch>
              </a:blipFill>
              <a:ln>
                <a:solidFill>
                  <a:srgbClr val="FF0000"/>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1" name="TextBox 80">
                <a:extLst>
                  <a:ext uri="{FF2B5EF4-FFF2-40B4-BE49-F238E27FC236}">
                    <a16:creationId xmlns:a16="http://schemas.microsoft.com/office/drawing/2014/main" id="{98846374-B228-940E-AEDB-69C4A3F0ABD0}"/>
                  </a:ext>
                </a:extLst>
              </p:cNvPr>
              <p:cNvSpPr txBox="1"/>
              <p:nvPr/>
            </p:nvSpPr>
            <p:spPr>
              <a:xfrm>
                <a:off x="6970755" y="3205914"/>
                <a:ext cx="41998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vi-VN" sz="3200"/>
              </a:p>
            </p:txBody>
          </p:sp>
        </mc:Choice>
        <mc:Fallback>
          <p:sp>
            <p:nvSpPr>
              <p:cNvPr id="81" name="TextBox 80">
                <a:extLst>
                  <a:ext uri="{FF2B5EF4-FFF2-40B4-BE49-F238E27FC236}">
                    <a16:creationId xmlns:a16="http://schemas.microsoft.com/office/drawing/2014/main" id="{98846374-B228-940E-AEDB-69C4A3F0ABD0}"/>
                  </a:ext>
                </a:extLst>
              </p:cNvPr>
              <p:cNvSpPr txBox="1">
                <a:spLocks noRot="1" noChangeAspect="1" noMove="1" noResize="1" noEditPoints="1" noAdjustHandles="1" noChangeArrowheads="1" noChangeShapeType="1" noTextEdit="1"/>
              </p:cNvSpPr>
              <p:nvPr/>
            </p:nvSpPr>
            <p:spPr>
              <a:xfrm>
                <a:off x="6970755" y="3205914"/>
                <a:ext cx="419987" cy="492443"/>
              </a:xfrm>
              <a:prstGeom prst="rect">
                <a:avLst/>
              </a:prstGeom>
              <a:blipFill>
                <a:blip r:embed="rId19"/>
                <a:stretch>
                  <a:fillRect l="-11765" r="-14706" b="-2500"/>
                </a:stretch>
              </a:blipFill>
            </p:spPr>
            <p:txBody>
              <a:bodyPr/>
              <a:lstStyle/>
              <a:p>
                <a:r>
                  <a:rPr lang="en-VN">
                    <a:noFill/>
                  </a:rPr>
                  <a:t> </a:t>
                </a:r>
              </a:p>
            </p:txBody>
          </p:sp>
        </mc:Fallback>
      </mc:AlternateContent>
      <p:sp>
        <p:nvSpPr>
          <p:cNvPr id="82" name="TextBox 81">
            <a:extLst>
              <a:ext uri="{FF2B5EF4-FFF2-40B4-BE49-F238E27FC236}">
                <a16:creationId xmlns:a16="http://schemas.microsoft.com/office/drawing/2014/main" id="{377BE6D9-D522-C2C0-14E6-2A61A7B4F69F}"/>
              </a:ext>
            </a:extLst>
          </p:cNvPr>
          <p:cNvSpPr txBox="1"/>
          <p:nvPr/>
        </p:nvSpPr>
        <p:spPr>
          <a:xfrm>
            <a:off x="7880265" y="4238125"/>
            <a:ext cx="1103825" cy="338554"/>
          </a:xfrm>
          <a:prstGeom prst="rect">
            <a:avLst/>
          </a:prstGeom>
          <a:noFill/>
        </p:spPr>
        <p:txBody>
          <a:bodyPr wrap="square">
            <a:spAutoFit/>
          </a:bodyPr>
          <a:lstStyle/>
          <a:p>
            <a:r>
              <a:rPr lang="en-US" sz="1600"/>
              <a:t>Explicity</a:t>
            </a:r>
            <a:endParaRPr lang="vi-VN" sz="1600" b="1"/>
          </a:p>
        </p:txBody>
      </p:sp>
      <p:sp>
        <p:nvSpPr>
          <p:cNvPr id="83" name="TextBox 82">
            <a:extLst>
              <a:ext uri="{FF2B5EF4-FFF2-40B4-BE49-F238E27FC236}">
                <a16:creationId xmlns:a16="http://schemas.microsoft.com/office/drawing/2014/main" id="{EC8633BE-3FAA-96F8-BC6D-00B40F8DF2A5}"/>
              </a:ext>
            </a:extLst>
          </p:cNvPr>
          <p:cNvSpPr txBox="1"/>
          <p:nvPr/>
        </p:nvSpPr>
        <p:spPr>
          <a:xfrm>
            <a:off x="8661326" y="4238125"/>
            <a:ext cx="1164361" cy="338554"/>
          </a:xfrm>
          <a:prstGeom prst="rect">
            <a:avLst/>
          </a:prstGeom>
          <a:noFill/>
        </p:spPr>
        <p:txBody>
          <a:bodyPr wrap="square">
            <a:spAutoFit/>
          </a:bodyPr>
          <a:lstStyle/>
          <a:p>
            <a:r>
              <a:rPr lang="en-US" sz="1600"/>
              <a:t>Unknown</a:t>
            </a:r>
            <a:endParaRPr lang="vi-VN" sz="1600" b="1"/>
          </a:p>
        </p:txBody>
      </p:sp>
      <p:cxnSp>
        <p:nvCxnSpPr>
          <p:cNvPr id="84" name="Straight Arrow Connector 83">
            <a:extLst>
              <a:ext uri="{FF2B5EF4-FFF2-40B4-BE49-F238E27FC236}">
                <a16:creationId xmlns:a16="http://schemas.microsoft.com/office/drawing/2014/main" id="{7619FD54-8A73-D769-E06D-4E8C9C1A82F9}"/>
              </a:ext>
            </a:extLst>
          </p:cNvPr>
          <p:cNvCxnSpPr>
            <a:cxnSpLocks/>
            <a:stCxn id="82" idx="0"/>
          </p:cNvCxnSpPr>
          <p:nvPr/>
        </p:nvCxnSpPr>
        <p:spPr>
          <a:xfrm flipH="1" flipV="1">
            <a:off x="8426881" y="3897518"/>
            <a:ext cx="5297" cy="34060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7B2DA218-9483-1552-6E88-C28B316F93E7}"/>
              </a:ext>
            </a:extLst>
          </p:cNvPr>
          <p:cNvCxnSpPr>
            <a:cxnSpLocks/>
            <a:stCxn id="83" idx="0"/>
          </p:cNvCxnSpPr>
          <p:nvPr/>
        </p:nvCxnSpPr>
        <p:spPr>
          <a:xfrm flipH="1" flipV="1">
            <a:off x="9235679" y="3897518"/>
            <a:ext cx="7828" cy="34060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97" name="TextBox 96">
            <a:extLst>
              <a:ext uri="{FF2B5EF4-FFF2-40B4-BE49-F238E27FC236}">
                <a16:creationId xmlns:a16="http://schemas.microsoft.com/office/drawing/2014/main" id="{B736732F-61C3-7FC8-00AA-AA7B796B74E5}"/>
              </a:ext>
            </a:extLst>
          </p:cNvPr>
          <p:cNvSpPr txBox="1"/>
          <p:nvPr/>
        </p:nvSpPr>
        <p:spPr>
          <a:xfrm>
            <a:off x="1332508" y="6515116"/>
            <a:ext cx="9165801" cy="297454"/>
          </a:xfrm>
          <a:prstGeom prst="rect">
            <a:avLst/>
          </a:prstGeom>
          <a:noFill/>
        </p:spPr>
        <p:txBody>
          <a:bodyPr wrap="square">
            <a:spAutoFit/>
          </a:bodyPr>
          <a:lstStyle/>
          <a:p>
            <a:r>
              <a:rPr lang="it-IT" sz="1333" b="1"/>
              <a:t>[1.35]</a:t>
            </a:r>
            <a:r>
              <a:rPr lang="it-IT" sz="1333"/>
              <a:t> Hai, V. T., Viet, N. T., &amp; Ho, L. B. (2024). </a:t>
            </a:r>
            <a:r>
              <a:rPr lang="it-IT" sz="1333" i="1"/>
              <a:t>SoftwareX</a:t>
            </a:r>
            <a:r>
              <a:rPr lang="it-IT" sz="1333"/>
              <a:t>, </a:t>
            </a:r>
            <a:r>
              <a:rPr lang="it-IT" sz="1333" i="1"/>
              <a:t>26</a:t>
            </a:r>
            <a:r>
              <a:rPr lang="it-IT" sz="1333"/>
              <a:t>, 101726. https://doi.org/10.1016/j.softx.2024.101726 </a:t>
            </a:r>
          </a:p>
        </p:txBody>
      </p:sp>
      <mc:AlternateContent xmlns:mc="http://schemas.openxmlformats.org/markup-compatibility/2006">
        <mc:Choice xmlns:a14="http://schemas.microsoft.com/office/drawing/2010/main" Requires="a14">
          <p:sp>
            <p:nvSpPr>
              <p:cNvPr id="98" name="Rectangle 97">
                <a:extLst>
                  <a:ext uri="{FF2B5EF4-FFF2-40B4-BE49-F238E27FC236}">
                    <a16:creationId xmlns:a16="http://schemas.microsoft.com/office/drawing/2014/main" id="{DD340758-5DF5-59AC-8E53-6CE5528D7185}"/>
                  </a:ext>
                </a:extLst>
              </p:cNvPr>
              <p:cNvSpPr/>
              <p:nvPr/>
            </p:nvSpPr>
            <p:spPr>
              <a:xfrm>
                <a:off x="1703184" y="4916529"/>
                <a:ext cx="1577953" cy="114240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98" name="Rectangle 97">
                <a:extLst>
                  <a:ext uri="{FF2B5EF4-FFF2-40B4-BE49-F238E27FC236}">
                    <a16:creationId xmlns:a16="http://schemas.microsoft.com/office/drawing/2014/main" id="{DD340758-5DF5-59AC-8E53-6CE5528D7185}"/>
                  </a:ext>
                </a:extLst>
              </p:cNvPr>
              <p:cNvSpPr>
                <a:spLocks noRot="1" noChangeAspect="1" noMove="1" noResize="1" noEditPoints="1" noAdjustHandles="1" noChangeArrowheads="1" noChangeShapeType="1" noTextEdit="1"/>
              </p:cNvSpPr>
              <p:nvPr/>
            </p:nvSpPr>
            <p:spPr>
              <a:xfrm>
                <a:off x="1703184" y="4916529"/>
                <a:ext cx="1577953" cy="1142407"/>
              </a:xfrm>
              <a:prstGeom prst="rect">
                <a:avLst/>
              </a:prstGeom>
              <a:blipFill>
                <a:blip r:embed="rId20"/>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00" name="Rectangle 99">
                <a:extLst>
                  <a:ext uri="{FF2B5EF4-FFF2-40B4-BE49-F238E27FC236}">
                    <a16:creationId xmlns:a16="http://schemas.microsoft.com/office/drawing/2014/main" id="{353F00AD-1208-58EB-FF5F-300BF687B3EB}"/>
                  </a:ext>
                </a:extLst>
              </p:cNvPr>
              <p:cNvSpPr/>
              <p:nvPr/>
            </p:nvSpPr>
            <p:spPr>
              <a:xfrm>
                <a:off x="4911553" y="4915939"/>
                <a:ext cx="1801407" cy="114240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100" name="Rectangle 99">
                <a:extLst>
                  <a:ext uri="{FF2B5EF4-FFF2-40B4-BE49-F238E27FC236}">
                    <a16:creationId xmlns:a16="http://schemas.microsoft.com/office/drawing/2014/main" id="{353F00AD-1208-58EB-FF5F-300BF687B3EB}"/>
                  </a:ext>
                </a:extLst>
              </p:cNvPr>
              <p:cNvSpPr>
                <a:spLocks noRot="1" noChangeAspect="1" noMove="1" noResize="1" noEditPoints="1" noAdjustHandles="1" noChangeArrowheads="1" noChangeShapeType="1" noTextEdit="1"/>
              </p:cNvSpPr>
              <p:nvPr/>
            </p:nvSpPr>
            <p:spPr>
              <a:xfrm>
                <a:off x="4911553" y="4915939"/>
                <a:ext cx="1801407" cy="1142407"/>
              </a:xfrm>
              <a:prstGeom prst="rect">
                <a:avLst/>
              </a:prstGeom>
              <a:blipFill>
                <a:blip r:embed="rId21"/>
                <a:stretch>
                  <a:fillRect/>
                </a:stretch>
              </a:blipFill>
              <a:ln>
                <a:solidFill>
                  <a:schemeClr val="tx1"/>
                </a:solidFill>
              </a:ln>
            </p:spPr>
            <p:txBody>
              <a:bodyPr/>
              <a:lstStyle/>
              <a:p>
                <a:r>
                  <a:rPr lang="en-VN">
                    <a:noFill/>
                  </a:rPr>
                  <a:t> </a:t>
                </a:r>
              </a:p>
            </p:txBody>
          </p:sp>
        </mc:Fallback>
      </mc:AlternateContent>
      <p:cxnSp>
        <p:nvCxnSpPr>
          <p:cNvPr id="101" name="Straight Connector 100">
            <a:extLst>
              <a:ext uri="{FF2B5EF4-FFF2-40B4-BE49-F238E27FC236}">
                <a16:creationId xmlns:a16="http://schemas.microsoft.com/office/drawing/2014/main" id="{6FE02D04-DF16-EFA4-5ED5-2E95DD7C0D29}"/>
              </a:ext>
            </a:extLst>
          </p:cNvPr>
          <p:cNvCxnSpPr>
            <a:cxnSpLocks/>
          </p:cNvCxnSpPr>
          <p:nvPr/>
        </p:nvCxnSpPr>
        <p:spPr>
          <a:xfrm>
            <a:off x="1071989" y="5461928"/>
            <a:ext cx="254505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7FCCC408-66D5-54B3-D048-B878E333D3B5}"/>
              </a:ext>
            </a:extLst>
          </p:cNvPr>
          <p:cNvCxnSpPr>
            <a:cxnSpLocks/>
          </p:cNvCxnSpPr>
          <p:nvPr/>
        </p:nvCxnSpPr>
        <p:spPr>
          <a:xfrm flipV="1">
            <a:off x="1267873" y="5330275"/>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3" name="Rectangle 102">
                <a:extLst>
                  <a:ext uri="{FF2B5EF4-FFF2-40B4-BE49-F238E27FC236}">
                    <a16:creationId xmlns:a16="http://schemas.microsoft.com/office/drawing/2014/main" id="{2BD77B7C-F937-DAD8-C10F-DE692BF4CC52}"/>
                  </a:ext>
                </a:extLst>
              </p:cNvPr>
              <p:cNvSpPr/>
              <p:nvPr/>
            </p:nvSpPr>
            <p:spPr>
              <a:xfrm>
                <a:off x="1819281" y="5002022"/>
                <a:ext cx="470644"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sz="2400"/>
              </a:p>
            </p:txBody>
          </p:sp>
        </mc:Choice>
        <mc:Fallback>
          <p:sp>
            <p:nvSpPr>
              <p:cNvPr id="103" name="Rectangle 102">
                <a:extLst>
                  <a:ext uri="{FF2B5EF4-FFF2-40B4-BE49-F238E27FC236}">
                    <a16:creationId xmlns:a16="http://schemas.microsoft.com/office/drawing/2014/main" id="{2BD77B7C-F937-DAD8-C10F-DE692BF4CC52}"/>
                  </a:ext>
                </a:extLst>
              </p:cNvPr>
              <p:cNvSpPr>
                <a:spLocks noRot="1" noChangeAspect="1" noMove="1" noResize="1" noEditPoints="1" noAdjustHandles="1" noChangeArrowheads="1" noChangeShapeType="1" noTextEdit="1"/>
              </p:cNvSpPr>
              <p:nvPr/>
            </p:nvSpPr>
            <p:spPr>
              <a:xfrm>
                <a:off x="1819281" y="5002022"/>
                <a:ext cx="470644" cy="867719"/>
              </a:xfrm>
              <a:prstGeom prst="rect">
                <a:avLst/>
              </a:prstGeom>
              <a:blipFill>
                <a:blip r:embed="rId22"/>
                <a:stretch>
                  <a:fillRect l="-17500"/>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04" name="Rectangle 103">
                <a:extLst>
                  <a:ext uri="{FF2B5EF4-FFF2-40B4-BE49-F238E27FC236}">
                    <a16:creationId xmlns:a16="http://schemas.microsoft.com/office/drawing/2014/main" id="{E6F13886-D335-1388-DC0B-4F65CE3F31CC}"/>
                  </a:ext>
                </a:extLst>
              </p:cNvPr>
              <p:cNvSpPr/>
              <p:nvPr/>
            </p:nvSpPr>
            <p:spPr>
              <a:xfrm>
                <a:off x="2403017" y="5002022"/>
                <a:ext cx="748300" cy="86771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𝑉</m:t>
                      </m:r>
                      <m:d>
                        <m:dPr>
                          <m:ctrlPr>
                            <a:rPr lang="en-US" sz="2400"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𝜽</m:t>
                          </m:r>
                        </m:e>
                      </m:d>
                    </m:oMath>
                  </m:oMathPara>
                </a14:m>
                <a:endParaRPr lang="en-US" sz="2400">
                  <a:solidFill>
                    <a:srgbClr val="FF0000"/>
                  </a:solidFill>
                </a:endParaRPr>
              </a:p>
            </p:txBody>
          </p:sp>
        </mc:Choice>
        <mc:Fallback>
          <p:sp>
            <p:nvSpPr>
              <p:cNvPr id="104" name="Rectangle 103">
                <a:extLst>
                  <a:ext uri="{FF2B5EF4-FFF2-40B4-BE49-F238E27FC236}">
                    <a16:creationId xmlns:a16="http://schemas.microsoft.com/office/drawing/2014/main" id="{E6F13886-D335-1388-DC0B-4F65CE3F31CC}"/>
                  </a:ext>
                </a:extLst>
              </p:cNvPr>
              <p:cNvSpPr>
                <a:spLocks noRot="1" noChangeAspect="1" noMove="1" noResize="1" noEditPoints="1" noAdjustHandles="1" noChangeArrowheads="1" noChangeShapeType="1" noTextEdit="1"/>
              </p:cNvSpPr>
              <p:nvPr/>
            </p:nvSpPr>
            <p:spPr>
              <a:xfrm>
                <a:off x="2403017" y="5002022"/>
                <a:ext cx="748300" cy="867719"/>
              </a:xfrm>
              <a:prstGeom prst="rect">
                <a:avLst/>
              </a:prstGeom>
              <a:blipFill>
                <a:blip r:embed="rId23"/>
                <a:stretch>
                  <a:fillRect l="-19355"/>
                </a:stretch>
              </a:blipFill>
              <a:ln>
                <a:solidFill>
                  <a:srgbClr val="FF0000"/>
                </a:solidFill>
              </a:ln>
            </p:spPr>
            <p:txBody>
              <a:bodyPr/>
              <a:lstStyle/>
              <a:p>
                <a:r>
                  <a:rPr lang="en-VN">
                    <a:noFill/>
                  </a:rPr>
                  <a:t> </a:t>
                </a:r>
              </a:p>
            </p:txBody>
          </p:sp>
        </mc:Fallback>
      </mc:AlternateContent>
      <p:sp>
        <p:nvSpPr>
          <p:cNvPr id="105" name="TextBox 104">
            <a:extLst>
              <a:ext uri="{FF2B5EF4-FFF2-40B4-BE49-F238E27FC236}">
                <a16:creationId xmlns:a16="http://schemas.microsoft.com/office/drawing/2014/main" id="{FAD0AE0A-28B0-553E-D8A2-5806EC7E5E2D}"/>
              </a:ext>
            </a:extLst>
          </p:cNvPr>
          <p:cNvSpPr txBox="1"/>
          <p:nvPr/>
        </p:nvSpPr>
        <p:spPr>
          <a:xfrm>
            <a:off x="1332507" y="6191209"/>
            <a:ext cx="1432187" cy="338554"/>
          </a:xfrm>
          <a:prstGeom prst="rect">
            <a:avLst/>
          </a:prstGeom>
          <a:noFill/>
        </p:spPr>
        <p:txBody>
          <a:bodyPr wrap="square">
            <a:spAutoFit/>
          </a:bodyPr>
          <a:lstStyle/>
          <a:p>
            <a:r>
              <a:rPr lang="en-US" sz="1600"/>
              <a:t>Target unitary</a:t>
            </a:r>
            <a:endParaRPr lang="vi-VN" sz="1600" b="1"/>
          </a:p>
        </p:txBody>
      </p:sp>
      <p:sp>
        <p:nvSpPr>
          <p:cNvPr id="106" name="TextBox 105">
            <a:extLst>
              <a:ext uri="{FF2B5EF4-FFF2-40B4-BE49-F238E27FC236}">
                <a16:creationId xmlns:a16="http://schemas.microsoft.com/office/drawing/2014/main" id="{8562E2C6-4E9F-651C-1753-EEEC4CF51AE3}"/>
              </a:ext>
            </a:extLst>
          </p:cNvPr>
          <p:cNvSpPr txBox="1"/>
          <p:nvPr/>
        </p:nvSpPr>
        <p:spPr>
          <a:xfrm>
            <a:off x="2531010" y="6211065"/>
            <a:ext cx="1925127" cy="338554"/>
          </a:xfrm>
          <a:prstGeom prst="rect">
            <a:avLst/>
          </a:prstGeom>
          <a:noFill/>
        </p:spPr>
        <p:txBody>
          <a:bodyPr wrap="square">
            <a:spAutoFit/>
          </a:bodyPr>
          <a:lstStyle/>
          <a:p>
            <a:r>
              <a:rPr lang="en-US" sz="1600"/>
              <a:t>Trainable unitary</a:t>
            </a:r>
            <a:endParaRPr lang="vi-VN" sz="1600" b="1"/>
          </a:p>
        </p:txBody>
      </p:sp>
      <p:cxnSp>
        <p:nvCxnSpPr>
          <p:cNvPr id="107" name="Straight Arrow Connector 106">
            <a:extLst>
              <a:ext uri="{FF2B5EF4-FFF2-40B4-BE49-F238E27FC236}">
                <a16:creationId xmlns:a16="http://schemas.microsoft.com/office/drawing/2014/main" id="{037E093C-B078-A3DF-AB35-E07A8970BAB2}"/>
              </a:ext>
            </a:extLst>
          </p:cNvPr>
          <p:cNvCxnSpPr>
            <a:cxnSpLocks/>
            <a:stCxn id="105" idx="0"/>
            <a:endCxn id="103" idx="2"/>
          </p:cNvCxnSpPr>
          <p:nvPr/>
        </p:nvCxnSpPr>
        <p:spPr>
          <a:xfrm flipV="1">
            <a:off x="2048601" y="5869741"/>
            <a:ext cx="6002" cy="32146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582D78C7-9160-9B74-BB7C-295A3294D32C}"/>
              </a:ext>
            </a:extLst>
          </p:cNvPr>
          <p:cNvCxnSpPr>
            <a:cxnSpLocks/>
            <a:endCxn id="104" idx="2"/>
          </p:cNvCxnSpPr>
          <p:nvPr/>
        </p:nvCxnSpPr>
        <p:spPr>
          <a:xfrm flipV="1">
            <a:off x="2777167" y="5869741"/>
            <a:ext cx="0" cy="32146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01254133-44E6-6414-A9C6-486F3118F34B}"/>
              </a:ext>
            </a:extLst>
          </p:cNvPr>
          <p:cNvCxnSpPr>
            <a:cxnSpLocks/>
          </p:cNvCxnSpPr>
          <p:nvPr/>
        </p:nvCxnSpPr>
        <p:spPr>
          <a:xfrm>
            <a:off x="4280359" y="5461339"/>
            <a:ext cx="254505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919F981-3B8A-2B9C-335D-4B577DC85D75}"/>
              </a:ext>
            </a:extLst>
          </p:cNvPr>
          <p:cNvCxnSpPr>
            <a:cxnSpLocks/>
          </p:cNvCxnSpPr>
          <p:nvPr/>
        </p:nvCxnSpPr>
        <p:spPr>
          <a:xfrm flipV="1">
            <a:off x="4476242" y="5329685"/>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C1AA8BAD-7C26-7B5D-6400-380A37144E21}"/>
              </a:ext>
            </a:extLst>
          </p:cNvPr>
          <p:cNvSpPr txBox="1"/>
          <p:nvPr/>
        </p:nvSpPr>
        <p:spPr>
          <a:xfrm>
            <a:off x="4492977" y="6209758"/>
            <a:ext cx="1574547" cy="338554"/>
          </a:xfrm>
          <a:prstGeom prst="rect">
            <a:avLst/>
          </a:prstGeom>
          <a:noFill/>
        </p:spPr>
        <p:txBody>
          <a:bodyPr wrap="square">
            <a:spAutoFit/>
          </a:bodyPr>
          <a:lstStyle/>
          <a:p>
            <a:r>
              <a:rPr lang="en-US" sz="1600"/>
              <a:t>Target unitary</a:t>
            </a:r>
            <a:endParaRPr lang="vi-VN" sz="1600" b="1"/>
          </a:p>
        </p:txBody>
      </p:sp>
      <p:sp>
        <p:nvSpPr>
          <p:cNvPr id="113" name="TextBox 112">
            <a:extLst>
              <a:ext uri="{FF2B5EF4-FFF2-40B4-BE49-F238E27FC236}">
                <a16:creationId xmlns:a16="http://schemas.microsoft.com/office/drawing/2014/main" id="{58356FCA-27E6-8E17-9565-306B0607FFD6}"/>
              </a:ext>
            </a:extLst>
          </p:cNvPr>
          <p:cNvSpPr txBox="1"/>
          <p:nvPr/>
        </p:nvSpPr>
        <p:spPr>
          <a:xfrm>
            <a:off x="5889837" y="6226775"/>
            <a:ext cx="1959023" cy="338554"/>
          </a:xfrm>
          <a:prstGeom prst="rect">
            <a:avLst/>
          </a:prstGeom>
          <a:noFill/>
        </p:spPr>
        <p:txBody>
          <a:bodyPr wrap="square">
            <a:spAutoFit/>
          </a:bodyPr>
          <a:lstStyle/>
          <a:p>
            <a:r>
              <a:rPr lang="en-US" sz="1600"/>
              <a:t>Optimized unitary</a:t>
            </a:r>
            <a:endParaRPr lang="vi-VN" sz="1600" b="1"/>
          </a:p>
        </p:txBody>
      </p:sp>
      <p:cxnSp>
        <p:nvCxnSpPr>
          <p:cNvPr id="114" name="Straight Arrow Connector 113">
            <a:extLst>
              <a:ext uri="{FF2B5EF4-FFF2-40B4-BE49-F238E27FC236}">
                <a16:creationId xmlns:a16="http://schemas.microsoft.com/office/drawing/2014/main" id="{53BA4C17-31BA-BBF7-3916-8CF693A9D558}"/>
              </a:ext>
            </a:extLst>
          </p:cNvPr>
          <p:cNvCxnSpPr>
            <a:cxnSpLocks/>
            <a:stCxn id="112" idx="0"/>
            <a:endCxn id="146" idx="2"/>
          </p:cNvCxnSpPr>
          <p:nvPr/>
        </p:nvCxnSpPr>
        <p:spPr>
          <a:xfrm flipH="1" flipV="1">
            <a:off x="5277209" y="5866644"/>
            <a:ext cx="3042" cy="343114"/>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a:extLst>
              <a:ext uri="{FF2B5EF4-FFF2-40B4-BE49-F238E27FC236}">
                <a16:creationId xmlns:a16="http://schemas.microsoft.com/office/drawing/2014/main" id="{E6CCEAD9-F246-8718-767F-ABC747B8259D}"/>
              </a:ext>
            </a:extLst>
          </p:cNvPr>
          <p:cNvCxnSpPr>
            <a:cxnSpLocks/>
            <a:endCxn id="147" idx="2"/>
          </p:cNvCxnSpPr>
          <p:nvPr/>
        </p:nvCxnSpPr>
        <p:spPr>
          <a:xfrm flipH="1" flipV="1">
            <a:off x="6108691" y="5866643"/>
            <a:ext cx="156" cy="360131"/>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16" name="Connector: Curved 115">
            <a:extLst>
              <a:ext uri="{FF2B5EF4-FFF2-40B4-BE49-F238E27FC236}">
                <a16:creationId xmlns:a16="http://schemas.microsoft.com/office/drawing/2014/main" id="{9047FF04-B29E-9B0E-70B9-4DC24081C504}"/>
              </a:ext>
            </a:extLst>
          </p:cNvPr>
          <p:cNvCxnSpPr>
            <a:cxnSpLocks/>
            <a:stCxn id="103" idx="0"/>
            <a:endCxn id="104" idx="0"/>
          </p:cNvCxnSpPr>
          <p:nvPr/>
        </p:nvCxnSpPr>
        <p:spPr>
          <a:xfrm rot="5400000" flipH="1" flipV="1">
            <a:off x="2415884" y="4640741"/>
            <a:ext cx="16933" cy="722564"/>
          </a:xfrm>
          <a:prstGeom prst="curvedConnector3">
            <a:avLst>
              <a:gd name="adj1" fmla="val 1099984"/>
            </a:avLst>
          </a:prstGeom>
          <a:ln>
            <a:solidFill>
              <a:srgbClr val="FF0000"/>
            </a:solidFill>
            <a:prstDash val="lgDash"/>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93D505A0-F602-A6FF-DC31-C1766F33A70F}"/>
              </a:ext>
            </a:extLst>
          </p:cNvPr>
          <p:cNvSpPr txBox="1"/>
          <p:nvPr/>
        </p:nvSpPr>
        <p:spPr>
          <a:xfrm>
            <a:off x="2696990" y="4660730"/>
            <a:ext cx="1033143" cy="256545"/>
          </a:xfrm>
          <a:prstGeom prst="rect">
            <a:avLst/>
          </a:prstGeom>
          <a:noFill/>
        </p:spPr>
        <p:txBody>
          <a:bodyPr wrap="square">
            <a:spAutoFit/>
          </a:bodyPr>
          <a:lstStyle/>
          <a:p>
            <a:r>
              <a:rPr lang="en-US" sz="1067">
                <a:solidFill>
                  <a:srgbClr val="FF0000"/>
                </a:solidFill>
              </a:rPr>
              <a:t>Transfer</a:t>
            </a:r>
            <a:endParaRPr lang="vi-VN" sz="1067" b="1">
              <a:solidFill>
                <a:srgbClr val="FF0000"/>
              </a:solidFill>
            </a:endParaRPr>
          </a:p>
        </p:txBody>
      </p:sp>
      <mc:AlternateContent xmlns:mc="http://schemas.openxmlformats.org/markup-compatibility/2006">
        <mc:Choice xmlns:a14="http://schemas.microsoft.com/office/drawing/2010/main" Requires="a14">
          <p:sp>
            <p:nvSpPr>
              <p:cNvPr id="118" name="TextBox 117">
                <a:extLst>
                  <a:ext uri="{FF2B5EF4-FFF2-40B4-BE49-F238E27FC236}">
                    <a16:creationId xmlns:a16="http://schemas.microsoft.com/office/drawing/2014/main" id="{B3221173-13E7-B30E-9672-155473F8D73E}"/>
                  </a:ext>
                </a:extLst>
              </p:cNvPr>
              <p:cNvSpPr txBox="1"/>
              <p:nvPr/>
            </p:nvSpPr>
            <p:spPr>
              <a:xfrm>
                <a:off x="3730132" y="5189070"/>
                <a:ext cx="46968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vi-VN" sz="3200"/>
              </a:p>
            </p:txBody>
          </p:sp>
        </mc:Choice>
        <mc:Fallback>
          <p:sp>
            <p:nvSpPr>
              <p:cNvPr id="118" name="TextBox 117">
                <a:extLst>
                  <a:ext uri="{FF2B5EF4-FFF2-40B4-BE49-F238E27FC236}">
                    <a16:creationId xmlns:a16="http://schemas.microsoft.com/office/drawing/2014/main" id="{B3221173-13E7-B30E-9672-155473F8D73E}"/>
                  </a:ext>
                </a:extLst>
              </p:cNvPr>
              <p:cNvSpPr txBox="1">
                <a:spLocks noRot="1" noChangeAspect="1" noMove="1" noResize="1" noEditPoints="1" noAdjustHandles="1" noChangeArrowheads="1" noChangeShapeType="1" noTextEdit="1"/>
              </p:cNvSpPr>
              <p:nvPr/>
            </p:nvSpPr>
            <p:spPr>
              <a:xfrm>
                <a:off x="3730132" y="5189070"/>
                <a:ext cx="469680" cy="492443"/>
              </a:xfrm>
              <a:prstGeom prst="rect">
                <a:avLst/>
              </a:prstGeom>
              <a:blipFill>
                <a:blip r:embed="rId24"/>
                <a:stretch>
                  <a:fillRect l="-10526" r="-10526" b="-2500"/>
                </a:stretch>
              </a:blipFill>
            </p:spPr>
            <p:txBody>
              <a:bodyPr/>
              <a:lstStyle/>
              <a:p>
                <a:r>
                  <a:rPr lang="en-VN">
                    <a:noFill/>
                  </a:rPr>
                  <a:t> </a:t>
                </a:r>
              </a:p>
            </p:txBody>
          </p:sp>
        </mc:Fallback>
      </mc:AlternateContent>
      <p:cxnSp>
        <p:nvCxnSpPr>
          <p:cNvPr id="119" name="Straight Connector 118">
            <a:extLst>
              <a:ext uri="{FF2B5EF4-FFF2-40B4-BE49-F238E27FC236}">
                <a16:creationId xmlns:a16="http://schemas.microsoft.com/office/drawing/2014/main" id="{7541D1F9-CCEE-D5AE-D6C6-7205C7799401}"/>
              </a:ext>
            </a:extLst>
          </p:cNvPr>
          <p:cNvCxnSpPr>
            <a:cxnSpLocks/>
          </p:cNvCxnSpPr>
          <p:nvPr/>
        </p:nvCxnSpPr>
        <p:spPr>
          <a:xfrm>
            <a:off x="7511907" y="5461339"/>
            <a:ext cx="254505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1AB878F-12AE-8377-F0AD-53344F5D81F6}"/>
              </a:ext>
            </a:extLst>
          </p:cNvPr>
          <p:cNvCxnSpPr>
            <a:cxnSpLocks/>
          </p:cNvCxnSpPr>
          <p:nvPr/>
        </p:nvCxnSpPr>
        <p:spPr>
          <a:xfrm flipV="1">
            <a:off x="7707790" y="5329685"/>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1" name="Rectangle 120">
                <a:extLst>
                  <a:ext uri="{FF2B5EF4-FFF2-40B4-BE49-F238E27FC236}">
                    <a16:creationId xmlns:a16="http://schemas.microsoft.com/office/drawing/2014/main" id="{4FE7D6B5-2036-46B7-5360-00BF15C48152}"/>
                  </a:ext>
                </a:extLst>
              </p:cNvPr>
              <p:cNvSpPr/>
              <p:nvPr/>
            </p:nvSpPr>
            <p:spPr>
              <a:xfrm>
                <a:off x="8143101" y="4915940"/>
                <a:ext cx="1293704" cy="1142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121" name="Rectangle 120">
                <a:extLst>
                  <a:ext uri="{FF2B5EF4-FFF2-40B4-BE49-F238E27FC236}">
                    <a16:creationId xmlns:a16="http://schemas.microsoft.com/office/drawing/2014/main" id="{4FE7D6B5-2036-46B7-5360-00BF15C48152}"/>
                  </a:ext>
                </a:extLst>
              </p:cNvPr>
              <p:cNvSpPr>
                <a:spLocks noRot="1" noChangeAspect="1" noMove="1" noResize="1" noEditPoints="1" noAdjustHandles="1" noChangeArrowheads="1" noChangeShapeType="1" noTextEdit="1"/>
              </p:cNvSpPr>
              <p:nvPr/>
            </p:nvSpPr>
            <p:spPr>
              <a:xfrm>
                <a:off x="8143101" y="4915940"/>
                <a:ext cx="1293704" cy="1142405"/>
              </a:xfrm>
              <a:prstGeom prst="rect">
                <a:avLst/>
              </a:prstGeom>
              <a:blipFill>
                <a:blip r:embed="rId25"/>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5" name="TextBox 124">
                <a:extLst>
                  <a:ext uri="{FF2B5EF4-FFF2-40B4-BE49-F238E27FC236}">
                    <a16:creationId xmlns:a16="http://schemas.microsoft.com/office/drawing/2014/main" id="{3C0E0AF7-6324-7DDD-8BA8-35A4D7BC8488}"/>
                  </a:ext>
                </a:extLst>
              </p:cNvPr>
              <p:cNvSpPr txBox="1"/>
              <p:nvPr/>
            </p:nvSpPr>
            <p:spPr>
              <a:xfrm>
                <a:off x="6995047" y="5178265"/>
                <a:ext cx="41998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vi-VN" sz="3200"/>
              </a:p>
            </p:txBody>
          </p:sp>
        </mc:Choice>
        <mc:Fallback>
          <p:sp>
            <p:nvSpPr>
              <p:cNvPr id="125" name="TextBox 124">
                <a:extLst>
                  <a:ext uri="{FF2B5EF4-FFF2-40B4-BE49-F238E27FC236}">
                    <a16:creationId xmlns:a16="http://schemas.microsoft.com/office/drawing/2014/main" id="{3C0E0AF7-6324-7DDD-8BA8-35A4D7BC8488}"/>
                  </a:ext>
                </a:extLst>
              </p:cNvPr>
              <p:cNvSpPr txBox="1">
                <a:spLocks noRot="1" noChangeAspect="1" noMove="1" noResize="1" noEditPoints="1" noAdjustHandles="1" noChangeArrowheads="1" noChangeShapeType="1" noTextEdit="1"/>
              </p:cNvSpPr>
              <p:nvPr/>
            </p:nvSpPr>
            <p:spPr>
              <a:xfrm>
                <a:off x="6995047" y="5178265"/>
                <a:ext cx="419987" cy="492443"/>
              </a:xfrm>
              <a:prstGeom prst="rect">
                <a:avLst/>
              </a:prstGeom>
              <a:blipFill>
                <a:blip r:embed="rId26"/>
                <a:stretch>
                  <a:fillRect l="-11765" r="-11765" b="-2500"/>
                </a:stretch>
              </a:blipFill>
            </p:spPr>
            <p:txBody>
              <a:bodyPr/>
              <a:lstStyle/>
              <a:p>
                <a:r>
                  <a:rPr lang="en-VN">
                    <a:noFill/>
                  </a:rPr>
                  <a:t> </a:t>
                </a:r>
              </a:p>
            </p:txBody>
          </p:sp>
        </mc:Fallback>
      </mc:AlternateContent>
      <p:sp>
        <p:nvSpPr>
          <p:cNvPr id="126" name="TextBox 125">
            <a:extLst>
              <a:ext uri="{FF2B5EF4-FFF2-40B4-BE49-F238E27FC236}">
                <a16:creationId xmlns:a16="http://schemas.microsoft.com/office/drawing/2014/main" id="{87F12966-0E92-842F-62BB-A8A8FEC38C23}"/>
              </a:ext>
            </a:extLst>
          </p:cNvPr>
          <p:cNvSpPr txBox="1"/>
          <p:nvPr/>
        </p:nvSpPr>
        <p:spPr>
          <a:xfrm>
            <a:off x="7986890" y="6233051"/>
            <a:ext cx="1419845" cy="338554"/>
          </a:xfrm>
          <a:prstGeom prst="rect">
            <a:avLst/>
          </a:prstGeom>
          <a:noFill/>
        </p:spPr>
        <p:txBody>
          <a:bodyPr wrap="square">
            <a:spAutoFit/>
          </a:bodyPr>
          <a:lstStyle/>
          <a:p>
            <a:r>
              <a:rPr lang="en-US" sz="1600"/>
              <a:t>Unknown</a:t>
            </a:r>
            <a:endParaRPr lang="vi-VN" sz="1600" b="1"/>
          </a:p>
        </p:txBody>
      </p:sp>
      <p:sp>
        <p:nvSpPr>
          <p:cNvPr id="127" name="TextBox 126">
            <a:extLst>
              <a:ext uri="{FF2B5EF4-FFF2-40B4-BE49-F238E27FC236}">
                <a16:creationId xmlns:a16="http://schemas.microsoft.com/office/drawing/2014/main" id="{AC530115-C5D3-A338-1D1A-5851EF18CB82}"/>
              </a:ext>
            </a:extLst>
          </p:cNvPr>
          <p:cNvSpPr txBox="1"/>
          <p:nvPr/>
        </p:nvSpPr>
        <p:spPr>
          <a:xfrm>
            <a:off x="8895645" y="6227407"/>
            <a:ext cx="930043" cy="338554"/>
          </a:xfrm>
          <a:prstGeom prst="rect">
            <a:avLst/>
          </a:prstGeom>
          <a:noFill/>
        </p:spPr>
        <p:txBody>
          <a:bodyPr wrap="square">
            <a:spAutoFit/>
          </a:bodyPr>
          <a:lstStyle/>
          <a:p>
            <a:r>
              <a:rPr lang="en-US" sz="1600"/>
              <a:t>Explicity</a:t>
            </a:r>
            <a:endParaRPr lang="vi-VN" sz="1600" b="1"/>
          </a:p>
        </p:txBody>
      </p:sp>
      <p:cxnSp>
        <p:nvCxnSpPr>
          <p:cNvPr id="128" name="Straight Arrow Connector 127">
            <a:extLst>
              <a:ext uri="{FF2B5EF4-FFF2-40B4-BE49-F238E27FC236}">
                <a16:creationId xmlns:a16="http://schemas.microsoft.com/office/drawing/2014/main" id="{66DD1FA1-6BA6-0122-96CC-E6799C6F838D}"/>
              </a:ext>
            </a:extLst>
          </p:cNvPr>
          <p:cNvCxnSpPr>
            <a:cxnSpLocks/>
          </p:cNvCxnSpPr>
          <p:nvPr/>
        </p:nvCxnSpPr>
        <p:spPr>
          <a:xfrm flipH="1" flipV="1">
            <a:off x="8524548" y="5869869"/>
            <a:ext cx="5297" cy="34060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a:extLst>
              <a:ext uri="{FF2B5EF4-FFF2-40B4-BE49-F238E27FC236}">
                <a16:creationId xmlns:a16="http://schemas.microsoft.com/office/drawing/2014/main" id="{3A186BE1-01BA-6264-26F8-D81246092511}"/>
              </a:ext>
            </a:extLst>
          </p:cNvPr>
          <p:cNvCxnSpPr>
            <a:cxnSpLocks/>
          </p:cNvCxnSpPr>
          <p:nvPr/>
        </p:nvCxnSpPr>
        <p:spPr>
          <a:xfrm flipH="1" flipV="1">
            <a:off x="9101926" y="5869869"/>
            <a:ext cx="7828" cy="34060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46" name="Rectangle 145">
                <a:extLst>
                  <a:ext uri="{FF2B5EF4-FFF2-40B4-BE49-F238E27FC236}">
                    <a16:creationId xmlns:a16="http://schemas.microsoft.com/office/drawing/2014/main" id="{1206953B-A8B0-BE40-C61F-A91B92F183ED}"/>
                  </a:ext>
                </a:extLst>
              </p:cNvPr>
              <p:cNvSpPr/>
              <p:nvPr/>
            </p:nvSpPr>
            <p:spPr>
              <a:xfrm>
                <a:off x="5041887" y="4998925"/>
                <a:ext cx="470644"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sz="2400"/>
              </a:p>
            </p:txBody>
          </p:sp>
        </mc:Choice>
        <mc:Fallback>
          <p:sp>
            <p:nvSpPr>
              <p:cNvPr id="146" name="Rectangle 145">
                <a:extLst>
                  <a:ext uri="{FF2B5EF4-FFF2-40B4-BE49-F238E27FC236}">
                    <a16:creationId xmlns:a16="http://schemas.microsoft.com/office/drawing/2014/main" id="{1206953B-A8B0-BE40-C61F-A91B92F183ED}"/>
                  </a:ext>
                </a:extLst>
              </p:cNvPr>
              <p:cNvSpPr>
                <a:spLocks noRot="1" noChangeAspect="1" noMove="1" noResize="1" noEditPoints="1" noAdjustHandles="1" noChangeArrowheads="1" noChangeShapeType="1" noTextEdit="1"/>
              </p:cNvSpPr>
              <p:nvPr/>
            </p:nvSpPr>
            <p:spPr>
              <a:xfrm>
                <a:off x="5041887" y="4998925"/>
                <a:ext cx="470644" cy="867719"/>
              </a:xfrm>
              <a:prstGeom prst="rect">
                <a:avLst/>
              </a:prstGeom>
              <a:blipFill>
                <a:blip r:embed="rId27"/>
                <a:stretch>
                  <a:fillRect l="-17949"/>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47" name="Rectangle 146">
                <a:extLst>
                  <a:ext uri="{FF2B5EF4-FFF2-40B4-BE49-F238E27FC236}">
                    <a16:creationId xmlns:a16="http://schemas.microsoft.com/office/drawing/2014/main" id="{D81E9441-1E97-BAEC-1629-4F9AFB74EE4C}"/>
                  </a:ext>
                </a:extLst>
              </p:cNvPr>
              <p:cNvSpPr/>
              <p:nvPr/>
            </p:nvSpPr>
            <p:spPr>
              <a:xfrm>
                <a:off x="5625623" y="4998925"/>
                <a:ext cx="966135" cy="86771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𝑉</m:t>
                      </m:r>
                      <m:d>
                        <m:dPr>
                          <m:ctrlPr>
                            <a:rPr lang="en-US" sz="2400" i="1">
                              <a:solidFill>
                                <a:srgbClr val="FF0000"/>
                              </a:solidFill>
                              <a:latin typeface="Cambria Math" panose="02040503050406030204" pitchFamily="18" charset="0"/>
                            </a:rPr>
                          </m:ctrlPr>
                        </m:dPr>
                        <m:e>
                          <m:sSup>
                            <m:sSupPr>
                              <m:ctrlPr>
                                <a:rPr lang="en-US" sz="2400" b="1" i="1">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𝜽</m:t>
                              </m:r>
                            </m:e>
                            <m:sup>
                              <m:r>
                                <a:rPr lang="en-US" sz="2400" b="1" i="1">
                                  <a:solidFill>
                                    <a:srgbClr val="FF0000"/>
                                  </a:solidFill>
                                  <a:latin typeface="Cambria Math" panose="02040503050406030204" pitchFamily="18" charset="0"/>
                                </a:rPr>
                                <m:t>∗</m:t>
                              </m:r>
                            </m:sup>
                          </m:sSup>
                        </m:e>
                      </m:d>
                    </m:oMath>
                  </m:oMathPara>
                </a14:m>
                <a:endParaRPr lang="en-US" sz="2400">
                  <a:solidFill>
                    <a:srgbClr val="FF0000"/>
                  </a:solidFill>
                </a:endParaRPr>
              </a:p>
            </p:txBody>
          </p:sp>
        </mc:Choice>
        <mc:Fallback>
          <p:sp>
            <p:nvSpPr>
              <p:cNvPr id="147" name="Rectangle 146">
                <a:extLst>
                  <a:ext uri="{FF2B5EF4-FFF2-40B4-BE49-F238E27FC236}">
                    <a16:creationId xmlns:a16="http://schemas.microsoft.com/office/drawing/2014/main" id="{D81E9441-1E97-BAEC-1629-4F9AFB74EE4C}"/>
                  </a:ext>
                </a:extLst>
              </p:cNvPr>
              <p:cNvSpPr>
                <a:spLocks noRot="1" noChangeAspect="1" noMove="1" noResize="1" noEditPoints="1" noAdjustHandles="1" noChangeArrowheads="1" noChangeShapeType="1" noTextEdit="1"/>
              </p:cNvSpPr>
              <p:nvPr/>
            </p:nvSpPr>
            <p:spPr>
              <a:xfrm>
                <a:off x="5625623" y="4998925"/>
                <a:ext cx="966135" cy="867719"/>
              </a:xfrm>
              <a:prstGeom prst="rect">
                <a:avLst/>
              </a:prstGeom>
              <a:blipFill>
                <a:blip r:embed="rId28"/>
                <a:stretch>
                  <a:fillRect l="-11538"/>
                </a:stretch>
              </a:blipFill>
              <a:ln>
                <a:solidFill>
                  <a:srgbClr val="FF0000"/>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6" name="Rectangle 155">
                <a:extLst>
                  <a:ext uri="{FF2B5EF4-FFF2-40B4-BE49-F238E27FC236}">
                    <a16:creationId xmlns:a16="http://schemas.microsoft.com/office/drawing/2014/main" id="{60589A7D-9FA8-BECE-EE7E-AD83F4728CA5}"/>
                  </a:ext>
                </a:extLst>
              </p:cNvPr>
              <p:cNvSpPr/>
              <p:nvPr/>
            </p:nvSpPr>
            <p:spPr>
              <a:xfrm>
                <a:off x="8260371" y="5010490"/>
                <a:ext cx="470644" cy="86771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𝑈</m:t>
                      </m:r>
                    </m:oMath>
                  </m:oMathPara>
                </a14:m>
                <a:endParaRPr lang="en-US" sz="2400">
                  <a:solidFill>
                    <a:srgbClr val="FF0000"/>
                  </a:solidFill>
                </a:endParaRPr>
              </a:p>
            </p:txBody>
          </p:sp>
        </mc:Choice>
        <mc:Fallback>
          <p:sp>
            <p:nvSpPr>
              <p:cNvPr id="156" name="Rectangle 155">
                <a:extLst>
                  <a:ext uri="{FF2B5EF4-FFF2-40B4-BE49-F238E27FC236}">
                    <a16:creationId xmlns:a16="http://schemas.microsoft.com/office/drawing/2014/main" id="{60589A7D-9FA8-BECE-EE7E-AD83F4728CA5}"/>
                  </a:ext>
                </a:extLst>
              </p:cNvPr>
              <p:cNvSpPr>
                <a:spLocks noRot="1" noChangeAspect="1" noMove="1" noResize="1" noEditPoints="1" noAdjustHandles="1" noChangeArrowheads="1" noChangeShapeType="1" noTextEdit="1"/>
              </p:cNvSpPr>
              <p:nvPr/>
            </p:nvSpPr>
            <p:spPr>
              <a:xfrm>
                <a:off x="8260371" y="5010490"/>
                <a:ext cx="470644" cy="867719"/>
              </a:xfrm>
              <a:prstGeom prst="rect">
                <a:avLst/>
              </a:prstGeom>
              <a:blipFill>
                <a:blip r:embed="rId29"/>
                <a:stretch>
                  <a:fillRect l="-15000"/>
                </a:stretch>
              </a:blipFill>
              <a:ln>
                <a:solidFill>
                  <a:srgbClr val="FF0000"/>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7" name="Rectangle 156">
                <a:extLst>
                  <a:ext uri="{FF2B5EF4-FFF2-40B4-BE49-F238E27FC236}">
                    <a16:creationId xmlns:a16="http://schemas.microsoft.com/office/drawing/2014/main" id="{A3EBE17D-F692-2B4F-F372-40559A895C03}"/>
                  </a:ext>
                </a:extLst>
              </p:cNvPr>
              <p:cNvSpPr/>
              <p:nvPr/>
            </p:nvSpPr>
            <p:spPr>
              <a:xfrm>
                <a:off x="8844108" y="5010490"/>
                <a:ext cx="486041" cy="867719"/>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400" i="1">
                              <a:solidFill>
                                <a:srgbClr val="00B050"/>
                              </a:solidFill>
                              <a:latin typeface="Cambria Math" panose="02040503050406030204" pitchFamily="18" charset="0"/>
                            </a:rPr>
                          </m:ctrlPr>
                        </m:sSupPr>
                        <m:e>
                          <m:r>
                            <a:rPr lang="en-US" sz="2400" i="1">
                              <a:solidFill>
                                <a:srgbClr val="00B050"/>
                              </a:solidFill>
                              <a:latin typeface="Cambria Math" panose="02040503050406030204" pitchFamily="18" charset="0"/>
                            </a:rPr>
                            <m:t> </m:t>
                          </m:r>
                          <m:r>
                            <a:rPr lang="en-US" sz="2400" i="1">
                              <a:solidFill>
                                <a:srgbClr val="00B050"/>
                              </a:solidFill>
                              <a:latin typeface="Cambria Math" panose="02040503050406030204" pitchFamily="18" charset="0"/>
                            </a:rPr>
                            <m:t>𝑈</m:t>
                          </m:r>
                        </m:e>
                        <m:sup>
                          <m:r>
                            <a:rPr lang="en-US" sz="2400" i="1">
                              <a:solidFill>
                                <a:srgbClr val="00B050"/>
                              </a:solidFill>
                              <a:latin typeface="Cambria Math" panose="02040503050406030204" pitchFamily="18" charset="0"/>
                              <a:ea typeface="Cambria Math" panose="02040503050406030204" pitchFamily="18" charset="0"/>
                            </a:rPr>
                            <m:t>†</m:t>
                          </m:r>
                        </m:sup>
                      </m:sSup>
                    </m:oMath>
                  </m:oMathPara>
                </a14:m>
                <a:endParaRPr lang="en-US" sz="2400">
                  <a:solidFill>
                    <a:srgbClr val="00B050"/>
                  </a:solidFill>
                </a:endParaRPr>
              </a:p>
            </p:txBody>
          </p:sp>
        </mc:Choice>
        <mc:Fallback>
          <p:sp>
            <p:nvSpPr>
              <p:cNvPr id="157" name="Rectangle 156">
                <a:extLst>
                  <a:ext uri="{FF2B5EF4-FFF2-40B4-BE49-F238E27FC236}">
                    <a16:creationId xmlns:a16="http://schemas.microsoft.com/office/drawing/2014/main" id="{A3EBE17D-F692-2B4F-F372-40559A895C03}"/>
                  </a:ext>
                </a:extLst>
              </p:cNvPr>
              <p:cNvSpPr>
                <a:spLocks noRot="1" noChangeAspect="1" noMove="1" noResize="1" noEditPoints="1" noAdjustHandles="1" noChangeArrowheads="1" noChangeShapeType="1" noTextEdit="1"/>
              </p:cNvSpPr>
              <p:nvPr/>
            </p:nvSpPr>
            <p:spPr>
              <a:xfrm>
                <a:off x="8844108" y="5010490"/>
                <a:ext cx="486041" cy="867719"/>
              </a:xfrm>
              <a:prstGeom prst="rect">
                <a:avLst/>
              </a:prstGeom>
              <a:blipFill>
                <a:blip r:embed="rId30"/>
                <a:stretch>
                  <a:fillRect l="-30000" r="-2500"/>
                </a:stretch>
              </a:blipFill>
              <a:ln>
                <a:solidFill>
                  <a:srgbClr val="00B050"/>
                </a:solidFill>
              </a:ln>
            </p:spPr>
            <p:txBody>
              <a:bodyPr/>
              <a:lstStyle/>
              <a:p>
                <a:r>
                  <a:rPr lang="en-VN">
                    <a:noFill/>
                  </a:rPr>
                  <a:t> </a:t>
                </a:r>
              </a:p>
            </p:txBody>
          </p:sp>
        </mc:Fallback>
      </mc:AlternateContent>
      <p:sp>
        <p:nvSpPr>
          <p:cNvPr id="165" name="Left Brace 164">
            <a:extLst>
              <a:ext uri="{FF2B5EF4-FFF2-40B4-BE49-F238E27FC236}">
                <a16:creationId xmlns:a16="http://schemas.microsoft.com/office/drawing/2014/main" id="{1D5F9A63-4C23-5D43-A5F4-46114EC36FC7}"/>
              </a:ext>
            </a:extLst>
          </p:cNvPr>
          <p:cNvSpPr/>
          <p:nvPr/>
        </p:nvSpPr>
        <p:spPr>
          <a:xfrm rot="10800000">
            <a:off x="10119781" y="2943586"/>
            <a:ext cx="337479" cy="1142404"/>
          </a:xfrm>
          <a:prstGeom prst="leftBrace">
            <a:avLst>
              <a:gd name="adj1" fmla="val 3018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p:sp>
        <p:nvSpPr>
          <p:cNvPr id="166" name="TextBox 165">
            <a:extLst>
              <a:ext uri="{FF2B5EF4-FFF2-40B4-BE49-F238E27FC236}">
                <a16:creationId xmlns:a16="http://schemas.microsoft.com/office/drawing/2014/main" id="{FBBB365D-30A2-17B7-4842-588B8BEA753A}"/>
              </a:ext>
            </a:extLst>
          </p:cNvPr>
          <p:cNvSpPr txBox="1"/>
          <p:nvPr/>
        </p:nvSpPr>
        <p:spPr>
          <a:xfrm>
            <a:off x="10476442" y="3274037"/>
            <a:ext cx="1972733" cy="461665"/>
          </a:xfrm>
          <a:prstGeom prst="rect">
            <a:avLst/>
          </a:prstGeom>
          <a:noFill/>
        </p:spPr>
        <p:txBody>
          <a:bodyPr wrap="square" rtlCol="0">
            <a:spAutoFit/>
          </a:bodyPr>
          <a:lstStyle/>
          <a:p>
            <a:r>
              <a:rPr lang="en-US" sz="2400"/>
              <a:t>Preparation</a:t>
            </a:r>
            <a:endParaRPr lang="vi-VN" sz="2400"/>
          </a:p>
        </p:txBody>
      </p:sp>
      <p:sp>
        <p:nvSpPr>
          <p:cNvPr id="168" name="Left Brace 167">
            <a:extLst>
              <a:ext uri="{FF2B5EF4-FFF2-40B4-BE49-F238E27FC236}">
                <a16:creationId xmlns:a16="http://schemas.microsoft.com/office/drawing/2014/main" id="{DCF0A5D1-A426-BB92-09B7-47A61F7B608E}"/>
              </a:ext>
            </a:extLst>
          </p:cNvPr>
          <p:cNvSpPr/>
          <p:nvPr/>
        </p:nvSpPr>
        <p:spPr>
          <a:xfrm rot="10800000">
            <a:off x="10160255" y="4932953"/>
            <a:ext cx="337479" cy="1125392"/>
          </a:xfrm>
          <a:prstGeom prst="leftBrace">
            <a:avLst>
              <a:gd name="adj1" fmla="val 2349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p:sp>
        <p:nvSpPr>
          <p:cNvPr id="169" name="TextBox 168">
            <a:extLst>
              <a:ext uri="{FF2B5EF4-FFF2-40B4-BE49-F238E27FC236}">
                <a16:creationId xmlns:a16="http://schemas.microsoft.com/office/drawing/2014/main" id="{0116249A-158D-61CA-548F-BD25F6602B95}"/>
              </a:ext>
            </a:extLst>
          </p:cNvPr>
          <p:cNvSpPr txBox="1"/>
          <p:nvPr/>
        </p:nvSpPr>
        <p:spPr>
          <a:xfrm>
            <a:off x="10516916" y="5263403"/>
            <a:ext cx="1972733" cy="461665"/>
          </a:xfrm>
          <a:prstGeom prst="rect">
            <a:avLst/>
          </a:prstGeom>
          <a:noFill/>
        </p:spPr>
        <p:txBody>
          <a:bodyPr wrap="square" rtlCol="0">
            <a:spAutoFit/>
          </a:bodyPr>
          <a:lstStyle/>
          <a:p>
            <a:r>
              <a:rPr lang="en-US" sz="2400"/>
              <a:t>Tomography</a:t>
            </a:r>
            <a:endParaRPr lang="vi-VN" sz="2400"/>
          </a:p>
        </p:txBody>
      </p:sp>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3928843C-4846-80A5-7681-47FC00682A8C}"/>
                  </a:ext>
                </a:extLst>
              </p:cNvPr>
              <p:cNvSpPr txBox="1"/>
              <p:nvPr/>
            </p:nvSpPr>
            <p:spPr>
              <a:xfrm>
                <a:off x="9561398" y="3122791"/>
                <a:ext cx="63857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𝑝</m:t>
                          </m:r>
                        </m:e>
                        <m:sub>
                          <m:r>
                            <a:rPr lang="en-US" sz="1600" i="1">
                              <a:solidFill>
                                <a:srgbClr val="FF0000"/>
                              </a:solidFill>
                              <a:latin typeface="Cambria Math" panose="02040503050406030204" pitchFamily="18" charset="0"/>
                            </a:rPr>
                            <m:t>0</m:t>
                          </m:r>
                        </m:sub>
                      </m:sSub>
                      <m:r>
                        <a:rPr lang="en-US" sz="1600" i="1">
                          <a:solidFill>
                            <a:srgbClr val="FF0000"/>
                          </a:solidFill>
                          <a:latin typeface="Cambria Math" panose="02040503050406030204" pitchFamily="18" charset="0"/>
                        </a:rPr>
                        <m:t>≈1</m:t>
                      </m:r>
                    </m:oMath>
                  </m:oMathPara>
                </a14:m>
                <a:endParaRPr lang="vi-VN" sz="1600" i="1">
                  <a:solidFill>
                    <a:srgbClr val="FF0000"/>
                  </a:solidFill>
                </a:endParaRPr>
              </a:p>
            </p:txBody>
          </p:sp>
        </mc:Choice>
        <mc:Fallback>
          <p:sp>
            <p:nvSpPr>
              <p:cNvPr id="171" name="TextBox 170">
                <a:extLst>
                  <a:ext uri="{FF2B5EF4-FFF2-40B4-BE49-F238E27FC236}">
                    <a16:creationId xmlns:a16="http://schemas.microsoft.com/office/drawing/2014/main" id="{3928843C-4846-80A5-7681-47FC00682A8C}"/>
                  </a:ext>
                </a:extLst>
              </p:cNvPr>
              <p:cNvSpPr txBox="1">
                <a:spLocks noRot="1" noChangeAspect="1" noMove="1" noResize="1" noEditPoints="1" noAdjustHandles="1" noChangeArrowheads="1" noChangeShapeType="1" noTextEdit="1"/>
              </p:cNvSpPr>
              <p:nvPr/>
            </p:nvSpPr>
            <p:spPr>
              <a:xfrm>
                <a:off x="9561398" y="3122791"/>
                <a:ext cx="638573" cy="246221"/>
              </a:xfrm>
              <a:prstGeom prst="rect">
                <a:avLst/>
              </a:prstGeom>
              <a:blipFill>
                <a:blip r:embed="rId31"/>
                <a:stretch>
                  <a:fillRect l="-5769" r="-5769" b="-23810"/>
                </a:stretch>
              </a:blipFill>
            </p:spPr>
            <p:txBody>
              <a:bodyPr/>
              <a:lstStyle/>
              <a:p>
                <a:r>
                  <a:rPr lang="en-VN">
                    <a:noFill/>
                  </a:rPr>
                  <a:t> </a:t>
                </a:r>
              </a:p>
            </p:txBody>
          </p:sp>
        </mc:Fallback>
      </mc:AlternateContent>
    </p:spTree>
    <p:extLst>
      <p:ext uri="{BB962C8B-B14F-4D97-AF65-F5344CB8AC3E}">
        <p14:creationId xmlns:p14="http://schemas.microsoft.com/office/powerpoint/2010/main" val="3257990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85ED-6442-0098-8E1E-A22E17519136}"/>
              </a:ext>
            </a:extLst>
          </p:cNvPr>
          <p:cNvSpPr>
            <a:spLocks noGrp="1"/>
          </p:cNvSpPr>
          <p:nvPr>
            <p:ph type="title"/>
          </p:nvPr>
        </p:nvSpPr>
        <p:spPr>
          <a:xfrm>
            <a:off x="42336" y="-7403"/>
            <a:ext cx="8621889" cy="1325563"/>
          </a:xfrm>
        </p:spPr>
        <p:txBody>
          <a:bodyPr>
            <a:normAutofit/>
          </a:bodyPr>
          <a:lstStyle/>
          <a:p>
            <a:r>
              <a:rPr lang="en-US"/>
              <a:t>1.6.3. Quantum Optimization</a:t>
            </a:r>
            <a:br>
              <a:rPr lang="en-US"/>
            </a:br>
            <a:r>
              <a:rPr lang="en-US" sz="2667"/>
              <a:t>Quantum compiling</a:t>
            </a:r>
            <a:endParaRPr lang="vi-VN" sz="2667"/>
          </a:p>
        </p:txBody>
      </p:sp>
      <p:sp>
        <p:nvSpPr>
          <p:cNvPr id="4" name="Slide Number Placeholder 3">
            <a:extLst>
              <a:ext uri="{FF2B5EF4-FFF2-40B4-BE49-F238E27FC236}">
                <a16:creationId xmlns:a16="http://schemas.microsoft.com/office/drawing/2014/main" id="{AC847E43-9ECB-D3C7-47DC-B5E745E4CA4A}"/>
              </a:ext>
            </a:extLst>
          </p:cNvPr>
          <p:cNvSpPr>
            <a:spLocks noGrp="1"/>
          </p:cNvSpPr>
          <p:nvPr>
            <p:ph type="sldNum" sz="quarter" idx="12"/>
          </p:nvPr>
        </p:nvSpPr>
        <p:spPr/>
        <p:txBody>
          <a:bodyPr/>
          <a:lstStyle/>
          <a:p>
            <a:fld id="{6A45828D-F580-42DE-B77E-860980F07F32}" type="slidenum">
              <a:rPr lang="vi-VN" smtClean="0"/>
              <a:t>16</a:t>
            </a:fld>
            <a:endParaRPr lang="vi-VN"/>
          </a:p>
        </p:txBody>
      </p:sp>
      <mc:AlternateContent xmlns:mc="http://schemas.openxmlformats.org/markup-compatibility/2006">
        <mc:Choice xmlns:a14="http://schemas.microsoft.com/office/drawing/2010/main" Requires="a14">
          <p:sp>
            <p:nvSpPr>
              <p:cNvPr id="97" name="TextBox 96">
                <a:extLst>
                  <a:ext uri="{FF2B5EF4-FFF2-40B4-BE49-F238E27FC236}">
                    <a16:creationId xmlns:a16="http://schemas.microsoft.com/office/drawing/2014/main" id="{B736732F-61C3-7FC8-00AA-AA7B796B74E5}"/>
                  </a:ext>
                </a:extLst>
              </p:cNvPr>
              <p:cNvSpPr txBox="1"/>
              <p:nvPr/>
            </p:nvSpPr>
            <p:spPr>
              <a:xfrm>
                <a:off x="189693" y="6111467"/>
                <a:ext cx="10258175" cy="707694"/>
              </a:xfrm>
              <a:prstGeom prst="rect">
                <a:avLst/>
              </a:prstGeom>
              <a:noFill/>
            </p:spPr>
            <p:txBody>
              <a:bodyPr wrap="square">
                <a:spAutoFit/>
              </a:bodyPr>
              <a:lstStyle/>
              <a:p>
                <a:r>
                  <a:rPr lang="it-IT" sz="1333" b="1"/>
                  <a:t>[1.36] </a:t>
                </a:r>
                <a:r>
                  <a:rPr lang="vi-VN" sz="1333">
                    <a:solidFill>
                      <a:srgbClr val="222222"/>
                    </a:solidFill>
                  </a:rPr>
                  <a:t>Hai, V. T., &amp; Urbaneja, J. (2025, July). Entangled State Preparation via Cluster States on Quantum Computers with </a:t>
                </a:r>
                <a14:m>
                  <m:oMath xmlns:m="http://schemas.openxmlformats.org/officeDocument/2006/math">
                    <m:r>
                      <a:rPr lang="en-US" sz="1333" i="1">
                        <a:solidFill>
                          <a:srgbClr val="222222"/>
                        </a:solidFill>
                        <a:latin typeface="Cambria Math" panose="02040503050406030204" pitchFamily="18" charset="0"/>
                      </a:rPr>
                      <m:t>⟨</m:t>
                    </m:r>
                    <m:r>
                      <a:rPr lang="en-US" sz="1333" i="1">
                        <a:solidFill>
                          <a:srgbClr val="222222"/>
                        </a:solidFill>
                        <a:latin typeface="Cambria Math" panose="02040503050406030204" pitchFamily="18" charset="0"/>
                      </a:rPr>
                      <m:t>𝑞𝑜</m:t>
                    </m:r>
                    <m:r>
                      <a:rPr lang="en-US" sz="1333" i="1">
                        <a:solidFill>
                          <a:srgbClr val="222222"/>
                        </a:solidFill>
                        <a:latin typeface="Cambria Math" panose="02040503050406030204" pitchFamily="18" charset="0"/>
                      </a:rPr>
                      <m:t>|</m:t>
                    </m:r>
                    <m:r>
                      <a:rPr lang="en-US" sz="1333" i="1">
                        <a:solidFill>
                          <a:srgbClr val="222222"/>
                        </a:solidFill>
                        <a:latin typeface="Cambria Math" panose="02040503050406030204" pitchFamily="18" charset="0"/>
                      </a:rPr>
                      <m:t>𝑜𝑝</m:t>
                    </m:r>
                    <m:r>
                      <a:rPr lang="en-US" sz="1333" i="1">
                        <a:solidFill>
                          <a:srgbClr val="222222"/>
                        </a:solidFill>
                        <a:latin typeface="Cambria Math" panose="02040503050406030204" pitchFamily="18" charset="0"/>
                      </a:rPr>
                      <m:t>⟩</m:t>
                    </m:r>
                  </m:oMath>
                </a14:m>
                <a:r>
                  <a:rPr lang="vi-VN" sz="1333">
                    <a:solidFill>
                      <a:srgbClr val="222222"/>
                    </a:solidFill>
                  </a:rPr>
                  <a:t> Software. In </a:t>
                </a:r>
                <a:r>
                  <a:rPr lang="vi-VN" sz="1333" i="1">
                    <a:solidFill>
                      <a:srgbClr val="222222"/>
                    </a:solidFill>
                  </a:rPr>
                  <a:t>2025 IEEE International Conference on Quantum Software (QSW)</a:t>
                </a:r>
                <a:r>
                  <a:rPr lang="vi-VN" sz="1333">
                    <a:solidFill>
                      <a:srgbClr val="222222"/>
                    </a:solidFill>
                  </a:rPr>
                  <a:t> (pp. 116-122). IEEE.</a:t>
                </a:r>
                <a:endParaRPr lang="it-IT" sz="1333"/>
              </a:p>
              <a:p>
                <a:r>
                  <a:rPr lang="it-IT" sz="1333" b="1"/>
                  <a:t>[1.37] </a:t>
                </a:r>
                <a:r>
                  <a:rPr lang="vi-VN" sz="1333">
                    <a:solidFill>
                      <a:srgbClr val="222222"/>
                    </a:solidFill>
                  </a:rPr>
                  <a:t>Hai, V. T., &amp; Ho, L. B. (2023). Universal compilation for quantum state tomography. </a:t>
                </a:r>
                <a:r>
                  <a:rPr lang="vi-VN" sz="1333" i="1">
                    <a:solidFill>
                      <a:srgbClr val="222222"/>
                    </a:solidFill>
                  </a:rPr>
                  <a:t>Scientific Reports</a:t>
                </a:r>
                <a:r>
                  <a:rPr lang="vi-VN" sz="1333">
                    <a:solidFill>
                      <a:srgbClr val="222222"/>
                    </a:solidFill>
                  </a:rPr>
                  <a:t>, </a:t>
                </a:r>
                <a:r>
                  <a:rPr lang="vi-VN" sz="1333" i="1">
                    <a:solidFill>
                      <a:srgbClr val="222222"/>
                    </a:solidFill>
                  </a:rPr>
                  <a:t>13</a:t>
                </a:r>
                <a:r>
                  <a:rPr lang="vi-VN" sz="1333">
                    <a:solidFill>
                      <a:srgbClr val="222222"/>
                    </a:solidFill>
                  </a:rPr>
                  <a:t>(1), 3750.</a:t>
                </a:r>
                <a:endParaRPr lang="it-IT" sz="1333"/>
              </a:p>
            </p:txBody>
          </p:sp>
        </mc:Choice>
        <mc:Fallback>
          <p:sp>
            <p:nvSpPr>
              <p:cNvPr id="97" name="TextBox 96">
                <a:extLst>
                  <a:ext uri="{FF2B5EF4-FFF2-40B4-BE49-F238E27FC236}">
                    <a16:creationId xmlns:a16="http://schemas.microsoft.com/office/drawing/2014/main" id="{B736732F-61C3-7FC8-00AA-AA7B796B74E5}"/>
                  </a:ext>
                </a:extLst>
              </p:cNvPr>
              <p:cNvSpPr txBox="1">
                <a:spLocks noRot="1" noChangeAspect="1" noMove="1" noResize="1" noEditPoints="1" noAdjustHandles="1" noChangeArrowheads="1" noChangeShapeType="1" noTextEdit="1"/>
              </p:cNvSpPr>
              <p:nvPr/>
            </p:nvSpPr>
            <p:spPr>
              <a:xfrm>
                <a:off x="189693" y="6111467"/>
                <a:ext cx="10258175" cy="707694"/>
              </a:xfrm>
              <a:prstGeom prst="rect">
                <a:avLst/>
              </a:prstGeom>
              <a:blipFill>
                <a:blip r:embed="rId2"/>
                <a:stretch>
                  <a:fillRect l="-124" t="-3509" b="-5263"/>
                </a:stretch>
              </a:blipFill>
            </p:spPr>
            <p:txBody>
              <a:bodyPr/>
              <a:lstStyle/>
              <a:p>
                <a:r>
                  <a:rPr lang="en-VN">
                    <a:noFill/>
                  </a:rPr>
                  <a:t> </a:t>
                </a:r>
              </a:p>
            </p:txBody>
          </p:sp>
        </mc:Fallback>
      </mc:AlternateContent>
      <p:sp>
        <p:nvSpPr>
          <p:cNvPr id="165" name="Left Brace 164">
            <a:extLst>
              <a:ext uri="{FF2B5EF4-FFF2-40B4-BE49-F238E27FC236}">
                <a16:creationId xmlns:a16="http://schemas.microsoft.com/office/drawing/2014/main" id="{1D5F9A63-4C23-5D43-A5F4-46114EC36FC7}"/>
              </a:ext>
            </a:extLst>
          </p:cNvPr>
          <p:cNvSpPr/>
          <p:nvPr/>
        </p:nvSpPr>
        <p:spPr>
          <a:xfrm rot="10800000">
            <a:off x="11144099" y="3351713"/>
            <a:ext cx="337479" cy="1142404"/>
          </a:xfrm>
          <a:prstGeom prst="leftBrace">
            <a:avLst>
              <a:gd name="adj1" fmla="val 3018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p:sp>
        <p:nvSpPr>
          <p:cNvPr id="166" name="TextBox 165">
            <a:extLst>
              <a:ext uri="{FF2B5EF4-FFF2-40B4-BE49-F238E27FC236}">
                <a16:creationId xmlns:a16="http://schemas.microsoft.com/office/drawing/2014/main" id="{FBBB365D-30A2-17B7-4842-588B8BEA753A}"/>
              </a:ext>
            </a:extLst>
          </p:cNvPr>
          <p:cNvSpPr txBox="1"/>
          <p:nvPr/>
        </p:nvSpPr>
        <p:spPr>
          <a:xfrm rot="5400000">
            <a:off x="10850029" y="3784144"/>
            <a:ext cx="1835955" cy="461665"/>
          </a:xfrm>
          <a:prstGeom prst="rect">
            <a:avLst/>
          </a:prstGeom>
          <a:noFill/>
        </p:spPr>
        <p:txBody>
          <a:bodyPr wrap="square" rtlCol="0">
            <a:spAutoFit/>
          </a:bodyPr>
          <a:lstStyle/>
          <a:p>
            <a:r>
              <a:rPr lang="en-US" sz="2400"/>
              <a:t>Preparation</a:t>
            </a:r>
            <a:endParaRPr lang="vi-VN" sz="2400"/>
          </a:p>
        </p:txBody>
      </p:sp>
      <p:sp>
        <p:nvSpPr>
          <p:cNvPr id="168" name="Left Brace 167">
            <a:extLst>
              <a:ext uri="{FF2B5EF4-FFF2-40B4-BE49-F238E27FC236}">
                <a16:creationId xmlns:a16="http://schemas.microsoft.com/office/drawing/2014/main" id="{DCF0A5D1-A426-BB92-09B7-47A61F7B608E}"/>
              </a:ext>
            </a:extLst>
          </p:cNvPr>
          <p:cNvSpPr/>
          <p:nvPr/>
        </p:nvSpPr>
        <p:spPr>
          <a:xfrm rot="10800000">
            <a:off x="11185058" y="4814419"/>
            <a:ext cx="337479" cy="1233624"/>
          </a:xfrm>
          <a:prstGeom prst="leftBrace">
            <a:avLst>
              <a:gd name="adj1" fmla="val 2349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p:sp>
        <p:nvSpPr>
          <p:cNvPr id="169" name="TextBox 168">
            <a:extLst>
              <a:ext uri="{FF2B5EF4-FFF2-40B4-BE49-F238E27FC236}">
                <a16:creationId xmlns:a16="http://schemas.microsoft.com/office/drawing/2014/main" id="{0116249A-158D-61CA-548F-BD25F6602B95}"/>
              </a:ext>
            </a:extLst>
          </p:cNvPr>
          <p:cNvSpPr txBox="1"/>
          <p:nvPr/>
        </p:nvSpPr>
        <p:spPr>
          <a:xfrm rot="5400000">
            <a:off x="10781640" y="5397326"/>
            <a:ext cx="1972733" cy="461665"/>
          </a:xfrm>
          <a:prstGeom prst="rect">
            <a:avLst/>
          </a:prstGeom>
          <a:noFill/>
        </p:spPr>
        <p:txBody>
          <a:bodyPr wrap="square" rtlCol="0">
            <a:spAutoFit/>
          </a:bodyPr>
          <a:lstStyle/>
          <a:p>
            <a:r>
              <a:rPr lang="en-US" sz="2400"/>
              <a:t>Tomography</a:t>
            </a:r>
            <a:endParaRPr lang="vi-VN" sz="240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6A83EE6-C7A8-5C29-5715-E668125CB273}"/>
                  </a:ext>
                </a:extLst>
              </p:cNvPr>
              <p:cNvSpPr txBox="1"/>
              <p:nvPr/>
            </p:nvSpPr>
            <p:spPr>
              <a:xfrm>
                <a:off x="37328" y="3162781"/>
                <a:ext cx="6575071" cy="1565813"/>
              </a:xfrm>
              <a:prstGeom prst="rect">
                <a:avLst/>
              </a:prstGeom>
              <a:noFill/>
            </p:spPr>
            <p:txBody>
              <a:bodyPr wrap="square" rtlCol="0">
                <a:spAutoFit/>
              </a:bodyPr>
              <a:lstStyle/>
              <a:p>
                <a:r>
                  <a:rPr lang="en-US" sz="2400"/>
                  <a:t>Some entangled states are hard for preparation:</a:t>
                </a:r>
              </a:p>
              <a:p>
                <a:r>
                  <a:rPr lang="en-US" sz="2400"/>
                  <a:t>      </a:t>
                </a:r>
                <a14:m>
                  <m:oMath xmlns:m="http://schemas.openxmlformats.org/officeDocument/2006/math">
                    <m:d>
                      <m:dPr>
                        <m:begChr m:val="|"/>
                        <m:endChr m:val="⟩"/>
                        <m:ctrlPr>
                          <a:rPr lang="en-US" sz="2400" i="1">
                            <a:latin typeface="Cambria Math" panose="02040503050406030204" pitchFamily="18" charset="0"/>
                          </a:rPr>
                        </m:ctrlPr>
                      </m:dPr>
                      <m:e>
                        <m:r>
                          <m:rPr>
                            <m:sty m:val="p"/>
                          </m:rPr>
                          <a:rPr lang="en-US" sz="2400">
                            <a:latin typeface="Cambria Math" panose="02040503050406030204" pitchFamily="18" charset="0"/>
                          </a:rPr>
                          <m:t>GH</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Z</m:t>
                            </m:r>
                          </m:e>
                          <m:sub>
                            <m:r>
                              <m:rPr>
                                <m:sty m:val="p"/>
                              </m:rPr>
                              <a:rPr lang="en-US" sz="2400">
                                <a:latin typeface="Cambria Math" panose="02040503050406030204" pitchFamily="18" charset="0"/>
                              </a:rPr>
                              <m:t>n</m:t>
                            </m:r>
                          </m:sub>
                        </m:sSub>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1</m:t>
                                </m:r>
                              </m:e>
                            </m:d>
                          </m:e>
                          <m:sup>
                            <m:r>
                              <a:rPr lang="en-US" sz="2400" i="1">
                                <a:latin typeface="Cambria Math" panose="02040503050406030204" pitchFamily="18" charset="0"/>
                              </a:rPr>
                              <m:t>⊗</m:t>
                            </m:r>
                            <m:r>
                              <a:rPr lang="en-US" sz="2400" i="1">
                                <a:latin typeface="Cambria Math" panose="02040503050406030204" pitchFamily="18" charset="0"/>
                              </a:rPr>
                              <m:t>𝑛</m:t>
                            </m:r>
                          </m:sup>
                        </m:sSup>
                      </m:e>
                    </m:d>
                  </m:oMath>
                </a14:m>
                <a:r>
                  <a:rPr lang="en-US" sz="2400"/>
                  <a:t> </a:t>
                </a:r>
              </a:p>
              <a:p>
                <a:r>
                  <a:rPr lang="en-US" sz="2400"/>
                  <a:t>      </a:t>
                </a:r>
                <a14:m>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𝑛</m:t>
                            </m:r>
                          </m:sub>
                        </m:sSub>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𝑛</m:t>
                            </m:r>
                          </m:e>
                        </m:rad>
                      </m:den>
                    </m:f>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e>
                    </m:d>
                  </m:oMath>
                </a14:m>
                <a:r>
                  <a:rPr lang="en-US" sz="2400"/>
                  <a:t> </a:t>
                </a:r>
              </a:p>
            </p:txBody>
          </p:sp>
        </mc:Choice>
        <mc:Fallback>
          <p:sp>
            <p:nvSpPr>
              <p:cNvPr id="11" name="TextBox 10">
                <a:extLst>
                  <a:ext uri="{FF2B5EF4-FFF2-40B4-BE49-F238E27FC236}">
                    <a16:creationId xmlns:a16="http://schemas.microsoft.com/office/drawing/2014/main" id="{B6A83EE6-C7A8-5C29-5715-E668125CB273}"/>
                  </a:ext>
                </a:extLst>
              </p:cNvPr>
              <p:cNvSpPr txBox="1">
                <a:spLocks noRot="1" noChangeAspect="1" noMove="1" noResize="1" noEditPoints="1" noAdjustHandles="1" noChangeArrowheads="1" noChangeShapeType="1" noTextEdit="1"/>
              </p:cNvSpPr>
              <p:nvPr/>
            </p:nvSpPr>
            <p:spPr>
              <a:xfrm>
                <a:off x="37328" y="3162781"/>
                <a:ext cx="6575071" cy="1565813"/>
              </a:xfrm>
              <a:prstGeom prst="rect">
                <a:avLst/>
              </a:prstGeom>
              <a:blipFill>
                <a:blip r:embed="rId3"/>
                <a:stretch>
                  <a:fillRect l="-1349" t="-3226" b="-1613"/>
                </a:stretch>
              </a:blipFill>
            </p:spPr>
            <p:txBody>
              <a:bodyPr/>
              <a:lstStyle/>
              <a:p>
                <a:r>
                  <a:rPr lang="en-VN">
                    <a:noFill/>
                  </a:rPr>
                  <a:t> </a:t>
                </a:r>
              </a:p>
            </p:txBody>
          </p:sp>
        </mc:Fallback>
      </mc:AlternateContent>
      <p:pic>
        <p:nvPicPr>
          <p:cNvPr id="21" name="Picture 20">
            <a:extLst>
              <a:ext uri="{FF2B5EF4-FFF2-40B4-BE49-F238E27FC236}">
                <a16:creationId xmlns:a16="http://schemas.microsoft.com/office/drawing/2014/main" id="{956DBF65-7D99-258A-2511-F4D66B45A2CD}"/>
              </a:ext>
            </a:extLst>
          </p:cNvPr>
          <p:cNvPicPr>
            <a:picLocks noChangeAspect="1"/>
          </p:cNvPicPr>
          <p:nvPr/>
        </p:nvPicPr>
        <p:blipFill>
          <a:blip r:embed="rId4"/>
          <a:srcRect t="67794"/>
          <a:stretch/>
        </p:blipFill>
        <p:spPr>
          <a:xfrm>
            <a:off x="189693" y="1275645"/>
            <a:ext cx="8798193" cy="1913468"/>
          </a:xfrm>
          <a:prstGeom prst="rect">
            <a:avLst/>
          </a:prstGeom>
        </p:spPr>
      </p:pic>
      <mc:AlternateContent xmlns:mc="http://schemas.openxmlformats.org/markup-compatibility/2006">
        <mc:Choice xmlns:a14="http://schemas.microsoft.com/office/drawing/2010/main" Requires="a14">
          <p:sp>
            <p:nvSpPr>
              <p:cNvPr id="22" name="Rectangle 21">
                <a:extLst>
                  <a:ext uri="{FF2B5EF4-FFF2-40B4-BE49-F238E27FC236}">
                    <a16:creationId xmlns:a16="http://schemas.microsoft.com/office/drawing/2014/main" id="{8B5D7C4C-DE8C-AA6B-D380-B1EC667F612B}"/>
                  </a:ext>
                </a:extLst>
              </p:cNvPr>
              <p:cNvSpPr/>
              <p:nvPr/>
            </p:nvSpPr>
            <p:spPr>
              <a:xfrm>
                <a:off x="6394480" y="3346774"/>
                <a:ext cx="4606545" cy="12082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22" name="Rectangle 21">
                <a:extLst>
                  <a:ext uri="{FF2B5EF4-FFF2-40B4-BE49-F238E27FC236}">
                    <a16:creationId xmlns:a16="http://schemas.microsoft.com/office/drawing/2014/main" id="{8B5D7C4C-DE8C-AA6B-D380-B1EC667F612B}"/>
                  </a:ext>
                </a:extLst>
              </p:cNvPr>
              <p:cNvSpPr>
                <a:spLocks noRot="1" noChangeAspect="1" noMove="1" noResize="1" noEditPoints="1" noAdjustHandles="1" noChangeArrowheads="1" noChangeShapeType="1" noTextEdit="1"/>
              </p:cNvSpPr>
              <p:nvPr/>
            </p:nvSpPr>
            <p:spPr>
              <a:xfrm>
                <a:off x="6394480" y="3346774"/>
                <a:ext cx="4606545" cy="1208293"/>
              </a:xfrm>
              <a:prstGeom prst="rect">
                <a:avLst/>
              </a:prstGeom>
              <a:blipFill>
                <a:blip r:embed="rId5"/>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8" name="Rectangle 27">
                <a:extLst>
                  <a:ext uri="{FF2B5EF4-FFF2-40B4-BE49-F238E27FC236}">
                    <a16:creationId xmlns:a16="http://schemas.microsoft.com/office/drawing/2014/main" id="{2039C48B-7A1F-6F63-EFF2-59AB4668F5B4}"/>
                  </a:ext>
                </a:extLst>
              </p:cNvPr>
              <p:cNvSpPr/>
              <p:nvPr/>
            </p:nvSpPr>
            <p:spPr>
              <a:xfrm>
                <a:off x="6809904" y="3542093"/>
                <a:ext cx="96249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d>
                        <m:dPr>
                          <m:ctrlPr>
                            <a:rPr lang="en-US" sz="2400" i="1">
                              <a:solidFill>
                                <a:schemeClr val="tx1"/>
                              </a:solidFill>
                              <a:latin typeface="Cambria Math" panose="02040503050406030204" pitchFamily="18" charset="0"/>
                            </a:rPr>
                          </m:ctrlPr>
                        </m:dPr>
                        <m:e>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𝜽</m:t>
                              </m:r>
                            </m:e>
                            <m:sup>
                              <m:r>
                                <a:rPr lang="en-US" sz="2400" b="1" i="1">
                                  <a:solidFill>
                                    <a:schemeClr val="tx1"/>
                                  </a:solidFill>
                                  <a:latin typeface="Cambria Math" panose="02040503050406030204" pitchFamily="18" charset="0"/>
                                </a:rPr>
                                <m:t>∗</m:t>
                              </m:r>
                            </m:sup>
                          </m:sSup>
                        </m:e>
                      </m:d>
                    </m:oMath>
                  </m:oMathPara>
                </a14:m>
                <a:endParaRPr sz="2400"/>
              </a:p>
            </p:txBody>
          </p:sp>
        </mc:Choice>
        <mc:Fallback>
          <p:sp>
            <p:nvSpPr>
              <p:cNvPr id="28" name="Rectangle 27">
                <a:extLst>
                  <a:ext uri="{FF2B5EF4-FFF2-40B4-BE49-F238E27FC236}">
                    <a16:creationId xmlns:a16="http://schemas.microsoft.com/office/drawing/2014/main" id="{2039C48B-7A1F-6F63-EFF2-59AB4668F5B4}"/>
                  </a:ext>
                </a:extLst>
              </p:cNvPr>
              <p:cNvSpPr>
                <a:spLocks noRot="1" noChangeAspect="1" noMove="1" noResize="1" noEditPoints="1" noAdjustHandles="1" noChangeArrowheads="1" noChangeShapeType="1" noTextEdit="1"/>
              </p:cNvSpPr>
              <p:nvPr/>
            </p:nvSpPr>
            <p:spPr>
              <a:xfrm>
                <a:off x="6809904" y="3542093"/>
                <a:ext cx="962497" cy="867719"/>
              </a:xfrm>
              <a:prstGeom prst="rect">
                <a:avLst/>
              </a:prstGeom>
              <a:blipFill>
                <a:blip r:embed="rId6"/>
                <a:stretch>
                  <a:fillRect l="-11538"/>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9" name="Rectangle 28">
                <a:extLst>
                  <a:ext uri="{FF2B5EF4-FFF2-40B4-BE49-F238E27FC236}">
                    <a16:creationId xmlns:a16="http://schemas.microsoft.com/office/drawing/2014/main" id="{56D74C69-FAED-5593-1978-8AD854E56B97}"/>
                  </a:ext>
                </a:extLst>
              </p:cNvPr>
              <p:cNvSpPr/>
              <p:nvPr/>
            </p:nvSpPr>
            <p:spPr>
              <a:xfrm>
                <a:off x="8220049" y="3542093"/>
                <a:ext cx="922920" cy="86771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𝐺𝐻</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𝑍</m:t>
                          </m:r>
                        </m:e>
                        <m:sup>
                          <m:r>
                            <a:rPr lang="en-US" sz="2400" i="1">
                              <a:solidFill>
                                <a:srgbClr val="FF0000"/>
                              </a:solidFill>
                              <a:latin typeface="Cambria Math" panose="02040503050406030204" pitchFamily="18" charset="0"/>
                              <a:ea typeface="Cambria Math" panose="02040503050406030204" pitchFamily="18" charset="0"/>
                            </a:rPr>
                            <m:t>†</m:t>
                          </m:r>
                        </m:sup>
                      </m:sSup>
                    </m:oMath>
                  </m:oMathPara>
                </a14:m>
                <a:endParaRPr lang="en-US" sz="2400">
                  <a:solidFill>
                    <a:srgbClr val="FF0000"/>
                  </a:solidFill>
                </a:endParaRPr>
              </a:p>
            </p:txBody>
          </p:sp>
        </mc:Choice>
        <mc:Fallback>
          <p:sp>
            <p:nvSpPr>
              <p:cNvPr id="29" name="Rectangle 28">
                <a:extLst>
                  <a:ext uri="{FF2B5EF4-FFF2-40B4-BE49-F238E27FC236}">
                    <a16:creationId xmlns:a16="http://schemas.microsoft.com/office/drawing/2014/main" id="{56D74C69-FAED-5593-1978-8AD854E56B97}"/>
                  </a:ext>
                </a:extLst>
              </p:cNvPr>
              <p:cNvSpPr>
                <a:spLocks noRot="1" noChangeAspect="1" noMove="1" noResize="1" noEditPoints="1" noAdjustHandles="1" noChangeArrowheads="1" noChangeShapeType="1" noTextEdit="1"/>
              </p:cNvSpPr>
              <p:nvPr/>
            </p:nvSpPr>
            <p:spPr>
              <a:xfrm>
                <a:off x="8220049" y="3542093"/>
                <a:ext cx="922920" cy="867719"/>
              </a:xfrm>
              <a:prstGeom prst="rect">
                <a:avLst/>
              </a:prstGeom>
              <a:blipFill>
                <a:blip r:embed="rId7"/>
                <a:stretch>
                  <a:fillRect l="-13333"/>
                </a:stretch>
              </a:blipFill>
              <a:ln>
                <a:solidFill>
                  <a:srgbClr val="FF0000"/>
                </a:solidFill>
              </a:ln>
            </p:spPr>
            <p:txBody>
              <a:bodyPr/>
              <a:lstStyle/>
              <a:p>
                <a:r>
                  <a:rPr lang="en-VN">
                    <a:noFill/>
                  </a:rPr>
                  <a:t> </a:t>
                </a:r>
              </a:p>
            </p:txBody>
          </p:sp>
        </mc:Fallback>
      </mc:AlternateContent>
      <p:sp>
        <p:nvSpPr>
          <p:cNvPr id="40" name="TextBox 39">
            <a:extLst>
              <a:ext uri="{FF2B5EF4-FFF2-40B4-BE49-F238E27FC236}">
                <a16:creationId xmlns:a16="http://schemas.microsoft.com/office/drawing/2014/main" id="{AFEC3967-E1E5-3B1E-53DC-6BF1FAED6524}"/>
              </a:ext>
            </a:extLst>
          </p:cNvPr>
          <p:cNvSpPr txBox="1"/>
          <p:nvPr/>
        </p:nvSpPr>
        <p:spPr>
          <a:xfrm>
            <a:off x="6394479" y="3676694"/>
            <a:ext cx="1972733" cy="461665"/>
          </a:xfrm>
          <a:prstGeom prst="rect">
            <a:avLst/>
          </a:prstGeom>
          <a:noFill/>
        </p:spPr>
        <p:txBody>
          <a:bodyPr wrap="square" rtlCol="0">
            <a:spAutoFit/>
          </a:bodyPr>
          <a:lstStyle/>
          <a:p>
            <a:r>
              <a:rPr lang="en-US" sz="2400"/>
              <a:t>If</a:t>
            </a:r>
            <a:endParaRPr lang="vi-VN" sz="2400"/>
          </a:p>
        </p:txBody>
      </p: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55E7DB87-1A8F-4B9F-3F0D-0C661F07835A}"/>
                  </a:ext>
                </a:extLst>
              </p:cNvPr>
              <p:cNvSpPr txBox="1"/>
              <p:nvPr/>
            </p:nvSpPr>
            <p:spPr>
              <a:xfrm>
                <a:off x="7705814" y="3704700"/>
                <a:ext cx="56409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p>
            </p:txBody>
          </p:sp>
        </mc:Choice>
        <mc:Fallback>
          <p:sp>
            <p:nvSpPr>
              <p:cNvPr id="41" name="TextBox 40">
                <a:extLst>
                  <a:ext uri="{FF2B5EF4-FFF2-40B4-BE49-F238E27FC236}">
                    <a16:creationId xmlns:a16="http://schemas.microsoft.com/office/drawing/2014/main" id="{55E7DB87-1A8F-4B9F-3F0D-0C661F07835A}"/>
                  </a:ext>
                </a:extLst>
              </p:cNvPr>
              <p:cNvSpPr txBox="1">
                <a:spLocks noRot="1" noChangeAspect="1" noMove="1" noResize="1" noEditPoints="1" noAdjustHandles="1" noChangeArrowheads="1" noChangeShapeType="1" noTextEdit="1"/>
              </p:cNvSpPr>
              <p:nvPr/>
            </p:nvSpPr>
            <p:spPr>
              <a:xfrm>
                <a:off x="7705814" y="3704700"/>
                <a:ext cx="564093" cy="461665"/>
              </a:xfrm>
              <a:prstGeom prst="rect">
                <a:avLst/>
              </a:prstGeom>
              <a:blipFill>
                <a:blip r:embed="rId8"/>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9F4BF598-95D0-10F3-E41E-9D99EA430A7F}"/>
                  </a:ext>
                </a:extLst>
              </p:cNvPr>
              <p:cNvSpPr txBox="1"/>
              <p:nvPr/>
            </p:nvSpPr>
            <p:spPr>
              <a:xfrm>
                <a:off x="9200728" y="3483508"/>
                <a:ext cx="1738208" cy="954300"/>
              </a:xfrm>
              <a:prstGeom prst="rect">
                <a:avLst/>
              </a:prstGeom>
              <a:noFill/>
            </p:spPr>
            <p:txBody>
              <a:bodyPr wrap="square" rtlCol="0">
                <a:spAutoFit/>
              </a:bodyPr>
              <a:lstStyle/>
              <a:p>
                <a:r>
                  <a:rPr lang="en-US" sz="1867"/>
                  <a:t>then preparing </a:t>
                </a:r>
                <a14:m>
                  <m:oMath xmlns:m="http://schemas.openxmlformats.org/officeDocument/2006/math">
                    <m:r>
                      <a:rPr lang="en-US" sz="1867" i="1">
                        <a:latin typeface="Cambria Math" panose="02040503050406030204" pitchFamily="18" charset="0"/>
                      </a:rPr>
                      <m:t>|</m:t>
                    </m:r>
                    <m:r>
                      <a:rPr lang="en-US" sz="1867" i="1">
                        <a:latin typeface="Cambria Math" panose="02040503050406030204" pitchFamily="18" charset="0"/>
                      </a:rPr>
                      <m:t>𝐺𝐻𝑍</m:t>
                    </m:r>
                    <m:r>
                      <a:rPr lang="en-US" sz="1867" i="1">
                        <a:latin typeface="Cambria Math" panose="02040503050406030204" pitchFamily="18" charset="0"/>
                      </a:rPr>
                      <m:t>⟩</m:t>
                    </m:r>
                  </m:oMath>
                </a14:m>
                <a:r>
                  <a:rPr lang="en-US" sz="1867"/>
                  <a:t> through </a:t>
                </a:r>
                <a14:m>
                  <m:oMath xmlns:m="http://schemas.openxmlformats.org/officeDocument/2006/math">
                    <m:r>
                      <a:rPr lang="en-US" sz="1867" i="1">
                        <a:latin typeface="Cambria Math" panose="02040503050406030204" pitchFamily="18" charset="0"/>
                      </a:rPr>
                      <m:t>𝑈</m:t>
                    </m:r>
                    <m:d>
                      <m:dPr>
                        <m:ctrlPr>
                          <a:rPr lang="en-US" sz="1867" i="1">
                            <a:latin typeface="Cambria Math" panose="02040503050406030204" pitchFamily="18" charset="0"/>
                          </a:rPr>
                        </m:ctrlPr>
                      </m:dPr>
                      <m:e>
                        <m:sSup>
                          <m:sSupPr>
                            <m:ctrlPr>
                              <a:rPr lang="en-US" sz="1867" b="1" i="1">
                                <a:latin typeface="Cambria Math" panose="02040503050406030204" pitchFamily="18" charset="0"/>
                              </a:rPr>
                            </m:ctrlPr>
                          </m:sSupPr>
                          <m:e>
                            <m:r>
                              <a:rPr lang="en-US" sz="1867" b="1" i="1">
                                <a:latin typeface="Cambria Math" panose="02040503050406030204" pitchFamily="18" charset="0"/>
                              </a:rPr>
                              <m:t>𝜽</m:t>
                            </m:r>
                          </m:e>
                          <m:sup>
                            <m:r>
                              <a:rPr lang="en-US" sz="1867" b="1" i="1">
                                <a:latin typeface="Cambria Math" panose="02040503050406030204" pitchFamily="18" charset="0"/>
                              </a:rPr>
                              <m:t>∗</m:t>
                            </m:r>
                          </m:sup>
                        </m:sSup>
                      </m:e>
                    </m:d>
                  </m:oMath>
                </a14:m>
                <a:r>
                  <a:rPr lang="en-US" sz="1867"/>
                  <a:t> is better</a:t>
                </a:r>
                <a:endParaRPr lang="vi-VN" sz="1867"/>
              </a:p>
            </p:txBody>
          </p:sp>
        </mc:Choice>
        <mc:Fallback>
          <p:sp>
            <p:nvSpPr>
              <p:cNvPr id="42" name="TextBox 41">
                <a:extLst>
                  <a:ext uri="{FF2B5EF4-FFF2-40B4-BE49-F238E27FC236}">
                    <a16:creationId xmlns:a16="http://schemas.microsoft.com/office/drawing/2014/main" id="{9F4BF598-95D0-10F3-E41E-9D99EA430A7F}"/>
                  </a:ext>
                </a:extLst>
              </p:cNvPr>
              <p:cNvSpPr txBox="1">
                <a:spLocks noRot="1" noChangeAspect="1" noMove="1" noResize="1" noEditPoints="1" noAdjustHandles="1" noChangeArrowheads="1" noChangeShapeType="1" noTextEdit="1"/>
              </p:cNvSpPr>
              <p:nvPr/>
            </p:nvSpPr>
            <p:spPr>
              <a:xfrm>
                <a:off x="9200728" y="3483508"/>
                <a:ext cx="1738208" cy="954300"/>
              </a:xfrm>
              <a:prstGeom prst="rect">
                <a:avLst/>
              </a:prstGeom>
              <a:blipFill>
                <a:blip r:embed="rId9"/>
                <a:stretch>
                  <a:fillRect l="-2899" t="-2632" r="-1449" b="-9211"/>
                </a:stretch>
              </a:blipFill>
            </p:spPr>
            <p:txBody>
              <a:bodyPr/>
              <a:lstStyle/>
              <a:p>
                <a:r>
                  <a:rPr lang="en-VN">
                    <a:noFill/>
                  </a:rPr>
                  <a:t> </a:t>
                </a:r>
              </a:p>
            </p:txBody>
          </p:sp>
        </mc:Fallback>
      </mc:AlternateContent>
      <p:sp>
        <p:nvSpPr>
          <p:cNvPr id="44" name="TextBox 43">
            <a:extLst>
              <a:ext uri="{FF2B5EF4-FFF2-40B4-BE49-F238E27FC236}">
                <a16:creationId xmlns:a16="http://schemas.microsoft.com/office/drawing/2014/main" id="{971A3C0B-5764-7405-9D78-BD88427113ED}"/>
              </a:ext>
            </a:extLst>
          </p:cNvPr>
          <p:cNvSpPr txBox="1"/>
          <p:nvPr/>
        </p:nvSpPr>
        <p:spPr>
          <a:xfrm>
            <a:off x="113492" y="4689669"/>
            <a:ext cx="5481764" cy="461665"/>
          </a:xfrm>
          <a:prstGeom prst="rect">
            <a:avLst/>
          </a:prstGeom>
          <a:noFill/>
        </p:spPr>
        <p:txBody>
          <a:bodyPr wrap="square" rtlCol="0">
            <a:spAutoFit/>
          </a:bodyPr>
          <a:lstStyle/>
          <a:p>
            <a:r>
              <a:rPr lang="en-US" sz="2400"/>
              <a:t>Almost unitaries acts as “black-box”</a:t>
            </a:r>
          </a:p>
        </p:txBody>
      </p:sp>
      <mc:AlternateContent xmlns:mc="http://schemas.openxmlformats.org/markup-compatibility/2006">
        <mc:Choice xmlns:a14="http://schemas.microsoft.com/office/drawing/2010/main" Requires="a14">
          <p:sp>
            <p:nvSpPr>
              <p:cNvPr id="45" name="Rectangle 44">
                <a:extLst>
                  <a:ext uri="{FF2B5EF4-FFF2-40B4-BE49-F238E27FC236}">
                    <a16:creationId xmlns:a16="http://schemas.microsoft.com/office/drawing/2014/main" id="{097E3E3B-951C-0492-8CB1-A28573255538}"/>
                  </a:ext>
                </a:extLst>
              </p:cNvPr>
              <p:cNvSpPr/>
              <p:nvPr/>
            </p:nvSpPr>
            <p:spPr>
              <a:xfrm>
                <a:off x="669464" y="5198875"/>
                <a:ext cx="96249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sz="2400"/>
              </a:p>
            </p:txBody>
          </p:sp>
        </mc:Choice>
        <mc:Fallback>
          <p:sp>
            <p:nvSpPr>
              <p:cNvPr id="45" name="Rectangle 44">
                <a:extLst>
                  <a:ext uri="{FF2B5EF4-FFF2-40B4-BE49-F238E27FC236}">
                    <a16:creationId xmlns:a16="http://schemas.microsoft.com/office/drawing/2014/main" id="{097E3E3B-951C-0492-8CB1-A28573255538}"/>
                  </a:ext>
                </a:extLst>
              </p:cNvPr>
              <p:cNvSpPr>
                <a:spLocks noRot="1" noChangeAspect="1" noMove="1" noResize="1" noEditPoints="1" noAdjustHandles="1" noChangeArrowheads="1" noChangeShapeType="1" noTextEdit="1"/>
              </p:cNvSpPr>
              <p:nvPr/>
            </p:nvSpPr>
            <p:spPr>
              <a:xfrm>
                <a:off x="669464" y="5198875"/>
                <a:ext cx="962497" cy="867719"/>
              </a:xfrm>
              <a:prstGeom prst="rect">
                <a:avLst/>
              </a:prstGeom>
              <a:blipFill>
                <a:blip r:embed="rId10"/>
                <a:stretch>
                  <a:fillRect/>
                </a:stretch>
              </a:blipFill>
              <a:ln>
                <a:solidFill>
                  <a:schemeClr val="tx1"/>
                </a:solidFill>
              </a:ln>
            </p:spPr>
            <p:txBody>
              <a:bodyPr/>
              <a:lstStyle/>
              <a:p>
                <a:r>
                  <a:rPr lang="en-VN">
                    <a:noFill/>
                  </a:rPr>
                  <a:t> </a:t>
                </a:r>
              </a:p>
            </p:txBody>
          </p:sp>
        </mc:Fallback>
      </mc:AlternateContent>
      <p:sp>
        <p:nvSpPr>
          <p:cNvPr id="46" name="TextBox 45">
            <a:extLst>
              <a:ext uri="{FF2B5EF4-FFF2-40B4-BE49-F238E27FC236}">
                <a16:creationId xmlns:a16="http://schemas.microsoft.com/office/drawing/2014/main" id="{39B9A9D1-D8F5-0B63-FC65-A01283472309}"/>
              </a:ext>
            </a:extLst>
          </p:cNvPr>
          <p:cNvSpPr txBox="1"/>
          <p:nvPr/>
        </p:nvSpPr>
        <p:spPr>
          <a:xfrm>
            <a:off x="1720367" y="5193443"/>
            <a:ext cx="2858133" cy="830997"/>
          </a:xfrm>
          <a:prstGeom prst="rect">
            <a:avLst/>
          </a:prstGeom>
          <a:noFill/>
        </p:spPr>
        <p:txBody>
          <a:bodyPr wrap="square" rtlCol="0">
            <a:spAutoFit/>
          </a:bodyPr>
          <a:lstStyle/>
          <a:p>
            <a:r>
              <a:rPr lang="en-US" sz="2400"/>
              <a:t>only being extracted via measurement</a:t>
            </a:r>
          </a:p>
        </p:txBody>
      </p:sp>
      <mc:AlternateContent xmlns:mc="http://schemas.openxmlformats.org/markup-compatibility/2006">
        <mc:Choice xmlns:a14="http://schemas.microsoft.com/office/drawing/2010/main" Requires="a14">
          <p:sp>
            <p:nvSpPr>
              <p:cNvPr id="47" name="Rectangle 46">
                <a:extLst>
                  <a:ext uri="{FF2B5EF4-FFF2-40B4-BE49-F238E27FC236}">
                    <a16:creationId xmlns:a16="http://schemas.microsoft.com/office/drawing/2014/main" id="{4C68A094-880E-36BE-8106-0DE03924BBE4}"/>
                  </a:ext>
                </a:extLst>
              </p:cNvPr>
              <p:cNvSpPr/>
              <p:nvPr/>
            </p:nvSpPr>
            <p:spPr>
              <a:xfrm>
                <a:off x="6394480" y="4797746"/>
                <a:ext cx="4606545" cy="123362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oMath>
                  </m:oMathPara>
                </a14:m>
                <a:endParaRPr sz="2400"/>
              </a:p>
            </p:txBody>
          </p:sp>
        </mc:Choice>
        <mc:Fallback>
          <p:sp>
            <p:nvSpPr>
              <p:cNvPr id="47" name="Rectangle 46">
                <a:extLst>
                  <a:ext uri="{FF2B5EF4-FFF2-40B4-BE49-F238E27FC236}">
                    <a16:creationId xmlns:a16="http://schemas.microsoft.com/office/drawing/2014/main" id="{4C68A094-880E-36BE-8106-0DE03924BBE4}"/>
                  </a:ext>
                </a:extLst>
              </p:cNvPr>
              <p:cNvSpPr>
                <a:spLocks noRot="1" noChangeAspect="1" noMove="1" noResize="1" noEditPoints="1" noAdjustHandles="1" noChangeArrowheads="1" noChangeShapeType="1" noTextEdit="1"/>
              </p:cNvSpPr>
              <p:nvPr/>
            </p:nvSpPr>
            <p:spPr>
              <a:xfrm>
                <a:off x="6394480" y="4797746"/>
                <a:ext cx="4606545" cy="1233625"/>
              </a:xfrm>
              <a:prstGeom prst="rect">
                <a:avLst/>
              </a:prstGeom>
              <a:blipFill>
                <a:blip r:embed="rId11"/>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1" name="Rectangle 50">
                <a:extLst>
                  <a:ext uri="{FF2B5EF4-FFF2-40B4-BE49-F238E27FC236}">
                    <a16:creationId xmlns:a16="http://schemas.microsoft.com/office/drawing/2014/main" id="{E71C8142-D4BA-62EE-1406-A8495FCA1856}"/>
                  </a:ext>
                </a:extLst>
              </p:cNvPr>
              <p:cNvSpPr/>
              <p:nvPr/>
            </p:nvSpPr>
            <p:spPr>
              <a:xfrm>
                <a:off x="6809904" y="4993066"/>
                <a:ext cx="96249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𝑉</m:t>
                      </m:r>
                      <m:d>
                        <m:dPr>
                          <m:ctrlPr>
                            <a:rPr lang="en-US" sz="2400" i="1">
                              <a:solidFill>
                                <a:schemeClr val="tx1"/>
                              </a:solidFill>
                              <a:latin typeface="Cambria Math" panose="02040503050406030204" pitchFamily="18" charset="0"/>
                            </a:rPr>
                          </m:ctrlPr>
                        </m:dPr>
                        <m:e>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𝜽</m:t>
                              </m:r>
                            </m:e>
                            <m:sup>
                              <m:r>
                                <a:rPr lang="en-US" sz="2400" b="1" i="1">
                                  <a:solidFill>
                                    <a:schemeClr val="tx1"/>
                                  </a:solidFill>
                                  <a:latin typeface="Cambria Math" panose="02040503050406030204" pitchFamily="18" charset="0"/>
                                </a:rPr>
                                <m:t>∗</m:t>
                              </m:r>
                            </m:sup>
                          </m:sSup>
                        </m:e>
                      </m:d>
                    </m:oMath>
                  </m:oMathPara>
                </a14:m>
                <a:endParaRPr sz="2400"/>
              </a:p>
            </p:txBody>
          </p:sp>
        </mc:Choice>
        <mc:Fallback>
          <p:sp>
            <p:nvSpPr>
              <p:cNvPr id="51" name="Rectangle 50">
                <a:extLst>
                  <a:ext uri="{FF2B5EF4-FFF2-40B4-BE49-F238E27FC236}">
                    <a16:creationId xmlns:a16="http://schemas.microsoft.com/office/drawing/2014/main" id="{E71C8142-D4BA-62EE-1406-A8495FCA1856}"/>
                  </a:ext>
                </a:extLst>
              </p:cNvPr>
              <p:cNvSpPr>
                <a:spLocks noRot="1" noChangeAspect="1" noMove="1" noResize="1" noEditPoints="1" noAdjustHandles="1" noChangeArrowheads="1" noChangeShapeType="1" noTextEdit="1"/>
              </p:cNvSpPr>
              <p:nvPr/>
            </p:nvSpPr>
            <p:spPr>
              <a:xfrm>
                <a:off x="6809904" y="4993066"/>
                <a:ext cx="962497" cy="867719"/>
              </a:xfrm>
              <a:prstGeom prst="rect">
                <a:avLst/>
              </a:prstGeom>
              <a:blipFill>
                <a:blip r:embed="rId12"/>
                <a:stretch>
                  <a:fillRect l="-11538"/>
                </a:stretch>
              </a:blipFill>
              <a:ln>
                <a:solidFill>
                  <a:schemeClr val="tx1"/>
                </a:solidFill>
              </a:ln>
            </p:spPr>
            <p:txBody>
              <a:bodyPr/>
              <a:lstStyle/>
              <a:p>
                <a:r>
                  <a:rPr lang="en-VN">
                    <a:noFill/>
                  </a:rPr>
                  <a:t> </a:t>
                </a:r>
              </a:p>
            </p:txBody>
          </p:sp>
        </mc:Fallback>
      </mc:AlternateContent>
      <p:sp>
        <p:nvSpPr>
          <p:cNvPr id="58" name="TextBox 57">
            <a:extLst>
              <a:ext uri="{FF2B5EF4-FFF2-40B4-BE49-F238E27FC236}">
                <a16:creationId xmlns:a16="http://schemas.microsoft.com/office/drawing/2014/main" id="{C1D7913C-7790-7219-BC8F-16A005AC28F6}"/>
              </a:ext>
            </a:extLst>
          </p:cNvPr>
          <p:cNvSpPr txBox="1"/>
          <p:nvPr/>
        </p:nvSpPr>
        <p:spPr>
          <a:xfrm>
            <a:off x="6394479" y="5127667"/>
            <a:ext cx="415424" cy="461665"/>
          </a:xfrm>
          <a:prstGeom prst="rect">
            <a:avLst/>
          </a:prstGeom>
          <a:noFill/>
        </p:spPr>
        <p:txBody>
          <a:bodyPr wrap="square" rtlCol="0">
            <a:spAutoFit/>
          </a:bodyPr>
          <a:lstStyle/>
          <a:p>
            <a:r>
              <a:rPr lang="en-US" sz="2400"/>
              <a:t>If</a:t>
            </a:r>
            <a:endParaRPr lang="vi-VN" sz="2400"/>
          </a:p>
        </p:txBody>
      </p: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C8DEBB59-B3A9-497F-DCC5-A86166F2186C}"/>
                  </a:ext>
                </a:extLst>
              </p:cNvPr>
              <p:cNvSpPr txBox="1"/>
              <p:nvPr/>
            </p:nvSpPr>
            <p:spPr>
              <a:xfrm>
                <a:off x="7705814" y="5155673"/>
                <a:ext cx="56409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p>
            </p:txBody>
          </p:sp>
        </mc:Choice>
        <mc:Fallback>
          <p:sp>
            <p:nvSpPr>
              <p:cNvPr id="60" name="TextBox 59">
                <a:extLst>
                  <a:ext uri="{FF2B5EF4-FFF2-40B4-BE49-F238E27FC236}">
                    <a16:creationId xmlns:a16="http://schemas.microsoft.com/office/drawing/2014/main" id="{C8DEBB59-B3A9-497F-DCC5-A86166F2186C}"/>
                  </a:ext>
                </a:extLst>
              </p:cNvPr>
              <p:cNvSpPr txBox="1">
                <a:spLocks noRot="1" noChangeAspect="1" noMove="1" noResize="1" noEditPoints="1" noAdjustHandles="1" noChangeArrowheads="1" noChangeShapeType="1" noTextEdit="1"/>
              </p:cNvSpPr>
              <p:nvPr/>
            </p:nvSpPr>
            <p:spPr>
              <a:xfrm>
                <a:off x="7705814" y="5155673"/>
                <a:ext cx="564093" cy="461665"/>
              </a:xfrm>
              <a:prstGeom prst="rect">
                <a:avLst/>
              </a:prstGeom>
              <a:blipFill>
                <a:blip r:embed="rId13"/>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684FA5E9-AFF6-391F-049B-AF0E2F0AE691}"/>
                  </a:ext>
                </a:extLst>
              </p:cNvPr>
              <p:cNvSpPr txBox="1"/>
              <p:nvPr/>
            </p:nvSpPr>
            <p:spPr>
              <a:xfrm>
                <a:off x="9200728" y="4934481"/>
                <a:ext cx="1738208" cy="954300"/>
              </a:xfrm>
              <a:prstGeom prst="rect">
                <a:avLst/>
              </a:prstGeom>
              <a:noFill/>
            </p:spPr>
            <p:txBody>
              <a:bodyPr wrap="square" rtlCol="0">
                <a:spAutoFit/>
              </a:bodyPr>
              <a:lstStyle/>
              <a:p>
                <a:r>
                  <a:rPr lang="en-US" sz="1867"/>
                  <a:t>we know structure of </a:t>
                </a:r>
                <a14:m>
                  <m:oMath xmlns:m="http://schemas.openxmlformats.org/officeDocument/2006/math">
                    <m:r>
                      <a:rPr lang="en-US" sz="1867" i="1">
                        <a:latin typeface="Cambria Math" panose="02040503050406030204" pitchFamily="18" charset="0"/>
                      </a:rPr>
                      <m:t>𝑈</m:t>
                    </m:r>
                  </m:oMath>
                </a14:m>
                <a:r>
                  <a:rPr lang="en-US" sz="1867"/>
                  <a:t> via </a:t>
                </a:r>
                <a14:m>
                  <m:oMath xmlns:m="http://schemas.openxmlformats.org/officeDocument/2006/math">
                    <m:r>
                      <a:rPr lang="en-US" sz="1867" i="1">
                        <a:latin typeface="Cambria Math" panose="02040503050406030204" pitchFamily="18" charset="0"/>
                      </a:rPr>
                      <m:t>𝑉</m:t>
                    </m:r>
                    <m:d>
                      <m:dPr>
                        <m:ctrlPr>
                          <a:rPr lang="en-US" sz="1867" i="1">
                            <a:latin typeface="Cambria Math" panose="02040503050406030204" pitchFamily="18" charset="0"/>
                          </a:rPr>
                        </m:ctrlPr>
                      </m:dPr>
                      <m:e>
                        <m:sSup>
                          <m:sSupPr>
                            <m:ctrlPr>
                              <a:rPr lang="en-US" sz="1867" i="1">
                                <a:latin typeface="Cambria Math" panose="02040503050406030204" pitchFamily="18" charset="0"/>
                              </a:rPr>
                            </m:ctrlPr>
                          </m:sSupPr>
                          <m:e>
                            <m:r>
                              <a:rPr lang="en-US" sz="1867" b="1" i="1">
                                <a:latin typeface="Cambria Math" panose="02040503050406030204" pitchFamily="18" charset="0"/>
                              </a:rPr>
                              <m:t>𝜽</m:t>
                            </m:r>
                          </m:e>
                          <m:sup>
                            <m:r>
                              <a:rPr lang="en-US" sz="1867" i="1">
                                <a:latin typeface="Cambria Math" panose="02040503050406030204" pitchFamily="18" charset="0"/>
                              </a:rPr>
                              <m:t>∗</m:t>
                            </m:r>
                          </m:sup>
                        </m:sSup>
                      </m:e>
                    </m:d>
                  </m:oMath>
                </a14:m>
                <a:endParaRPr lang="vi-VN" sz="1867"/>
              </a:p>
            </p:txBody>
          </p:sp>
        </mc:Choice>
        <mc:Fallback>
          <p:sp>
            <p:nvSpPr>
              <p:cNvPr id="61" name="TextBox 60">
                <a:extLst>
                  <a:ext uri="{FF2B5EF4-FFF2-40B4-BE49-F238E27FC236}">
                    <a16:creationId xmlns:a16="http://schemas.microsoft.com/office/drawing/2014/main" id="{684FA5E9-AFF6-391F-049B-AF0E2F0AE691}"/>
                  </a:ext>
                </a:extLst>
              </p:cNvPr>
              <p:cNvSpPr txBox="1">
                <a:spLocks noRot="1" noChangeAspect="1" noMove="1" noResize="1" noEditPoints="1" noAdjustHandles="1" noChangeArrowheads="1" noChangeShapeType="1" noTextEdit="1"/>
              </p:cNvSpPr>
              <p:nvPr/>
            </p:nvSpPr>
            <p:spPr>
              <a:xfrm>
                <a:off x="9200728" y="4934481"/>
                <a:ext cx="1738208" cy="954300"/>
              </a:xfrm>
              <a:prstGeom prst="rect">
                <a:avLst/>
              </a:prstGeom>
              <a:blipFill>
                <a:blip r:embed="rId14"/>
                <a:stretch>
                  <a:fillRect l="-2899" t="-2632" b="-921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2" name="Rectangle 61">
                <a:extLst>
                  <a:ext uri="{FF2B5EF4-FFF2-40B4-BE49-F238E27FC236}">
                    <a16:creationId xmlns:a16="http://schemas.microsoft.com/office/drawing/2014/main" id="{205CC498-7EC8-9786-CC02-67211050BE18}"/>
                  </a:ext>
                </a:extLst>
              </p:cNvPr>
              <p:cNvSpPr/>
              <p:nvPr/>
            </p:nvSpPr>
            <p:spPr>
              <a:xfrm>
                <a:off x="8203321" y="4993066"/>
                <a:ext cx="962497"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sz="2400"/>
              </a:p>
            </p:txBody>
          </p:sp>
        </mc:Choice>
        <mc:Fallback>
          <p:sp>
            <p:nvSpPr>
              <p:cNvPr id="62" name="Rectangle 61">
                <a:extLst>
                  <a:ext uri="{FF2B5EF4-FFF2-40B4-BE49-F238E27FC236}">
                    <a16:creationId xmlns:a16="http://schemas.microsoft.com/office/drawing/2014/main" id="{205CC498-7EC8-9786-CC02-67211050BE18}"/>
                  </a:ext>
                </a:extLst>
              </p:cNvPr>
              <p:cNvSpPr>
                <a:spLocks noRot="1" noChangeAspect="1" noMove="1" noResize="1" noEditPoints="1" noAdjustHandles="1" noChangeArrowheads="1" noChangeShapeType="1" noTextEdit="1"/>
              </p:cNvSpPr>
              <p:nvPr/>
            </p:nvSpPr>
            <p:spPr>
              <a:xfrm>
                <a:off x="8203321" y="4993066"/>
                <a:ext cx="962497" cy="867719"/>
              </a:xfrm>
              <a:prstGeom prst="rect">
                <a:avLst/>
              </a:prstGeom>
              <a:blipFill>
                <a:blip r:embed="rId15"/>
                <a:stretch>
                  <a:fillRect/>
                </a:stretch>
              </a:blipFill>
              <a:ln>
                <a:solidFill>
                  <a:schemeClr val="tx1"/>
                </a:solidFill>
              </a:ln>
            </p:spPr>
            <p:txBody>
              <a:bodyPr/>
              <a:lstStyle/>
              <a:p>
                <a:r>
                  <a:rPr lang="en-VN">
                    <a:noFill/>
                  </a:rPr>
                  <a:t> </a:t>
                </a:r>
              </a:p>
            </p:txBody>
          </p:sp>
        </mc:Fallback>
      </mc:AlternateContent>
    </p:spTree>
    <p:extLst>
      <p:ext uri="{BB962C8B-B14F-4D97-AF65-F5344CB8AC3E}">
        <p14:creationId xmlns:p14="http://schemas.microsoft.com/office/powerpoint/2010/main" val="1068994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82649-CDD4-0022-1C17-9C8C06A987E3}"/>
              </a:ext>
            </a:extLst>
          </p:cNvPr>
          <p:cNvSpPr>
            <a:spLocks noGrp="1"/>
          </p:cNvSpPr>
          <p:nvPr>
            <p:ph type="title"/>
          </p:nvPr>
        </p:nvSpPr>
        <p:spPr>
          <a:xfrm>
            <a:off x="838200" y="0"/>
            <a:ext cx="8920544" cy="1472864"/>
          </a:xfrm>
        </p:spPr>
        <p:txBody>
          <a:bodyPr>
            <a:normAutofit/>
          </a:bodyPr>
          <a:lstStyle/>
          <a:p>
            <a:r>
              <a:rPr lang="en-US"/>
              <a:t>1.7. Additional informations</a:t>
            </a:r>
            <a:br>
              <a:rPr lang="en-US"/>
            </a:br>
            <a:r>
              <a:rPr lang="en-US" sz="2667"/>
              <a:t>Can we apply classical techniques into quantum optimization?</a:t>
            </a:r>
            <a:endParaRPr lang="vi-VN" sz="2667"/>
          </a:p>
        </p:txBody>
      </p:sp>
      <p:sp>
        <p:nvSpPr>
          <p:cNvPr id="4" name="Slide Number Placeholder 3">
            <a:extLst>
              <a:ext uri="{FF2B5EF4-FFF2-40B4-BE49-F238E27FC236}">
                <a16:creationId xmlns:a16="http://schemas.microsoft.com/office/drawing/2014/main" id="{671DD6A6-9418-A940-7EC4-AFCCF1C7E3C0}"/>
              </a:ext>
            </a:extLst>
          </p:cNvPr>
          <p:cNvSpPr>
            <a:spLocks noGrp="1"/>
          </p:cNvSpPr>
          <p:nvPr>
            <p:ph type="sldNum" sz="quarter" idx="12"/>
          </p:nvPr>
        </p:nvSpPr>
        <p:spPr>
          <a:xfrm>
            <a:off x="10820400" y="5825775"/>
            <a:ext cx="533400" cy="365125"/>
          </a:xfrm>
        </p:spPr>
        <p:txBody>
          <a:bodyPr/>
          <a:lstStyle/>
          <a:p>
            <a:fld id="{6A45828D-F580-42DE-B77E-860980F07F32}" type="slidenum">
              <a:rPr lang="vi-VN" smtClean="0"/>
              <a:t>17</a:t>
            </a:fld>
            <a:endParaRPr lang="vi-VN"/>
          </a:p>
        </p:txBody>
      </p:sp>
      <p:pic>
        <p:nvPicPr>
          <p:cNvPr id="6" name="Picture 5">
            <a:extLst>
              <a:ext uri="{FF2B5EF4-FFF2-40B4-BE49-F238E27FC236}">
                <a16:creationId xmlns:a16="http://schemas.microsoft.com/office/drawing/2014/main" id="{B0BD31EB-8CE8-DEC3-A913-40F648A04D85}"/>
              </a:ext>
            </a:extLst>
          </p:cNvPr>
          <p:cNvPicPr>
            <a:picLocks noChangeAspect="1"/>
          </p:cNvPicPr>
          <p:nvPr/>
        </p:nvPicPr>
        <p:blipFill>
          <a:blip r:embed="rId2"/>
          <a:stretch>
            <a:fillRect/>
          </a:stretch>
        </p:blipFill>
        <p:spPr>
          <a:xfrm>
            <a:off x="969668" y="3533424"/>
            <a:ext cx="6787581" cy="2794000"/>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85D2A25-05BE-A1A6-4E6A-16A6DED85D88}"/>
                  </a:ext>
                </a:extLst>
              </p:cNvPr>
              <p:cNvSpPr txBox="1"/>
              <p:nvPr/>
            </p:nvSpPr>
            <p:spPr>
              <a:xfrm>
                <a:off x="838199" y="1181674"/>
                <a:ext cx="10738556" cy="2405402"/>
              </a:xfrm>
              <a:prstGeom prst="rect">
                <a:avLst/>
              </a:prstGeom>
              <a:noFill/>
            </p:spPr>
            <p:txBody>
              <a:bodyPr wrap="square">
                <a:spAutoFit/>
              </a:bodyPr>
              <a:lstStyle/>
              <a:p>
                <a:r>
                  <a:rPr lang="en-US" sz="2400"/>
                  <a:t>Consider a set of </a:t>
                </a:r>
                <a14:m>
                  <m:oMath xmlns:m="http://schemas.openxmlformats.org/officeDocument/2006/math">
                    <m:r>
                      <a:rPr lang="en-US" sz="2400" i="1">
                        <a:latin typeface="Cambria Math" panose="02040503050406030204" pitchFamily="18" charset="0"/>
                      </a:rPr>
                      <m:t>𝐾</m:t>
                    </m:r>
                  </m:oMath>
                </a14:m>
                <a:r>
                  <a:rPr lang="en-US" sz="2400"/>
                  <a:t> optimization targets denoted as </a:t>
                </a:r>
                <a14:m>
                  <m:oMath xmlns:m="http://schemas.openxmlformats.org/officeDocument/2006/math">
                    <m:sSub>
                      <m:sSubPr>
                        <m:ctrlPr>
                          <a:rPr lang="vi-VN"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vi-VN"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2</m:t>
                        </m:r>
                      </m:sub>
                    </m:sSub>
                    <m:r>
                      <a:rPr lang="en-US" sz="2400" i="1">
                        <a:latin typeface="Cambria Math" panose="02040503050406030204" pitchFamily="18" charset="0"/>
                      </a:rPr>
                      <m:t>, </m:t>
                    </m:r>
                    <m:r>
                      <a:rPr lang="vi-VN" sz="2400" i="1">
                        <a:latin typeface="Cambria Math" panose="02040503050406030204" pitchFamily="18" charset="0"/>
                      </a:rPr>
                      <m:t>…,</m:t>
                    </m:r>
                    <m:sSub>
                      <m:sSubPr>
                        <m:ctrlPr>
                          <a:rPr lang="vi-VN"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𝐾</m:t>
                        </m:r>
                      </m:sub>
                    </m:sSub>
                    <m:r>
                      <a:rPr lang="en-US" sz="2400" i="1">
                        <a:latin typeface="Cambria Math" panose="02040503050406030204" pitchFamily="18" charset="0"/>
                      </a:rPr>
                      <m:t> </m:t>
                    </m:r>
                  </m:oMath>
                </a14:m>
                <a:r>
                  <a:rPr lang="en-US" sz="2400"/>
                  <a:t>, all defined over the same search space </a:t>
                </a:r>
                <a14:m>
                  <m:oMath xmlns:m="http://schemas.openxmlformats.org/officeDocument/2006/math">
                    <m:r>
                      <a:rPr lang="en-US" sz="2400" i="1">
                        <a:latin typeface="Cambria Math" panose="02040503050406030204" pitchFamily="18" charset="0"/>
                      </a:rPr>
                      <m:t>𝑆</m:t>
                    </m:r>
                  </m:oMath>
                </a14:m>
                <a:r>
                  <a:rPr lang="en-US" sz="2400"/>
                  <a:t>. Each target </a:t>
                </a:r>
                <a14:m>
                  <m:oMath xmlns:m="http://schemas.openxmlformats.org/officeDocument/2006/math">
                    <m:sSub>
                      <m:sSubPr>
                        <m:ctrlPr>
                          <a:rPr lang="vi-VN"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𝑘</m:t>
                        </m:r>
                      </m:sub>
                    </m:sSub>
                  </m:oMath>
                </a14:m>
                <a:r>
                  <a:rPr lang="en-US" sz="2400"/>
                  <a:t> is associated with its own cost function:</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𝐶</m:t>
                      </m:r>
                      <m:d>
                        <m:dPr>
                          <m:ctrlPr>
                            <a:rPr lang="en-US" sz="2400" i="1">
                              <a:latin typeface="Cambria Math" panose="02040503050406030204" pitchFamily="18" charset="0"/>
                            </a:rPr>
                          </m:ctrlPr>
                        </m:dPr>
                        <m:e>
                          <m:sSub>
                            <m:sSubPr>
                              <m:ctrlPr>
                                <a:rPr lang="vi-VN" sz="2400" i="1">
                                  <a:latin typeface="Cambria Math" panose="02040503050406030204" pitchFamily="18" charset="0"/>
                                </a:rPr>
                              </m:ctrlPr>
                            </m:sSubPr>
                            <m:e>
                              <m:r>
                                <a:rPr lang="vi-VN" sz="2400" i="1">
                                  <a:latin typeface="Cambria Math" panose="02040503050406030204" pitchFamily="18" charset="0"/>
                                </a:rPr>
                                <m:t>𝜃</m:t>
                              </m:r>
                            </m:e>
                            <m:sub>
                              <m:d>
                                <m:dPr>
                                  <m:ctrlPr>
                                    <a:rPr lang="vi-VN" sz="2400" i="1">
                                      <a:latin typeface="Cambria Math" panose="02040503050406030204" pitchFamily="18" charset="0"/>
                                    </a:rPr>
                                  </m:ctrlPr>
                                </m:dPr>
                                <m:e>
                                  <m:r>
                                    <a:rPr lang="vi-VN" sz="2400" i="1">
                                      <a:latin typeface="Cambria Math" panose="02040503050406030204" pitchFamily="18" charset="0"/>
                                    </a:rPr>
                                    <m:t>𝑘</m:t>
                                  </m:r>
                                </m:e>
                              </m:d>
                            </m:sub>
                          </m:sSub>
                        </m:e>
                      </m:d>
                      <m:r>
                        <a:rPr lang="en-US" sz="2400" i="1">
                          <a:latin typeface="Cambria Math" panose="02040503050406030204" pitchFamily="18" charset="0"/>
                        </a:rPr>
                        <m:t>: </m:t>
                      </m:r>
                      <m:sSup>
                        <m:sSupPr>
                          <m:ctrlPr>
                            <a:rPr lang="vi-VN" sz="2400" i="1">
                              <a:latin typeface="Cambria Math" panose="02040503050406030204" pitchFamily="18" charset="0"/>
                            </a:rPr>
                          </m:ctrlPr>
                        </m:sSupPr>
                        <m:e>
                          <m:r>
                            <a:rPr lang="en-US" sz="2400" i="1">
                              <a:latin typeface="Cambria Math" panose="02040503050406030204" pitchFamily="18" charset="0"/>
                            </a:rPr>
                            <m:t>𝑅</m:t>
                          </m:r>
                        </m:e>
                        <m:sup>
                          <m:r>
                            <a:rPr lang="en-US" sz="2400" i="1">
                              <a:latin typeface="Cambria Math" panose="02040503050406030204" pitchFamily="18" charset="0"/>
                            </a:rPr>
                            <m:t>𝑚</m:t>
                          </m:r>
                        </m:sup>
                      </m:sSup>
                      <m:r>
                        <a:rPr lang="en-US" sz="2400" i="1">
                          <a:latin typeface="Cambria Math" panose="02040503050406030204" pitchFamily="18" charset="0"/>
                        </a:rPr>
                        <m:t> → </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0, 1</m:t>
                          </m:r>
                        </m:e>
                      </m:d>
                    </m:oMath>
                  </m:oMathPara>
                </a14:m>
                <a:endParaRPr lang="vi-VN" sz="2400" i="1">
                  <a:latin typeface="Cambria Math" panose="02040503050406030204" pitchFamily="18" charset="0"/>
                </a:endParaRPr>
              </a:p>
              <a:p>
                <a:r>
                  <a:rPr lang="en-US" sz="2400"/>
                  <a:t>The goal of multi-target optimization is to find a set of solutions:</a:t>
                </a:r>
                <a:endParaRPr lang="vi-VN" sz="24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sSubSup>
                        <m:sSubSupPr>
                          <m:ctrlPr>
                            <a:rPr lang="vi-VN" sz="2400" i="1">
                              <a:latin typeface="Cambria Math" panose="02040503050406030204" pitchFamily="18" charset="0"/>
                            </a:rPr>
                          </m:ctrlPr>
                        </m:sSubSupPr>
                        <m:e>
                          <m:r>
                            <a:rPr lang="vi-VN" sz="2400" i="1">
                              <a:latin typeface="Cambria Math" panose="02040503050406030204" pitchFamily="18" charset="0"/>
                            </a:rPr>
                            <m:t>𝜃</m:t>
                          </m:r>
                        </m:e>
                        <m:sub>
                          <m:d>
                            <m:dPr>
                              <m:ctrlPr>
                                <a:rPr lang="vi-VN" sz="2400" i="1">
                                  <a:latin typeface="Cambria Math" panose="02040503050406030204" pitchFamily="18" charset="0"/>
                                </a:rPr>
                              </m:ctrlPr>
                            </m:dPr>
                            <m:e>
                              <m:r>
                                <a:rPr lang="vi-VN" sz="2400" i="1">
                                  <a:latin typeface="Cambria Math" panose="02040503050406030204" pitchFamily="18" charset="0"/>
                                </a:rPr>
                                <m:t>1</m:t>
                              </m:r>
                            </m:e>
                          </m:d>
                        </m:sub>
                        <m:sup>
                          <m:r>
                            <a:rPr lang="vi-VN" sz="2400" i="1">
                              <a:latin typeface="Cambria Math" panose="02040503050406030204" pitchFamily="18" charset="0"/>
                            </a:rPr>
                            <m:t>∗</m:t>
                          </m:r>
                        </m:sup>
                      </m:sSubSup>
                      <m:r>
                        <a:rPr lang="vi-VN" sz="2400" i="1">
                          <a:latin typeface="Cambria Math" panose="02040503050406030204" pitchFamily="18" charset="0"/>
                        </a:rPr>
                        <m:t>,</m:t>
                      </m:r>
                      <m:sSubSup>
                        <m:sSubSupPr>
                          <m:ctrlPr>
                            <a:rPr lang="vi-VN" sz="2400" i="1">
                              <a:latin typeface="Cambria Math" panose="02040503050406030204" pitchFamily="18" charset="0"/>
                            </a:rPr>
                          </m:ctrlPr>
                        </m:sSubSupPr>
                        <m:e>
                          <m:r>
                            <a:rPr lang="vi-VN" sz="2400" i="1">
                              <a:latin typeface="Cambria Math" panose="02040503050406030204" pitchFamily="18" charset="0"/>
                            </a:rPr>
                            <m:t>𝜃</m:t>
                          </m:r>
                        </m:e>
                        <m:sub>
                          <m:d>
                            <m:dPr>
                              <m:ctrlPr>
                                <a:rPr lang="vi-VN" sz="2400" i="1">
                                  <a:latin typeface="Cambria Math" panose="02040503050406030204" pitchFamily="18" charset="0"/>
                                </a:rPr>
                              </m:ctrlPr>
                            </m:dPr>
                            <m:e>
                              <m:r>
                                <a:rPr lang="vi-VN" sz="2400" i="1">
                                  <a:latin typeface="Cambria Math" panose="02040503050406030204" pitchFamily="18" charset="0"/>
                                </a:rPr>
                                <m:t>2</m:t>
                              </m:r>
                            </m:e>
                          </m:d>
                        </m:sub>
                        <m:sup>
                          <m:r>
                            <a:rPr lang="vi-VN" sz="2400" i="1">
                              <a:latin typeface="Cambria Math" panose="02040503050406030204" pitchFamily="18" charset="0"/>
                            </a:rPr>
                            <m:t>∗</m:t>
                          </m:r>
                        </m:sup>
                      </m:sSubSup>
                      <m:r>
                        <a:rPr lang="vi-VN" sz="2400" i="1">
                          <a:latin typeface="Cambria Math" panose="02040503050406030204" pitchFamily="18" charset="0"/>
                        </a:rPr>
                        <m:t>,…</m:t>
                      </m:r>
                      <m:sSubSup>
                        <m:sSubSupPr>
                          <m:ctrlPr>
                            <a:rPr lang="vi-VN" sz="2400" i="1">
                              <a:latin typeface="Cambria Math" panose="02040503050406030204" pitchFamily="18" charset="0"/>
                            </a:rPr>
                          </m:ctrlPr>
                        </m:sSubSupPr>
                        <m:e>
                          <m:r>
                            <a:rPr lang="vi-VN" sz="2400" i="1">
                              <a:latin typeface="Cambria Math" panose="02040503050406030204" pitchFamily="18" charset="0"/>
                            </a:rPr>
                            <m:t>𝜃</m:t>
                          </m:r>
                        </m:e>
                        <m:sub>
                          <m:d>
                            <m:dPr>
                              <m:ctrlPr>
                                <a:rPr lang="vi-VN" sz="2400" i="1">
                                  <a:latin typeface="Cambria Math" panose="02040503050406030204" pitchFamily="18" charset="0"/>
                                </a:rPr>
                              </m:ctrlPr>
                            </m:dPr>
                            <m:e>
                              <m:r>
                                <a:rPr lang="vi-VN" sz="2400" i="1">
                                  <a:latin typeface="Cambria Math" panose="02040503050406030204" pitchFamily="18" charset="0"/>
                                </a:rPr>
                                <m:t>𝐾</m:t>
                              </m:r>
                            </m:e>
                          </m:d>
                        </m:sub>
                        <m:sup>
                          <m:r>
                            <a:rPr lang="vi-VN" sz="2400" i="1">
                              <a:latin typeface="Cambria Math" panose="02040503050406030204" pitchFamily="18" charset="0"/>
                            </a:rPr>
                            <m:t>∗</m:t>
                          </m:r>
                        </m:sup>
                      </m:sSubSup>
                      <m:r>
                        <a:rPr lang="vi-VN" sz="2400" i="1">
                          <a:latin typeface="Cambria Math" panose="02040503050406030204" pitchFamily="18" charset="0"/>
                        </a:rPr>
                        <m:t>}</m:t>
                      </m:r>
                    </m:oMath>
                  </m:oMathPara>
                </a14:m>
                <a:endParaRPr lang="vi-VN" sz="2400" i="1">
                  <a:latin typeface="Cambria Math" panose="02040503050406030204" pitchFamily="18" charset="0"/>
                </a:endParaRPr>
              </a:p>
            </p:txBody>
          </p:sp>
        </mc:Choice>
        <mc:Fallback>
          <p:sp>
            <p:nvSpPr>
              <p:cNvPr id="10" name="TextBox 9">
                <a:extLst>
                  <a:ext uri="{FF2B5EF4-FFF2-40B4-BE49-F238E27FC236}">
                    <a16:creationId xmlns:a16="http://schemas.microsoft.com/office/drawing/2014/main" id="{585D2A25-05BE-A1A6-4E6A-16A6DED85D88}"/>
                  </a:ext>
                </a:extLst>
              </p:cNvPr>
              <p:cNvSpPr txBox="1">
                <a:spLocks noRot="1" noChangeAspect="1" noMove="1" noResize="1" noEditPoints="1" noAdjustHandles="1" noChangeArrowheads="1" noChangeShapeType="1" noTextEdit="1"/>
              </p:cNvSpPr>
              <p:nvPr/>
            </p:nvSpPr>
            <p:spPr>
              <a:xfrm>
                <a:off x="838199" y="1181674"/>
                <a:ext cx="10738556" cy="2405402"/>
              </a:xfrm>
              <a:prstGeom prst="rect">
                <a:avLst/>
              </a:prstGeom>
              <a:blipFill>
                <a:blip r:embed="rId3"/>
                <a:stretch>
                  <a:fillRect l="-826" t="-2105" r="-945" b="-526"/>
                </a:stretch>
              </a:blipFill>
            </p:spPr>
            <p:txBody>
              <a:bodyPr/>
              <a:lstStyle/>
              <a:p>
                <a:r>
                  <a:rPr lang="en-VN">
                    <a:noFill/>
                  </a:rPr>
                  <a:t> </a:t>
                </a:r>
              </a:p>
            </p:txBody>
          </p:sp>
        </mc:Fallback>
      </mc:AlternateContent>
      <p:pic>
        <p:nvPicPr>
          <p:cNvPr id="11" name="Picture 10" descr="A graph of different colored lines&#10;&#10;AI-generated content may be incorrect.">
            <a:extLst>
              <a:ext uri="{FF2B5EF4-FFF2-40B4-BE49-F238E27FC236}">
                <a16:creationId xmlns:a16="http://schemas.microsoft.com/office/drawing/2014/main" id="{A9143AE2-AC11-D8DA-B4F9-664DA4A586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57250" y="3096837"/>
            <a:ext cx="3990191" cy="3259163"/>
          </a:xfrm>
          <a:prstGeom prst="rect">
            <a:avLst/>
          </a:prstGeom>
        </p:spPr>
      </p:pic>
      <p:sp>
        <p:nvSpPr>
          <p:cNvPr id="13" name="TextBox 12">
            <a:extLst>
              <a:ext uri="{FF2B5EF4-FFF2-40B4-BE49-F238E27FC236}">
                <a16:creationId xmlns:a16="http://schemas.microsoft.com/office/drawing/2014/main" id="{162151A2-537A-8057-4BE3-62D7B393A5FF}"/>
              </a:ext>
            </a:extLst>
          </p:cNvPr>
          <p:cNvSpPr txBox="1"/>
          <p:nvPr/>
        </p:nvSpPr>
        <p:spPr>
          <a:xfrm>
            <a:off x="838199" y="6322706"/>
            <a:ext cx="9903108" cy="502573"/>
          </a:xfrm>
          <a:prstGeom prst="rect">
            <a:avLst/>
          </a:prstGeom>
          <a:noFill/>
        </p:spPr>
        <p:txBody>
          <a:bodyPr wrap="square">
            <a:spAutoFit/>
          </a:bodyPr>
          <a:lstStyle/>
          <a:p>
            <a:r>
              <a:rPr lang="en-US" sz="1333" b="1">
                <a:solidFill>
                  <a:srgbClr val="222222"/>
                </a:solidFill>
                <a:latin typeface="Calibri" panose="020F0502020204030204" pitchFamily="34" charset="0"/>
                <a:ea typeface="Calibri" panose="020F0502020204030204" pitchFamily="34" charset="0"/>
                <a:cs typeface="Calibri" panose="020F0502020204030204" pitchFamily="34" charset="0"/>
              </a:rPr>
              <a:t>[1.41]</a:t>
            </a:r>
            <a:r>
              <a:rPr lang="en-US" sz="1333">
                <a:solidFill>
                  <a:srgbClr val="222222"/>
                </a:solidFill>
                <a:latin typeface="Calibri" panose="020F0502020204030204" pitchFamily="34" charset="0"/>
                <a:ea typeface="Calibri" panose="020F0502020204030204" pitchFamily="34" charset="0"/>
                <a:cs typeface="Calibri" panose="020F0502020204030204" pitchFamily="34" charset="0"/>
              </a:rPr>
              <a:t> </a:t>
            </a:r>
            <a:r>
              <a:rPr lang="vi-VN" sz="1333">
                <a:solidFill>
                  <a:srgbClr val="222222"/>
                </a:solidFill>
                <a:latin typeface="Calibri" panose="020F0502020204030204" pitchFamily="34" charset="0"/>
                <a:ea typeface="Calibri" panose="020F0502020204030204" pitchFamily="34" charset="0"/>
                <a:cs typeface="Calibri" panose="020F0502020204030204" pitchFamily="34" charset="0"/>
              </a:rPr>
              <a:t>Hai, V. T., Doanh, B. C., Duong, L. V. T., Luan, P. H., &amp; Nakashima, Y. (2025). Transfer-Based Strategies for Multi-Target Quantum Optimization. </a:t>
            </a:r>
            <a:r>
              <a:rPr lang="en-US" sz="1333" i="1">
                <a:solidFill>
                  <a:srgbClr val="222222"/>
                </a:solidFill>
                <a:latin typeface="Calibri" panose="020F0502020204030204" pitchFamily="34" charset="0"/>
                <a:ea typeface="Calibri" panose="020F0502020204030204" pitchFamily="34" charset="0"/>
                <a:cs typeface="Calibri" panose="020F0502020204030204" pitchFamily="34" charset="0"/>
              </a:rPr>
              <a:t>CANDAR 2025.</a:t>
            </a:r>
            <a:endParaRPr lang="vi-VN" sz="1333">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3">
            <a:extLst>
              <a:ext uri="{FF2B5EF4-FFF2-40B4-BE49-F238E27FC236}">
                <a16:creationId xmlns:a16="http://schemas.microsoft.com/office/drawing/2014/main" id="{BC848E15-7224-9F16-184B-544D3393D9F4}"/>
              </a:ext>
            </a:extLst>
          </p:cNvPr>
          <p:cNvSpPr txBox="1">
            <a:spLocks/>
          </p:cNvSpPr>
          <p:nvPr/>
        </p:nvSpPr>
        <p:spPr>
          <a:xfrm>
            <a:off x="10684933" y="6356351"/>
            <a:ext cx="668867" cy="365125"/>
          </a:xfrm>
          <a:prstGeom prst="rect">
            <a:avLst/>
          </a:prstGeom>
        </p:spPr>
        <p:txBody>
          <a:bodyPr vert="horz" lIns="121920" tIns="60960" rIns="121920" bIns="6096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45828D-F580-42DE-B77E-860980F07F32}" type="slidenum">
              <a:rPr lang="vi-VN" sz="1200"/>
              <a:pPr/>
              <a:t>17</a:t>
            </a:fld>
            <a:endParaRPr lang="vi-VN" sz="1200"/>
          </a:p>
        </p:txBody>
      </p:sp>
    </p:spTree>
    <p:extLst>
      <p:ext uri="{BB962C8B-B14F-4D97-AF65-F5344CB8AC3E}">
        <p14:creationId xmlns:p14="http://schemas.microsoft.com/office/powerpoint/2010/main" val="2114065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BE1AAD-15E0-2066-CAEC-26874C353387}"/>
              </a:ext>
            </a:extLst>
          </p:cNvPr>
          <p:cNvSpPr>
            <a:spLocks noGrp="1"/>
          </p:cNvSpPr>
          <p:nvPr>
            <p:ph type="sldNum" sz="quarter" idx="12"/>
          </p:nvPr>
        </p:nvSpPr>
        <p:spPr/>
        <p:txBody>
          <a:bodyPr/>
          <a:lstStyle/>
          <a:p>
            <a:fld id="{6A45828D-F580-42DE-B77E-860980F07F32}" type="slidenum">
              <a:rPr lang="vi-VN" smtClean="0"/>
              <a:t>18</a:t>
            </a:fld>
            <a:endParaRPr lang="vi-VN"/>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40A1B984-DDCD-9C8C-42D0-D06F50572D93}"/>
                  </a:ext>
                </a:extLst>
              </p:cNvPr>
              <p:cNvSpPr>
                <a:spLocks noGrp="1"/>
              </p:cNvSpPr>
              <p:nvPr>
                <p:ph idx="1"/>
              </p:nvPr>
            </p:nvSpPr>
            <p:spPr>
              <a:xfrm>
                <a:off x="880534" y="1278910"/>
                <a:ext cx="10899423" cy="1472865"/>
              </a:xfrm>
            </p:spPr>
            <p:txBody>
              <a:bodyPr>
                <a:normAutofit fontScale="92500" lnSpcReduction="10000"/>
              </a:bodyPr>
              <a:lstStyle/>
              <a:p>
                <a:pPr marL="0" indent="0">
                  <a:lnSpc>
                    <a:spcPct val="100000"/>
                  </a:lnSpc>
                  <a:buNone/>
                </a:pPr>
                <a:r>
                  <a:rPr lang="en-US"/>
                  <a:t>Warm-starting method: simply set </a:t>
                </a:r>
                <a14:m>
                  <m:oMath xmlns:m="http://schemas.openxmlformats.org/officeDocument/2006/math">
                    <m:sSubSup>
                      <m:sSubSupPr>
                        <m:ctrlPr>
                          <a:rPr lang="vi-VN" b="0" i="1">
                            <a:latin typeface="Cambria Math" panose="02040503050406030204" pitchFamily="18" charset="0"/>
                          </a:rPr>
                        </m:ctrlPr>
                      </m:sSubSupPr>
                      <m:e>
                        <m:r>
                          <a:rPr lang="vi-VN" b="0" i="1">
                            <a:latin typeface="Cambria Math" panose="02040503050406030204" pitchFamily="18" charset="0"/>
                          </a:rPr>
                          <m:t>𝜃</m:t>
                        </m:r>
                      </m:e>
                      <m:sub>
                        <m:sSub>
                          <m:sSubPr>
                            <m:ctrlPr>
                              <a:rPr lang="vi-VN" b="0" i="1">
                                <a:latin typeface="Cambria Math" panose="02040503050406030204" pitchFamily="18" charset="0"/>
                              </a:rPr>
                            </m:ctrlPr>
                          </m:sSubPr>
                          <m:e>
                            <m:r>
                              <a:rPr lang="vi-VN" i="1">
                                <a:latin typeface="Cambria Math" panose="02040503050406030204" pitchFamily="18" charset="0"/>
                              </a:rPr>
                              <m:t>𝑥</m:t>
                            </m:r>
                          </m:e>
                          <m:sub>
                            <m:r>
                              <a:rPr lang="vi-VN" b="0" i="1">
                                <a:latin typeface="Cambria Math" panose="02040503050406030204" pitchFamily="18" charset="0"/>
                              </a:rPr>
                              <m:t>(</m:t>
                            </m:r>
                            <m:r>
                              <a:rPr lang="vi-VN" i="1">
                                <a:latin typeface="Cambria Math" panose="02040503050406030204" pitchFamily="18" charset="0"/>
                              </a:rPr>
                              <m:t>𝑘</m:t>
                            </m:r>
                            <m:r>
                              <a:rPr lang="vi-VN" b="0" i="1">
                                <a:latin typeface="Cambria Math" panose="02040503050406030204" pitchFamily="18" charset="0"/>
                              </a:rPr>
                              <m:t>)</m:t>
                            </m:r>
                          </m:sub>
                        </m:sSub>
                      </m:sub>
                      <m:sup>
                        <m:r>
                          <a:rPr lang="vi-VN" b="0" i="1">
                            <a:latin typeface="Cambria Math" panose="02040503050406030204" pitchFamily="18" charset="0"/>
                          </a:rPr>
                          <m:t>∗</m:t>
                        </m:r>
                      </m:sup>
                    </m:sSubSup>
                  </m:oMath>
                </a14:m>
                <a:r>
                  <a:rPr lang="en-US"/>
                  <a:t>as initial parameter </a:t>
                </a:r>
                <a14:m>
                  <m:oMath xmlns:m="http://schemas.openxmlformats.org/officeDocument/2006/math">
                    <m:sSubSup>
                      <m:sSubSupPr>
                        <m:ctrlPr>
                          <a:rPr lang="vi-VN" b="0" i="1">
                            <a:latin typeface="Cambria Math" panose="02040503050406030204" pitchFamily="18" charset="0"/>
                          </a:rPr>
                        </m:ctrlPr>
                      </m:sSubSupPr>
                      <m:e>
                        <m:r>
                          <a:rPr lang="vi-VN" b="0" i="1">
                            <a:latin typeface="Cambria Math" panose="02040503050406030204" pitchFamily="18" charset="0"/>
                          </a:rPr>
                          <m:t>𝜃</m:t>
                        </m:r>
                      </m:e>
                      <m:sub>
                        <m:sSub>
                          <m:sSubPr>
                            <m:ctrlPr>
                              <a:rPr lang="vi-VN" b="0" i="1">
                                <a:latin typeface="Cambria Math" panose="02040503050406030204" pitchFamily="18" charset="0"/>
                              </a:rPr>
                            </m:ctrlPr>
                          </m:sSubPr>
                          <m:e>
                            <m:r>
                              <a:rPr lang="vi-VN" i="1">
                                <a:latin typeface="Cambria Math" panose="02040503050406030204" pitchFamily="18" charset="0"/>
                              </a:rPr>
                              <m:t>𝑦</m:t>
                            </m:r>
                          </m:e>
                          <m:sub>
                            <m:d>
                              <m:dPr>
                                <m:ctrlPr>
                                  <a:rPr lang="vi-VN" b="0" i="1">
                                    <a:latin typeface="Cambria Math" panose="02040503050406030204" pitchFamily="18" charset="0"/>
                                  </a:rPr>
                                </m:ctrlPr>
                              </m:dPr>
                              <m:e>
                                <m:r>
                                  <a:rPr lang="vi-VN" i="1">
                                    <a:latin typeface="Cambria Math" panose="02040503050406030204" pitchFamily="18" charset="0"/>
                                  </a:rPr>
                                  <m:t>𝑘</m:t>
                                </m:r>
                                <m:r>
                                  <a:rPr lang="vi-VN" b="0" i="1">
                                    <a:latin typeface="Cambria Math" panose="02040503050406030204" pitchFamily="18" charset="0"/>
                                  </a:rPr>
                                  <m:t>′</m:t>
                                </m:r>
                              </m:e>
                            </m:d>
                          </m:sub>
                        </m:sSub>
                      </m:sub>
                      <m:sup>
                        <m:d>
                          <m:dPr>
                            <m:ctrlPr>
                              <a:rPr lang="vi-VN" b="0" i="1">
                                <a:latin typeface="Cambria Math" panose="02040503050406030204" pitchFamily="18" charset="0"/>
                              </a:rPr>
                            </m:ctrlPr>
                          </m:dPr>
                          <m:e>
                            <m:r>
                              <a:rPr lang="vi-VN" b="0" i="1">
                                <a:latin typeface="Cambria Math" panose="02040503050406030204" pitchFamily="18" charset="0"/>
                              </a:rPr>
                              <m:t>0</m:t>
                            </m:r>
                          </m:e>
                        </m:d>
                      </m:sup>
                    </m:sSubSup>
                    <m:r>
                      <a:rPr lang="vi-VN" b="0" i="1">
                        <a:latin typeface="Cambria Math" panose="02040503050406030204" pitchFamily="18" charset="0"/>
                      </a:rPr>
                      <m:t>=</m:t>
                    </m:r>
                    <m:sSubSup>
                      <m:sSubSupPr>
                        <m:ctrlPr>
                          <a:rPr lang="vi-VN" i="1">
                            <a:latin typeface="Cambria Math" panose="02040503050406030204" pitchFamily="18" charset="0"/>
                          </a:rPr>
                        </m:ctrlPr>
                      </m:sSubSupPr>
                      <m:e>
                        <m:r>
                          <a:rPr lang="vi-VN" i="1">
                            <a:latin typeface="Cambria Math" panose="02040503050406030204" pitchFamily="18" charset="0"/>
                          </a:rPr>
                          <m:t>𝜃</m:t>
                        </m:r>
                      </m:e>
                      <m:sub>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a:latin typeface="Cambria Math" panose="02040503050406030204" pitchFamily="18" charset="0"/>
                              </a:rPr>
                              <m:t>(</m:t>
                            </m:r>
                            <m:r>
                              <a:rPr lang="vi-VN" i="1">
                                <a:latin typeface="Cambria Math" panose="02040503050406030204" pitchFamily="18" charset="0"/>
                              </a:rPr>
                              <m:t>𝑘</m:t>
                            </m:r>
                            <m:r>
                              <a:rPr lang="vi-VN" i="1">
                                <a:latin typeface="Cambria Math" panose="02040503050406030204" pitchFamily="18" charset="0"/>
                              </a:rPr>
                              <m:t>)</m:t>
                            </m:r>
                          </m:sub>
                        </m:sSub>
                      </m:sub>
                      <m:sup>
                        <m:r>
                          <a:rPr lang="vi-VN" i="1">
                            <a:latin typeface="Cambria Math" panose="02040503050406030204" pitchFamily="18" charset="0"/>
                          </a:rPr>
                          <m:t>∗</m:t>
                        </m:r>
                      </m:sup>
                    </m:sSubSup>
                  </m:oMath>
                </a14:m>
                <a:r>
                  <a:rPr lang="en-US" i="1"/>
                  <a:t>.</a:t>
                </a:r>
              </a:p>
              <a:p>
                <a:pPr marL="0" indent="0">
                  <a:lnSpc>
                    <a:spcPct val="100000"/>
                  </a:lnSpc>
                  <a:buNone/>
                </a:pPr>
                <a:r>
                  <a:rPr lang="en-US" dirty="0"/>
                  <a:t>If </a:t>
                </a:r>
                <a14:m>
                  <m:oMath xmlns:m="http://schemas.openxmlformats.org/officeDocument/2006/math">
                    <m:r>
                      <a:rPr lang="en-US" i="1" smtClean="0">
                        <a:latin typeface="Cambria Math" panose="02040503050406030204" pitchFamily="18" charset="0"/>
                      </a:rPr>
                      <m:t>𝑦</m:t>
                    </m:r>
                    <m:r>
                      <a:rPr lang="en-US" i="1" smtClean="0">
                        <a:latin typeface="Cambria Math" panose="02040503050406030204" pitchFamily="18" charset="0"/>
                      </a:rPr>
                      <m:t>≈</m:t>
                    </m:r>
                    <m:r>
                      <a:rPr lang="en-US" i="1" smtClean="0">
                        <a:latin typeface="Cambria Math" panose="02040503050406030204" pitchFamily="18" charset="0"/>
                      </a:rPr>
                      <m:t>𝑥</m:t>
                    </m:r>
                    <m:r>
                      <a:rPr lang="en-US" i="1" smtClean="0">
                        <a:latin typeface="Cambria Math" panose="02040503050406030204" pitchFamily="18" charset="0"/>
                      </a:rPr>
                      <m:t>+</m:t>
                    </m:r>
                    <m:r>
                      <a:rPr lang="en-US" i="1" smtClean="0">
                        <a:latin typeface="Cambria Math" panose="02040503050406030204" pitchFamily="18" charset="0"/>
                      </a:rPr>
                      <m:t>𝜖</m:t>
                    </m:r>
                  </m:oMath>
                </a14:m>
                <a:r>
                  <a:rPr lang="en-US" i="1" dirty="0"/>
                  <a:t>, </a:t>
                </a:r>
                <a14:m>
                  <m:oMath xmlns:m="http://schemas.openxmlformats.org/officeDocument/2006/math">
                    <m:r>
                      <a:rPr lang="en-US" i="1" dirty="0">
                        <a:latin typeface="Cambria Math" panose="02040503050406030204" pitchFamily="18" charset="0"/>
                      </a:rPr>
                      <m:t>𝑥</m:t>
                    </m:r>
                  </m:oMath>
                </a14:m>
                <a:r>
                  <a:rPr lang="en-US" dirty="0"/>
                  <a:t> and </a:t>
                </a:r>
                <a14:m>
                  <m:oMath xmlns:m="http://schemas.openxmlformats.org/officeDocument/2006/math">
                    <m:r>
                      <a:rPr lang="en-US" i="1" dirty="0">
                        <a:latin typeface="Cambria Math" panose="02040503050406030204" pitchFamily="18" charset="0"/>
                      </a:rPr>
                      <m:t>𝑦</m:t>
                    </m:r>
                  </m:oMath>
                </a14:m>
                <a:r>
                  <a:rPr lang="en-US" dirty="0"/>
                  <a:t> are targets, considering the first-order Taylor expansion of cost function </a:t>
                </a:r>
                <a14:m>
                  <m:oMath xmlns:m="http://schemas.openxmlformats.org/officeDocument/2006/math">
                    <m:r>
                      <a:rPr lang="en-US" i="1" dirty="0" smtClean="0">
                        <a:latin typeface="Cambria Math" panose="02040503050406030204" pitchFamily="18" charset="0"/>
                      </a:rPr>
                      <m:t>𝐶</m:t>
                    </m:r>
                  </m:oMath>
                </a14:m>
                <a:r>
                  <a:rPr lang="en-US" dirty="0"/>
                  <a:t> with respect to </a:t>
                </a:r>
                <a14:m>
                  <m:oMath xmlns:m="http://schemas.openxmlformats.org/officeDocument/2006/math">
                    <m:r>
                      <a:rPr lang="en-US" b="1" i="1" dirty="0" smtClean="0">
                        <a:latin typeface="Cambria Math" panose="02040503050406030204" pitchFamily="18" charset="0"/>
                      </a:rPr>
                      <m:t>𝜽</m:t>
                    </m:r>
                  </m:oMath>
                </a14:m>
                <a:r>
                  <a:rPr lang="en-US" dirty="0"/>
                  <a:t> at </a:t>
                </a:r>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𝜽</m:t>
                        </m:r>
                      </m:e>
                      <m:sub>
                        <m:r>
                          <a:rPr lang="en-US" b="1" i="1" dirty="0" smtClean="0">
                            <a:latin typeface="Cambria Math" panose="02040503050406030204" pitchFamily="18" charset="0"/>
                          </a:rPr>
                          <m:t>𝒙</m:t>
                        </m:r>
                      </m:sub>
                      <m:sup>
                        <m:r>
                          <a:rPr lang="en-US" b="1" i="1" dirty="0" smtClean="0">
                            <a:latin typeface="Cambria Math" panose="02040503050406030204" pitchFamily="18" charset="0"/>
                          </a:rPr>
                          <m:t>∗</m:t>
                        </m:r>
                      </m:sup>
                    </m:sSubSup>
                  </m:oMath>
                </a14:m>
                <a:r>
                  <a:rPr lang="en-US" dirty="0"/>
                  <a:t> and fixed </a:t>
                </a:r>
                <a14:m>
                  <m:oMath xmlns:m="http://schemas.openxmlformats.org/officeDocument/2006/math">
                    <m:r>
                      <a:rPr lang="en-US" i="1" dirty="0" smtClean="0">
                        <a:latin typeface="Cambria Math" panose="02040503050406030204" pitchFamily="18" charset="0"/>
                      </a:rPr>
                      <m:t>𝑦</m:t>
                    </m:r>
                  </m:oMath>
                </a14:m>
                <a:r>
                  <a:rPr lang="en-US" i="1" dirty="0"/>
                  <a:t>, </a:t>
                </a:r>
                <a:r>
                  <a:rPr lang="en-US" dirty="0"/>
                  <a:t>we </a:t>
                </a:r>
                <a:r>
                  <a:rPr lang="en-US"/>
                  <a:t>have:</a:t>
                </a:r>
                <a:endParaRPr lang="en-US" dirty="0"/>
              </a:p>
            </p:txBody>
          </p:sp>
        </mc:Choice>
        <mc:Fallback>
          <p:sp>
            <p:nvSpPr>
              <p:cNvPr id="6" name="Content Placeholder 2">
                <a:extLst>
                  <a:ext uri="{FF2B5EF4-FFF2-40B4-BE49-F238E27FC236}">
                    <a16:creationId xmlns:a16="http://schemas.microsoft.com/office/drawing/2014/main" id="{40A1B984-DDCD-9C8C-42D0-D06F50572D93}"/>
                  </a:ext>
                </a:extLst>
              </p:cNvPr>
              <p:cNvSpPr>
                <a:spLocks noGrp="1" noRot="1" noChangeAspect="1" noMove="1" noResize="1" noEditPoints="1" noAdjustHandles="1" noChangeArrowheads="1" noChangeShapeType="1" noTextEdit="1"/>
              </p:cNvSpPr>
              <p:nvPr>
                <p:ph idx="1"/>
              </p:nvPr>
            </p:nvSpPr>
            <p:spPr>
              <a:xfrm>
                <a:off x="880534" y="1278910"/>
                <a:ext cx="10899423" cy="1472865"/>
              </a:xfrm>
              <a:blipFill>
                <a:blip r:embed="rId2"/>
                <a:stretch>
                  <a:fillRect l="-1048" r="-1281" b="-8547"/>
                </a:stretch>
              </a:blipFill>
            </p:spPr>
            <p:txBody>
              <a:bodyPr/>
              <a:lstStyle/>
              <a:p>
                <a:r>
                  <a:rPr lang="en-VN">
                    <a:noFill/>
                  </a:rPr>
                  <a:t> </a:t>
                </a:r>
              </a:p>
            </p:txBody>
          </p:sp>
        </mc:Fallback>
      </mc:AlternateContent>
      <p:sp>
        <p:nvSpPr>
          <p:cNvPr id="7" name="Content Placeholder 2">
            <a:extLst>
              <a:ext uri="{FF2B5EF4-FFF2-40B4-BE49-F238E27FC236}">
                <a16:creationId xmlns:a16="http://schemas.microsoft.com/office/drawing/2014/main" id="{74AFDA38-4FF3-58EC-A120-EFB2ADB018BD}"/>
              </a:ext>
            </a:extLst>
          </p:cNvPr>
          <p:cNvSpPr txBox="1">
            <a:spLocks/>
          </p:cNvSpPr>
          <p:nvPr/>
        </p:nvSpPr>
        <p:spPr>
          <a:xfrm>
            <a:off x="922257" y="1995066"/>
            <a:ext cx="11094767" cy="875135"/>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sz="2800" dirty="0"/>
          </a:p>
        </p:txBody>
      </p:sp>
      <p:sp>
        <p:nvSpPr>
          <p:cNvPr id="9" name="TextBox 8">
            <a:extLst>
              <a:ext uri="{FF2B5EF4-FFF2-40B4-BE49-F238E27FC236}">
                <a16:creationId xmlns:a16="http://schemas.microsoft.com/office/drawing/2014/main" id="{7F63C891-2C7F-688A-2F0D-81ABFE8931A2}"/>
              </a:ext>
            </a:extLst>
          </p:cNvPr>
          <p:cNvSpPr txBox="1"/>
          <p:nvPr/>
        </p:nvSpPr>
        <p:spPr>
          <a:xfrm>
            <a:off x="8259036" y="4608513"/>
            <a:ext cx="3897093" cy="461665"/>
          </a:xfrm>
          <a:prstGeom prst="rect">
            <a:avLst/>
          </a:prstGeom>
          <a:noFill/>
        </p:spPr>
        <p:txBody>
          <a:bodyPr wrap="square" rtlCol="0">
            <a:spAutoFit/>
          </a:bodyPr>
          <a:lstStyle/>
          <a:p>
            <a:pPr algn="ctr"/>
            <a:r>
              <a:rPr lang="en-US" sz="2400" dirty="0">
                <a:solidFill>
                  <a:srgbClr val="FF0000"/>
                </a:solidFill>
              </a:rPr>
              <a:t>Parameter estimator</a:t>
            </a:r>
          </a:p>
        </p:txBody>
      </p:sp>
      <p:cxnSp>
        <p:nvCxnSpPr>
          <p:cNvPr id="10" name="Straight Arrow Connector 9">
            <a:extLst>
              <a:ext uri="{FF2B5EF4-FFF2-40B4-BE49-F238E27FC236}">
                <a16:creationId xmlns:a16="http://schemas.microsoft.com/office/drawing/2014/main" id="{FD8EADB1-7962-96EC-D3C4-5A7EEBAD0C6B}"/>
              </a:ext>
            </a:extLst>
          </p:cNvPr>
          <p:cNvCxnSpPr>
            <a:cxnSpLocks/>
            <a:stCxn id="8" idx="2"/>
            <a:endCxn id="9" idx="0"/>
          </p:cNvCxnSpPr>
          <p:nvPr/>
        </p:nvCxnSpPr>
        <p:spPr>
          <a:xfrm>
            <a:off x="10192259" y="4214297"/>
            <a:ext cx="15324" cy="3942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60F9B65-041D-179A-3249-815C8F28A8D7}"/>
                  </a:ext>
                </a:extLst>
              </p:cNvPr>
              <p:cNvSpPr txBox="1"/>
              <p:nvPr/>
            </p:nvSpPr>
            <p:spPr>
              <a:xfrm>
                <a:off x="8316696" y="3162265"/>
                <a:ext cx="3781777" cy="8172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67" i="1">
                              <a:latin typeface="Cambria Math" panose="02040503050406030204" pitchFamily="18" charset="0"/>
                            </a:rPr>
                          </m:ctrlPr>
                        </m:sSubSupPr>
                        <m:e>
                          <m:acc>
                            <m:accPr>
                              <m:chr m:val="̃"/>
                              <m:ctrlPr>
                                <a:rPr lang="en-US" sz="1867" b="1" i="1" dirty="0">
                                  <a:latin typeface="Cambria Math" panose="02040503050406030204" pitchFamily="18" charset="0"/>
                                </a:rPr>
                              </m:ctrlPr>
                            </m:accPr>
                            <m:e>
                              <m:r>
                                <a:rPr lang="en-US" sz="1867" b="1" i="1" dirty="0">
                                  <a:latin typeface="Cambria Math" panose="02040503050406030204" pitchFamily="18" charset="0"/>
                                </a:rPr>
                                <m:t>𝜽</m:t>
                              </m:r>
                            </m:e>
                          </m:acc>
                        </m:e>
                        <m:sub>
                          <m:r>
                            <a:rPr lang="en-US" sz="1867" i="1">
                              <a:latin typeface="Cambria Math" panose="02040503050406030204" pitchFamily="18" charset="0"/>
                            </a:rPr>
                            <m:t> </m:t>
                          </m:r>
                          <m:r>
                            <a:rPr lang="en-US" sz="1867" i="1">
                              <a:latin typeface="Cambria Math" panose="02040503050406030204" pitchFamily="18" charset="0"/>
                            </a:rPr>
                            <m:t>𝑦</m:t>
                          </m:r>
                        </m:sub>
                        <m:sup>
                          <m:r>
                            <a:rPr lang="en-US" sz="1867" i="1">
                              <a:latin typeface="Cambria Math" panose="02040503050406030204" pitchFamily="18" charset="0"/>
                            </a:rPr>
                            <m:t>∗</m:t>
                          </m:r>
                        </m:sup>
                      </m:sSubSup>
                      <m:r>
                        <a:rPr lang="en-US" sz="1867" i="1">
                          <a:latin typeface="Cambria Math" panose="02040503050406030204" pitchFamily="18" charset="0"/>
                        </a:rPr>
                        <m:t>≈</m:t>
                      </m:r>
                      <m:sSubSup>
                        <m:sSubSupPr>
                          <m:ctrlPr>
                            <a:rPr lang="en-US" sz="1867" i="1">
                              <a:latin typeface="Cambria Math" panose="02040503050406030204" pitchFamily="18" charset="0"/>
                            </a:rPr>
                          </m:ctrlPr>
                        </m:sSubSupPr>
                        <m:e>
                          <m:r>
                            <a:rPr lang="en-US" sz="1867" b="1" i="1">
                              <a:latin typeface="Cambria Math" panose="02040503050406030204" pitchFamily="18" charset="0"/>
                            </a:rPr>
                            <m:t>𝜽</m:t>
                          </m:r>
                        </m:e>
                        <m:sub>
                          <m:r>
                            <a:rPr lang="en-US" sz="1867" i="1">
                              <a:latin typeface="Cambria Math" panose="02040503050406030204" pitchFamily="18" charset="0"/>
                            </a:rPr>
                            <m:t>𝑥</m:t>
                          </m:r>
                        </m:sub>
                        <m:sup>
                          <m:r>
                            <a:rPr lang="en-US" sz="1867" i="1">
                              <a:latin typeface="Cambria Math" panose="02040503050406030204" pitchFamily="18" charset="0"/>
                            </a:rPr>
                            <m:t>∗</m:t>
                          </m:r>
                        </m:sup>
                      </m:sSubSup>
                      <m:r>
                        <a:rPr lang="en-US" sz="1867" i="1">
                          <a:latin typeface="Cambria Math" panose="02040503050406030204" pitchFamily="18" charset="0"/>
                        </a:rPr>
                        <m:t>−</m:t>
                      </m:r>
                      <m:f>
                        <m:fPr>
                          <m:ctrlPr>
                            <a:rPr lang="en-US" sz="1867" i="1">
                              <a:latin typeface="Cambria Math" panose="02040503050406030204" pitchFamily="18" charset="0"/>
                            </a:rPr>
                          </m:ctrlPr>
                        </m:fPr>
                        <m:num>
                          <m:sSub>
                            <m:sSubPr>
                              <m:ctrlPr>
                                <a:rPr lang="en-US" sz="1867" i="1">
                                  <a:latin typeface="Cambria Math" panose="02040503050406030204" pitchFamily="18" charset="0"/>
                                </a:rPr>
                              </m:ctrlPr>
                            </m:sSubPr>
                            <m:e>
                              <m:r>
                                <m:rPr>
                                  <m:sty m:val="p"/>
                                </m:rPr>
                                <a:rPr lang="en-US" sz="1867">
                                  <a:latin typeface="Cambria Math" panose="02040503050406030204" pitchFamily="18" charset="0"/>
                                </a:rPr>
                                <m:t>∇</m:t>
                              </m:r>
                            </m:e>
                            <m:sub>
                              <m:r>
                                <a:rPr lang="en-US" sz="1867" i="1">
                                  <a:latin typeface="Cambria Math" panose="02040503050406030204" pitchFamily="18" charset="0"/>
                                </a:rPr>
                                <m:t>𝜃</m:t>
                              </m:r>
                            </m:sub>
                          </m:sSub>
                          <m:sSub>
                            <m:sSubPr>
                              <m:ctrlPr>
                                <a:rPr lang="en-US" sz="1867" i="1">
                                  <a:latin typeface="Cambria Math" panose="02040503050406030204" pitchFamily="18" charset="0"/>
                                </a:rPr>
                              </m:ctrlPr>
                            </m:sSubPr>
                            <m:e>
                              <m:r>
                                <a:rPr lang="en-US" sz="1867" i="1">
                                  <a:latin typeface="Cambria Math" panose="02040503050406030204" pitchFamily="18" charset="0"/>
                                </a:rPr>
                                <m:t>𝐶</m:t>
                              </m:r>
                            </m:e>
                            <m:sub>
                              <m:r>
                                <a:rPr lang="en-US" sz="1867" i="1">
                                  <a:latin typeface="Cambria Math" panose="02040503050406030204" pitchFamily="18" charset="0"/>
                                </a:rPr>
                                <m:t>𝑦</m:t>
                              </m:r>
                            </m:sub>
                          </m:sSub>
                          <m:d>
                            <m:dPr>
                              <m:ctrlPr>
                                <a:rPr lang="en-US" sz="1867" i="1">
                                  <a:latin typeface="Cambria Math" panose="02040503050406030204" pitchFamily="18" charset="0"/>
                                </a:rPr>
                              </m:ctrlPr>
                            </m:dPr>
                            <m:e>
                              <m:sSubSup>
                                <m:sSubSupPr>
                                  <m:ctrlPr>
                                    <a:rPr lang="en-US" sz="1867" i="1">
                                      <a:latin typeface="Cambria Math" panose="02040503050406030204" pitchFamily="18" charset="0"/>
                                    </a:rPr>
                                  </m:ctrlPr>
                                </m:sSubSupPr>
                                <m:e>
                                  <m:r>
                                    <a:rPr lang="en-US" sz="1867" i="1">
                                      <a:latin typeface="Cambria Math" panose="02040503050406030204" pitchFamily="18" charset="0"/>
                                    </a:rPr>
                                    <m:t>𝜃</m:t>
                                  </m:r>
                                </m:e>
                                <m:sub>
                                  <m:r>
                                    <a:rPr lang="en-US" sz="1867" i="1">
                                      <a:latin typeface="Cambria Math" panose="02040503050406030204" pitchFamily="18" charset="0"/>
                                    </a:rPr>
                                    <m:t>𝑥</m:t>
                                  </m:r>
                                </m:sub>
                                <m:sup>
                                  <m:r>
                                    <a:rPr lang="en-US" sz="1867" i="1">
                                      <a:latin typeface="Cambria Math" panose="02040503050406030204" pitchFamily="18" charset="0"/>
                                    </a:rPr>
                                    <m:t>∗</m:t>
                                  </m:r>
                                </m:sup>
                              </m:sSubSup>
                            </m:e>
                          </m:d>
                        </m:num>
                        <m:den>
                          <m:sSup>
                            <m:sSupPr>
                              <m:ctrlPr>
                                <a:rPr lang="en-US" sz="1867" i="1">
                                  <a:latin typeface="Cambria Math" panose="02040503050406030204" pitchFamily="18" charset="0"/>
                                </a:rPr>
                              </m:ctrlPr>
                            </m:sSupPr>
                            <m:e>
                              <m:d>
                                <m:dPr>
                                  <m:begChr m:val="‖"/>
                                  <m:endChr m:val="‖"/>
                                  <m:ctrlPr>
                                    <a:rPr lang="en-US" sz="1867" i="1">
                                      <a:latin typeface="Cambria Math" panose="02040503050406030204" pitchFamily="18" charset="0"/>
                                    </a:rPr>
                                  </m:ctrlPr>
                                </m:dPr>
                                <m:e>
                                  <m:sSub>
                                    <m:sSubPr>
                                      <m:ctrlPr>
                                        <a:rPr lang="en-US" sz="1867" i="1">
                                          <a:latin typeface="Cambria Math" panose="02040503050406030204" pitchFamily="18" charset="0"/>
                                        </a:rPr>
                                      </m:ctrlPr>
                                    </m:sSubPr>
                                    <m:e>
                                      <m:r>
                                        <m:rPr>
                                          <m:sty m:val="p"/>
                                        </m:rPr>
                                        <a:rPr lang="en-US" sz="1867">
                                          <a:latin typeface="Cambria Math" panose="02040503050406030204" pitchFamily="18" charset="0"/>
                                        </a:rPr>
                                        <m:t>∇</m:t>
                                      </m:r>
                                    </m:e>
                                    <m:sub>
                                      <m:r>
                                        <a:rPr lang="en-US" sz="1867" i="1">
                                          <a:latin typeface="Cambria Math" panose="02040503050406030204" pitchFamily="18" charset="0"/>
                                        </a:rPr>
                                        <m:t>𝜃</m:t>
                                      </m:r>
                                    </m:sub>
                                  </m:sSub>
                                  <m:sSub>
                                    <m:sSubPr>
                                      <m:ctrlPr>
                                        <a:rPr lang="en-US" sz="1867" i="1">
                                          <a:latin typeface="Cambria Math" panose="02040503050406030204" pitchFamily="18" charset="0"/>
                                        </a:rPr>
                                      </m:ctrlPr>
                                    </m:sSubPr>
                                    <m:e>
                                      <m:r>
                                        <a:rPr lang="en-US" sz="1867" i="1">
                                          <a:latin typeface="Cambria Math" panose="02040503050406030204" pitchFamily="18" charset="0"/>
                                        </a:rPr>
                                        <m:t>𝐶</m:t>
                                      </m:r>
                                    </m:e>
                                    <m:sub>
                                      <m:r>
                                        <a:rPr lang="en-US" sz="1867" i="1">
                                          <a:latin typeface="Cambria Math" panose="02040503050406030204" pitchFamily="18" charset="0"/>
                                        </a:rPr>
                                        <m:t>𝑦</m:t>
                                      </m:r>
                                    </m:sub>
                                  </m:sSub>
                                  <m:d>
                                    <m:dPr>
                                      <m:ctrlPr>
                                        <a:rPr lang="en-US" sz="1867" i="1">
                                          <a:latin typeface="Cambria Math" panose="02040503050406030204" pitchFamily="18" charset="0"/>
                                        </a:rPr>
                                      </m:ctrlPr>
                                    </m:dPr>
                                    <m:e>
                                      <m:sSubSup>
                                        <m:sSubSupPr>
                                          <m:ctrlPr>
                                            <a:rPr lang="en-US" sz="1867" i="1">
                                              <a:latin typeface="Cambria Math" panose="02040503050406030204" pitchFamily="18" charset="0"/>
                                            </a:rPr>
                                          </m:ctrlPr>
                                        </m:sSubSupPr>
                                        <m:e>
                                          <m:r>
                                            <a:rPr lang="en-US" sz="1867" i="1">
                                              <a:latin typeface="Cambria Math" panose="02040503050406030204" pitchFamily="18" charset="0"/>
                                            </a:rPr>
                                            <m:t>𝜃</m:t>
                                          </m:r>
                                        </m:e>
                                        <m:sub>
                                          <m:r>
                                            <a:rPr lang="en-US" sz="1867" i="1">
                                              <a:latin typeface="Cambria Math" panose="02040503050406030204" pitchFamily="18" charset="0"/>
                                            </a:rPr>
                                            <m:t>𝑥</m:t>
                                          </m:r>
                                        </m:sub>
                                        <m:sup>
                                          <m:r>
                                            <a:rPr lang="en-US" sz="1867" i="1">
                                              <a:latin typeface="Cambria Math" panose="02040503050406030204" pitchFamily="18" charset="0"/>
                                            </a:rPr>
                                            <m:t>∗</m:t>
                                          </m:r>
                                        </m:sup>
                                      </m:sSubSup>
                                    </m:e>
                                  </m:d>
                                </m:e>
                              </m:d>
                            </m:e>
                            <m:sup>
                              <m:r>
                                <a:rPr lang="en-US" sz="1867" i="1">
                                  <a:latin typeface="Cambria Math" panose="02040503050406030204" pitchFamily="18" charset="0"/>
                                </a:rPr>
                                <m:t>2</m:t>
                              </m:r>
                            </m:sup>
                          </m:sSup>
                        </m:den>
                      </m:f>
                      <m:sSub>
                        <m:sSubPr>
                          <m:ctrlPr>
                            <a:rPr lang="en-US" sz="1867" i="1">
                              <a:latin typeface="Cambria Math" panose="02040503050406030204" pitchFamily="18" charset="0"/>
                            </a:rPr>
                          </m:ctrlPr>
                        </m:sSubPr>
                        <m:e>
                          <m:r>
                            <a:rPr lang="en-US" sz="1867" i="1">
                              <a:latin typeface="Cambria Math" panose="02040503050406030204" pitchFamily="18" charset="0"/>
                            </a:rPr>
                            <m:t>𝐶</m:t>
                          </m:r>
                        </m:e>
                        <m:sub>
                          <m:r>
                            <a:rPr lang="en-US" sz="1867" i="1">
                              <a:latin typeface="Cambria Math" panose="02040503050406030204" pitchFamily="18" charset="0"/>
                            </a:rPr>
                            <m:t>𝑦</m:t>
                          </m:r>
                        </m:sub>
                      </m:sSub>
                      <m:d>
                        <m:dPr>
                          <m:ctrlPr>
                            <a:rPr lang="en-US" sz="1867" i="1">
                              <a:latin typeface="Cambria Math" panose="02040503050406030204" pitchFamily="18" charset="0"/>
                            </a:rPr>
                          </m:ctrlPr>
                        </m:dPr>
                        <m:e>
                          <m:sSubSup>
                            <m:sSubSupPr>
                              <m:ctrlPr>
                                <a:rPr lang="en-US" sz="1867" i="1">
                                  <a:latin typeface="Cambria Math" panose="02040503050406030204" pitchFamily="18" charset="0"/>
                                </a:rPr>
                              </m:ctrlPr>
                            </m:sSubSupPr>
                            <m:e>
                              <m:r>
                                <a:rPr lang="en-US" sz="1867" i="1">
                                  <a:latin typeface="Cambria Math" panose="02040503050406030204" pitchFamily="18" charset="0"/>
                                </a:rPr>
                                <m:t>𝜃</m:t>
                              </m:r>
                            </m:e>
                            <m:sub>
                              <m:r>
                                <a:rPr lang="en-US" sz="1867" i="1">
                                  <a:latin typeface="Cambria Math" panose="02040503050406030204" pitchFamily="18" charset="0"/>
                                </a:rPr>
                                <m:t>𝑥</m:t>
                              </m:r>
                            </m:sub>
                            <m:sup>
                              <m:r>
                                <a:rPr lang="en-US" sz="1867" i="1">
                                  <a:latin typeface="Cambria Math" panose="02040503050406030204" pitchFamily="18" charset="0"/>
                                </a:rPr>
                                <m:t>∗</m:t>
                              </m:r>
                            </m:sup>
                          </m:sSubSup>
                        </m:e>
                      </m:d>
                      <m:r>
                        <a:rPr lang="en-US" sz="1867" i="1">
                          <a:latin typeface="Cambria Math" panose="02040503050406030204" pitchFamily="18" charset="0"/>
                        </a:rPr>
                        <m:t> </m:t>
                      </m:r>
                    </m:oMath>
                  </m:oMathPara>
                </a14:m>
                <a:endParaRPr lang="vi-VN" sz="1867"/>
              </a:p>
            </p:txBody>
          </p:sp>
        </mc:Choice>
        <mc:Fallback>
          <p:sp>
            <p:nvSpPr>
              <p:cNvPr id="13" name="TextBox 12">
                <a:extLst>
                  <a:ext uri="{FF2B5EF4-FFF2-40B4-BE49-F238E27FC236}">
                    <a16:creationId xmlns:a16="http://schemas.microsoft.com/office/drawing/2014/main" id="{560F9B65-041D-179A-3249-815C8F28A8D7}"/>
                  </a:ext>
                </a:extLst>
              </p:cNvPr>
              <p:cNvSpPr txBox="1">
                <a:spLocks noRot="1" noChangeAspect="1" noMove="1" noResize="1" noEditPoints="1" noAdjustHandles="1" noChangeArrowheads="1" noChangeShapeType="1" noTextEdit="1"/>
              </p:cNvSpPr>
              <p:nvPr/>
            </p:nvSpPr>
            <p:spPr>
              <a:xfrm>
                <a:off x="8316696" y="3162265"/>
                <a:ext cx="3781777" cy="817275"/>
              </a:xfrm>
              <a:prstGeom prst="rect">
                <a:avLst/>
              </a:prstGeom>
              <a:blipFill>
                <a:blip r:embed="rId3"/>
                <a:stretch>
                  <a:fillRect/>
                </a:stretch>
              </a:blipFill>
            </p:spPr>
            <p:txBody>
              <a:bodyPr/>
              <a:lstStyle/>
              <a:p>
                <a:r>
                  <a:rPr lang="en-VN">
                    <a:noFill/>
                  </a:rPr>
                  <a:t> </a:t>
                </a:r>
              </a:p>
            </p:txBody>
          </p:sp>
        </mc:Fallback>
      </mc:AlternateContent>
      <p:pic>
        <p:nvPicPr>
          <p:cNvPr id="20" name="Content Placeholder 7" descr="A graph of different types of graphs&#10;&#10;AI-generated content may be incorrect.">
            <a:extLst>
              <a:ext uri="{FF2B5EF4-FFF2-40B4-BE49-F238E27FC236}">
                <a16:creationId xmlns:a16="http://schemas.microsoft.com/office/drawing/2014/main" id="{3A3D0ADA-16FB-0190-7B76-342925E3F4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6262" y="2870200"/>
            <a:ext cx="8094133" cy="3775211"/>
          </a:xfrm>
          <a:prstGeom prst="rect">
            <a:avLst/>
          </a:prstGeom>
        </p:spPr>
      </p:pic>
      <p:sp>
        <p:nvSpPr>
          <p:cNvPr id="8" name="Rectangle 7">
            <a:extLst>
              <a:ext uri="{FF2B5EF4-FFF2-40B4-BE49-F238E27FC236}">
                <a16:creationId xmlns:a16="http://schemas.microsoft.com/office/drawing/2014/main" id="{28C9E0D0-70F0-9E83-4B00-B9E9084792FB}"/>
              </a:ext>
            </a:extLst>
          </p:cNvPr>
          <p:cNvSpPr/>
          <p:nvPr/>
        </p:nvSpPr>
        <p:spPr>
          <a:xfrm>
            <a:off x="8457806" y="2958413"/>
            <a:ext cx="3468905" cy="12558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Title 1">
            <a:extLst>
              <a:ext uri="{FF2B5EF4-FFF2-40B4-BE49-F238E27FC236}">
                <a16:creationId xmlns:a16="http://schemas.microsoft.com/office/drawing/2014/main" id="{DB6CEE55-5042-98C8-4530-D54C465EE65A}"/>
              </a:ext>
            </a:extLst>
          </p:cNvPr>
          <p:cNvSpPr>
            <a:spLocks noGrp="1"/>
          </p:cNvSpPr>
          <p:nvPr>
            <p:ph type="title"/>
          </p:nvPr>
        </p:nvSpPr>
        <p:spPr>
          <a:xfrm>
            <a:off x="838200" y="0"/>
            <a:ext cx="8920544" cy="1472864"/>
          </a:xfrm>
        </p:spPr>
        <p:txBody>
          <a:bodyPr>
            <a:normAutofit/>
          </a:bodyPr>
          <a:lstStyle/>
          <a:p>
            <a:r>
              <a:rPr lang="en-US"/>
              <a:t>1.7. Additional informations</a:t>
            </a:r>
            <a:br>
              <a:rPr lang="en-US"/>
            </a:br>
            <a:r>
              <a:rPr lang="en-US" sz="2667"/>
              <a:t>Can we apply classical techniques into quantum optimization?</a:t>
            </a:r>
            <a:endParaRPr lang="vi-VN" sz="2667"/>
          </a:p>
        </p:txBody>
      </p:sp>
    </p:spTree>
    <p:extLst>
      <p:ext uri="{BB962C8B-B14F-4D97-AF65-F5344CB8AC3E}">
        <p14:creationId xmlns:p14="http://schemas.microsoft.com/office/powerpoint/2010/main" val="872517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BE9D-078B-2586-AD19-8B5E80EA88C8}"/>
              </a:ext>
            </a:extLst>
          </p:cNvPr>
          <p:cNvSpPr>
            <a:spLocks noGrp="1"/>
          </p:cNvSpPr>
          <p:nvPr>
            <p:ph type="title"/>
          </p:nvPr>
        </p:nvSpPr>
        <p:spPr/>
        <p:txBody>
          <a:bodyPr/>
          <a:lstStyle/>
          <a:p>
            <a:r>
              <a:rPr lang="en-US"/>
              <a:t>2. Quantum machine learning (QML)</a:t>
            </a:r>
            <a:endParaRPr lang="vi-VN"/>
          </a:p>
        </p:txBody>
      </p:sp>
      <p:sp>
        <p:nvSpPr>
          <p:cNvPr id="3" name="Content Placeholder 2">
            <a:extLst>
              <a:ext uri="{FF2B5EF4-FFF2-40B4-BE49-F238E27FC236}">
                <a16:creationId xmlns:a16="http://schemas.microsoft.com/office/drawing/2014/main" id="{45BD2A48-F598-A686-8E4B-D81C18E40938}"/>
              </a:ext>
            </a:extLst>
          </p:cNvPr>
          <p:cNvSpPr>
            <a:spLocks noGrp="1"/>
          </p:cNvSpPr>
          <p:nvPr>
            <p:ph idx="1"/>
          </p:nvPr>
        </p:nvSpPr>
        <p:spPr/>
        <p:txBody>
          <a:bodyPr/>
          <a:lstStyle/>
          <a:p>
            <a:pPr marL="0" indent="0">
              <a:buNone/>
            </a:pPr>
            <a:r>
              <a:rPr lang="en-US"/>
              <a:t>2.1. Overview</a:t>
            </a:r>
          </a:p>
          <a:p>
            <a:pPr marL="0" indent="0">
              <a:buNone/>
            </a:pPr>
            <a:r>
              <a:rPr lang="en-US"/>
              <a:t>2.2. Quantum machine learning algorithms</a:t>
            </a:r>
          </a:p>
          <a:p>
            <a:pPr marL="0" indent="0">
              <a:buNone/>
            </a:pPr>
            <a:r>
              <a:rPr lang="en-US"/>
              <a:t>2.3. Quantum deep learning</a:t>
            </a:r>
          </a:p>
          <a:p>
            <a:pPr marL="0" indent="0">
              <a:buNone/>
            </a:pPr>
            <a:r>
              <a:rPr lang="vi-VN">
                <a:latin typeface="Calibri" panose="020F0502020204030204" pitchFamily="34" charset="0"/>
                <a:ea typeface="Calibri" panose="020F0502020204030204" pitchFamily="34" charset="0"/>
                <a:cs typeface="Calibri" panose="020F0502020204030204" pitchFamily="34" charset="0"/>
              </a:rPr>
              <a:t>2.4. Additional information</a:t>
            </a:r>
          </a:p>
        </p:txBody>
      </p:sp>
      <p:sp>
        <p:nvSpPr>
          <p:cNvPr id="4" name="Slide Number Placeholder 3">
            <a:extLst>
              <a:ext uri="{FF2B5EF4-FFF2-40B4-BE49-F238E27FC236}">
                <a16:creationId xmlns:a16="http://schemas.microsoft.com/office/drawing/2014/main" id="{086EEB05-6CB3-0A20-855C-1E34EDCA7A83}"/>
              </a:ext>
            </a:extLst>
          </p:cNvPr>
          <p:cNvSpPr>
            <a:spLocks noGrp="1"/>
          </p:cNvSpPr>
          <p:nvPr>
            <p:ph type="sldNum" sz="quarter" idx="12"/>
          </p:nvPr>
        </p:nvSpPr>
        <p:spPr/>
        <p:txBody>
          <a:bodyPr/>
          <a:lstStyle/>
          <a:p>
            <a:fld id="{6A45828D-F580-42DE-B77E-860980F07F32}" type="slidenum">
              <a:rPr lang="vi-VN" smtClean="0"/>
              <a:t>19</a:t>
            </a:fld>
            <a:endParaRPr lang="vi-VN"/>
          </a:p>
        </p:txBody>
      </p:sp>
    </p:spTree>
    <p:extLst>
      <p:ext uri="{BB962C8B-B14F-4D97-AF65-F5344CB8AC3E}">
        <p14:creationId xmlns:p14="http://schemas.microsoft.com/office/powerpoint/2010/main" val="1025001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F78B7-8DBD-7697-873A-DB9AA1E1651C}"/>
              </a:ext>
            </a:extLst>
          </p:cNvPr>
          <p:cNvSpPr>
            <a:spLocks noGrp="1"/>
          </p:cNvSpPr>
          <p:nvPr>
            <p:ph type="title"/>
          </p:nvPr>
        </p:nvSpPr>
        <p:spPr/>
        <p:txBody>
          <a:bodyPr/>
          <a:lstStyle/>
          <a:p>
            <a:r>
              <a:rPr lang="en-US"/>
              <a:t>2.1. </a:t>
            </a:r>
            <a:r>
              <a:rPr lang="en-VN"/>
              <a:t>Overview</a:t>
            </a:r>
          </a:p>
        </p:txBody>
      </p:sp>
      <p:graphicFrame>
        <p:nvGraphicFramePr>
          <p:cNvPr id="4" name="Table 3">
            <a:extLst>
              <a:ext uri="{FF2B5EF4-FFF2-40B4-BE49-F238E27FC236}">
                <a16:creationId xmlns:a16="http://schemas.microsoft.com/office/drawing/2014/main" id="{D89C8333-27CE-A384-D804-90687B5E82A5}"/>
              </a:ext>
            </a:extLst>
          </p:cNvPr>
          <p:cNvGraphicFramePr>
            <a:graphicFrameLocks noGrp="1"/>
          </p:cNvGraphicFramePr>
          <p:nvPr/>
        </p:nvGraphicFramePr>
        <p:xfrm>
          <a:off x="1977277" y="2554560"/>
          <a:ext cx="4202770" cy="3265038"/>
        </p:xfrm>
        <a:graphic>
          <a:graphicData uri="http://schemas.openxmlformats.org/drawingml/2006/table">
            <a:tbl>
              <a:tblPr firstRow="1" bandRow="1">
                <a:tableStyleId>{5940675A-B579-460E-94D1-54222C63F5DA}</a:tableStyleId>
              </a:tblPr>
              <a:tblGrid>
                <a:gridCol w="2101385">
                  <a:extLst>
                    <a:ext uri="{9D8B030D-6E8A-4147-A177-3AD203B41FA5}">
                      <a16:colId xmlns:a16="http://schemas.microsoft.com/office/drawing/2014/main" val="2497371197"/>
                    </a:ext>
                  </a:extLst>
                </a:gridCol>
                <a:gridCol w="2101385">
                  <a:extLst>
                    <a:ext uri="{9D8B030D-6E8A-4147-A177-3AD203B41FA5}">
                      <a16:colId xmlns:a16="http://schemas.microsoft.com/office/drawing/2014/main" val="1335477195"/>
                    </a:ext>
                  </a:extLst>
                </a:gridCol>
              </a:tblGrid>
              <a:tr h="1632519">
                <a:tc>
                  <a:txBody>
                    <a:bodyPr/>
                    <a:lstStyle/>
                    <a:p>
                      <a:pPr algn="ctr"/>
                      <a:endParaRPr lang="en-VN" sz="4800"/>
                    </a:p>
                  </a:txBody>
                  <a:tcPr marL="121920" marR="121920" marT="60960" marB="60960" anchor="ctr"/>
                </a:tc>
                <a:tc>
                  <a:txBody>
                    <a:bodyPr/>
                    <a:lstStyle/>
                    <a:p>
                      <a:pPr algn="ctr"/>
                      <a:endParaRPr lang="en-VN" sz="4800"/>
                    </a:p>
                  </a:txBody>
                  <a:tcPr marL="121920" marR="121920" marT="60960" marB="60960" anchor="ctr"/>
                </a:tc>
                <a:extLst>
                  <a:ext uri="{0D108BD9-81ED-4DB2-BD59-A6C34878D82A}">
                    <a16:rowId xmlns:a16="http://schemas.microsoft.com/office/drawing/2014/main" val="3676909258"/>
                  </a:ext>
                </a:extLst>
              </a:tr>
              <a:tr h="1632519">
                <a:tc>
                  <a:txBody>
                    <a:bodyPr/>
                    <a:lstStyle/>
                    <a:p>
                      <a:pPr algn="ctr"/>
                      <a:r>
                        <a:rPr lang="en-VN" sz="4800"/>
                        <a:t>QC</a:t>
                      </a:r>
                    </a:p>
                  </a:txBody>
                  <a:tcPr marL="121920" marR="121920" marT="60960" marB="60960" anchor="ctr"/>
                </a:tc>
                <a:tc>
                  <a:txBody>
                    <a:bodyPr/>
                    <a:lstStyle/>
                    <a:p>
                      <a:pPr algn="ctr"/>
                      <a:r>
                        <a:rPr lang="en-VN" sz="4800"/>
                        <a:t>QQ</a:t>
                      </a:r>
                    </a:p>
                  </a:txBody>
                  <a:tcPr marL="121920" marR="121920" marT="60960" marB="60960" anchor="ctr"/>
                </a:tc>
                <a:extLst>
                  <a:ext uri="{0D108BD9-81ED-4DB2-BD59-A6C34878D82A}">
                    <a16:rowId xmlns:a16="http://schemas.microsoft.com/office/drawing/2014/main" val="843401395"/>
                  </a:ext>
                </a:extLst>
              </a:tr>
            </a:tbl>
          </a:graphicData>
        </a:graphic>
      </p:graphicFrame>
      <p:cxnSp>
        <p:nvCxnSpPr>
          <p:cNvPr id="6" name="Straight Connector 5">
            <a:extLst>
              <a:ext uri="{FF2B5EF4-FFF2-40B4-BE49-F238E27FC236}">
                <a16:creationId xmlns:a16="http://schemas.microsoft.com/office/drawing/2014/main" id="{BD0B232E-6236-D68F-DA82-80405DD6D950}"/>
              </a:ext>
            </a:extLst>
          </p:cNvPr>
          <p:cNvCxnSpPr/>
          <p:nvPr/>
        </p:nvCxnSpPr>
        <p:spPr>
          <a:xfrm>
            <a:off x="1362720" y="2554560"/>
            <a:ext cx="0" cy="3265037"/>
          </a:xfrm>
          <a:prstGeom prst="line">
            <a:avLst/>
          </a:prstGeom>
          <a:ln w="3810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445378C-D9C1-EA8F-76E2-341F0156F867}"/>
              </a:ext>
            </a:extLst>
          </p:cNvPr>
          <p:cNvCxnSpPr>
            <a:cxnSpLocks/>
          </p:cNvCxnSpPr>
          <p:nvPr/>
        </p:nvCxnSpPr>
        <p:spPr>
          <a:xfrm>
            <a:off x="1977277" y="1964787"/>
            <a:ext cx="4202771" cy="0"/>
          </a:xfrm>
          <a:prstGeom prst="line">
            <a:avLst/>
          </a:prstGeom>
          <a:ln w="38100"/>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3DD5250-EEC8-ABE2-269E-226EA714FFF6}"/>
              </a:ext>
            </a:extLst>
          </p:cNvPr>
          <p:cNvSpPr txBox="1"/>
          <p:nvPr/>
        </p:nvSpPr>
        <p:spPr>
          <a:xfrm>
            <a:off x="2735561" y="1411022"/>
            <a:ext cx="2686204" cy="461665"/>
          </a:xfrm>
          <a:prstGeom prst="rect">
            <a:avLst/>
          </a:prstGeom>
          <a:noFill/>
        </p:spPr>
        <p:txBody>
          <a:bodyPr wrap="square" rtlCol="0">
            <a:spAutoFit/>
          </a:bodyPr>
          <a:lstStyle/>
          <a:p>
            <a:r>
              <a:rPr lang="en-VN" sz="2400"/>
              <a:t>Type of algorithm</a:t>
            </a:r>
          </a:p>
        </p:txBody>
      </p:sp>
      <p:sp>
        <p:nvSpPr>
          <p:cNvPr id="10" name="TextBox 9">
            <a:extLst>
              <a:ext uri="{FF2B5EF4-FFF2-40B4-BE49-F238E27FC236}">
                <a16:creationId xmlns:a16="http://schemas.microsoft.com/office/drawing/2014/main" id="{FFE217DE-4F56-30A6-F6A4-D52C985182B3}"/>
              </a:ext>
            </a:extLst>
          </p:cNvPr>
          <p:cNvSpPr txBox="1"/>
          <p:nvPr/>
        </p:nvSpPr>
        <p:spPr>
          <a:xfrm rot="16200000">
            <a:off x="-258679" y="3956246"/>
            <a:ext cx="2686204" cy="461665"/>
          </a:xfrm>
          <a:prstGeom prst="rect">
            <a:avLst/>
          </a:prstGeom>
          <a:noFill/>
        </p:spPr>
        <p:txBody>
          <a:bodyPr wrap="square" rtlCol="0">
            <a:spAutoFit/>
          </a:bodyPr>
          <a:lstStyle/>
          <a:p>
            <a:pPr algn="ctr"/>
            <a:r>
              <a:rPr lang="en-VN" sz="2400"/>
              <a:t>Type of data</a:t>
            </a:r>
          </a:p>
        </p:txBody>
      </p:sp>
      <p:sp>
        <p:nvSpPr>
          <p:cNvPr id="11" name="TextBox 10">
            <a:extLst>
              <a:ext uri="{FF2B5EF4-FFF2-40B4-BE49-F238E27FC236}">
                <a16:creationId xmlns:a16="http://schemas.microsoft.com/office/drawing/2014/main" id="{AB24010D-A533-ECC6-8824-CC3B0DD224F2}"/>
              </a:ext>
            </a:extLst>
          </p:cNvPr>
          <p:cNvSpPr txBox="1"/>
          <p:nvPr/>
        </p:nvSpPr>
        <p:spPr>
          <a:xfrm>
            <a:off x="1977279" y="2026112"/>
            <a:ext cx="2111296" cy="461665"/>
          </a:xfrm>
          <a:prstGeom prst="rect">
            <a:avLst/>
          </a:prstGeom>
          <a:noFill/>
        </p:spPr>
        <p:txBody>
          <a:bodyPr wrap="square" rtlCol="0">
            <a:spAutoFit/>
          </a:bodyPr>
          <a:lstStyle/>
          <a:p>
            <a:pPr algn="ctr"/>
            <a:r>
              <a:rPr lang="en-VN" sz="2400"/>
              <a:t>classical</a:t>
            </a:r>
          </a:p>
        </p:txBody>
      </p:sp>
      <p:sp>
        <p:nvSpPr>
          <p:cNvPr id="12" name="TextBox 11">
            <a:extLst>
              <a:ext uri="{FF2B5EF4-FFF2-40B4-BE49-F238E27FC236}">
                <a16:creationId xmlns:a16="http://schemas.microsoft.com/office/drawing/2014/main" id="{36B61F7F-1223-B253-87EA-130161BBC752}"/>
              </a:ext>
            </a:extLst>
          </p:cNvPr>
          <p:cNvSpPr txBox="1"/>
          <p:nvPr/>
        </p:nvSpPr>
        <p:spPr>
          <a:xfrm>
            <a:off x="4068752" y="2026112"/>
            <a:ext cx="2111296" cy="461665"/>
          </a:xfrm>
          <a:prstGeom prst="rect">
            <a:avLst/>
          </a:prstGeom>
          <a:noFill/>
        </p:spPr>
        <p:txBody>
          <a:bodyPr wrap="square" rtlCol="0">
            <a:spAutoFit/>
          </a:bodyPr>
          <a:lstStyle/>
          <a:p>
            <a:pPr algn="ctr"/>
            <a:r>
              <a:rPr lang="en-VN" sz="2400"/>
              <a:t>quantum</a:t>
            </a:r>
          </a:p>
        </p:txBody>
      </p:sp>
      <p:sp>
        <p:nvSpPr>
          <p:cNvPr id="13" name="TextBox 12">
            <a:extLst>
              <a:ext uri="{FF2B5EF4-FFF2-40B4-BE49-F238E27FC236}">
                <a16:creationId xmlns:a16="http://schemas.microsoft.com/office/drawing/2014/main" id="{B1C955D2-16CB-F038-7384-C524BDD150FD}"/>
              </a:ext>
            </a:extLst>
          </p:cNvPr>
          <p:cNvSpPr txBox="1"/>
          <p:nvPr/>
        </p:nvSpPr>
        <p:spPr>
          <a:xfrm rot="16200000">
            <a:off x="867541" y="3141471"/>
            <a:ext cx="1635488" cy="461665"/>
          </a:xfrm>
          <a:prstGeom prst="rect">
            <a:avLst/>
          </a:prstGeom>
          <a:noFill/>
        </p:spPr>
        <p:txBody>
          <a:bodyPr wrap="square" rtlCol="0">
            <a:spAutoFit/>
          </a:bodyPr>
          <a:lstStyle/>
          <a:p>
            <a:pPr algn="ctr"/>
            <a:r>
              <a:rPr lang="en-VN" sz="2400"/>
              <a:t>classical</a:t>
            </a:r>
          </a:p>
        </p:txBody>
      </p:sp>
      <p:sp>
        <p:nvSpPr>
          <p:cNvPr id="14" name="TextBox 13">
            <a:extLst>
              <a:ext uri="{FF2B5EF4-FFF2-40B4-BE49-F238E27FC236}">
                <a16:creationId xmlns:a16="http://schemas.microsoft.com/office/drawing/2014/main" id="{BE3FC08B-0AE0-8E51-0B19-D3B2196E820D}"/>
              </a:ext>
            </a:extLst>
          </p:cNvPr>
          <p:cNvSpPr txBox="1"/>
          <p:nvPr/>
        </p:nvSpPr>
        <p:spPr>
          <a:xfrm rot="16200000">
            <a:off x="831030" y="4778426"/>
            <a:ext cx="1644361" cy="461665"/>
          </a:xfrm>
          <a:prstGeom prst="rect">
            <a:avLst/>
          </a:prstGeom>
          <a:noFill/>
        </p:spPr>
        <p:txBody>
          <a:bodyPr wrap="square" rtlCol="0">
            <a:spAutoFit/>
          </a:bodyPr>
          <a:lstStyle/>
          <a:p>
            <a:pPr algn="ctr"/>
            <a:r>
              <a:rPr lang="en-VN" sz="2400"/>
              <a:t>quantum</a:t>
            </a:r>
          </a:p>
        </p:txBody>
      </p:sp>
      <p:sp>
        <p:nvSpPr>
          <p:cNvPr id="16" name="TextBox 15">
            <a:extLst>
              <a:ext uri="{FF2B5EF4-FFF2-40B4-BE49-F238E27FC236}">
                <a16:creationId xmlns:a16="http://schemas.microsoft.com/office/drawing/2014/main" id="{72F88BA7-0013-473C-6793-3845DF69D2D5}"/>
              </a:ext>
            </a:extLst>
          </p:cNvPr>
          <p:cNvSpPr txBox="1"/>
          <p:nvPr/>
        </p:nvSpPr>
        <p:spPr>
          <a:xfrm>
            <a:off x="451483" y="5958211"/>
            <a:ext cx="3598127" cy="830997"/>
          </a:xfrm>
          <a:prstGeom prst="rect">
            <a:avLst/>
          </a:prstGeom>
          <a:noFill/>
        </p:spPr>
        <p:txBody>
          <a:bodyPr wrap="square" rtlCol="0">
            <a:spAutoFit/>
          </a:bodyPr>
          <a:lstStyle/>
          <a:p>
            <a:r>
              <a:rPr lang="en-US" sz="2400"/>
              <a:t>C</a:t>
            </a:r>
            <a:r>
              <a:rPr lang="en-VN" sz="2400"/>
              <a:t>lassical model: KNN, SVM, Deep learning, …</a:t>
            </a:r>
          </a:p>
        </p:txBody>
      </p:sp>
      <p:cxnSp>
        <p:nvCxnSpPr>
          <p:cNvPr id="18" name="Elbow Connector 17">
            <a:extLst>
              <a:ext uri="{FF2B5EF4-FFF2-40B4-BE49-F238E27FC236}">
                <a16:creationId xmlns:a16="http://schemas.microsoft.com/office/drawing/2014/main" id="{6E12E613-FAC9-C383-937F-F722D5957B12}"/>
              </a:ext>
            </a:extLst>
          </p:cNvPr>
          <p:cNvCxnSpPr>
            <a:cxnSpLocks/>
            <a:stCxn id="16" idx="0"/>
            <a:endCxn id="20" idx="1"/>
          </p:cNvCxnSpPr>
          <p:nvPr/>
        </p:nvCxnSpPr>
        <p:spPr>
          <a:xfrm rot="5400000" flipH="1" flipV="1">
            <a:off x="1312986" y="4679368"/>
            <a:ext cx="2216404" cy="341282"/>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4F5A90FE-A9B5-CCD2-1745-0E78B1CE545B}"/>
              </a:ext>
            </a:extLst>
          </p:cNvPr>
          <p:cNvSpPr txBox="1"/>
          <p:nvPr/>
        </p:nvSpPr>
        <p:spPr>
          <a:xfrm>
            <a:off x="2591829" y="2874967"/>
            <a:ext cx="981311" cy="1733680"/>
          </a:xfrm>
          <a:prstGeom prst="rect">
            <a:avLst/>
          </a:prstGeom>
          <a:noFill/>
          <a:ln>
            <a:noFill/>
          </a:ln>
        </p:spPr>
        <p:txBody>
          <a:bodyPr wrap="square" rtlCol="0">
            <a:spAutoFit/>
          </a:bodyPr>
          <a:lstStyle/>
          <a:p>
            <a:r>
              <a:rPr lang="en-VN" sz="5333" b="1">
                <a:solidFill>
                  <a:schemeClr val="accent1"/>
                </a:solidFill>
              </a:rPr>
              <a:t>CC</a:t>
            </a:r>
          </a:p>
        </p:txBody>
      </p:sp>
      <p:sp>
        <p:nvSpPr>
          <p:cNvPr id="23" name="TextBox 22">
            <a:extLst>
              <a:ext uri="{FF2B5EF4-FFF2-40B4-BE49-F238E27FC236}">
                <a16:creationId xmlns:a16="http://schemas.microsoft.com/office/drawing/2014/main" id="{F06D8FBD-7DF6-B0CF-0286-632382535567}"/>
              </a:ext>
            </a:extLst>
          </p:cNvPr>
          <p:cNvSpPr txBox="1"/>
          <p:nvPr/>
        </p:nvSpPr>
        <p:spPr>
          <a:xfrm>
            <a:off x="4227551" y="5958212"/>
            <a:ext cx="4202771" cy="830997"/>
          </a:xfrm>
          <a:prstGeom prst="rect">
            <a:avLst/>
          </a:prstGeom>
          <a:noFill/>
        </p:spPr>
        <p:txBody>
          <a:bodyPr wrap="square" rtlCol="0">
            <a:spAutoFit/>
          </a:bodyPr>
          <a:lstStyle/>
          <a:p>
            <a:r>
              <a:rPr lang="en-VN" sz="1600"/>
              <a:t>Quantum Machine learning (QML): algorithm running on only quantum computer or both quantum / classical computers</a:t>
            </a:r>
          </a:p>
        </p:txBody>
      </p:sp>
      <p:sp>
        <p:nvSpPr>
          <p:cNvPr id="24" name="TextBox 23">
            <a:extLst>
              <a:ext uri="{FF2B5EF4-FFF2-40B4-BE49-F238E27FC236}">
                <a16:creationId xmlns:a16="http://schemas.microsoft.com/office/drawing/2014/main" id="{D00B59C3-0D35-BEBB-E80D-CAD94C5A1A81}"/>
              </a:ext>
            </a:extLst>
          </p:cNvPr>
          <p:cNvSpPr txBox="1"/>
          <p:nvPr/>
        </p:nvSpPr>
        <p:spPr>
          <a:xfrm>
            <a:off x="4633744" y="2874967"/>
            <a:ext cx="1090341" cy="1733680"/>
          </a:xfrm>
          <a:prstGeom prst="rect">
            <a:avLst/>
          </a:prstGeom>
          <a:noFill/>
          <a:ln>
            <a:noFill/>
          </a:ln>
        </p:spPr>
        <p:txBody>
          <a:bodyPr wrap="square" rtlCol="0">
            <a:spAutoFit/>
          </a:bodyPr>
          <a:lstStyle/>
          <a:p>
            <a:r>
              <a:rPr lang="en-VN" sz="5333" b="1">
                <a:solidFill>
                  <a:schemeClr val="accent1"/>
                </a:solidFill>
              </a:rPr>
              <a:t>CQ</a:t>
            </a:r>
          </a:p>
        </p:txBody>
      </p:sp>
      <p:cxnSp>
        <p:nvCxnSpPr>
          <p:cNvPr id="25" name="Elbow Connector 24">
            <a:extLst>
              <a:ext uri="{FF2B5EF4-FFF2-40B4-BE49-F238E27FC236}">
                <a16:creationId xmlns:a16="http://schemas.microsoft.com/office/drawing/2014/main" id="{F13DA99D-C2D7-1C5F-3354-4B2F81131430}"/>
              </a:ext>
            </a:extLst>
          </p:cNvPr>
          <p:cNvCxnSpPr>
            <a:cxnSpLocks/>
            <a:stCxn id="23" idx="0"/>
            <a:endCxn id="24" idx="3"/>
          </p:cNvCxnSpPr>
          <p:nvPr/>
        </p:nvCxnSpPr>
        <p:spPr>
          <a:xfrm rot="16200000" flipV="1">
            <a:off x="4918309" y="4547584"/>
            <a:ext cx="2216405" cy="604852"/>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CEB0859C-416B-B4FD-79BC-5287D1F4390B}"/>
              </a:ext>
            </a:extLst>
          </p:cNvPr>
          <p:cNvSpPr txBox="1"/>
          <p:nvPr/>
        </p:nvSpPr>
        <p:spPr>
          <a:xfrm>
            <a:off x="6711289" y="2047692"/>
            <a:ext cx="4905297" cy="1200329"/>
          </a:xfrm>
          <a:prstGeom prst="rect">
            <a:avLst/>
          </a:prstGeom>
          <a:noFill/>
        </p:spPr>
        <p:txBody>
          <a:bodyPr wrap="square" rtlCol="0">
            <a:spAutoFit/>
          </a:bodyPr>
          <a:lstStyle/>
          <a:p>
            <a:r>
              <a:rPr lang="en-VN" sz="2400"/>
              <a:t>Hybrid quantum – classical learning: algorithm run</a:t>
            </a:r>
            <a:r>
              <a:rPr lang="en-US" sz="2400"/>
              <a:t>n</a:t>
            </a:r>
            <a:r>
              <a:rPr lang="en-VN" sz="2400"/>
              <a:t>ing on both quantum </a:t>
            </a:r>
            <a:r>
              <a:rPr lang="en-US" sz="2400"/>
              <a:t>and</a:t>
            </a:r>
            <a:r>
              <a:rPr lang="en-VN" sz="2400"/>
              <a:t> classical computers</a:t>
            </a:r>
          </a:p>
        </p:txBody>
      </p:sp>
      <p:cxnSp>
        <p:nvCxnSpPr>
          <p:cNvPr id="31" name="Elbow Connector 30">
            <a:extLst>
              <a:ext uri="{FF2B5EF4-FFF2-40B4-BE49-F238E27FC236}">
                <a16:creationId xmlns:a16="http://schemas.microsoft.com/office/drawing/2014/main" id="{BF779CA7-93A9-8229-A20F-CFE8C29961C0}"/>
              </a:ext>
            </a:extLst>
          </p:cNvPr>
          <p:cNvCxnSpPr>
            <a:cxnSpLocks/>
            <a:stCxn id="30" idx="1"/>
            <a:endCxn id="22" idx="0"/>
          </p:cNvCxnSpPr>
          <p:nvPr/>
        </p:nvCxnSpPr>
        <p:spPr>
          <a:xfrm rot="10800000" flipV="1">
            <a:off x="4059127" y="2647857"/>
            <a:ext cx="2652163" cy="262960"/>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AB0E60C-E33F-AE0D-9A9D-488F38C72627}"/>
              </a:ext>
            </a:extLst>
          </p:cNvPr>
          <p:cNvCxnSpPr>
            <a:cxnSpLocks/>
          </p:cNvCxnSpPr>
          <p:nvPr/>
        </p:nvCxnSpPr>
        <p:spPr>
          <a:xfrm flipH="1">
            <a:off x="3827124" y="2960456"/>
            <a:ext cx="269321" cy="636689"/>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1" name="Slide Number Placeholder 40">
            <a:extLst>
              <a:ext uri="{FF2B5EF4-FFF2-40B4-BE49-F238E27FC236}">
                <a16:creationId xmlns:a16="http://schemas.microsoft.com/office/drawing/2014/main" id="{FCFB2282-F2A8-7AEA-F971-11F1EC20438C}"/>
              </a:ext>
            </a:extLst>
          </p:cNvPr>
          <p:cNvSpPr>
            <a:spLocks noGrp="1"/>
          </p:cNvSpPr>
          <p:nvPr>
            <p:ph type="sldNum" sz="quarter" idx="12"/>
          </p:nvPr>
        </p:nvSpPr>
        <p:spPr/>
        <p:txBody>
          <a:bodyPr/>
          <a:lstStyle/>
          <a:p>
            <a:fld id="{6A45828D-F580-42DE-B77E-860980F07F32}" type="slidenum">
              <a:rPr lang="vi-VN" smtClean="0"/>
              <a:t>20</a:t>
            </a:fld>
            <a:endParaRPr lang="vi-VN"/>
          </a:p>
        </p:txBody>
      </p:sp>
      <p:sp>
        <p:nvSpPr>
          <p:cNvPr id="3" name="Rectangle 2">
            <a:extLst>
              <a:ext uri="{FF2B5EF4-FFF2-40B4-BE49-F238E27FC236}">
                <a16:creationId xmlns:a16="http://schemas.microsoft.com/office/drawing/2014/main" id="{E6879CC7-DA0B-9E5A-04F3-C0E43636335C}"/>
              </a:ext>
            </a:extLst>
          </p:cNvPr>
          <p:cNvSpPr/>
          <p:nvPr/>
        </p:nvSpPr>
        <p:spPr>
          <a:xfrm>
            <a:off x="4560341" y="2843975"/>
            <a:ext cx="1163744" cy="268620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p>
        </p:txBody>
      </p:sp>
      <p:sp>
        <p:nvSpPr>
          <p:cNvPr id="22" name="Rectangle 21">
            <a:extLst>
              <a:ext uri="{FF2B5EF4-FFF2-40B4-BE49-F238E27FC236}">
                <a16:creationId xmlns:a16="http://schemas.microsoft.com/office/drawing/2014/main" id="{96B78621-9C3C-0540-CA90-D8E64CCC2EF8}"/>
              </a:ext>
            </a:extLst>
          </p:cNvPr>
          <p:cNvSpPr/>
          <p:nvPr/>
        </p:nvSpPr>
        <p:spPr>
          <a:xfrm>
            <a:off x="3794975" y="2910817"/>
            <a:ext cx="528301" cy="943848"/>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27" name="Straight Connector 26">
            <a:extLst>
              <a:ext uri="{FF2B5EF4-FFF2-40B4-BE49-F238E27FC236}">
                <a16:creationId xmlns:a16="http://schemas.microsoft.com/office/drawing/2014/main" id="{BB587ABE-AD69-FC73-FF0C-D856577F5F9B}"/>
              </a:ext>
            </a:extLst>
          </p:cNvPr>
          <p:cNvCxnSpPr>
            <a:cxnSpLocks/>
          </p:cNvCxnSpPr>
          <p:nvPr/>
        </p:nvCxnSpPr>
        <p:spPr>
          <a:xfrm flipH="1">
            <a:off x="3883298" y="2919379"/>
            <a:ext cx="395628" cy="93528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391BE1-E72C-EB41-D8FF-D247B0529061}"/>
              </a:ext>
            </a:extLst>
          </p:cNvPr>
          <p:cNvCxnSpPr>
            <a:cxnSpLocks/>
          </p:cNvCxnSpPr>
          <p:nvPr/>
        </p:nvCxnSpPr>
        <p:spPr>
          <a:xfrm flipH="1">
            <a:off x="4049610" y="3300783"/>
            <a:ext cx="234293" cy="55388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CA25FCB-4CAC-1D32-E99D-D9A3DEF7CEA1}"/>
              </a:ext>
            </a:extLst>
          </p:cNvPr>
          <p:cNvCxnSpPr>
            <a:cxnSpLocks/>
          </p:cNvCxnSpPr>
          <p:nvPr/>
        </p:nvCxnSpPr>
        <p:spPr>
          <a:xfrm flipH="1">
            <a:off x="3816101" y="2910818"/>
            <a:ext cx="114996" cy="27185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06D8FBD-7DF6-B0CF-0286-632382535567}"/>
              </a:ext>
            </a:extLst>
          </p:cNvPr>
          <p:cNvSpPr txBox="1"/>
          <p:nvPr/>
        </p:nvSpPr>
        <p:spPr>
          <a:xfrm>
            <a:off x="6716612" y="3382741"/>
            <a:ext cx="5362499" cy="1938992"/>
          </a:xfrm>
          <a:prstGeom prst="rect">
            <a:avLst/>
          </a:prstGeom>
          <a:noFill/>
        </p:spPr>
        <p:txBody>
          <a:bodyPr wrap="square" rtlCol="0">
            <a:spAutoFit/>
          </a:bodyPr>
          <a:lstStyle/>
          <a:p>
            <a:r>
              <a:rPr lang="en-VN" sz="2400"/>
              <a:t>QML model should resolve below classical machine learning problems:</a:t>
            </a:r>
            <a:endParaRPr lang="en-US" sz="2400"/>
          </a:p>
          <a:p>
            <a:r>
              <a:rPr lang="vi-VN" sz="2400" b="1">
                <a:solidFill>
                  <a:srgbClr val="FF0000"/>
                </a:solidFill>
                <a:latin typeface="Calibri" panose="020F0502020204030204" pitchFamily="34" charset="0"/>
                <a:cs typeface="Calibri" panose="020F0502020204030204" pitchFamily="34" charset="0"/>
              </a:rPr>
              <a:t>(1) </a:t>
            </a:r>
            <a:r>
              <a:rPr lang="vi-VN" sz="2400">
                <a:solidFill>
                  <a:srgbClr val="FF0000"/>
                </a:solidFill>
                <a:latin typeface="Calibri" panose="020F0502020204030204" pitchFamily="34" charset="0"/>
                <a:cs typeface="Calibri" panose="020F0502020204030204" pitchFamily="34" charset="0"/>
              </a:rPr>
              <a:t>Require huge dataset</a:t>
            </a:r>
          </a:p>
          <a:p>
            <a:r>
              <a:rPr lang="vi-VN" sz="2400" b="1">
                <a:solidFill>
                  <a:srgbClr val="FF0000"/>
                </a:solidFill>
                <a:latin typeface="Calibri" panose="020F0502020204030204" pitchFamily="34" charset="0"/>
                <a:cs typeface="Calibri" panose="020F0502020204030204" pitchFamily="34" charset="0"/>
              </a:rPr>
              <a:t>(2) </a:t>
            </a:r>
            <a:r>
              <a:rPr lang="vi-VN" sz="2400">
                <a:solidFill>
                  <a:srgbClr val="FF0000"/>
                </a:solidFill>
                <a:latin typeface="Calibri" panose="020F0502020204030204" pitchFamily="34" charset="0"/>
                <a:cs typeface="Calibri" panose="020F0502020204030204" pitchFamily="34" charset="0"/>
              </a:rPr>
              <a:t>High computation resources</a:t>
            </a:r>
          </a:p>
          <a:p>
            <a:r>
              <a:rPr lang="vi-VN" sz="2400" b="1">
                <a:solidFill>
                  <a:srgbClr val="FF0000"/>
                </a:solidFill>
                <a:latin typeface="Calibri" panose="020F0502020204030204" pitchFamily="34" charset="0"/>
                <a:cs typeface="Calibri" panose="020F0502020204030204" pitchFamily="34" charset="0"/>
              </a:rPr>
              <a:t>(3) </a:t>
            </a:r>
            <a:r>
              <a:rPr lang="vi-VN" sz="2400">
                <a:solidFill>
                  <a:srgbClr val="FF0000"/>
                </a:solidFill>
                <a:latin typeface="Calibri" panose="020F0502020204030204" pitchFamily="34" charset="0"/>
                <a:cs typeface="Calibri" panose="020F0502020204030204" pitchFamily="34" charset="0"/>
              </a:rPr>
              <a:t>Lack of generality</a:t>
            </a:r>
            <a:endParaRPr lang="en-VN" sz="240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0126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4E11-254B-5855-0D83-9D2E34FA09BA}"/>
              </a:ext>
            </a:extLst>
          </p:cNvPr>
          <p:cNvSpPr>
            <a:spLocks noGrp="1"/>
          </p:cNvSpPr>
          <p:nvPr>
            <p:ph type="title"/>
          </p:nvPr>
        </p:nvSpPr>
        <p:spPr>
          <a:xfrm>
            <a:off x="838201" y="365125"/>
            <a:ext cx="9011356" cy="1325563"/>
          </a:xfrm>
        </p:spPr>
        <p:txBody>
          <a:bodyPr>
            <a:normAutofit fontScale="90000"/>
          </a:bodyPr>
          <a:lstStyle/>
          <a:p>
            <a:r>
              <a:rPr lang="en-US"/>
              <a:t>2.1. </a:t>
            </a:r>
            <a:r>
              <a:rPr lang="en-VN"/>
              <a:t>Overview</a:t>
            </a:r>
            <a:br>
              <a:rPr lang="en-US"/>
            </a:br>
            <a:r>
              <a:rPr lang="en-VN" sz="2933"/>
              <a:t>What QML models can do?</a:t>
            </a:r>
            <a:br>
              <a:rPr lang="en-US" sz="2933"/>
            </a:br>
            <a:r>
              <a:rPr lang="en-VN" sz="2933"/>
              <a:t>Based on quantum advantage</a:t>
            </a:r>
            <a:r>
              <a:rPr lang="en-US" sz="2933"/>
              <a:t> </a:t>
            </a:r>
            <a:r>
              <a:rPr lang="en-US" sz="2933" b="1"/>
              <a:t>[2.2]</a:t>
            </a:r>
            <a:endParaRPr lang="en-VN" sz="2933"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EF6506-262B-A3AB-4AE7-043A0084DB40}"/>
                  </a:ext>
                </a:extLst>
              </p:cNvPr>
              <p:cNvSpPr>
                <a:spLocks noGrp="1"/>
              </p:cNvSpPr>
              <p:nvPr>
                <p:ph idx="1"/>
              </p:nvPr>
            </p:nvSpPr>
            <p:spPr/>
            <p:txBody>
              <a:bodyPr/>
              <a:lstStyle/>
              <a:p>
                <a:pPr marL="0" indent="0">
                  <a:buNone/>
                </a:pPr>
                <a:r>
                  <a:rPr lang="vi-VN" b="1">
                    <a:solidFill>
                      <a:srgbClr val="FF0000"/>
                    </a:solidFill>
                    <a:latin typeface="Calibri" panose="020F0502020204030204" pitchFamily="34" charset="0"/>
                    <a:cs typeface="Calibri" panose="020F0502020204030204" pitchFamily="34" charset="0"/>
                  </a:rPr>
                  <a:t>(1) </a:t>
                </a:r>
                <a:r>
                  <a:rPr lang="vi-VN">
                    <a:solidFill>
                      <a:srgbClr val="FF0000"/>
                    </a:solidFill>
                    <a:latin typeface="Calibri" panose="020F0502020204030204" pitchFamily="34" charset="0"/>
                    <a:cs typeface="Calibri" panose="020F0502020204030204" pitchFamily="34" charset="0"/>
                  </a:rPr>
                  <a:t>Require huge dataset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en-US">
                    <a:latin typeface="Calibri" panose="020F0502020204030204" pitchFamily="34" charset="0"/>
                    <a:cs typeface="Calibri" panose="020F0502020204030204" pitchFamily="34" charset="0"/>
                  </a:rPr>
                  <a:t> </a:t>
                </a:r>
                <a:r>
                  <a:rPr lang="vi-VN">
                    <a:latin typeface="Calibri" panose="020F0502020204030204" pitchFamily="34" charset="0"/>
                    <a:cs typeface="Calibri" panose="020F0502020204030204" pitchFamily="34" charset="0"/>
                  </a:rPr>
                  <a:t>Require less items</a:t>
                </a:r>
              </a:p>
              <a:p>
                <a:pPr marL="0" indent="0">
                  <a:buNone/>
                </a:pPr>
                <a:r>
                  <a:rPr lang="vi-VN" b="1">
                    <a:solidFill>
                      <a:srgbClr val="FF0000"/>
                    </a:solidFill>
                    <a:latin typeface="Calibri" panose="020F0502020204030204" pitchFamily="34" charset="0"/>
                    <a:cs typeface="Calibri" panose="020F0502020204030204" pitchFamily="34" charset="0"/>
                  </a:rPr>
                  <a:t>(2) </a:t>
                </a:r>
                <a:r>
                  <a:rPr lang="vi-VN">
                    <a:solidFill>
                      <a:srgbClr val="FF0000"/>
                    </a:solidFill>
                    <a:latin typeface="Calibri" panose="020F0502020204030204" pitchFamily="34" charset="0"/>
                    <a:cs typeface="Calibri" panose="020F0502020204030204" pitchFamily="34" charset="0"/>
                  </a:rPr>
                  <a:t>High computation resources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vi-VN">
                    <a:latin typeface="Calibri" panose="020F0502020204030204" pitchFamily="34" charset="0"/>
                    <a:cs typeface="Calibri" panose="020F0502020204030204" pitchFamily="34" charset="0"/>
                  </a:rPr>
                  <a:t> Lower time complexity</a:t>
                </a:r>
              </a:p>
              <a:p>
                <a:pPr marL="0" indent="0">
                  <a:buNone/>
                </a:pPr>
                <a:r>
                  <a:rPr lang="vi-VN" b="1">
                    <a:solidFill>
                      <a:srgbClr val="FF0000"/>
                    </a:solidFill>
                    <a:latin typeface="Calibri" panose="020F0502020204030204" pitchFamily="34" charset="0"/>
                    <a:cs typeface="Calibri" panose="020F0502020204030204" pitchFamily="34" charset="0"/>
                  </a:rPr>
                  <a:t>(3) </a:t>
                </a:r>
                <a:r>
                  <a:rPr lang="vi-VN">
                    <a:solidFill>
                      <a:srgbClr val="FF0000"/>
                    </a:solidFill>
                    <a:latin typeface="Calibri" panose="020F0502020204030204" pitchFamily="34" charset="0"/>
                    <a:cs typeface="Calibri" panose="020F0502020204030204" pitchFamily="34" charset="0"/>
                  </a:rPr>
                  <a:t>Lack of generality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vi-VN">
                    <a:latin typeface="Calibri" panose="020F0502020204030204" pitchFamily="34" charset="0"/>
                    <a:cs typeface="Calibri" panose="020F0502020204030204" pitchFamily="34" charset="0"/>
                  </a:rPr>
                  <a:t> Example: Require less </a:t>
                </a:r>
                <a:r>
                  <a:rPr lang="en-US">
                    <a:latin typeface="Calibri" panose="020F0502020204030204" pitchFamily="34" charset="0"/>
                    <a:cs typeface="Calibri" panose="020F0502020204030204" pitchFamily="34" charset="0"/>
                  </a:rPr>
                  <a:t>#</a:t>
                </a:r>
                <a:r>
                  <a:rPr lang="vi-VN">
                    <a:latin typeface="Calibri" panose="020F0502020204030204" pitchFamily="34" charset="0"/>
                    <a:cs typeface="Calibri" panose="020F0502020204030204" pitchFamily="34" charset="0"/>
                  </a:rPr>
                  <a:t>parameter than classical ML model or achieve higher accuracy on the same dataset.</a:t>
                </a:r>
                <a:endParaRPr lang="en-VN" b="1">
                  <a:solidFill>
                    <a:srgbClr val="FF0000"/>
                  </a:solidFill>
                  <a:latin typeface="Calibri" panose="020F0502020204030204" pitchFamily="34" charset="0"/>
                  <a:cs typeface="Calibri" panose="020F0502020204030204" pitchFamily="34" charset="0"/>
                </a:endParaRPr>
              </a:p>
              <a:p>
                <a:pPr marL="0" indent="0">
                  <a:buNone/>
                </a:pPr>
                <a:endParaRPr lang="en-VN"/>
              </a:p>
            </p:txBody>
          </p:sp>
        </mc:Choice>
        <mc:Fallback xmlns="">
          <p:sp>
            <p:nvSpPr>
              <p:cNvPr id="3" name="Content Placeholder 2">
                <a:extLst>
                  <a:ext uri="{FF2B5EF4-FFF2-40B4-BE49-F238E27FC236}">
                    <a16:creationId xmlns:a16="http://schemas.microsoft.com/office/drawing/2014/main" id="{D5EF6506-262B-A3AB-4AE7-043A0084DB40}"/>
                  </a:ext>
                </a:extLst>
              </p:cNvPr>
              <p:cNvSpPr>
                <a:spLocks noGrp="1" noRot="1" noChangeAspect="1" noMove="1" noResize="1" noEditPoints="1" noAdjustHandles="1" noChangeArrowheads="1" noChangeShapeType="1" noTextEdit="1"/>
              </p:cNvSpPr>
              <p:nvPr>
                <p:ph idx="1"/>
              </p:nvPr>
            </p:nvSpPr>
            <p:spPr>
              <a:blipFill>
                <a:blip r:embed="rId3"/>
                <a:stretch>
                  <a:fillRect l="-927" t="-224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27AD8F30-4C59-2B90-7892-EE431AC8ED28}"/>
              </a:ext>
            </a:extLst>
          </p:cNvPr>
          <p:cNvSpPr>
            <a:spLocks noGrp="1"/>
          </p:cNvSpPr>
          <p:nvPr>
            <p:ph type="sldNum" sz="quarter" idx="12"/>
          </p:nvPr>
        </p:nvSpPr>
        <p:spPr/>
        <p:txBody>
          <a:bodyPr/>
          <a:lstStyle/>
          <a:p>
            <a:fld id="{6A45828D-F580-42DE-B77E-860980F07F32}" type="slidenum">
              <a:rPr lang="vi-VN" smtClean="0"/>
              <a:t>21</a:t>
            </a:fld>
            <a:endParaRPr lang="vi-VN"/>
          </a:p>
        </p:txBody>
      </p:sp>
      <p:sp>
        <p:nvSpPr>
          <p:cNvPr id="6" name="TextBox 5">
            <a:extLst>
              <a:ext uri="{FF2B5EF4-FFF2-40B4-BE49-F238E27FC236}">
                <a16:creationId xmlns:a16="http://schemas.microsoft.com/office/drawing/2014/main" id="{6458CB36-67C5-2B41-1545-DEE56C7CDAA0}"/>
              </a:ext>
            </a:extLst>
          </p:cNvPr>
          <p:cNvSpPr txBox="1"/>
          <p:nvPr/>
        </p:nvSpPr>
        <p:spPr>
          <a:xfrm>
            <a:off x="838200" y="6109811"/>
            <a:ext cx="10083800" cy="707694"/>
          </a:xfrm>
          <a:prstGeom prst="rect">
            <a:avLst/>
          </a:prstGeom>
          <a:noFill/>
        </p:spPr>
        <p:txBody>
          <a:bodyPr wrap="square">
            <a:spAutoFit/>
          </a:bodyPr>
          <a:lstStyle/>
          <a:p>
            <a:r>
              <a:rPr lang="en-US" sz="1333" b="1">
                <a:solidFill>
                  <a:srgbClr val="222222"/>
                </a:solidFill>
              </a:rPr>
              <a:t>[2.1] </a:t>
            </a:r>
            <a:r>
              <a:rPr lang="en-US" sz="1333">
                <a:solidFill>
                  <a:srgbClr val="222222"/>
                </a:solidFill>
              </a:rPr>
              <a:t>Simões, R. D. M., Huber, P., Meier, N., Smailov, N., Füchslin, R. M., &amp; Stockinger, K. (2023). Experimental evaluation of quantum machine learning algorithms. </a:t>
            </a:r>
            <a:r>
              <a:rPr lang="en-US" sz="1333" i="1">
                <a:solidFill>
                  <a:srgbClr val="222222"/>
                </a:solidFill>
              </a:rPr>
              <a:t>IEEE Access</a:t>
            </a:r>
            <a:r>
              <a:rPr lang="en-US" sz="1333">
                <a:solidFill>
                  <a:srgbClr val="222222"/>
                </a:solidFill>
              </a:rPr>
              <a:t>, </a:t>
            </a:r>
            <a:r>
              <a:rPr lang="en-US" sz="1333" i="1">
                <a:solidFill>
                  <a:srgbClr val="222222"/>
                </a:solidFill>
              </a:rPr>
              <a:t>11</a:t>
            </a:r>
            <a:r>
              <a:rPr lang="en-US" sz="1333">
                <a:solidFill>
                  <a:srgbClr val="222222"/>
                </a:solidFill>
              </a:rPr>
              <a:t>, 6197-6208.</a:t>
            </a:r>
          </a:p>
          <a:p>
            <a:r>
              <a:rPr lang="en-US" sz="1333" b="1">
                <a:solidFill>
                  <a:srgbClr val="222222"/>
                </a:solidFill>
              </a:rPr>
              <a:t>[2.2] </a:t>
            </a:r>
            <a:r>
              <a:rPr lang="en-US" sz="1333">
                <a:solidFill>
                  <a:srgbClr val="222222"/>
                </a:solidFill>
              </a:rPr>
              <a:t>Schuld, M., &amp; Killoran, N. (2022). Is quantum advantage the right goal for quantum machine learning?. </a:t>
            </a:r>
            <a:r>
              <a:rPr lang="en-US" sz="1333" i="1">
                <a:solidFill>
                  <a:srgbClr val="222222"/>
                </a:solidFill>
              </a:rPr>
              <a:t>Prx Quantum</a:t>
            </a:r>
            <a:r>
              <a:rPr lang="en-US" sz="1333">
                <a:solidFill>
                  <a:srgbClr val="222222"/>
                </a:solidFill>
              </a:rPr>
              <a:t>, </a:t>
            </a:r>
            <a:r>
              <a:rPr lang="en-US" sz="1333" i="1">
                <a:solidFill>
                  <a:srgbClr val="222222"/>
                </a:solidFill>
              </a:rPr>
              <a:t>3</a:t>
            </a:r>
            <a:r>
              <a:rPr lang="en-US" sz="1333">
                <a:solidFill>
                  <a:srgbClr val="222222"/>
                </a:solidFill>
              </a:rPr>
              <a:t>(3), 030101.</a:t>
            </a:r>
            <a:endParaRPr lang="en-VN" sz="1333"/>
          </a:p>
        </p:txBody>
      </p:sp>
      <p:sp>
        <p:nvSpPr>
          <p:cNvPr id="5" name="TextBox 4">
            <a:extLst>
              <a:ext uri="{FF2B5EF4-FFF2-40B4-BE49-F238E27FC236}">
                <a16:creationId xmlns:a16="http://schemas.microsoft.com/office/drawing/2014/main" id="{4640F1F0-87CB-2CF4-6C48-D05526DB87D6}"/>
              </a:ext>
            </a:extLst>
          </p:cNvPr>
          <p:cNvSpPr txBox="1"/>
          <p:nvPr/>
        </p:nvSpPr>
        <p:spPr>
          <a:xfrm>
            <a:off x="6574420" y="2567226"/>
            <a:ext cx="3158603" cy="830997"/>
          </a:xfrm>
          <a:prstGeom prst="rect">
            <a:avLst/>
          </a:prstGeom>
          <a:noFill/>
          <a:ln>
            <a:solidFill>
              <a:srgbClr val="FF0000"/>
            </a:solidFill>
          </a:ln>
        </p:spPr>
        <p:txBody>
          <a:bodyPr wrap="square" rtlCol="0">
            <a:spAutoFit/>
          </a:bodyPr>
          <a:lstStyle/>
          <a:p>
            <a:r>
              <a:rPr lang="en-US" sz="2400" b="1">
                <a:solidFill>
                  <a:srgbClr val="FF0000"/>
                </a:solidFill>
              </a:rPr>
              <a:t>Be careful with hype QML papers!</a:t>
            </a:r>
            <a:endParaRPr lang="vi-VN" sz="2400" b="1">
              <a:solidFill>
                <a:srgbClr val="FF0000"/>
              </a:solidFill>
            </a:endParaRPr>
          </a:p>
        </p:txBody>
      </p:sp>
    </p:spTree>
    <p:extLst>
      <p:ext uri="{BB962C8B-B14F-4D97-AF65-F5344CB8AC3E}">
        <p14:creationId xmlns:p14="http://schemas.microsoft.com/office/powerpoint/2010/main" val="2049716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BF76A-8269-482F-089A-DEA178728571}"/>
              </a:ext>
            </a:extLst>
          </p:cNvPr>
          <p:cNvSpPr>
            <a:spLocks noGrp="1"/>
          </p:cNvSpPr>
          <p:nvPr>
            <p:ph type="title"/>
          </p:nvPr>
        </p:nvSpPr>
        <p:spPr>
          <a:xfrm>
            <a:off x="838200" y="143920"/>
            <a:ext cx="8621889" cy="1325563"/>
          </a:xfrm>
        </p:spPr>
        <p:txBody>
          <a:bodyPr>
            <a:normAutofit/>
          </a:bodyPr>
          <a:lstStyle/>
          <a:p>
            <a:r>
              <a:rPr lang="en-US"/>
              <a:t>2.1. </a:t>
            </a:r>
            <a:r>
              <a:rPr lang="en-VN"/>
              <a:t>Overview</a:t>
            </a:r>
            <a:br>
              <a:rPr lang="en-US"/>
            </a:br>
            <a:r>
              <a:rPr lang="en-VN" sz="2933"/>
              <a:t>Type of QML</a:t>
            </a:r>
            <a:r>
              <a:rPr lang="en-US" sz="2933"/>
              <a:t> model</a:t>
            </a:r>
            <a:endParaRPr lang="en-VN" sz="2933"/>
          </a:p>
        </p:txBody>
      </p:sp>
      <p:sp>
        <p:nvSpPr>
          <p:cNvPr id="7" name="Slide Number Placeholder 6">
            <a:extLst>
              <a:ext uri="{FF2B5EF4-FFF2-40B4-BE49-F238E27FC236}">
                <a16:creationId xmlns:a16="http://schemas.microsoft.com/office/drawing/2014/main" id="{ACA9FB2B-7C6C-BA7E-928A-B786C68439EA}"/>
              </a:ext>
            </a:extLst>
          </p:cNvPr>
          <p:cNvSpPr>
            <a:spLocks noGrp="1"/>
          </p:cNvSpPr>
          <p:nvPr>
            <p:ph type="sldNum" sz="quarter" idx="12"/>
          </p:nvPr>
        </p:nvSpPr>
        <p:spPr/>
        <p:txBody>
          <a:bodyPr/>
          <a:lstStyle/>
          <a:p>
            <a:fld id="{6A45828D-F580-42DE-B77E-860980F07F32}" type="slidenum">
              <a:rPr lang="vi-VN" smtClean="0"/>
              <a:t>22</a:t>
            </a:fld>
            <a:endParaRPr lang="vi-V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C7E702C-D8DE-ECEF-6B0F-BCF7AD7B54C8}"/>
                  </a:ext>
                </a:extLst>
              </p:cNvPr>
              <p:cNvSpPr txBox="1"/>
              <p:nvPr/>
            </p:nvSpPr>
            <p:spPr>
              <a:xfrm>
                <a:off x="838199" y="1381970"/>
                <a:ext cx="10772423" cy="5509200"/>
              </a:xfrm>
              <a:prstGeom prst="rect">
                <a:avLst/>
              </a:prstGeom>
              <a:noFill/>
            </p:spPr>
            <p:txBody>
              <a:bodyPr wrap="square">
                <a:spAutoFit/>
              </a:bodyPr>
              <a:lstStyle/>
              <a:p>
                <a:r>
                  <a:rPr lang="en-US" sz="3200"/>
                  <a:t>a) Speed up version of classical ML algorithms:</a:t>
                </a:r>
              </a:p>
              <a:p>
                <a:pPr marL="380990" indent="-380990">
                  <a:buFontTx/>
                  <a:buChar char="-"/>
                </a:pPr>
                <a:r>
                  <a:rPr lang="en-VN" sz="3200"/>
                  <a:t>QKNN</a:t>
                </a:r>
                <a:endParaRPr lang="en-US" sz="3200"/>
              </a:p>
              <a:p>
                <a:pPr marL="380990" indent="-380990">
                  <a:buFontTx/>
                  <a:buChar char="-"/>
                </a:pPr>
                <a:r>
                  <a:rPr lang="en-VN" sz="3200"/>
                  <a:t>QKmean</a:t>
                </a:r>
                <a:endParaRPr lang="en-US" sz="3200"/>
              </a:p>
              <a:p>
                <a:pPr marL="380990" indent="-380990">
                  <a:buFontTx/>
                  <a:buChar char="-"/>
                </a:pPr>
                <a:r>
                  <a:rPr lang="en-VN" sz="3200"/>
                  <a:t>QSVM</a:t>
                </a:r>
                <a:endParaRPr lang="en-US" sz="3200"/>
              </a:p>
              <a:p>
                <a:r>
                  <a:rPr lang="en-US" sz="3200"/>
                  <a:t>b</a:t>
                </a:r>
                <a:r>
                  <a:rPr lang="en-US" sz="3200">
                    <a:latin typeface="Calibri (Body)"/>
                  </a:rPr>
                  <a:t>) </a:t>
                </a:r>
                <a:r>
                  <a:rPr lang="vi-VN" sz="3200">
                    <a:latin typeface="Calibri (Body)"/>
                  </a:rPr>
                  <a:t>Quantum analogue version of a deep learning model</a:t>
                </a:r>
                <a:endParaRPr lang="en-US" sz="3200">
                  <a:latin typeface="Calibri (Body)"/>
                </a:endParaRPr>
              </a:p>
              <a:p>
                <a:r>
                  <a:rPr lang="en-US" sz="3200"/>
                  <a:t>- </a:t>
                </a:r>
                <a:r>
                  <a:rPr lang="en-VN" sz="3200"/>
                  <a:t>QuNN</a:t>
                </a:r>
                <a:r>
                  <a:rPr lang="en-US" sz="3200"/>
                  <a:t>, </a:t>
                </a:r>
                <a:r>
                  <a:rPr lang="en-VN" sz="3200"/>
                  <a:t>QCNN</a:t>
                </a:r>
                <a:endParaRPr lang="en-US" sz="3200"/>
              </a:p>
              <a:p>
                <a:r>
                  <a:rPr lang="en-US" sz="3200"/>
                  <a:t>- </a:t>
                </a:r>
                <a:r>
                  <a:rPr lang="en-VN" sz="3200"/>
                  <a:t>QGNN</a:t>
                </a:r>
                <a:endParaRPr lang="en-US" sz="3200"/>
              </a:p>
              <a:p>
                <a:r>
                  <a:rPr lang="en-US" sz="3200"/>
                  <a:t>- </a:t>
                </a:r>
                <a:r>
                  <a:rPr lang="en-VN" sz="3200"/>
                  <a:t>QGAN</a:t>
                </a:r>
                <a:endParaRPr lang="en-US" sz="3200"/>
              </a:p>
              <a:p>
                <a:r>
                  <a:rPr lang="en-US" sz="3200"/>
                  <a:t>c) Quantum learning </a:t>
                </a:r>
                <a:endParaRPr lang="en-US" sz="3200" i="1"/>
              </a:p>
              <a:p>
                <a14:m>
                  <m:oMath xmlns:m="http://schemas.openxmlformats.org/officeDocument/2006/math">
                    <m:r>
                      <a:rPr lang="en-US" sz="3200" i="1">
                        <a:latin typeface="Cambria Math" panose="02040503050406030204" pitchFamily="18" charset="0"/>
                      </a:rPr>
                      <m:t>→</m:t>
                    </m:r>
                  </m:oMath>
                </a14:m>
                <a:r>
                  <a:rPr lang="en-US" sz="3200"/>
                  <a:t> I don’t know this type</a:t>
                </a:r>
              </a:p>
              <a:p>
                <a:endParaRPr lang="en-US" sz="3200"/>
              </a:p>
            </p:txBody>
          </p:sp>
        </mc:Choice>
        <mc:Fallback>
          <p:sp>
            <p:nvSpPr>
              <p:cNvPr id="3" name="TextBox 2">
                <a:extLst>
                  <a:ext uri="{FF2B5EF4-FFF2-40B4-BE49-F238E27FC236}">
                    <a16:creationId xmlns:a16="http://schemas.microsoft.com/office/drawing/2014/main" id="{6C7E702C-D8DE-ECEF-6B0F-BCF7AD7B54C8}"/>
                  </a:ext>
                </a:extLst>
              </p:cNvPr>
              <p:cNvSpPr txBox="1">
                <a:spLocks noRot="1" noChangeAspect="1" noMove="1" noResize="1" noEditPoints="1" noAdjustHandles="1" noChangeArrowheads="1" noChangeShapeType="1" noTextEdit="1"/>
              </p:cNvSpPr>
              <p:nvPr/>
            </p:nvSpPr>
            <p:spPr>
              <a:xfrm>
                <a:off x="838199" y="1381970"/>
                <a:ext cx="10772423" cy="5509200"/>
              </a:xfrm>
              <a:prstGeom prst="rect">
                <a:avLst/>
              </a:prstGeom>
              <a:blipFill>
                <a:blip r:embed="rId3"/>
                <a:stretch>
                  <a:fillRect l="-1412" t="-1379"/>
                </a:stretch>
              </a:blipFill>
            </p:spPr>
            <p:txBody>
              <a:bodyPr/>
              <a:lstStyle/>
              <a:p>
                <a:r>
                  <a:rPr lang="en-VN">
                    <a:noFill/>
                  </a:rPr>
                  <a:t> </a:t>
                </a:r>
              </a:p>
            </p:txBody>
          </p:sp>
        </mc:Fallback>
      </mc:AlternateContent>
    </p:spTree>
    <p:extLst>
      <p:ext uri="{BB962C8B-B14F-4D97-AF65-F5344CB8AC3E}">
        <p14:creationId xmlns:p14="http://schemas.microsoft.com/office/powerpoint/2010/main" val="2070390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0B40-5D14-1AF6-D5B4-2BF62AA345F2}"/>
              </a:ext>
            </a:extLst>
          </p:cNvPr>
          <p:cNvSpPr>
            <a:spLocks noGrp="1"/>
          </p:cNvSpPr>
          <p:nvPr>
            <p:ph type="title"/>
          </p:nvPr>
        </p:nvSpPr>
        <p:spPr/>
        <p:txBody>
          <a:bodyPr>
            <a:normAutofit/>
          </a:bodyPr>
          <a:lstStyle/>
          <a:p>
            <a:r>
              <a:rPr lang="en-US"/>
              <a:t>2.1. </a:t>
            </a:r>
            <a:r>
              <a:rPr lang="en-VN"/>
              <a:t>Overview</a:t>
            </a:r>
            <a:br>
              <a:rPr lang="en-US"/>
            </a:br>
            <a:r>
              <a:rPr lang="en-VN" sz="2933"/>
              <a:t>Pioneers</a:t>
            </a:r>
            <a:r>
              <a:rPr lang="en-US" sz="2933"/>
              <a:t> in QML</a:t>
            </a:r>
            <a:endParaRPr lang="en-VN" sz="2933"/>
          </a:p>
        </p:txBody>
      </p:sp>
      <p:sp>
        <p:nvSpPr>
          <p:cNvPr id="3" name="Content Placeholder 2">
            <a:extLst>
              <a:ext uri="{FF2B5EF4-FFF2-40B4-BE49-F238E27FC236}">
                <a16:creationId xmlns:a16="http://schemas.microsoft.com/office/drawing/2014/main" id="{1940DA99-B3F9-9846-EFC4-5C2A9988FCB4}"/>
              </a:ext>
            </a:extLst>
          </p:cNvPr>
          <p:cNvSpPr>
            <a:spLocks noGrp="1"/>
          </p:cNvSpPr>
          <p:nvPr>
            <p:ph idx="1"/>
          </p:nvPr>
        </p:nvSpPr>
        <p:spPr>
          <a:xfrm>
            <a:off x="715110" y="5222753"/>
            <a:ext cx="2986118" cy="954211"/>
          </a:xfrm>
        </p:spPr>
        <p:txBody>
          <a:bodyPr>
            <a:noAutofit/>
          </a:bodyPr>
          <a:lstStyle/>
          <a:p>
            <a:pPr marL="0" indent="0">
              <a:buNone/>
            </a:pPr>
            <a:r>
              <a:rPr lang="en-VN" sz="2400" b="1"/>
              <a:t>Maria Schuld</a:t>
            </a:r>
          </a:p>
          <a:p>
            <a:pPr marL="0" indent="0">
              <a:buNone/>
            </a:pPr>
            <a:r>
              <a:rPr lang="en-VN" sz="2400"/>
              <a:t>Xanadu.ai (Pennylane) </a:t>
            </a:r>
          </a:p>
        </p:txBody>
      </p:sp>
      <p:sp>
        <p:nvSpPr>
          <p:cNvPr id="4" name="Slide Number Placeholder 3">
            <a:extLst>
              <a:ext uri="{FF2B5EF4-FFF2-40B4-BE49-F238E27FC236}">
                <a16:creationId xmlns:a16="http://schemas.microsoft.com/office/drawing/2014/main" id="{9D94DE28-8935-6F5E-1F58-E035AD30DFE0}"/>
              </a:ext>
            </a:extLst>
          </p:cNvPr>
          <p:cNvSpPr>
            <a:spLocks noGrp="1"/>
          </p:cNvSpPr>
          <p:nvPr>
            <p:ph type="sldNum" sz="quarter" idx="12"/>
          </p:nvPr>
        </p:nvSpPr>
        <p:spPr/>
        <p:txBody>
          <a:bodyPr/>
          <a:lstStyle/>
          <a:p>
            <a:fld id="{6A45828D-F580-42DE-B77E-860980F07F32}" type="slidenum">
              <a:rPr lang="vi-VN" smtClean="0"/>
              <a:t>23</a:t>
            </a:fld>
            <a:endParaRPr lang="vi-VN"/>
          </a:p>
        </p:txBody>
      </p:sp>
      <p:pic>
        <p:nvPicPr>
          <p:cNvPr id="5124" name="Picture 4" descr="IBM Prize for UKZN Postdoc Research Fellow - College of Agriculture,  Engineering and Science">
            <a:extLst>
              <a:ext uri="{FF2B5EF4-FFF2-40B4-BE49-F238E27FC236}">
                <a16:creationId xmlns:a16="http://schemas.microsoft.com/office/drawing/2014/main" id="{37BABF3A-CEE7-F836-4291-3FC745647C7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881" r="11193"/>
          <a:stretch/>
        </p:blipFill>
        <p:spPr bwMode="auto">
          <a:xfrm>
            <a:off x="838201" y="1825625"/>
            <a:ext cx="2528711" cy="326219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Ryan Babbush - Los Angeles County, California, United States | Professional  Profile | LinkedIn">
            <a:extLst>
              <a:ext uri="{FF2B5EF4-FFF2-40B4-BE49-F238E27FC236}">
                <a16:creationId xmlns:a16="http://schemas.microsoft.com/office/drawing/2014/main" id="{401BFB4B-8972-A2F3-A9C3-32F8F3CC089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551" r="19277"/>
          <a:stretch/>
        </p:blipFill>
        <p:spPr bwMode="auto">
          <a:xfrm>
            <a:off x="3701227" y="1825624"/>
            <a:ext cx="2223911" cy="326219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6640C37E-EA7A-084D-0776-D5303FA84D58}"/>
              </a:ext>
            </a:extLst>
          </p:cNvPr>
          <p:cNvSpPr txBox="1">
            <a:spLocks/>
          </p:cNvSpPr>
          <p:nvPr/>
        </p:nvSpPr>
        <p:spPr>
          <a:xfrm>
            <a:off x="3586829" y="5222754"/>
            <a:ext cx="3363792" cy="1270121"/>
          </a:xfrm>
          <a:prstGeom prst="rect">
            <a:avLst/>
          </a:prstGeom>
        </p:spPr>
        <p:txBody>
          <a:bodyPr vert="horz" lIns="121920" tIns="60960" rIns="121920" bIns="6096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a:t>Ryan Babbush</a:t>
            </a:r>
          </a:p>
          <a:p>
            <a:pPr marL="0" indent="0">
              <a:buNone/>
            </a:pPr>
            <a:r>
              <a:rPr lang="en-VN" sz="2400"/>
              <a:t>Google Quantum</a:t>
            </a:r>
          </a:p>
        </p:txBody>
      </p:sp>
      <p:pic>
        <p:nvPicPr>
          <p:cNvPr id="2052" name="Picture 4" descr="John P. Preskill - Computing + Mathematical Sciences">
            <a:extLst>
              <a:ext uri="{FF2B5EF4-FFF2-40B4-BE49-F238E27FC236}">
                <a16:creationId xmlns:a16="http://schemas.microsoft.com/office/drawing/2014/main" id="{8DC083E0-A42A-F65D-673D-377222B87C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59453" y="1808643"/>
            <a:ext cx="2467339" cy="3279172"/>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277E723E-32CC-8BE1-3C13-5806DDE066B9}"/>
              </a:ext>
            </a:extLst>
          </p:cNvPr>
          <p:cNvSpPr txBox="1">
            <a:spLocks/>
          </p:cNvSpPr>
          <p:nvPr/>
        </p:nvSpPr>
        <p:spPr>
          <a:xfrm>
            <a:off x="6132181" y="5252737"/>
            <a:ext cx="3363792" cy="1270121"/>
          </a:xfrm>
          <a:prstGeom prst="rect">
            <a:avLst/>
          </a:prstGeom>
        </p:spPr>
        <p:txBody>
          <a:bodyPr vert="horz" lIns="121920" tIns="60960" rIns="121920" bIns="6096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a:t>John Preskill</a:t>
            </a:r>
          </a:p>
          <a:p>
            <a:pPr marL="0" indent="0">
              <a:buNone/>
            </a:pPr>
            <a:r>
              <a:rPr lang="en-US" sz="2400"/>
              <a:t>Caltech</a:t>
            </a:r>
            <a:endParaRPr lang="en-VN" sz="2400"/>
          </a:p>
        </p:txBody>
      </p:sp>
      <p:pic>
        <p:nvPicPr>
          <p:cNvPr id="2054" name="Picture 6" descr="About - Hsin-Yuan Huang (Robert)">
            <a:extLst>
              <a:ext uri="{FF2B5EF4-FFF2-40B4-BE49-F238E27FC236}">
                <a16:creationId xmlns:a16="http://schemas.microsoft.com/office/drawing/2014/main" id="{987654D3-2B8E-768D-2B78-D67C36DD81D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81" r="15865"/>
          <a:stretch/>
        </p:blipFill>
        <p:spPr bwMode="auto">
          <a:xfrm>
            <a:off x="9061109" y="1792818"/>
            <a:ext cx="2176983" cy="331082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7C9CEA4C-B971-BD5E-8A18-7B6C758C14F7}"/>
              </a:ext>
            </a:extLst>
          </p:cNvPr>
          <p:cNvSpPr txBox="1">
            <a:spLocks/>
          </p:cNvSpPr>
          <p:nvPr/>
        </p:nvSpPr>
        <p:spPr>
          <a:xfrm>
            <a:off x="8931825" y="5282720"/>
            <a:ext cx="2848135" cy="1270121"/>
          </a:xfrm>
          <a:prstGeom prst="rect">
            <a:avLst/>
          </a:prstGeom>
        </p:spPr>
        <p:txBody>
          <a:bodyPr vert="horz" lIns="121920" tIns="60960" rIns="121920" bIns="6096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a:t>Hsin-Yuan Huang</a:t>
            </a:r>
          </a:p>
          <a:p>
            <a:pPr marL="0" indent="0">
              <a:buNone/>
            </a:pPr>
            <a:r>
              <a:rPr lang="en-US" sz="2400"/>
              <a:t>Google Quantum AI</a:t>
            </a:r>
            <a:endParaRPr lang="en-VN" sz="2400"/>
          </a:p>
        </p:txBody>
      </p:sp>
    </p:spTree>
    <p:extLst>
      <p:ext uri="{BB962C8B-B14F-4D97-AF65-F5344CB8AC3E}">
        <p14:creationId xmlns:p14="http://schemas.microsoft.com/office/powerpoint/2010/main" val="4209019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p:txBody>
          <a:bodyPr>
            <a:normAutofit/>
          </a:bodyPr>
          <a:lstStyle/>
          <a:p>
            <a:r>
              <a:rPr lang="en-VN"/>
              <a:t>2.</a:t>
            </a:r>
            <a:r>
              <a:rPr lang="en-US"/>
              <a:t>2.</a:t>
            </a:r>
            <a:r>
              <a:rPr lang="en-VN"/>
              <a:t> </a:t>
            </a:r>
            <a:r>
              <a:rPr lang="en-US" sz="4800"/>
              <a:t>QML algorithms</a:t>
            </a:r>
            <a:br>
              <a:rPr lang="en-US" sz="4800"/>
            </a:br>
            <a:r>
              <a:rPr lang="en-US" sz="2933"/>
              <a:t>QkNN</a:t>
            </a:r>
            <a:endParaRPr lang="en-VN" sz="2933"/>
          </a:p>
        </p:txBody>
      </p:sp>
      <p:cxnSp>
        <p:nvCxnSpPr>
          <p:cNvPr id="4" name="Đường kết nối Mũi tên Thẳng 3">
            <a:extLst>
              <a:ext uri="{FF2B5EF4-FFF2-40B4-BE49-F238E27FC236}">
                <a16:creationId xmlns:a16="http://schemas.microsoft.com/office/drawing/2014/main" id="{4435A524-090B-8EF4-4CC5-03E007BBD4C6}"/>
              </a:ext>
            </a:extLst>
          </p:cNvPr>
          <p:cNvCxnSpPr>
            <a:cxnSpLocks/>
          </p:cNvCxnSpPr>
          <p:nvPr/>
        </p:nvCxnSpPr>
        <p:spPr>
          <a:xfrm>
            <a:off x="820257" y="6103869"/>
            <a:ext cx="540298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Đường kết nối Mũi tên Thẳng 5">
            <a:extLst>
              <a:ext uri="{FF2B5EF4-FFF2-40B4-BE49-F238E27FC236}">
                <a16:creationId xmlns:a16="http://schemas.microsoft.com/office/drawing/2014/main" id="{EB22111C-EE76-7873-70B0-8AB9893E870B}"/>
              </a:ext>
            </a:extLst>
          </p:cNvPr>
          <p:cNvCxnSpPr>
            <a:cxnSpLocks/>
          </p:cNvCxnSpPr>
          <p:nvPr/>
        </p:nvCxnSpPr>
        <p:spPr>
          <a:xfrm flipV="1">
            <a:off x="838200" y="1825626"/>
            <a:ext cx="0" cy="429260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Hình Bầu dục 11">
            <a:extLst>
              <a:ext uri="{FF2B5EF4-FFF2-40B4-BE49-F238E27FC236}">
                <a16:creationId xmlns:a16="http://schemas.microsoft.com/office/drawing/2014/main" id="{D7872932-59E1-578B-36D2-821677880E84}"/>
              </a:ext>
            </a:extLst>
          </p:cNvPr>
          <p:cNvSpPr/>
          <p:nvPr/>
        </p:nvSpPr>
        <p:spPr>
          <a:xfrm>
            <a:off x="1336843" y="3505300"/>
            <a:ext cx="373253" cy="38761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7" name="Hình Bầu dục 12">
            <a:extLst>
              <a:ext uri="{FF2B5EF4-FFF2-40B4-BE49-F238E27FC236}">
                <a16:creationId xmlns:a16="http://schemas.microsoft.com/office/drawing/2014/main" id="{7D94EE8C-2D63-BA9D-824E-B062C8196F43}"/>
              </a:ext>
            </a:extLst>
          </p:cNvPr>
          <p:cNvSpPr/>
          <p:nvPr/>
        </p:nvSpPr>
        <p:spPr>
          <a:xfrm>
            <a:off x="2436718" y="2009133"/>
            <a:ext cx="373253" cy="38761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8" name="Hình Bầu dục 13">
            <a:extLst>
              <a:ext uri="{FF2B5EF4-FFF2-40B4-BE49-F238E27FC236}">
                <a16:creationId xmlns:a16="http://schemas.microsoft.com/office/drawing/2014/main" id="{4813ED58-A982-212F-50AC-D0FD20F1D739}"/>
              </a:ext>
            </a:extLst>
          </p:cNvPr>
          <p:cNvSpPr/>
          <p:nvPr/>
        </p:nvSpPr>
        <p:spPr>
          <a:xfrm>
            <a:off x="2579339" y="3157216"/>
            <a:ext cx="373253" cy="38761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9" name="Hình Bầu dục 14">
            <a:extLst>
              <a:ext uri="{FF2B5EF4-FFF2-40B4-BE49-F238E27FC236}">
                <a16:creationId xmlns:a16="http://schemas.microsoft.com/office/drawing/2014/main" id="{ABC27D54-3B63-4CBB-677C-B47B3641F34A}"/>
              </a:ext>
            </a:extLst>
          </p:cNvPr>
          <p:cNvSpPr/>
          <p:nvPr/>
        </p:nvSpPr>
        <p:spPr>
          <a:xfrm>
            <a:off x="4905096" y="3279091"/>
            <a:ext cx="373253" cy="38761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10" name="Hình Bầu dục 15">
            <a:extLst>
              <a:ext uri="{FF2B5EF4-FFF2-40B4-BE49-F238E27FC236}">
                <a16:creationId xmlns:a16="http://schemas.microsoft.com/office/drawing/2014/main" id="{F0878EEA-401A-0465-F8BD-67AD3C672469}"/>
              </a:ext>
            </a:extLst>
          </p:cNvPr>
          <p:cNvSpPr/>
          <p:nvPr/>
        </p:nvSpPr>
        <p:spPr>
          <a:xfrm>
            <a:off x="2568684" y="5418581"/>
            <a:ext cx="373253" cy="38761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11" name="Hình Bầu dục 16">
            <a:extLst>
              <a:ext uri="{FF2B5EF4-FFF2-40B4-BE49-F238E27FC236}">
                <a16:creationId xmlns:a16="http://schemas.microsoft.com/office/drawing/2014/main" id="{F6DE53BE-3053-F794-6A60-C4B366D81AE9}"/>
              </a:ext>
            </a:extLst>
          </p:cNvPr>
          <p:cNvSpPr/>
          <p:nvPr/>
        </p:nvSpPr>
        <p:spPr>
          <a:xfrm>
            <a:off x="2765966" y="3979117"/>
            <a:ext cx="373253" cy="38761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12" name="Hình Bầu dục 17">
            <a:extLst>
              <a:ext uri="{FF2B5EF4-FFF2-40B4-BE49-F238E27FC236}">
                <a16:creationId xmlns:a16="http://schemas.microsoft.com/office/drawing/2014/main" id="{E647BC0D-C842-2FB3-EB31-EDB7F2933A72}"/>
              </a:ext>
            </a:extLst>
          </p:cNvPr>
          <p:cNvSpPr/>
          <p:nvPr/>
        </p:nvSpPr>
        <p:spPr>
          <a:xfrm>
            <a:off x="3480002" y="4390580"/>
            <a:ext cx="373253" cy="38761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13" name="Hình Bầu dục 18">
            <a:extLst>
              <a:ext uri="{FF2B5EF4-FFF2-40B4-BE49-F238E27FC236}">
                <a16:creationId xmlns:a16="http://schemas.microsoft.com/office/drawing/2014/main" id="{FA374DDC-B5DB-0390-30D4-66C600FB3372}"/>
              </a:ext>
            </a:extLst>
          </p:cNvPr>
          <p:cNvSpPr/>
          <p:nvPr/>
        </p:nvSpPr>
        <p:spPr>
          <a:xfrm>
            <a:off x="3293374" y="3602811"/>
            <a:ext cx="373253" cy="3876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14" name="Hình Bầu dục 19">
            <a:extLst>
              <a:ext uri="{FF2B5EF4-FFF2-40B4-BE49-F238E27FC236}">
                <a16:creationId xmlns:a16="http://schemas.microsoft.com/office/drawing/2014/main" id="{C29C81DF-8013-3E8D-794C-9AD296570070}"/>
              </a:ext>
            </a:extLst>
          </p:cNvPr>
          <p:cNvSpPr/>
          <p:nvPr/>
        </p:nvSpPr>
        <p:spPr>
          <a:xfrm>
            <a:off x="4781742" y="5235300"/>
            <a:ext cx="373253" cy="38761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15" name="Hình Bầu dục 20">
            <a:extLst>
              <a:ext uri="{FF2B5EF4-FFF2-40B4-BE49-F238E27FC236}">
                <a16:creationId xmlns:a16="http://schemas.microsoft.com/office/drawing/2014/main" id="{C50CDD25-E57A-412A-CA0F-AA80D821A863}"/>
              </a:ext>
            </a:extLst>
          </p:cNvPr>
          <p:cNvSpPr/>
          <p:nvPr/>
        </p:nvSpPr>
        <p:spPr>
          <a:xfrm>
            <a:off x="5218488" y="4426445"/>
            <a:ext cx="373253" cy="38761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16" name="Hình Bầu dục 21">
            <a:extLst>
              <a:ext uri="{FF2B5EF4-FFF2-40B4-BE49-F238E27FC236}">
                <a16:creationId xmlns:a16="http://schemas.microsoft.com/office/drawing/2014/main" id="{CACECFFA-8C35-4DD1-EFFD-0E041F718EDC}"/>
              </a:ext>
            </a:extLst>
          </p:cNvPr>
          <p:cNvSpPr/>
          <p:nvPr/>
        </p:nvSpPr>
        <p:spPr>
          <a:xfrm>
            <a:off x="2358292" y="2710638"/>
            <a:ext cx="2177579" cy="226136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cxnSp>
        <p:nvCxnSpPr>
          <p:cNvPr id="17" name="Đường kết nối Mũi tên Thẳng 22">
            <a:extLst>
              <a:ext uri="{FF2B5EF4-FFF2-40B4-BE49-F238E27FC236}">
                <a16:creationId xmlns:a16="http://schemas.microsoft.com/office/drawing/2014/main" id="{8602D06E-D3AB-B355-A705-47ACA34CF4C7}"/>
              </a:ext>
            </a:extLst>
          </p:cNvPr>
          <p:cNvCxnSpPr>
            <a:cxnSpLocks/>
            <a:stCxn id="13" idx="1"/>
            <a:endCxn id="8" idx="6"/>
          </p:cNvCxnSpPr>
          <p:nvPr/>
        </p:nvCxnSpPr>
        <p:spPr>
          <a:xfrm flipH="1" flipV="1">
            <a:off x="2952595" y="3351023"/>
            <a:ext cx="395444" cy="3085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Đường kết nối Mũi tên Thẳng 26">
            <a:extLst>
              <a:ext uri="{FF2B5EF4-FFF2-40B4-BE49-F238E27FC236}">
                <a16:creationId xmlns:a16="http://schemas.microsoft.com/office/drawing/2014/main" id="{DD0A4431-B744-2308-EE37-DFC21CFEFF2E}"/>
              </a:ext>
            </a:extLst>
          </p:cNvPr>
          <p:cNvCxnSpPr>
            <a:cxnSpLocks/>
            <a:stCxn id="13" idx="2"/>
            <a:endCxn id="11" idx="7"/>
          </p:cNvCxnSpPr>
          <p:nvPr/>
        </p:nvCxnSpPr>
        <p:spPr>
          <a:xfrm flipH="1">
            <a:off x="3084558" y="3796621"/>
            <a:ext cx="208817" cy="2392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Đường kết nối Mũi tên Thẳng 29">
            <a:extLst>
              <a:ext uri="{FF2B5EF4-FFF2-40B4-BE49-F238E27FC236}">
                <a16:creationId xmlns:a16="http://schemas.microsoft.com/office/drawing/2014/main" id="{1EBAC0AB-CE9F-6A9D-2673-8EAD465C7371}"/>
              </a:ext>
            </a:extLst>
          </p:cNvPr>
          <p:cNvCxnSpPr>
            <a:cxnSpLocks/>
            <a:stCxn id="13" idx="4"/>
            <a:endCxn id="12" idx="0"/>
          </p:cNvCxnSpPr>
          <p:nvPr/>
        </p:nvCxnSpPr>
        <p:spPr>
          <a:xfrm>
            <a:off x="3480003" y="3990427"/>
            <a:ext cx="186628" cy="400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Đường kết nối Mũi tên Thẳng 32">
            <a:extLst>
              <a:ext uri="{FF2B5EF4-FFF2-40B4-BE49-F238E27FC236}">
                <a16:creationId xmlns:a16="http://schemas.microsoft.com/office/drawing/2014/main" id="{8E0B40E1-5EA8-DC2D-34C6-C0628F57DA12}"/>
              </a:ext>
            </a:extLst>
          </p:cNvPr>
          <p:cNvCxnSpPr>
            <a:cxnSpLocks/>
            <a:stCxn id="13" idx="0"/>
            <a:endCxn id="7" idx="5"/>
          </p:cNvCxnSpPr>
          <p:nvPr/>
        </p:nvCxnSpPr>
        <p:spPr>
          <a:xfrm flipH="1" flipV="1">
            <a:off x="2755310" y="2339983"/>
            <a:ext cx="724692" cy="126282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Đường kết nối Mũi tên Thẳng 35">
            <a:extLst>
              <a:ext uri="{FF2B5EF4-FFF2-40B4-BE49-F238E27FC236}">
                <a16:creationId xmlns:a16="http://schemas.microsoft.com/office/drawing/2014/main" id="{968B7F80-21B3-FD31-B445-C6E754DD58A9}"/>
              </a:ext>
            </a:extLst>
          </p:cNvPr>
          <p:cNvCxnSpPr>
            <a:cxnSpLocks/>
            <a:stCxn id="13" idx="7"/>
            <a:endCxn id="9" idx="2"/>
          </p:cNvCxnSpPr>
          <p:nvPr/>
        </p:nvCxnSpPr>
        <p:spPr>
          <a:xfrm flipV="1">
            <a:off x="3611969" y="3472899"/>
            <a:ext cx="1293129" cy="18667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Đường kết nối Mũi tên Thẳng 38">
            <a:extLst>
              <a:ext uri="{FF2B5EF4-FFF2-40B4-BE49-F238E27FC236}">
                <a16:creationId xmlns:a16="http://schemas.microsoft.com/office/drawing/2014/main" id="{591CBD20-90B5-DE2E-C6E2-644AD6EF8E8D}"/>
              </a:ext>
            </a:extLst>
          </p:cNvPr>
          <p:cNvCxnSpPr>
            <a:cxnSpLocks/>
            <a:stCxn id="13" idx="5"/>
            <a:endCxn id="14" idx="1"/>
          </p:cNvCxnSpPr>
          <p:nvPr/>
        </p:nvCxnSpPr>
        <p:spPr>
          <a:xfrm>
            <a:off x="3611966" y="3933663"/>
            <a:ext cx="1224437" cy="135840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Đường kết nối Mũi tên Thẳng 41">
            <a:extLst>
              <a:ext uri="{FF2B5EF4-FFF2-40B4-BE49-F238E27FC236}">
                <a16:creationId xmlns:a16="http://schemas.microsoft.com/office/drawing/2014/main" id="{03073DED-21CB-A494-917A-BCF0025360EF}"/>
              </a:ext>
            </a:extLst>
          </p:cNvPr>
          <p:cNvCxnSpPr>
            <a:cxnSpLocks/>
            <a:stCxn id="13" idx="6"/>
            <a:endCxn id="15" idx="2"/>
          </p:cNvCxnSpPr>
          <p:nvPr/>
        </p:nvCxnSpPr>
        <p:spPr>
          <a:xfrm>
            <a:off x="3666631" y="3796621"/>
            <a:ext cx="1551860" cy="8236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44">
            <a:extLst>
              <a:ext uri="{FF2B5EF4-FFF2-40B4-BE49-F238E27FC236}">
                <a16:creationId xmlns:a16="http://schemas.microsoft.com/office/drawing/2014/main" id="{CE7189EA-8D47-B8D3-8159-1023E80FA26F}"/>
              </a:ext>
            </a:extLst>
          </p:cNvPr>
          <p:cNvCxnSpPr>
            <a:cxnSpLocks/>
            <a:stCxn id="13" idx="3"/>
            <a:endCxn id="10" idx="7"/>
          </p:cNvCxnSpPr>
          <p:nvPr/>
        </p:nvCxnSpPr>
        <p:spPr>
          <a:xfrm flipH="1">
            <a:off x="2887276" y="3933665"/>
            <a:ext cx="460761" cy="154168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47">
            <a:extLst>
              <a:ext uri="{FF2B5EF4-FFF2-40B4-BE49-F238E27FC236}">
                <a16:creationId xmlns:a16="http://schemas.microsoft.com/office/drawing/2014/main" id="{16ADF3E3-B7D4-4118-D3BE-FBA9F5876DE7}"/>
              </a:ext>
            </a:extLst>
          </p:cNvPr>
          <p:cNvCxnSpPr>
            <a:cxnSpLocks/>
            <a:stCxn id="13" idx="2"/>
            <a:endCxn id="6" idx="6"/>
          </p:cNvCxnSpPr>
          <p:nvPr/>
        </p:nvCxnSpPr>
        <p:spPr>
          <a:xfrm flipH="1" flipV="1">
            <a:off x="1710097" y="3699109"/>
            <a:ext cx="1583279" cy="9751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6" name="Hộp Văn bản 50">
                <a:extLst>
                  <a:ext uri="{FF2B5EF4-FFF2-40B4-BE49-F238E27FC236}">
                    <a16:creationId xmlns:a16="http://schemas.microsoft.com/office/drawing/2014/main" id="{CB891367-FFE7-A093-BAE2-C9798B9106DE}"/>
                  </a:ext>
                </a:extLst>
              </p:cNvPr>
              <p:cNvSpPr txBox="1"/>
              <p:nvPr/>
            </p:nvSpPr>
            <p:spPr>
              <a:xfrm>
                <a:off x="5778760" y="1740712"/>
                <a:ext cx="6489440" cy="1405256"/>
              </a:xfrm>
              <a:prstGeom prst="rect">
                <a:avLst/>
              </a:prstGeom>
              <a:noFill/>
            </p:spPr>
            <p:txBody>
              <a:bodyPr wrap="square" rtlCol="0">
                <a:spAutoFit/>
              </a:bodyPr>
              <a:lstStyle/>
              <a:p>
                <a:r>
                  <a:rPr lang="en-US" sz="2133"/>
                  <a:t>For each test data point </a:t>
                </a:r>
                <a14:m>
                  <m:oMath xmlns:m="http://schemas.openxmlformats.org/officeDocument/2006/math">
                    <m:r>
                      <a:rPr lang="en-US" sz="2133" i="1">
                        <a:latin typeface="Cambria Math" panose="02040503050406030204" pitchFamily="18" charset="0"/>
                      </a:rPr>
                      <m:t>𝑎</m:t>
                    </m:r>
                  </m:oMath>
                </a14:m>
                <a:r>
                  <a:rPr lang="en-US" sz="2133"/>
                  <a:t>:</a:t>
                </a:r>
              </a:p>
              <a:p>
                <a:r>
                  <a:rPr lang="en-US" sz="2133"/>
                  <a:t>   Step 1: Calculate </a:t>
                </a:r>
                <a14:m>
                  <m:oMath xmlns:m="http://schemas.openxmlformats.org/officeDocument/2006/math">
                    <m:sSub>
                      <m:sSubPr>
                        <m:ctrlPr>
                          <a:rPr lang="vi-VN" sz="2133" i="1">
                            <a:latin typeface="Cambria Math" panose="02040503050406030204" pitchFamily="18" charset="0"/>
                          </a:rPr>
                        </m:ctrlPr>
                      </m:sSubPr>
                      <m:e>
                        <m:r>
                          <m:rPr>
                            <m:sty m:val="p"/>
                          </m:rPr>
                          <a:rPr lang="en-US" sz="2133">
                            <a:latin typeface="Cambria Math" panose="02040503050406030204" pitchFamily="18" charset="0"/>
                          </a:rPr>
                          <m:t>Ds</m:t>
                        </m:r>
                      </m:e>
                      <m:sub>
                        <m:r>
                          <m:rPr>
                            <m:sty m:val="p"/>
                          </m:rPr>
                          <a:rPr lang="vi-VN" sz="2133" i="1">
                            <a:latin typeface="Cambria Math" panose="02040503050406030204" pitchFamily="18" charset="0"/>
                          </a:rPr>
                          <m:t>a</m:t>
                        </m:r>
                      </m:sub>
                    </m:sSub>
                    <m:r>
                      <a:rPr lang="en-US" sz="2133" i="1">
                        <a:latin typeface="Cambria Math" panose="02040503050406030204" pitchFamily="18" charset="0"/>
                      </a:rPr>
                      <m:t>=</m:t>
                    </m:r>
                    <m:r>
                      <a:rPr lang="en-US" sz="2133" i="1">
                        <a:latin typeface="Cambria Math" panose="02040503050406030204" pitchFamily="18" charset="0"/>
                      </a:rPr>
                      <m:t>𝑑𝑖𝑠𝑡</m:t>
                    </m:r>
                    <m:d>
                      <m:dPr>
                        <m:ctrlPr>
                          <a:rPr lang="en-US" sz="2133" i="1">
                            <a:latin typeface="Cambria Math" panose="02040503050406030204" pitchFamily="18" charset="0"/>
                          </a:rPr>
                        </m:ctrlPr>
                      </m:dPr>
                      <m:e>
                        <m:r>
                          <a:rPr lang="en-US" sz="2133" i="1">
                            <a:latin typeface="Cambria Math" panose="02040503050406030204" pitchFamily="18" charset="0"/>
                          </a:rPr>
                          <m:t>𝑎</m:t>
                        </m:r>
                        <m:r>
                          <a:rPr lang="en-US" sz="2133" i="1">
                            <a:latin typeface="Cambria Math" panose="02040503050406030204" pitchFamily="18" charset="0"/>
                          </a:rPr>
                          <m:t>, </m:t>
                        </m:r>
                        <m:sSub>
                          <m:sSubPr>
                            <m:ctrlPr>
                              <a:rPr lang="en-US" sz="2133" i="1">
                                <a:latin typeface="Cambria Math" panose="02040503050406030204" pitchFamily="18" charset="0"/>
                              </a:rPr>
                            </m:ctrlPr>
                          </m:sSubPr>
                          <m:e>
                            <m:r>
                              <a:rPr lang="en-US" sz="2133" i="1">
                                <a:latin typeface="Cambria Math" panose="02040503050406030204" pitchFamily="18" charset="0"/>
                              </a:rPr>
                              <m:t>𝑥</m:t>
                            </m:r>
                          </m:e>
                          <m:sub>
                            <m:r>
                              <a:rPr lang="en-US" sz="2133" i="1">
                                <a:latin typeface="Cambria Math" panose="02040503050406030204" pitchFamily="18" charset="0"/>
                              </a:rPr>
                              <m:t>𝑖</m:t>
                            </m:r>
                          </m:sub>
                        </m:sSub>
                      </m:e>
                    </m:d>
                    <m:r>
                      <a:rPr lang="en-US" sz="2133" i="1">
                        <a:latin typeface="Cambria Math" panose="02040503050406030204" pitchFamily="18" charset="0"/>
                      </a:rPr>
                      <m:t> </m:t>
                    </m:r>
                    <m:r>
                      <a:rPr lang="en-US" sz="2133" i="1">
                        <a:latin typeface="Cambria Math" panose="02040503050406030204" pitchFamily="18" charset="0"/>
                        <a:ea typeface="Cambria Math" panose="02040503050406030204" pitchFamily="18" charset="0"/>
                      </a:rPr>
                      <m:t>∀ </m:t>
                    </m:r>
                    <m:r>
                      <a:rPr lang="en-US" sz="2133" i="1">
                        <a:latin typeface="Cambria Math" panose="02040503050406030204" pitchFamily="18" charset="0"/>
                        <a:ea typeface="Cambria Math" panose="02040503050406030204" pitchFamily="18" charset="0"/>
                      </a:rPr>
                      <m:t>𝑖</m:t>
                    </m:r>
                    <m:r>
                      <a:rPr lang="en-US" sz="2133" i="1">
                        <a:latin typeface="Cambria Math" panose="02040503050406030204" pitchFamily="18" charset="0"/>
                        <a:ea typeface="Cambria Math" panose="02040503050406030204" pitchFamily="18" charset="0"/>
                      </a:rPr>
                      <m:t>=1..</m:t>
                    </m:r>
                    <m:r>
                      <a:rPr lang="en-US" sz="2133" i="1">
                        <a:latin typeface="Cambria Math" panose="02040503050406030204" pitchFamily="18" charset="0"/>
                        <a:ea typeface="Cambria Math" panose="02040503050406030204" pitchFamily="18" charset="0"/>
                      </a:rPr>
                      <m:t>𝑛</m:t>
                    </m:r>
                  </m:oMath>
                </a14:m>
                <a:endParaRPr lang="en-US" sz="2133"/>
              </a:p>
              <a:p>
                <a:r>
                  <a:rPr lang="en-US" sz="2133"/>
                  <a:t>   Step 2: Sort and get </a:t>
                </a:r>
                <a14:m>
                  <m:oMath xmlns:m="http://schemas.openxmlformats.org/officeDocument/2006/math">
                    <m:r>
                      <a:rPr lang="en-US" sz="2133" i="1">
                        <a:latin typeface="Cambria Math" panose="02040503050406030204" pitchFamily="18" charset="0"/>
                      </a:rPr>
                      <m:t>𝑘</m:t>
                    </m:r>
                  </m:oMath>
                </a14:m>
                <a:r>
                  <a:rPr lang="en-US" sz="2133"/>
                  <a:t> smallest dist in </a:t>
                </a:r>
                <a14:m>
                  <m:oMath xmlns:m="http://schemas.openxmlformats.org/officeDocument/2006/math">
                    <m:r>
                      <m:rPr>
                        <m:sty m:val="p"/>
                      </m:rPr>
                      <a:rPr lang="en-US" sz="2133">
                        <a:latin typeface="Cambria Math" panose="02040503050406030204" pitchFamily="18" charset="0"/>
                      </a:rPr>
                      <m:t>D</m:t>
                    </m:r>
                    <m:sSub>
                      <m:sSubPr>
                        <m:ctrlPr>
                          <a:rPr lang="vi-VN" sz="2133" i="1">
                            <a:latin typeface="Cambria Math" panose="02040503050406030204" pitchFamily="18" charset="0"/>
                          </a:rPr>
                        </m:ctrlPr>
                      </m:sSubPr>
                      <m:e>
                        <m:r>
                          <m:rPr>
                            <m:sty m:val="p"/>
                          </m:rPr>
                          <a:rPr lang="en-US" sz="2133">
                            <a:latin typeface="Cambria Math" panose="02040503050406030204" pitchFamily="18" charset="0"/>
                          </a:rPr>
                          <m:t>s</m:t>
                        </m:r>
                      </m:e>
                      <m:sub>
                        <m:r>
                          <m:rPr>
                            <m:sty m:val="p"/>
                          </m:rPr>
                          <a:rPr lang="vi-VN" sz="2133">
                            <a:latin typeface="Cambria Math" panose="02040503050406030204" pitchFamily="18" charset="0"/>
                          </a:rPr>
                          <m:t>a</m:t>
                        </m:r>
                      </m:sub>
                    </m:sSub>
                  </m:oMath>
                </a14:m>
                <a:r>
                  <a:rPr lang="en-US" sz="2133"/>
                  <a:t>.</a:t>
                </a:r>
              </a:p>
              <a:p>
                <a:r>
                  <a:rPr lang="en-US" sz="2133"/>
                  <a:t>   Step 3: Get </a:t>
                </a:r>
                <a14:m>
                  <m:oMath xmlns:m="http://schemas.openxmlformats.org/officeDocument/2006/math">
                    <m:r>
                      <a:rPr lang="en-US" sz="2133" i="1">
                        <a:latin typeface="Cambria Math" panose="02040503050406030204" pitchFamily="18" charset="0"/>
                      </a:rPr>
                      <m:t>𝑘</m:t>
                    </m:r>
                  </m:oMath>
                </a14:m>
                <a:r>
                  <a:rPr lang="en-US" sz="2133"/>
                  <a:t> corresponding label and do major vote</a:t>
                </a:r>
                <a:endParaRPr lang="vi-VN" sz="2133"/>
              </a:p>
            </p:txBody>
          </p:sp>
        </mc:Choice>
        <mc:Fallback>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5778760" y="1740712"/>
                <a:ext cx="6489440" cy="1405256"/>
              </a:xfrm>
              <a:prstGeom prst="rect">
                <a:avLst/>
              </a:prstGeom>
              <a:blipFill>
                <a:blip r:embed="rId3"/>
                <a:stretch>
                  <a:fillRect l="-1367" t="-3604" b="-810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8" name="Hộp Văn bản 50">
                <a:extLst>
                  <a:ext uri="{FF2B5EF4-FFF2-40B4-BE49-F238E27FC236}">
                    <a16:creationId xmlns:a16="http://schemas.microsoft.com/office/drawing/2014/main" id="{EBCD8AB1-0083-427F-3B8D-850EA95BE732}"/>
                  </a:ext>
                </a:extLst>
              </p:cNvPr>
              <p:cNvSpPr txBox="1"/>
              <p:nvPr/>
            </p:nvSpPr>
            <p:spPr>
              <a:xfrm>
                <a:off x="5778759" y="3126486"/>
                <a:ext cx="5924151" cy="1733488"/>
              </a:xfrm>
              <a:prstGeom prst="rect">
                <a:avLst/>
              </a:prstGeom>
              <a:noFill/>
            </p:spPr>
            <p:txBody>
              <a:bodyPr wrap="square" rtlCol="0">
                <a:spAutoFit/>
              </a:bodyPr>
              <a:lstStyle/>
              <a:p>
                <a:r>
                  <a:rPr lang="vi-VN" sz="2133">
                    <a:latin typeface="Calibri" panose="020F0502020204030204" pitchFamily="34" charset="0"/>
                    <a:cs typeface="Calibri" panose="020F0502020204030204" pitchFamily="34" charset="0"/>
                  </a:rPr>
                  <a:t>Time complexity:</a:t>
                </a:r>
                <a:r>
                  <a:rPr lang="en-US" sz="2133">
                    <a:latin typeface="Calibri" panose="020F0502020204030204" pitchFamily="34" charset="0"/>
                    <a:cs typeface="Calibri" panose="020F0502020204030204" pitchFamily="34" charset="0"/>
                  </a:rPr>
                  <a:t> </a:t>
                </a:r>
                <a14:m>
                  <m:oMath xmlns:m="http://schemas.openxmlformats.org/officeDocument/2006/math">
                    <m:r>
                      <a:rPr lang="vi-VN" sz="2133" i="1">
                        <a:latin typeface="Cambria Math" panose="02040503050406030204" pitchFamily="18" charset="0"/>
                        <a:ea typeface="Cambria Math" panose="02040503050406030204" pitchFamily="18" charset="0"/>
                      </a:rPr>
                      <m:t>𝒪</m:t>
                    </m:r>
                    <m:r>
                      <a:rPr lang="vi-VN" sz="2133" i="1">
                        <a:latin typeface="Cambria Math" panose="02040503050406030204" pitchFamily="18" charset="0"/>
                        <a:ea typeface="Cambria Math" panose="02040503050406030204" pitchFamily="18" charset="0"/>
                      </a:rPr>
                      <m:t>(</m:t>
                    </m:r>
                    <m:sSub>
                      <m:sSubPr>
                        <m:ctrlPr>
                          <a:rPr lang="vi-VN" sz="2133" i="1">
                            <a:latin typeface="Cambria Math" panose="02040503050406030204" pitchFamily="18" charset="0"/>
                            <a:ea typeface="Cambria Math" panose="02040503050406030204" pitchFamily="18" charset="0"/>
                          </a:rPr>
                        </m:ctrlPr>
                      </m:sSubPr>
                      <m:e>
                        <m:r>
                          <a:rPr lang="vi-VN" sz="2133" i="1">
                            <a:latin typeface="Cambria Math" panose="02040503050406030204" pitchFamily="18" charset="0"/>
                            <a:ea typeface="Cambria Math" panose="02040503050406030204" pitchFamily="18" charset="0"/>
                          </a:rPr>
                          <m:t>𝑚𝑛𝑛</m:t>
                        </m:r>
                      </m:e>
                      <m:sub>
                        <m:r>
                          <m:rPr>
                            <m:sty m:val="p"/>
                          </m:rPr>
                          <a:rPr lang="vi-VN" sz="2133" i="1">
                            <a:latin typeface="Cambria Math" panose="02040503050406030204" pitchFamily="18" charset="0"/>
                            <a:ea typeface="Cambria Math" panose="02040503050406030204" pitchFamily="18" charset="0"/>
                          </a:rPr>
                          <m:t>test</m:t>
                        </m:r>
                      </m:sub>
                    </m:sSub>
                    <m:r>
                      <a:rPr lang="vi-VN" sz="2133" i="1">
                        <a:latin typeface="Cambria Math" panose="02040503050406030204" pitchFamily="18" charset="0"/>
                        <a:ea typeface="Cambria Math" panose="02040503050406030204" pitchFamily="18" charset="0"/>
                      </a:rPr>
                      <m:t>)</m:t>
                    </m:r>
                  </m:oMath>
                </a14:m>
                <a:endParaRPr lang="vi-VN" sz="2133">
                  <a:latin typeface="Calibri" panose="020F0502020204030204" pitchFamily="34" charset="0"/>
                  <a:cs typeface="Calibri" panose="020F0502020204030204" pitchFamily="34" charset="0"/>
                </a:endParaRPr>
              </a:p>
              <a:p>
                <a:r>
                  <a:rPr lang="en-US" sz="2133">
                    <a:latin typeface="Calibri" panose="020F0502020204030204" pitchFamily="34" charset="0"/>
                    <a:cs typeface="Calibri" panose="020F0502020204030204" pitchFamily="34" charset="0"/>
                  </a:rPr>
                  <a:t>w</a:t>
                </a:r>
                <a:r>
                  <a:rPr lang="vi-VN" sz="2133">
                    <a:latin typeface="Calibri" panose="020F0502020204030204" pitchFamily="34" charset="0"/>
                    <a:cs typeface="Calibri" panose="020F0502020204030204" pitchFamily="34" charset="0"/>
                  </a:rPr>
                  <a:t>here:</a:t>
                </a:r>
                <a:endParaRPr lang="en-US" sz="2133">
                  <a:latin typeface="Calibri" panose="020F0502020204030204" pitchFamily="34" charset="0"/>
                  <a:cs typeface="Calibri" panose="020F0502020204030204" pitchFamily="34" charset="0"/>
                </a:endParaRPr>
              </a:p>
              <a:p>
                <a:r>
                  <a:rPr lang="en-US" sz="2133">
                    <a:latin typeface="Calibri" panose="020F0502020204030204" pitchFamily="34" charset="0"/>
                    <a:cs typeface="Calibri" panose="020F0502020204030204" pitchFamily="34" charset="0"/>
                  </a:rPr>
                  <a:t>   </a:t>
                </a:r>
                <a14:m>
                  <m:oMath xmlns:m="http://schemas.openxmlformats.org/officeDocument/2006/math">
                    <m:r>
                      <a:rPr lang="vi-VN" sz="2133" i="1">
                        <a:latin typeface="Cambria Math" panose="02040503050406030204" pitchFamily="18" charset="0"/>
                        <a:cs typeface="Calibri" panose="020F0502020204030204" pitchFamily="34" charset="0"/>
                      </a:rPr>
                      <m:t>𝑚</m:t>
                    </m:r>
                  </m:oMath>
                </a14:m>
                <a:r>
                  <a:rPr lang="vi-VN" sz="2133">
                    <a:latin typeface="Calibri" panose="020F0502020204030204" pitchFamily="34" charset="0"/>
                    <a:cs typeface="Calibri" panose="020F0502020204030204" pitchFamily="34" charset="0"/>
                  </a:rPr>
                  <a:t>: dimensional of </a:t>
                </a:r>
                <a14:m>
                  <m:oMath xmlns:m="http://schemas.openxmlformats.org/officeDocument/2006/math">
                    <m:sSub>
                      <m:sSubPr>
                        <m:ctrlPr>
                          <a:rPr lang="vi-VN" sz="2133" i="1">
                            <a:latin typeface="Cambria Math" panose="02040503050406030204" pitchFamily="18" charset="0"/>
                          </a:rPr>
                        </m:ctrlPr>
                      </m:sSubPr>
                      <m:e>
                        <m:r>
                          <a:rPr lang="vi-VN" sz="2133" i="1">
                            <a:latin typeface="Cambria Math" panose="02040503050406030204" pitchFamily="18" charset="0"/>
                          </a:rPr>
                          <m:t>𝑥</m:t>
                        </m:r>
                      </m:e>
                      <m:sub>
                        <m:r>
                          <a:rPr lang="vi-VN" sz="2133" i="1">
                            <a:latin typeface="Cambria Math" panose="02040503050406030204" pitchFamily="18" charset="0"/>
                          </a:rPr>
                          <m:t>𝑖</m:t>
                        </m:r>
                      </m:sub>
                    </m:sSub>
                  </m:oMath>
                </a14:m>
                <a:endParaRPr lang="vi-VN" sz="2133" i="1">
                  <a:latin typeface="Calibri" panose="020F0502020204030204" pitchFamily="34" charset="0"/>
                  <a:cs typeface="Calibri" panose="020F0502020204030204" pitchFamily="34" charset="0"/>
                </a:endParaRPr>
              </a:p>
              <a:p>
                <a:r>
                  <a:rPr lang="en-US" sz="2133" i="1">
                    <a:latin typeface="Calibri" panose="020F0502020204030204" pitchFamily="34" charset="0"/>
                    <a:cs typeface="Calibri" panose="020F0502020204030204" pitchFamily="34" charset="0"/>
                  </a:rPr>
                  <a:t>   </a:t>
                </a:r>
                <a14:m>
                  <m:oMath xmlns:m="http://schemas.openxmlformats.org/officeDocument/2006/math">
                    <m:r>
                      <a:rPr lang="vi-VN" sz="2133" i="1">
                        <a:latin typeface="Cambria Math" panose="02040503050406030204" pitchFamily="18" charset="0"/>
                        <a:cs typeface="Calibri" panose="020F0502020204030204" pitchFamily="34" charset="0"/>
                      </a:rPr>
                      <m:t>𝑛</m:t>
                    </m:r>
                  </m:oMath>
                </a14:m>
                <a:r>
                  <a:rPr lang="vi-VN" sz="2133" i="1">
                    <a:latin typeface="Calibri" panose="020F0502020204030204" pitchFamily="34" charset="0"/>
                    <a:cs typeface="Calibri" panose="020F0502020204030204" pitchFamily="34" charset="0"/>
                  </a:rPr>
                  <a:t>: </a:t>
                </a:r>
                <a:r>
                  <a:rPr lang="en-US" sz="2133">
                    <a:latin typeface="Calibri" panose="020F0502020204030204" pitchFamily="34" charset="0"/>
                    <a:cs typeface="Calibri" panose="020F0502020204030204" pitchFamily="34" charset="0"/>
                  </a:rPr>
                  <a:t># </a:t>
                </a:r>
                <a:r>
                  <a:rPr lang="vi-VN" sz="2133">
                    <a:latin typeface="Calibri" panose="020F0502020204030204" pitchFamily="34" charset="0"/>
                    <a:cs typeface="Calibri" panose="020F0502020204030204" pitchFamily="34" charset="0"/>
                  </a:rPr>
                  <a:t>train data points</a:t>
                </a:r>
              </a:p>
              <a:p>
                <a:r>
                  <a:rPr lang="en-US" sz="2133" i="1">
                    <a:latin typeface="Calibri" panose="020F0502020204030204" pitchFamily="34" charset="0"/>
                    <a:cs typeface="Calibri" panose="020F0502020204030204" pitchFamily="34" charset="0"/>
                  </a:rPr>
                  <a:t>   </a:t>
                </a:r>
                <a14:m>
                  <m:oMath xmlns:m="http://schemas.openxmlformats.org/officeDocument/2006/math">
                    <m:sSub>
                      <m:sSubPr>
                        <m:ctrlPr>
                          <a:rPr lang="vi-VN" sz="2133" i="1">
                            <a:latin typeface="Cambria Math" panose="02040503050406030204" pitchFamily="18" charset="0"/>
                          </a:rPr>
                        </m:ctrlPr>
                      </m:sSubPr>
                      <m:e>
                        <m:r>
                          <a:rPr lang="vi-VN" sz="2133" i="1">
                            <a:latin typeface="Cambria Math" panose="02040503050406030204" pitchFamily="18" charset="0"/>
                          </a:rPr>
                          <m:t>𝑛</m:t>
                        </m:r>
                      </m:e>
                      <m:sub>
                        <m:r>
                          <m:rPr>
                            <m:sty m:val="p"/>
                          </m:rPr>
                          <a:rPr lang="vi-VN" sz="2133" i="1">
                            <a:latin typeface="Cambria Math" panose="02040503050406030204" pitchFamily="18" charset="0"/>
                          </a:rPr>
                          <m:t>test</m:t>
                        </m:r>
                      </m:sub>
                    </m:sSub>
                    <m:r>
                      <a:rPr lang="vi-VN" sz="2133" i="1">
                        <a:latin typeface="Cambria Math" panose="02040503050406030204" pitchFamily="18" charset="0"/>
                      </a:rPr>
                      <m:t>:</m:t>
                    </m:r>
                  </m:oMath>
                </a14:m>
                <a:r>
                  <a:rPr lang="vi-VN" sz="2133" i="1">
                    <a:latin typeface="Calibri" panose="020F0502020204030204" pitchFamily="34" charset="0"/>
                    <a:cs typeface="Calibri" panose="020F0502020204030204" pitchFamily="34" charset="0"/>
                  </a:rPr>
                  <a:t> </a:t>
                </a:r>
                <a:r>
                  <a:rPr lang="en-US" sz="2133">
                    <a:latin typeface="Calibri" panose="020F0502020204030204" pitchFamily="34" charset="0"/>
                    <a:cs typeface="Calibri" panose="020F0502020204030204" pitchFamily="34" charset="0"/>
                  </a:rPr>
                  <a:t># </a:t>
                </a:r>
                <a:r>
                  <a:rPr lang="vi-VN" sz="2133">
                    <a:latin typeface="Calibri" panose="020F0502020204030204" pitchFamily="34" charset="0"/>
                    <a:cs typeface="Calibri" panose="020F0502020204030204" pitchFamily="34" charset="0"/>
                  </a:rPr>
                  <a:t>test data points</a:t>
                </a:r>
              </a:p>
            </p:txBody>
          </p:sp>
        </mc:Choice>
        <mc:Fallback>
          <p:sp>
            <p:nvSpPr>
              <p:cNvPr id="28" name="Hộp Văn bản 50">
                <a:extLst>
                  <a:ext uri="{FF2B5EF4-FFF2-40B4-BE49-F238E27FC236}">
                    <a16:creationId xmlns:a16="http://schemas.microsoft.com/office/drawing/2014/main" id="{EBCD8AB1-0083-427F-3B8D-850EA95BE732}"/>
                  </a:ext>
                </a:extLst>
              </p:cNvPr>
              <p:cNvSpPr txBox="1">
                <a:spLocks noRot="1" noChangeAspect="1" noMove="1" noResize="1" noEditPoints="1" noAdjustHandles="1" noChangeArrowheads="1" noChangeShapeType="1" noTextEdit="1"/>
              </p:cNvSpPr>
              <p:nvPr/>
            </p:nvSpPr>
            <p:spPr>
              <a:xfrm>
                <a:off x="5778759" y="3126486"/>
                <a:ext cx="5924151" cy="1733488"/>
              </a:xfrm>
              <a:prstGeom prst="rect">
                <a:avLst/>
              </a:prstGeom>
              <a:blipFill>
                <a:blip r:embed="rId4"/>
                <a:stretch>
                  <a:fillRect l="-1499" t="-2920" b="-6569"/>
                </a:stretch>
              </a:blipFill>
            </p:spPr>
            <p:txBody>
              <a:bodyPr/>
              <a:lstStyle/>
              <a:p>
                <a:r>
                  <a:rPr lang="en-VN">
                    <a:noFill/>
                  </a:rPr>
                  <a:t> </a:t>
                </a:r>
              </a:p>
            </p:txBody>
          </p:sp>
        </mc:Fallback>
      </mc:AlternateContent>
      <p:sp>
        <p:nvSpPr>
          <p:cNvPr id="29" name="Hình Bầu dục 14">
            <a:extLst>
              <a:ext uri="{FF2B5EF4-FFF2-40B4-BE49-F238E27FC236}">
                <a16:creationId xmlns:a16="http://schemas.microsoft.com/office/drawing/2014/main" id="{F98E453C-5291-07CA-03A7-2605CA6B94B1}"/>
              </a:ext>
            </a:extLst>
          </p:cNvPr>
          <p:cNvSpPr/>
          <p:nvPr/>
        </p:nvSpPr>
        <p:spPr>
          <a:xfrm>
            <a:off x="4071907" y="1830803"/>
            <a:ext cx="221997" cy="23054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30" name="Hình Bầu dục 14">
            <a:extLst>
              <a:ext uri="{FF2B5EF4-FFF2-40B4-BE49-F238E27FC236}">
                <a16:creationId xmlns:a16="http://schemas.microsoft.com/office/drawing/2014/main" id="{1BFDA837-8480-89BD-4625-0B601A30FDC0}"/>
              </a:ext>
            </a:extLst>
          </p:cNvPr>
          <p:cNvSpPr/>
          <p:nvPr/>
        </p:nvSpPr>
        <p:spPr>
          <a:xfrm>
            <a:off x="4071907" y="2121946"/>
            <a:ext cx="221997" cy="2305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solidFill>
                <a:sysClr val="windowText" lastClr="000000"/>
              </a:solidFill>
            </a:endParaRPr>
          </a:p>
        </p:txBody>
      </p:sp>
      <p:sp>
        <p:nvSpPr>
          <p:cNvPr id="31" name="Hình Bầu dục 14">
            <a:extLst>
              <a:ext uri="{FF2B5EF4-FFF2-40B4-BE49-F238E27FC236}">
                <a16:creationId xmlns:a16="http://schemas.microsoft.com/office/drawing/2014/main" id="{A6CB3805-F9E5-05C8-084B-1CEB2D560C42}"/>
              </a:ext>
            </a:extLst>
          </p:cNvPr>
          <p:cNvSpPr/>
          <p:nvPr/>
        </p:nvSpPr>
        <p:spPr>
          <a:xfrm>
            <a:off x="4071907" y="2413089"/>
            <a:ext cx="221997" cy="2305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68"/>
          </a:p>
        </p:txBody>
      </p:sp>
      <p:sp>
        <p:nvSpPr>
          <p:cNvPr id="32" name="TextBox 31">
            <a:extLst>
              <a:ext uri="{FF2B5EF4-FFF2-40B4-BE49-F238E27FC236}">
                <a16:creationId xmlns:a16="http://schemas.microsoft.com/office/drawing/2014/main" id="{C8A6EE59-996C-5B9B-8520-DC7B45FF49FF}"/>
              </a:ext>
            </a:extLst>
          </p:cNvPr>
          <p:cNvSpPr txBox="1"/>
          <p:nvPr/>
        </p:nvSpPr>
        <p:spPr>
          <a:xfrm>
            <a:off x="4258533" y="1792804"/>
            <a:ext cx="1153321" cy="297454"/>
          </a:xfrm>
          <a:prstGeom prst="rect">
            <a:avLst/>
          </a:prstGeom>
          <a:noFill/>
        </p:spPr>
        <p:txBody>
          <a:bodyPr wrap="square" rtlCol="0">
            <a:spAutoFit/>
          </a:bodyPr>
          <a:lstStyle/>
          <a:p>
            <a:r>
              <a:rPr lang="en-VN" sz="1333"/>
              <a:t>positive</a:t>
            </a:r>
          </a:p>
        </p:txBody>
      </p:sp>
      <p:sp>
        <p:nvSpPr>
          <p:cNvPr id="33" name="TextBox 32">
            <a:extLst>
              <a:ext uri="{FF2B5EF4-FFF2-40B4-BE49-F238E27FC236}">
                <a16:creationId xmlns:a16="http://schemas.microsoft.com/office/drawing/2014/main" id="{0D21736F-C54D-38F7-3FBF-F139DDD65983}"/>
              </a:ext>
            </a:extLst>
          </p:cNvPr>
          <p:cNvSpPr txBox="1"/>
          <p:nvPr/>
        </p:nvSpPr>
        <p:spPr>
          <a:xfrm>
            <a:off x="4264050" y="2080778"/>
            <a:ext cx="1153321" cy="297454"/>
          </a:xfrm>
          <a:prstGeom prst="rect">
            <a:avLst/>
          </a:prstGeom>
          <a:noFill/>
        </p:spPr>
        <p:txBody>
          <a:bodyPr wrap="square" rtlCol="0">
            <a:spAutoFit/>
          </a:bodyPr>
          <a:lstStyle/>
          <a:p>
            <a:r>
              <a:rPr lang="en-VN" sz="1333"/>
              <a:t>negative</a:t>
            </a:r>
          </a:p>
        </p:txBody>
      </p:sp>
      <p:sp>
        <p:nvSpPr>
          <p:cNvPr id="34" name="TextBox 33">
            <a:extLst>
              <a:ext uri="{FF2B5EF4-FFF2-40B4-BE49-F238E27FC236}">
                <a16:creationId xmlns:a16="http://schemas.microsoft.com/office/drawing/2014/main" id="{A806C796-5AA9-C286-82CD-33EDE41AC6F6}"/>
              </a:ext>
            </a:extLst>
          </p:cNvPr>
          <p:cNvSpPr txBox="1"/>
          <p:nvPr/>
        </p:nvSpPr>
        <p:spPr>
          <a:xfrm>
            <a:off x="4258533" y="2369289"/>
            <a:ext cx="1293129" cy="297454"/>
          </a:xfrm>
          <a:prstGeom prst="rect">
            <a:avLst/>
          </a:prstGeom>
          <a:noFill/>
        </p:spPr>
        <p:txBody>
          <a:bodyPr wrap="square" rtlCol="0">
            <a:spAutoFit/>
          </a:bodyPr>
          <a:lstStyle/>
          <a:p>
            <a:r>
              <a:rPr lang="en-VN" sz="1333"/>
              <a:t>undetermined</a:t>
            </a: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0BF9E9EE-AE82-36CB-6099-044445D64D1F}"/>
                  </a:ext>
                </a:extLst>
              </p:cNvPr>
              <p:cNvSpPr txBox="1"/>
              <p:nvPr/>
            </p:nvSpPr>
            <p:spPr>
              <a:xfrm>
                <a:off x="3179554" y="3209562"/>
                <a:ext cx="1293129" cy="2974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VN" sz="1333" i="1">
                          <a:latin typeface="Cambria Math" panose="02040503050406030204" pitchFamily="18" charset="0"/>
                        </a:rPr>
                        <m:t>𝑘</m:t>
                      </m:r>
                      <m:r>
                        <a:rPr lang="vi-VN" sz="1333" i="1">
                          <a:latin typeface="Cambria Math" panose="02040503050406030204" pitchFamily="18" charset="0"/>
                        </a:rPr>
                        <m:t>=3</m:t>
                      </m:r>
                    </m:oMath>
                  </m:oMathPara>
                </a14:m>
                <a:endParaRPr lang="en-VN" sz="1333" i="1"/>
              </a:p>
            </p:txBody>
          </p:sp>
        </mc:Choice>
        <mc:Fallback>
          <p:sp>
            <p:nvSpPr>
              <p:cNvPr id="36" name="TextBox 35">
                <a:extLst>
                  <a:ext uri="{FF2B5EF4-FFF2-40B4-BE49-F238E27FC236}">
                    <a16:creationId xmlns:a16="http://schemas.microsoft.com/office/drawing/2014/main" id="{0BF9E9EE-AE82-36CB-6099-044445D64D1F}"/>
                  </a:ext>
                </a:extLst>
              </p:cNvPr>
              <p:cNvSpPr txBox="1">
                <a:spLocks noRot="1" noChangeAspect="1" noMove="1" noResize="1" noEditPoints="1" noAdjustHandles="1" noChangeArrowheads="1" noChangeShapeType="1" noTextEdit="1"/>
              </p:cNvSpPr>
              <p:nvPr/>
            </p:nvSpPr>
            <p:spPr>
              <a:xfrm>
                <a:off x="3179554" y="3209562"/>
                <a:ext cx="1293129" cy="297454"/>
              </a:xfrm>
              <a:prstGeom prst="rect">
                <a:avLst/>
              </a:prstGeom>
              <a:blipFill>
                <a:blip r:embed="rId5"/>
                <a:stretch>
                  <a:fillRect/>
                </a:stretch>
              </a:blipFill>
            </p:spPr>
            <p:txBody>
              <a:bodyPr/>
              <a:lstStyle/>
              <a:p>
                <a:r>
                  <a:rPr lang="en-VN">
                    <a:noFill/>
                  </a:rPr>
                  <a:t> </a:t>
                </a:r>
              </a:p>
            </p:txBody>
          </p:sp>
        </mc:Fallback>
      </mc:AlternateContent>
      <p:sp>
        <p:nvSpPr>
          <p:cNvPr id="37" name="Slide Number Placeholder 36">
            <a:extLst>
              <a:ext uri="{FF2B5EF4-FFF2-40B4-BE49-F238E27FC236}">
                <a16:creationId xmlns:a16="http://schemas.microsoft.com/office/drawing/2014/main" id="{C19B0DF1-61F2-F73D-A6E8-4473065C2877}"/>
              </a:ext>
            </a:extLst>
          </p:cNvPr>
          <p:cNvSpPr>
            <a:spLocks noGrp="1"/>
          </p:cNvSpPr>
          <p:nvPr>
            <p:ph type="sldNum" sz="quarter" idx="12"/>
          </p:nvPr>
        </p:nvSpPr>
        <p:spPr/>
        <p:txBody>
          <a:bodyPr/>
          <a:lstStyle/>
          <a:p>
            <a:fld id="{6A45828D-F580-42DE-B77E-860980F07F32}" type="slidenum">
              <a:rPr lang="vi-VN" smtClean="0"/>
              <a:t>24</a:t>
            </a:fld>
            <a:endParaRPr lang="vi-VN"/>
          </a:p>
        </p:txBody>
      </p:sp>
    </p:spTree>
    <p:extLst>
      <p:ext uri="{BB962C8B-B14F-4D97-AF65-F5344CB8AC3E}">
        <p14:creationId xmlns:p14="http://schemas.microsoft.com/office/powerpoint/2010/main" val="2644733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p:txBody>
              <a:bodyPr>
                <a:normAutofit/>
              </a:bodyPr>
              <a:lstStyle/>
              <a:p>
                <a:r>
                  <a:rPr lang="en-VN"/>
                  <a:t>2.</a:t>
                </a:r>
                <a:r>
                  <a:rPr lang="en-US"/>
                  <a:t>2.</a:t>
                </a:r>
                <a:r>
                  <a:rPr lang="en-VN"/>
                  <a:t> </a:t>
                </a:r>
                <a:r>
                  <a:rPr lang="en-US" sz="4800"/>
                  <a:t>QML algorithms</a:t>
                </a:r>
                <a:br>
                  <a:rPr lang="en-US" sz="4800"/>
                </a:br>
                <a14:m>
                  <m:oMath xmlns:m="http://schemas.openxmlformats.org/officeDocument/2006/math">
                    <m:r>
                      <a:rPr lang="en-US" sz="2667" i="1">
                        <a:latin typeface="Cambria Math" panose="02040503050406030204" pitchFamily="18" charset="0"/>
                      </a:rPr>
                      <m:t>𝑘</m:t>
                    </m:r>
                  </m:oMath>
                </a14:m>
                <a:r>
                  <a:rPr lang="en-US" sz="2667"/>
                  <a:t>-means</a:t>
                </a:r>
                <a:endParaRPr lang="en-VN" sz="2667"/>
              </a:p>
            </p:txBody>
          </p:sp>
        </mc:Choice>
        <mc:Fallback xmlns="">
          <p:sp>
            <p:nvSpPr>
              <p:cNvPr id="2" name="Title 1">
                <a:extLst>
                  <a:ext uri="{FF2B5EF4-FFF2-40B4-BE49-F238E27FC236}">
                    <a16:creationId xmlns:a16="http://schemas.microsoft.com/office/drawing/2014/main" id="{5B2BBC07-12FD-088A-6FCE-FCBA5878A29F}"/>
                  </a:ext>
                </a:extLst>
              </p:cNvPr>
              <p:cNvSpPr>
                <a:spLocks noGrp="1" noRot="1" noChangeAspect="1" noMove="1" noResize="1" noEditPoints="1" noAdjustHandles="1" noChangeArrowheads="1" noChangeShapeType="1" noTextEdit="1"/>
              </p:cNvSpPr>
              <p:nvPr>
                <p:ph type="title"/>
              </p:nvPr>
            </p:nvSpPr>
            <p:spPr>
              <a:blipFill>
                <a:blip r:embed="rId3"/>
                <a:stretch>
                  <a:fillRect l="-2545" t="-8589" b="-4294"/>
                </a:stretch>
              </a:blipFill>
            </p:spPr>
            <p:txBody>
              <a:bodyPr/>
              <a:lstStyle/>
              <a:p>
                <a:r>
                  <a:rPr lang="vi-VN">
                    <a:noFill/>
                  </a:rPr>
                  <a:t> </a:t>
                </a:r>
              </a:p>
            </p:txBody>
          </p:sp>
        </mc:Fallback>
      </mc:AlternateContent>
      <mc:AlternateContent xmlns:mc="http://schemas.openxmlformats.org/markup-compatibility/2006">
        <mc:Choice xmlns:a14="http://schemas.microsoft.com/office/drawing/2010/main" Requires="a14">
          <p:sp>
            <p:nvSpPr>
              <p:cNvPr id="26" name="Hộp Văn bản 50">
                <a:extLst>
                  <a:ext uri="{FF2B5EF4-FFF2-40B4-BE49-F238E27FC236}">
                    <a16:creationId xmlns:a16="http://schemas.microsoft.com/office/drawing/2014/main" id="{CB891367-FFE7-A093-BAE2-C9798B9106DE}"/>
                  </a:ext>
                </a:extLst>
              </p:cNvPr>
              <p:cNvSpPr txBox="1"/>
              <p:nvPr/>
            </p:nvSpPr>
            <p:spPr>
              <a:xfrm>
                <a:off x="7143045" y="1523499"/>
                <a:ext cx="4586112" cy="2718180"/>
              </a:xfrm>
              <a:prstGeom prst="rect">
                <a:avLst/>
              </a:prstGeom>
              <a:noFill/>
            </p:spPr>
            <p:txBody>
              <a:bodyPr wrap="square" rtlCol="0">
                <a:spAutoFit/>
              </a:bodyPr>
              <a:lstStyle/>
              <a:p>
                <a:r>
                  <a:rPr lang="en-US" sz="2133" b="1"/>
                  <a:t>Step 1</a:t>
                </a:r>
                <a:r>
                  <a:rPr lang="en-US" sz="2133"/>
                  <a:t>. Select </a:t>
                </a:r>
                <a14:m>
                  <m:oMath xmlns:m="http://schemas.openxmlformats.org/officeDocument/2006/math">
                    <m:r>
                      <a:rPr lang="en-US" sz="2133" i="1">
                        <a:latin typeface="Cambria Math" panose="02040503050406030204" pitchFamily="18" charset="0"/>
                      </a:rPr>
                      <m:t>𝑘</m:t>
                    </m:r>
                  </m:oMath>
                </a14:m>
                <a:r>
                  <a:rPr lang="en-US" sz="2133"/>
                  <a:t> random centers.</a:t>
                </a:r>
              </a:p>
              <a:p>
                <a:r>
                  <a:rPr lang="en-US" sz="2133" b="1"/>
                  <a:t>Step 2</a:t>
                </a:r>
                <a:r>
                  <a:rPr lang="en-US" sz="2133"/>
                  <a:t>. Assign each data point to the closest center.</a:t>
                </a:r>
              </a:p>
              <a:p>
                <a:r>
                  <a:rPr lang="en-US" sz="2133"/>
                  <a:t>If the assigned labels do not change, then stop.</a:t>
                </a:r>
              </a:p>
              <a:p>
                <a:r>
                  <a:rPr lang="en-US" sz="2133" b="1"/>
                  <a:t>Step 3</a:t>
                </a:r>
                <a:r>
                  <a:rPr lang="en-US" sz="2133"/>
                  <a:t>. New center = average of all assigned points</a:t>
                </a:r>
              </a:p>
              <a:p>
                <a:r>
                  <a:rPr lang="en-US" sz="2133" b="1"/>
                  <a:t>Step 4</a:t>
                </a:r>
                <a:r>
                  <a:rPr lang="en-US" sz="2133"/>
                  <a:t>. Return to step 2.</a:t>
                </a:r>
                <a:endParaRPr lang="vi-VN" sz="2133"/>
              </a:p>
            </p:txBody>
          </p:sp>
        </mc:Choice>
        <mc:Fallback>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7143045" y="1523499"/>
                <a:ext cx="4586112" cy="2718180"/>
              </a:xfrm>
              <a:prstGeom prst="rect">
                <a:avLst/>
              </a:prstGeom>
              <a:blipFill>
                <a:blip r:embed="rId4"/>
                <a:stretch>
                  <a:fillRect l="-1657" t="-1860" r="-276" b="-3256"/>
                </a:stretch>
              </a:blipFill>
            </p:spPr>
            <p:txBody>
              <a:bodyPr/>
              <a:lstStyle/>
              <a:p>
                <a:r>
                  <a:rPr lang="en-VN">
                    <a:noFill/>
                  </a:rPr>
                  <a:t> </a:t>
                </a:r>
              </a:p>
            </p:txBody>
          </p:sp>
        </mc:Fallback>
      </mc:AlternateContent>
      <p:sp>
        <p:nvSpPr>
          <p:cNvPr id="37" name="Slide Number Placeholder 36">
            <a:extLst>
              <a:ext uri="{FF2B5EF4-FFF2-40B4-BE49-F238E27FC236}">
                <a16:creationId xmlns:a16="http://schemas.microsoft.com/office/drawing/2014/main" id="{C19B0DF1-61F2-F73D-A6E8-4473065C2877}"/>
              </a:ext>
            </a:extLst>
          </p:cNvPr>
          <p:cNvSpPr>
            <a:spLocks noGrp="1"/>
          </p:cNvSpPr>
          <p:nvPr>
            <p:ph type="sldNum" sz="quarter" idx="12"/>
          </p:nvPr>
        </p:nvSpPr>
        <p:spPr/>
        <p:txBody>
          <a:bodyPr/>
          <a:lstStyle/>
          <a:p>
            <a:fld id="{6A45828D-F580-42DE-B77E-860980F07F32}" type="slidenum">
              <a:rPr lang="vi-VN" smtClean="0"/>
              <a:t>25</a:t>
            </a:fld>
            <a:endParaRPr lang="vi-VN"/>
          </a:p>
        </p:txBody>
      </p:sp>
      <p:pic>
        <p:nvPicPr>
          <p:cNvPr id="17410" name="Picture 2">
            <a:extLst>
              <a:ext uri="{FF2B5EF4-FFF2-40B4-BE49-F238E27FC236}">
                <a16:creationId xmlns:a16="http://schemas.microsoft.com/office/drawing/2014/main" id="{D07A8B97-6669-1EAB-A3ED-78D10546613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9075" t="8148" r="9506"/>
          <a:stretch/>
        </p:blipFill>
        <p:spPr bwMode="auto">
          <a:xfrm>
            <a:off x="711201" y="1523499"/>
            <a:ext cx="6304844" cy="53345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E106286-13E8-71D4-E0B5-060EB92FED77}"/>
              </a:ext>
            </a:extLst>
          </p:cNvPr>
          <p:cNvSpPr/>
          <p:nvPr/>
        </p:nvSpPr>
        <p:spPr>
          <a:xfrm>
            <a:off x="7191023" y="2240845"/>
            <a:ext cx="1766711" cy="34757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p>
        </p:txBody>
      </p:sp>
      <p:sp>
        <p:nvSpPr>
          <p:cNvPr id="39" name="Hộp Văn bản 50">
            <a:extLst>
              <a:ext uri="{FF2B5EF4-FFF2-40B4-BE49-F238E27FC236}">
                <a16:creationId xmlns:a16="http://schemas.microsoft.com/office/drawing/2014/main" id="{912C23BE-65D7-D4F3-89EA-2C34CE5F0017}"/>
              </a:ext>
            </a:extLst>
          </p:cNvPr>
          <p:cNvSpPr txBox="1"/>
          <p:nvPr/>
        </p:nvSpPr>
        <p:spPr>
          <a:xfrm>
            <a:off x="7401277" y="4433276"/>
            <a:ext cx="3112912" cy="748795"/>
          </a:xfrm>
          <a:prstGeom prst="rect">
            <a:avLst/>
          </a:prstGeom>
          <a:noFill/>
        </p:spPr>
        <p:txBody>
          <a:bodyPr wrap="square" rtlCol="0">
            <a:spAutoFit/>
          </a:bodyPr>
          <a:lstStyle/>
          <a:p>
            <a:r>
              <a:rPr lang="en-US" sz="2133">
                <a:solidFill>
                  <a:srgbClr val="FF0000"/>
                </a:solidFill>
              </a:rPr>
              <a:t>Swap-test procedure can be applied again!</a:t>
            </a:r>
            <a:endParaRPr lang="vi-VN" sz="2133">
              <a:solidFill>
                <a:srgbClr val="FF0000"/>
              </a:solidFill>
            </a:endParaRPr>
          </a:p>
        </p:txBody>
      </p:sp>
      <p:cxnSp>
        <p:nvCxnSpPr>
          <p:cNvPr id="40" name="Curved Connector 57">
            <a:extLst>
              <a:ext uri="{FF2B5EF4-FFF2-40B4-BE49-F238E27FC236}">
                <a16:creationId xmlns:a16="http://schemas.microsoft.com/office/drawing/2014/main" id="{68B1361E-6A82-EF33-E15C-F4348ED80BF3}"/>
              </a:ext>
            </a:extLst>
          </p:cNvPr>
          <p:cNvCxnSpPr>
            <a:cxnSpLocks/>
            <a:stCxn id="3" idx="1"/>
            <a:endCxn id="39" idx="1"/>
          </p:cNvCxnSpPr>
          <p:nvPr/>
        </p:nvCxnSpPr>
        <p:spPr>
          <a:xfrm rot="10800000" flipH="1" flipV="1">
            <a:off x="7191023" y="2414632"/>
            <a:ext cx="210254" cy="2393041"/>
          </a:xfrm>
          <a:prstGeom prst="curvedConnector3">
            <a:avLst>
              <a:gd name="adj1" fmla="val -10872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1958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6371-29CD-D9A6-39D5-56BD0A07ED13}"/>
              </a:ext>
            </a:extLst>
          </p:cNvPr>
          <p:cNvSpPr>
            <a:spLocks noGrp="1"/>
          </p:cNvSpPr>
          <p:nvPr>
            <p:ph type="title"/>
          </p:nvPr>
        </p:nvSpPr>
        <p:spPr/>
        <p:txBody>
          <a:bodyPr>
            <a:normAutofit/>
          </a:bodyPr>
          <a:lstStyle/>
          <a:p>
            <a:r>
              <a:rPr lang="en-VN"/>
              <a:t>2.</a:t>
            </a:r>
            <a:r>
              <a:rPr lang="en-US"/>
              <a:t>2.</a:t>
            </a:r>
            <a:r>
              <a:rPr lang="en-VN"/>
              <a:t> </a:t>
            </a:r>
            <a:r>
              <a:rPr lang="en-US" sz="4267"/>
              <a:t>QML algorithms</a:t>
            </a:r>
            <a:br>
              <a:rPr lang="en-US" sz="4267"/>
            </a:br>
            <a:r>
              <a:rPr lang="en-US" sz="2667"/>
              <a:t>Quantum SVM</a:t>
            </a:r>
            <a:endParaRPr lang="vi-VN" sz="2667"/>
          </a:p>
        </p:txBody>
      </p:sp>
      <p:sp>
        <p:nvSpPr>
          <p:cNvPr id="4" name="Slide Number Placeholder 3">
            <a:extLst>
              <a:ext uri="{FF2B5EF4-FFF2-40B4-BE49-F238E27FC236}">
                <a16:creationId xmlns:a16="http://schemas.microsoft.com/office/drawing/2014/main" id="{29C0AC4E-D03D-3525-D7C1-9D49B27D10BE}"/>
              </a:ext>
            </a:extLst>
          </p:cNvPr>
          <p:cNvSpPr>
            <a:spLocks noGrp="1"/>
          </p:cNvSpPr>
          <p:nvPr>
            <p:ph type="sldNum" sz="quarter" idx="12"/>
          </p:nvPr>
        </p:nvSpPr>
        <p:spPr/>
        <p:txBody>
          <a:bodyPr/>
          <a:lstStyle/>
          <a:p>
            <a:fld id="{6A45828D-F580-42DE-B77E-860980F07F32}" type="slidenum">
              <a:rPr lang="vi-VN" smtClean="0"/>
              <a:t>26</a:t>
            </a:fld>
            <a:endParaRPr lang="vi-VN"/>
          </a:p>
        </p:txBody>
      </p:sp>
      <p:pic>
        <p:nvPicPr>
          <p:cNvPr id="5" name="Google Shape;65;p14">
            <a:extLst>
              <a:ext uri="{FF2B5EF4-FFF2-40B4-BE49-F238E27FC236}">
                <a16:creationId xmlns:a16="http://schemas.microsoft.com/office/drawing/2014/main" id="{6B274483-0E33-EC6A-7D36-2014F58B71FF}"/>
              </a:ext>
            </a:extLst>
          </p:cNvPr>
          <p:cNvPicPr preferRelativeResize="0">
            <a:picLocks noGrp="1"/>
          </p:cNvPicPr>
          <p:nvPr>
            <p:ph idx="1"/>
          </p:nvPr>
        </p:nvPicPr>
        <p:blipFill>
          <a:blip r:embed="rId2">
            <a:alphaModFix/>
          </a:blip>
          <a:stretch>
            <a:fillRect/>
          </a:stretch>
        </p:blipFill>
        <p:spPr>
          <a:xfrm>
            <a:off x="429805" y="1643774"/>
            <a:ext cx="3159899" cy="2903889"/>
          </a:xfrm>
          <a:prstGeom prst="rect">
            <a:avLst/>
          </a:prstGeom>
          <a:noFill/>
          <a:ln>
            <a:noFill/>
          </a:ln>
        </p:spPr>
      </p:pic>
      <p:pic>
        <p:nvPicPr>
          <p:cNvPr id="8" name="Google Shape;75;p15" title="download.png">
            <a:extLst>
              <a:ext uri="{FF2B5EF4-FFF2-40B4-BE49-F238E27FC236}">
                <a16:creationId xmlns:a16="http://schemas.microsoft.com/office/drawing/2014/main" id="{08EF51B7-6ED4-A2F1-7459-3F8C005B86C4}"/>
              </a:ext>
            </a:extLst>
          </p:cNvPr>
          <p:cNvPicPr preferRelativeResize="0"/>
          <p:nvPr/>
        </p:nvPicPr>
        <p:blipFill rotWithShape="1">
          <a:blip r:embed="rId3">
            <a:alphaModFix/>
          </a:blip>
          <a:srcRect l="7899" t="8587" r="55867" b="12756"/>
          <a:stretch/>
        </p:blipFill>
        <p:spPr>
          <a:xfrm>
            <a:off x="4575376" y="1191352"/>
            <a:ext cx="2406432" cy="2402219"/>
          </a:xfrm>
          <a:prstGeom prst="rect">
            <a:avLst/>
          </a:prstGeom>
          <a:noFill/>
          <a:ln>
            <a:noFill/>
          </a:ln>
        </p:spPr>
      </p:pic>
      <p:pic>
        <p:nvPicPr>
          <p:cNvPr id="9" name="Google Shape;76;p15" title="download.png">
            <a:extLst>
              <a:ext uri="{FF2B5EF4-FFF2-40B4-BE49-F238E27FC236}">
                <a16:creationId xmlns:a16="http://schemas.microsoft.com/office/drawing/2014/main" id="{0E1F1BB5-3E31-8466-14A6-63965D7E5D34}"/>
              </a:ext>
            </a:extLst>
          </p:cNvPr>
          <p:cNvPicPr preferRelativeResize="0"/>
          <p:nvPr/>
        </p:nvPicPr>
        <p:blipFill rotWithShape="1">
          <a:blip r:embed="rId3">
            <a:alphaModFix/>
          </a:blip>
          <a:srcRect l="60004" t="13663" b="7518"/>
          <a:stretch/>
        </p:blipFill>
        <p:spPr>
          <a:xfrm>
            <a:off x="8448551" y="746820"/>
            <a:ext cx="3141416" cy="2846752"/>
          </a:xfrm>
          <a:prstGeom prst="rect">
            <a:avLst/>
          </a:prstGeom>
          <a:noFill/>
          <a:ln>
            <a:noFill/>
          </a:ln>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1D05932-20A3-79C6-35E0-BDF20ADEAA26}"/>
                  </a:ext>
                </a:extLst>
              </p:cNvPr>
              <p:cNvSpPr txBox="1"/>
              <p:nvPr/>
            </p:nvSpPr>
            <p:spPr>
              <a:xfrm>
                <a:off x="786413" y="4575247"/>
                <a:ext cx="4321489" cy="1783693"/>
              </a:xfrm>
              <a:prstGeom prst="rect">
                <a:avLst/>
              </a:prstGeom>
              <a:noFill/>
            </p:spPr>
            <p:txBody>
              <a:bodyPr wrap="square">
                <a:spAutoFit/>
              </a:bodyPr>
              <a:lstStyle/>
              <a:p>
                <a:r>
                  <a:rPr lang="en-US" sz="2400"/>
                  <a:t>We have:</a:t>
                </a:r>
              </a:p>
              <a:p>
                <a:r>
                  <a:rPr lang="en-US" sz="2400"/>
                  <a:t>      </a:t>
                </a:r>
                <a14:m>
                  <m:oMath xmlns:m="http://schemas.openxmlformats.org/officeDocument/2006/math">
                    <m:sSup>
                      <m:sSupPr>
                        <m:ctrlPr>
                          <a:rPr lang="en-US" sz="2400" i="1">
                            <a:latin typeface="Cambria Math" panose="02040503050406030204" pitchFamily="18" charset="0"/>
                          </a:rPr>
                        </m:ctrlPr>
                      </m:sSupPr>
                      <m:e>
                        <m:r>
                          <a:rPr lang="vi-VN" sz="2400" i="1">
                            <a:latin typeface="Cambria Math" panose="02040503050406030204" pitchFamily="18" charset="0"/>
                          </a:rPr>
                          <m:t>𝑓</m:t>
                        </m:r>
                      </m:e>
                      <m:sup>
                        <m:r>
                          <a:rPr lang="en-US" sz="2400" i="1">
                            <a:latin typeface="Cambria Math" panose="02040503050406030204" pitchFamily="18" charset="0"/>
                          </a:rPr>
                          <m:t>∗</m:t>
                        </m:r>
                      </m:sup>
                    </m:sSup>
                    <m:d>
                      <m:dPr>
                        <m:ctrlPr>
                          <a:rPr lang="vi-VN" sz="2400" i="1">
                            <a:latin typeface="Cambria Math" panose="02040503050406030204" pitchFamily="18" charset="0"/>
                          </a:rPr>
                        </m:ctrlPr>
                      </m:dPr>
                      <m:e>
                        <m:r>
                          <a:rPr lang="vi-VN" sz="2400" i="1">
                            <a:latin typeface="Cambria Math" panose="02040503050406030204" pitchFamily="18" charset="0"/>
                          </a:rPr>
                          <m:t>𝑥</m:t>
                        </m:r>
                      </m:e>
                    </m:d>
                    <m:r>
                      <a:rPr lang="en-US" sz="2400" i="1">
                        <a:latin typeface="Cambria Math" panose="02040503050406030204" pitchFamily="18" charset="0"/>
                      </a:rPr>
                      <m:t>=</m:t>
                    </m:r>
                    <m:r>
                      <a:rPr lang="en-US" sz="2400" b="1">
                        <a:latin typeface="Cambria Math" panose="02040503050406030204" pitchFamily="18" charset="0"/>
                      </a:rPr>
                      <m:t>𝐬𝐠𝐧</m:t>
                    </m:r>
                    <m:r>
                      <a:rPr lang="vi-VN" sz="2400" i="1">
                        <a:latin typeface="Cambria Math" panose="02040503050406030204" pitchFamily="18" charset="0"/>
                      </a:rPr>
                      <m:t>(</m:t>
                    </m:r>
                    <m:r>
                      <a:rPr lang="vi-VN" sz="2400" i="1">
                        <a:latin typeface="Cambria Math" panose="02040503050406030204" pitchFamily="18" charset="0"/>
                      </a:rPr>
                      <m:t>𝑤</m:t>
                    </m:r>
                    <m:r>
                      <a:rPr lang="vi-VN" sz="2400" i="1">
                        <a:latin typeface="Cambria Math" panose="02040503050406030204" pitchFamily="18" charset="0"/>
                      </a:rPr>
                      <m:t>·</m:t>
                    </m:r>
                    <m:r>
                      <a:rPr lang="vi-VN" sz="2400" i="1">
                        <a:latin typeface="Cambria Math" panose="02040503050406030204" pitchFamily="18" charset="0"/>
                      </a:rPr>
                      <m:t>𝑥</m:t>
                    </m:r>
                    <m:r>
                      <a:rPr lang="en-US" sz="2400" i="1">
                        <a:latin typeface="Cambria Math" panose="02040503050406030204" pitchFamily="18" charset="0"/>
                      </a:rPr>
                      <m:t>±</m:t>
                    </m:r>
                    <m:r>
                      <a:rPr lang="vi-VN" sz="2400" i="1">
                        <a:latin typeface="Cambria Math" panose="02040503050406030204" pitchFamily="18" charset="0"/>
                      </a:rPr>
                      <m:t>𝑏</m:t>
                    </m:r>
                    <m:r>
                      <a:rPr lang="vi-VN" sz="2400" i="1">
                        <a:latin typeface="Cambria Math" panose="02040503050406030204" pitchFamily="18" charset="0"/>
                      </a:rPr>
                      <m:t>)</m:t>
                    </m:r>
                  </m:oMath>
                </a14:m>
                <a:r>
                  <a:rPr lang="vi-VN" sz="2400"/>
                  <a:t>, </a:t>
                </a:r>
                <a:endParaRPr lang="en-US" sz="2400"/>
              </a:p>
              <a:p>
                <a:r>
                  <a:rPr lang="en-US" sz="2400"/>
                  <a:t>with target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𝑤</m:t>
                        </m:r>
                      </m:e>
                      <m:sup>
                        <m:r>
                          <a:rPr lang="en-US" sz="2400" i="1">
                            <a:latin typeface="Cambria Math" panose="02040503050406030204" pitchFamily="18" charset="0"/>
                          </a:rPr>
                          <m:t>∗</m:t>
                        </m:r>
                      </m:sup>
                    </m:sSup>
                  </m:oMath>
                </a14:m>
                <a:r>
                  <a:rPr lang="en-US" sz="2400"/>
                  <a:t>,</a:t>
                </a:r>
                <a14:m>
                  <m:oMath xmlns:m="http://schemas.openxmlformats.org/officeDocument/2006/math">
                    <m:r>
                      <a:rPr lang="en-US" sz="2400">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𝑏</m:t>
                        </m:r>
                      </m:e>
                      <m:sup>
                        <m:r>
                          <a:rPr lang="en-US" sz="2400" i="1">
                            <a:latin typeface="Cambria Math" panose="02040503050406030204" pitchFamily="18" charset="0"/>
                          </a:rPr>
                          <m:t>∗</m:t>
                        </m:r>
                      </m:sup>
                    </m:sSup>
                  </m:oMath>
                </a14:m>
                <a:r>
                  <a:rPr lang="en-US" sz="2400"/>
                  <a:t>):</a:t>
                </a:r>
              </a:p>
              <a:p>
                <a:r>
                  <a:rPr lang="en-US" sz="2400"/>
                  <a:t>      </a:t>
                </a:r>
                <a14:m>
                  <m:oMath xmlns:m="http://schemas.openxmlformats.org/officeDocument/2006/math">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min</m:t>
                            </m:r>
                          </m:e>
                          <m:lim>
                            <m:r>
                              <a:rPr lang="en-US" sz="2400" i="1">
                                <a:latin typeface="Cambria Math" panose="02040503050406030204" pitchFamily="18" charset="0"/>
                              </a:rPr>
                              <m:t>𝑤</m:t>
                            </m:r>
                            <m:r>
                              <a:rPr lang="en-US" sz="2400" i="1">
                                <a:latin typeface="Cambria Math" panose="02040503050406030204" pitchFamily="18" charset="0"/>
                              </a:rPr>
                              <m:t>,</m:t>
                            </m:r>
                            <m:r>
                              <a:rPr lang="en-US" sz="2400" i="1">
                                <a:latin typeface="Cambria Math" panose="02040503050406030204" pitchFamily="18" charset="0"/>
                              </a:rPr>
                              <m:t>𝑏</m:t>
                            </m:r>
                            <m:r>
                              <a:rPr lang="en-US" sz="2400" i="1">
                                <a:latin typeface="Cambria Math" panose="02040503050406030204" pitchFamily="18" charset="0"/>
                              </a:rPr>
                              <m:t>,</m:t>
                            </m:r>
                            <m:r>
                              <a:rPr lang="en-US" sz="2400" i="1">
                                <a:latin typeface="Cambria Math" panose="02040503050406030204" pitchFamily="18" charset="0"/>
                              </a:rPr>
                              <m:t>𝑐</m:t>
                            </m:r>
                          </m:lim>
                        </m:limLow>
                      </m:fName>
                      <m:e>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sSubSup>
                          <m:sSubSupPr>
                            <m:ctrlPr>
                              <a:rPr lang="en-US" sz="2400" i="1">
                                <a:latin typeface="Cambria Math" panose="02040503050406030204" pitchFamily="18" charset="0"/>
                              </a:rPr>
                            </m:ctrlPr>
                          </m:sSub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𝑤</m:t>
                                </m:r>
                              </m:e>
                            </m:d>
                          </m:e>
                          <m:sub>
                            <m:r>
                              <a:rPr lang="en-US" sz="2400" i="1">
                                <a:latin typeface="Cambria Math" panose="02040503050406030204" pitchFamily="18" charset="0"/>
                              </a:rPr>
                              <m:t>2</m:t>
                            </m:r>
                          </m:sub>
                          <m:sup>
                            <m:r>
                              <a:rPr lang="en-US" sz="2400" i="1">
                                <a:latin typeface="Cambria Math" panose="02040503050406030204" pitchFamily="18" charset="0"/>
                              </a:rPr>
                              <m:t>2</m:t>
                            </m:r>
                          </m:sup>
                        </m:sSubSup>
                        <m:r>
                          <a:rPr lang="en-US" sz="2400" i="1">
                            <a:latin typeface="Cambria Math" panose="02040503050406030204" pitchFamily="18" charset="0"/>
                          </a:rPr>
                          <m:t>+</m:t>
                        </m:r>
                        <m:r>
                          <a:rPr lang="en-US" sz="2400" i="1">
                            <a:latin typeface="Cambria Math" panose="02040503050406030204" pitchFamily="18" charset="0"/>
                          </a:rPr>
                          <m:t>𝐶</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𝑛</m:t>
                            </m:r>
                          </m:sup>
                          <m:e>
                            <m:sSub>
                              <m:sSubPr>
                                <m:ctrlPr>
                                  <a:rPr lang="en-US" sz="2400" i="1">
                                    <a:latin typeface="Cambria Math" panose="02040503050406030204" pitchFamily="18" charset="0"/>
                                  </a:rPr>
                                </m:ctrlPr>
                              </m:sSubPr>
                              <m:e>
                                <m:r>
                                  <a:rPr lang="en-US" sz="2400" i="1">
                                    <a:latin typeface="Cambria Math" panose="02040503050406030204" pitchFamily="18" charset="0"/>
                                  </a:rPr>
                                  <m:t>𝜖</m:t>
                                </m:r>
                              </m:e>
                              <m:sub>
                                <m:r>
                                  <a:rPr lang="en-US" sz="2400" i="1">
                                    <a:latin typeface="Cambria Math" panose="02040503050406030204" pitchFamily="18" charset="0"/>
                                  </a:rPr>
                                  <m:t>𝑖</m:t>
                                </m:r>
                              </m:sub>
                            </m:sSub>
                          </m:e>
                        </m:nary>
                      </m:e>
                    </m:func>
                  </m:oMath>
                </a14:m>
                <a:endParaRPr lang="en-US" sz="2400"/>
              </a:p>
            </p:txBody>
          </p:sp>
        </mc:Choice>
        <mc:Fallback>
          <p:sp>
            <p:nvSpPr>
              <p:cNvPr id="6" name="TextBox 5">
                <a:extLst>
                  <a:ext uri="{FF2B5EF4-FFF2-40B4-BE49-F238E27FC236}">
                    <a16:creationId xmlns:a16="http://schemas.microsoft.com/office/drawing/2014/main" id="{D1D05932-20A3-79C6-35E0-BDF20ADEAA26}"/>
                  </a:ext>
                </a:extLst>
              </p:cNvPr>
              <p:cNvSpPr txBox="1">
                <a:spLocks noRot="1" noChangeAspect="1" noMove="1" noResize="1" noEditPoints="1" noAdjustHandles="1" noChangeArrowheads="1" noChangeShapeType="1" noTextEdit="1"/>
              </p:cNvSpPr>
              <p:nvPr/>
            </p:nvSpPr>
            <p:spPr>
              <a:xfrm>
                <a:off x="786413" y="4575247"/>
                <a:ext cx="4321489" cy="1783693"/>
              </a:xfrm>
              <a:prstGeom prst="rect">
                <a:avLst/>
              </a:prstGeom>
              <a:blipFill>
                <a:blip r:embed="rId4"/>
                <a:stretch>
                  <a:fillRect l="-2047" t="-2837" b="-42553"/>
                </a:stretch>
              </a:blipFill>
            </p:spPr>
            <p:txBody>
              <a:bodyPr/>
              <a:lstStyle/>
              <a:p>
                <a:r>
                  <a:rPr lang="en-VN">
                    <a:noFill/>
                  </a:rPr>
                  <a:t> </a:t>
                </a:r>
              </a:p>
            </p:txBody>
          </p:sp>
        </mc:Fallback>
      </mc:AlternateContent>
      <p:sp>
        <p:nvSpPr>
          <p:cNvPr id="7" name="Rectangle 6">
            <a:extLst>
              <a:ext uri="{FF2B5EF4-FFF2-40B4-BE49-F238E27FC236}">
                <a16:creationId xmlns:a16="http://schemas.microsoft.com/office/drawing/2014/main" id="{DCE09A84-23AD-CF39-9655-7DE89E4C4BFC}"/>
              </a:ext>
            </a:extLst>
          </p:cNvPr>
          <p:cNvSpPr/>
          <p:nvPr/>
        </p:nvSpPr>
        <p:spPr>
          <a:xfrm>
            <a:off x="2998158" y="4927632"/>
            <a:ext cx="232836" cy="48790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2" name="Rectangle 11">
            <a:extLst>
              <a:ext uri="{FF2B5EF4-FFF2-40B4-BE49-F238E27FC236}">
                <a16:creationId xmlns:a16="http://schemas.microsoft.com/office/drawing/2014/main" id="{FAC048A2-249F-44CB-A85E-B6588EAF3B25}"/>
              </a:ext>
            </a:extLst>
          </p:cNvPr>
          <p:cNvSpPr/>
          <p:nvPr/>
        </p:nvSpPr>
        <p:spPr>
          <a:xfrm>
            <a:off x="3942008" y="4927630"/>
            <a:ext cx="232835" cy="48790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3" name="TextBox 12">
            <a:extLst>
              <a:ext uri="{FF2B5EF4-FFF2-40B4-BE49-F238E27FC236}">
                <a16:creationId xmlns:a16="http://schemas.microsoft.com/office/drawing/2014/main" id="{35787B0A-9AFC-4650-42FA-8F618674F48B}"/>
              </a:ext>
            </a:extLst>
          </p:cNvPr>
          <p:cNvSpPr txBox="1"/>
          <p:nvPr/>
        </p:nvSpPr>
        <p:spPr>
          <a:xfrm>
            <a:off x="2584369" y="4575247"/>
            <a:ext cx="1316272" cy="338554"/>
          </a:xfrm>
          <a:prstGeom prst="rect">
            <a:avLst/>
          </a:prstGeom>
          <a:noFill/>
        </p:spPr>
        <p:txBody>
          <a:bodyPr wrap="square" rtlCol="0">
            <a:spAutoFit/>
          </a:bodyPr>
          <a:lstStyle/>
          <a:p>
            <a:r>
              <a:rPr lang="en-US" sz="1600">
                <a:solidFill>
                  <a:srgbClr val="FF0000"/>
                </a:solidFill>
              </a:rPr>
              <a:t>parameters</a:t>
            </a:r>
            <a:endParaRPr lang="vi-VN" sz="1600">
              <a:solidFill>
                <a:srgbClr val="FF0000"/>
              </a:solidFil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968E7FF9-E183-B9CB-7217-ED9CCE6CF676}"/>
                  </a:ext>
                </a:extLst>
              </p:cNvPr>
              <p:cNvSpPr txBox="1"/>
              <p:nvPr/>
            </p:nvSpPr>
            <p:spPr>
              <a:xfrm>
                <a:off x="3760866" y="2417498"/>
                <a:ext cx="793044"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i="1">
                          <a:latin typeface="Cambria Math" panose="02040503050406030204" pitchFamily="18" charset="0"/>
                        </a:rPr>
                        <m:t>⇒</m:t>
                      </m:r>
                    </m:oMath>
                  </m:oMathPara>
                </a14:m>
                <a:endParaRPr lang="vi-VN" sz="4800"/>
              </a:p>
            </p:txBody>
          </p:sp>
        </mc:Choice>
        <mc:Fallback>
          <p:sp>
            <p:nvSpPr>
              <p:cNvPr id="14" name="TextBox 13">
                <a:extLst>
                  <a:ext uri="{FF2B5EF4-FFF2-40B4-BE49-F238E27FC236}">
                    <a16:creationId xmlns:a16="http://schemas.microsoft.com/office/drawing/2014/main" id="{968E7FF9-E183-B9CB-7217-ED9CCE6CF676}"/>
                  </a:ext>
                </a:extLst>
              </p:cNvPr>
              <p:cNvSpPr txBox="1">
                <a:spLocks noRot="1" noChangeAspect="1" noMove="1" noResize="1" noEditPoints="1" noAdjustHandles="1" noChangeArrowheads="1" noChangeShapeType="1" noTextEdit="1"/>
              </p:cNvSpPr>
              <p:nvPr/>
            </p:nvSpPr>
            <p:spPr>
              <a:xfrm>
                <a:off x="3760866" y="2417498"/>
                <a:ext cx="793044" cy="738664"/>
              </a:xfrm>
              <a:prstGeom prst="rect">
                <a:avLst/>
              </a:prstGeom>
              <a:blipFill>
                <a:blip r:embed="rId5"/>
                <a:stretch>
                  <a:fillRect l="-4762" r="-4762" b="-339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19794C63-76C5-D6B1-A1EE-764ADF4F280F}"/>
                  </a:ext>
                </a:extLst>
              </p:cNvPr>
              <p:cNvSpPr txBox="1"/>
              <p:nvPr/>
            </p:nvSpPr>
            <p:spPr>
              <a:xfrm>
                <a:off x="7317818" y="2346023"/>
                <a:ext cx="793044"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i="1">
                          <a:latin typeface="Cambria Math" panose="02040503050406030204" pitchFamily="18" charset="0"/>
                        </a:rPr>
                        <m:t>⇒</m:t>
                      </m:r>
                    </m:oMath>
                  </m:oMathPara>
                </a14:m>
                <a:endParaRPr lang="vi-VN" sz="4800"/>
              </a:p>
            </p:txBody>
          </p:sp>
        </mc:Choice>
        <mc:Fallback>
          <p:sp>
            <p:nvSpPr>
              <p:cNvPr id="15" name="TextBox 14">
                <a:extLst>
                  <a:ext uri="{FF2B5EF4-FFF2-40B4-BE49-F238E27FC236}">
                    <a16:creationId xmlns:a16="http://schemas.microsoft.com/office/drawing/2014/main" id="{19794C63-76C5-D6B1-A1EE-764ADF4F280F}"/>
                  </a:ext>
                </a:extLst>
              </p:cNvPr>
              <p:cNvSpPr txBox="1">
                <a:spLocks noRot="1" noChangeAspect="1" noMove="1" noResize="1" noEditPoints="1" noAdjustHandles="1" noChangeArrowheads="1" noChangeShapeType="1" noTextEdit="1"/>
              </p:cNvSpPr>
              <p:nvPr/>
            </p:nvSpPr>
            <p:spPr>
              <a:xfrm>
                <a:off x="7317818" y="2346023"/>
                <a:ext cx="793044" cy="738664"/>
              </a:xfrm>
              <a:prstGeom prst="rect">
                <a:avLst/>
              </a:prstGeom>
              <a:blipFill>
                <a:blip r:embed="rId5"/>
                <a:stretch>
                  <a:fillRect l="-4762" r="-4762" b="-3390"/>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E207D0E5-03C1-B659-84F3-79658B23177D}"/>
              </a:ext>
            </a:extLst>
          </p:cNvPr>
          <p:cNvSpPr txBox="1"/>
          <p:nvPr/>
        </p:nvSpPr>
        <p:spPr>
          <a:xfrm>
            <a:off x="7339285" y="1996131"/>
            <a:ext cx="1367148" cy="584775"/>
          </a:xfrm>
          <a:prstGeom prst="rect">
            <a:avLst/>
          </a:prstGeom>
          <a:noFill/>
        </p:spPr>
        <p:txBody>
          <a:bodyPr wrap="square">
            <a:spAutoFit/>
          </a:bodyPr>
          <a:lstStyle/>
          <a:p>
            <a:r>
              <a:rPr lang="en-US" sz="1600"/>
              <a:t>Kernel method</a:t>
            </a:r>
            <a:endParaRPr lang="vi-VN" sz="1600"/>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9D9B754-1140-37E0-22F8-052153F910AE}"/>
                  </a:ext>
                </a:extLst>
              </p:cNvPr>
              <p:cNvSpPr txBox="1"/>
              <p:nvPr/>
            </p:nvSpPr>
            <p:spPr>
              <a:xfrm>
                <a:off x="4623355" y="3510636"/>
                <a:ext cx="2406432" cy="1200329"/>
              </a:xfrm>
              <a:prstGeom prst="rect">
                <a:avLst/>
              </a:prstGeom>
              <a:noFill/>
            </p:spPr>
            <p:txBody>
              <a:bodyPr wrap="square">
                <a:spAutoFit/>
              </a:bodyPr>
              <a:lstStyle/>
              <a:p>
                <a:pPr algn="ctr"/>
                <a:r>
                  <a:rPr lang="en-US" sz="2400"/>
                  <a:t>Inseparable data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m:rPr>
                                          <m:brk m:alnAt="7"/>
                                        </m:rPr>
                                        <a:rPr lang="en-US" sz="2400" i="1">
                                          <a:latin typeface="Cambria Math" panose="02040503050406030204" pitchFamily="18" charset="0"/>
                                        </a:rPr>
                                        <m:t>𝑥</m:t>
                                      </m:r>
                                    </m:e>
                                    <m:sub>
                                      <m:r>
                                        <m:rPr>
                                          <m:brk m:alnAt="7"/>
                                        </m:rPr>
                                        <a:rPr lang="en-US" sz="2400" i="1">
                                          <a:latin typeface="Cambria Math" panose="02040503050406030204" pitchFamily="18" charset="0"/>
                                        </a:rPr>
                                        <m:t>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e>
                              </m:mr>
                            </m:m>
                          </m:e>
                        </m:d>
                      </m:e>
                      <m:sup>
                        <m:r>
                          <a:rPr lang="en-US" sz="2400" i="1">
                            <a:latin typeface="Cambria Math" panose="02040503050406030204" pitchFamily="18" charset="0"/>
                            <a:ea typeface="Cambria Math" panose="02040503050406030204" pitchFamily="18" charset="0"/>
                          </a:rPr>
                          <m:t>⊺</m:t>
                        </m:r>
                      </m:sup>
                    </m:sSup>
                  </m:oMath>
                </a14:m>
                <a:endParaRPr lang="vi-VN" sz="2400"/>
              </a:p>
              <a:p>
                <a:pPr algn="ctr"/>
                <a:endParaRPr lang="vi-VN" sz="2400"/>
              </a:p>
            </p:txBody>
          </p:sp>
        </mc:Choice>
        <mc:Fallback>
          <p:sp>
            <p:nvSpPr>
              <p:cNvPr id="18" name="TextBox 17">
                <a:extLst>
                  <a:ext uri="{FF2B5EF4-FFF2-40B4-BE49-F238E27FC236}">
                    <a16:creationId xmlns:a16="http://schemas.microsoft.com/office/drawing/2014/main" id="{09D9B754-1140-37E0-22F8-052153F910AE}"/>
                  </a:ext>
                </a:extLst>
              </p:cNvPr>
              <p:cNvSpPr txBox="1">
                <a:spLocks noRot="1" noChangeAspect="1" noMove="1" noResize="1" noEditPoints="1" noAdjustHandles="1" noChangeArrowheads="1" noChangeShapeType="1" noTextEdit="1"/>
              </p:cNvSpPr>
              <p:nvPr/>
            </p:nvSpPr>
            <p:spPr>
              <a:xfrm>
                <a:off x="4623355" y="3510636"/>
                <a:ext cx="2406432" cy="1200329"/>
              </a:xfrm>
              <a:prstGeom prst="rect">
                <a:avLst/>
              </a:prstGeom>
              <a:blipFill>
                <a:blip r:embed="rId6"/>
                <a:stretch>
                  <a:fillRect l="-3141" t="-4167" r="-628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27F509F-9FE9-49B4-1F3F-A49C3935D166}"/>
                  </a:ext>
                </a:extLst>
              </p:cNvPr>
              <p:cNvSpPr txBox="1"/>
              <p:nvPr/>
            </p:nvSpPr>
            <p:spPr>
              <a:xfrm>
                <a:off x="8287919" y="3515033"/>
                <a:ext cx="3627504" cy="1200329"/>
              </a:xfrm>
              <a:prstGeom prst="rect">
                <a:avLst/>
              </a:prstGeom>
              <a:noFill/>
            </p:spPr>
            <p:txBody>
              <a:bodyPr wrap="square">
                <a:spAutoFit/>
              </a:bodyPr>
              <a:lstStyle/>
              <a:p>
                <a:pPr algn="ctr"/>
                <a:r>
                  <a:rPr lang="en-US" sz="2400"/>
                  <a:t>Separable data</a:t>
                </a:r>
              </a:p>
              <a:p>
                <a:pPr algn="ctr"/>
                <a14:m>
                  <m:oMath xmlns:m="http://schemas.openxmlformats.org/officeDocument/2006/math">
                    <m:r>
                      <a:rPr lang="en-US" sz="2400" i="1">
                        <a:latin typeface="Cambria Math" panose="02040503050406030204" pitchFamily="18" charset="0"/>
                      </a:rPr>
                      <m:t>𝜙</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m>
                              <m:mPr>
                                <m:mcs>
                                  <m:mc>
                                    <m:mcPr>
                                      <m:count m:val="3"/>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m:rPr>
                                          <m:brk m:alnAt="7"/>
                                        </m:rPr>
                                        <a:rPr lang="en-US" sz="2400" i="1">
                                          <a:latin typeface="Cambria Math" panose="02040503050406030204" pitchFamily="18" charset="0"/>
                                        </a:rPr>
                                        <m:t>𝑥</m:t>
                                      </m:r>
                                    </m:e>
                                    <m:sub>
                                      <m:r>
                                        <m:rPr>
                                          <m:brk m:alnAt="7"/>
                                        </m:rPr>
                                        <a:rPr lang="en-US" sz="2400" i="1">
                                          <a:latin typeface="Cambria Math" panose="02040503050406030204" pitchFamily="18" charset="0"/>
                                        </a:rPr>
                                        <m:t>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e>
                              </m:mr>
                            </m:m>
                          </m:e>
                        </m:d>
                      </m:e>
                      <m:sup>
                        <m:r>
                          <a:rPr lang="en-US" sz="2400" i="1">
                            <a:latin typeface="Cambria Math" panose="02040503050406030204" pitchFamily="18" charset="0"/>
                            <a:ea typeface="Cambria Math" panose="02040503050406030204" pitchFamily="18" charset="0"/>
                          </a:rPr>
                          <m:t>⊺</m:t>
                        </m:r>
                      </m:sup>
                    </m:sSup>
                  </m:oMath>
                </a14:m>
                <a:r>
                  <a:rPr lang="en-US" sz="2400"/>
                  <a:t> </a:t>
                </a:r>
                <a:endParaRPr lang="vi-VN" sz="2400"/>
              </a:p>
              <a:p>
                <a:pPr algn="ctr"/>
                <a:endParaRPr lang="vi-VN" sz="2400"/>
              </a:p>
            </p:txBody>
          </p:sp>
        </mc:Choice>
        <mc:Fallback>
          <p:sp>
            <p:nvSpPr>
              <p:cNvPr id="19" name="TextBox 18">
                <a:extLst>
                  <a:ext uri="{FF2B5EF4-FFF2-40B4-BE49-F238E27FC236}">
                    <a16:creationId xmlns:a16="http://schemas.microsoft.com/office/drawing/2014/main" id="{F27F509F-9FE9-49B4-1F3F-A49C3935D166}"/>
                  </a:ext>
                </a:extLst>
              </p:cNvPr>
              <p:cNvSpPr txBox="1">
                <a:spLocks noRot="1" noChangeAspect="1" noMove="1" noResize="1" noEditPoints="1" noAdjustHandles="1" noChangeArrowheads="1" noChangeShapeType="1" noTextEdit="1"/>
              </p:cNvSpPr>
              <p:nvPr/>
            </p:nvSpPr>
            <p:spPr>
              <a:xfrm>
                <a:off x="8287919" y="3515033"/>
                <a:ext cx="3627504" cy="1200329"/>
              </a:xfrm>
              <a:prstGeom prst="rect">
                <a:avLst/>
              </a:prstGeom>
              <a:blipFill>
                <a:blip r:embed="rId7"/>
                <a:stretch>
                  <a:fillRect t="-312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9255BA9F-E902-2B2F-3C7C-183F9BF04AF3}"/>
                  </a:ext>
                </a:extLst>
              </p:cNvPr>
              <p:cNvSpPr txBox="1"/>
              <p:nvPr/>
            </p:nvSpPr>
            <p:spPr>
              <a:xfrm>
                <a:off x="4872892" y="4466959"/>
                <a:ext cx="7138485" cy="11423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max</m:t>
                              </m:r>
                            </m:e>
                            <m:lim>
                              <m:r>
                                <a:rPr lang="en-US" sz="2400" i="1">
                                  <a:latin typeface="Cambria Math" panose="02040503050406030204" pitchFamily="18" charset="0"/>
                                </a:rPr>
                                <m:t>𝛽</m:t>
                              </m:r>
                            </m:lim>
                          </m:limLow>
                          <m:r>
                            <a:rPr lang="en-US" sz="2400" i="1">
                              <a:latin typeface="Cambria Math" panose="02040503050406030204" pitchFamily="18" charset="0"/>
                            </a:rPr>
                            <m:t> </m:t>
                          </m:r>
                          <m:r>
                            <a:rPr lang="en-US" sz="2400" i="1">
                              <a:latin typeface="Cambria Math" panose="02040503050406030204" pitchFamily="18" charset="0"/>
                            </a:rPr>
                            <m:t>𝐿</m:t>
                          </m:r>
                          <m:d>
                            <m:dPr>
                              <m:ctrlPr>
                                <a:rPr lang="en-US" sz="2400" i="1">
                                  <a:latin typeface="Cambria Math" panose="02040503050406030204" pitchFamily="18" charset="0"/>
                                </a:rPr>
                              </m:ctrlPr>
                            </m:dPr>
                            <m:e>
                              <m:r>
                                <a:rPr lang="en-US" sz="2400" i="1">
                                  <a:latin typeface="Cambria Math" panose="02040503050406030204" pitchFamily="18" charset="0"/>
                                </a:rPr>
                                <m:t>𝛽</m:t>
                              </m:r>
                            </m:e>
                          </m:d>
                          <m:r>
                            <a:rPr lang="en-US" sz="2400" i="1">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𝑛</m:t>
                              </m:r>
                            </m:sup>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𝑖</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e>
                          </m:nary>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𝑛</m:t>
                              </m:r>
                            </m:sup>
                            <m:e>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𝑗</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𝑛</m:t>
                                  </m:r>
                                </m:sup>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𝑗</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𝑗</m:t>
                                      </m:r>
                                    </m:sub>
                                  </m:sSub>
                                  <m:r>
                                    <a:rPr lang="en-US" sz="2400" i="1">
                                      <a:latin typeface="Cambria Math" panose="02040503050406030204" pitchFamily="18" charset="0"/>
                                    </a:rPr>
                                    <m:t>  </m:t>
                                  </m:r>
                                  <m:r>
                                    <a:rPr lang="en-US" sz="2400" i="1">
                                      <a:latin typeface="Cambria Math" panose="02040503050406030204" pitchFamily="18" charset="0"/>
                                    </a:rPr>
                                    <m:t>𝜙</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e>
                                      </m:d>
                                    </m:e>
                                    <m:sup>
                                      <m:r>
                                        <a:rPr lang="en-US" sz="2400" i="1">
                                          <a:latin typeface="Cambria Math" panose="02040503050406030204" pitchFamily="18" charset="0"/>
                                          <a:ea typeface="Cambria Math" panose="02040503050406030204" pitchFamily="18" charset="0"/>
                                        </a:rPr>
                                        <m:t>⊺</m:t>
                                      </m:r>
                                    </m:sup>
                                  </m:sSup>
                                  <m:r>
                                    <a:rPr lang="en-US" sz="2400" i="1">
                                      <a:latin typeface="Cambria Math" panose="02040503050406030204" pitchFamily="18" charset="0"/>
                                    </a:rPr>
                                    <m:t>𝜙</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𝑗</m:t>
                                          </m:r>
                                        </m:sub>
                                      </m:sSub>
                                    </m:e>
                                  </m:d>
                                </m:e>
                              </m:nary>
                            </m:e>
                          </m:nary>
                        </m:fName>
                        <m:e>
                          <m:r>
                            <a:rPr lang="en-US" sz="2400" i="1">
                              <a:latin typeface="Cambria Math" panose="02040503050406030204" pitchFamily="18" charset="0"/>
                            </a:rPr>
                            <m:t> </m:t>
                          </m:r>
                        </m:e>
                      </m:func>
                    </m:oMath>
                  </m:oMathPara>
                </a14:m>
                <a:endParaRPr lang="vi-VN" sz="2400"/>
              </a:p>
            </p:txBody>
          </p:sp>
        </mc:Choice>
        <mc:Fallback>
          <p:sp>
            <p:nvSpPr>
              <p:cNvPr id="24" name="TextBox 23">
                <a:extLst>
                  <a:ext uri="{FF2B5EF4-FFF2-40B4-BE49-F238E27FC236}">
                    <a16:creationId xmlns:a16="http://schemas.microsoft.com/office/drawing/2014/main" id="{9255BA9F-E902-2B2F-3C7C-183F9BF04AF3}"/>
                  </a:ext>
                </a:extLst>
              </p:cNvPr>
              <p:cNvSpPr txBox="1">
                <a:spLocks noRot="1" noChangeAspect="1" noMove="1" noResize="1" noEditPoints="1" noAdjustHandles="1" noChangeArrowheads="1" noChangeShapeType="1" noTextEdit="1"/>
              </p:cNvSpPr>
              <p:nvPr/>
            </p:nvSpPr>
            <p:spPr>
              <a:xfrm>
                <a:off x="4872892" y="4466959"/>
                <a:ext cx="7138485" cy="1142364"/>
              </a:xfrm>
              <a:prstGeom prst="rect">
                <a:avLst/>
              </a:prstGeom>
              <a:blipFill>
                <a:blip r:embed="rId8"/>
                <a:stretch>
                  <a:fillRect t="-102198" b="-152747"/>
                </a:stretch>
              </a:blipFill>
            </p:spPr>
            <p:txBody>
              <a:bodyPr/>
              <a:lstStyle/>
              <a:p>
                <a:r>
                  <a:rPr lang="en-VN">
                    <a:noFill/>
                  </a:rPr>
                  <a:t> </a:t>
                </a:r>
              </a:p>
            </p:txBody>
          </p:sp>
        </mc:Fallback>
      </mc:AlternateContent>
      <p:sp>
        <p:nvSpPr>
          <p:cNvPr id="28" name="TextBox 27">
            <a:extLst>
              <a:ext uri="{FF2B5EF4-FFF2-40B4-BE49-F238E27FC236}">
                <a16:creationId xmlns:a16="http://schemas.microsoft.com/office/drawing/2014/main" id="{770705D5-72A2-EFD5-6986-69C9A0EA6AE1}"/>
              </a:ext>
            </a:extLst>
          </p:cNvPr>
          <p:cNvSpPr txBox="1"/>
          <p:nvPr/>
        </p:nvSpPr>
        <p:spPr>
          <a:xfrm rot="18919474">
            <a:off x="1305825" y="2471532"/>
            <a:ext cx="3159899" cy="338554"/>
          </a:xfrm>
          <a:prstGeom prst="rect">
            <a:avLst/>
          </a:prstGeom>
          <a:noFill/>
        </p:spPr>
        <p:txBody>
          <a:bodyPr wrap="square">
            <a:spAutoFit/>
          </a:bodyPr>
          <a:lstStyle/>
          <a:p>
            <a:r>
              <a:rPr lang="vi-VN" sz="1600">
                <a:latin typeface="Calibri" panose="020F0502020204030204" pitchFamily="34" charset="0"/>
                <a:ea typeface="Calibri" panose="020F0502020204030204" pitchFamily="34" charset="0"/>
                <a:cs typeface="Calibri" panose="020F0502020204030204" pitchFamily="34" charset="0"/>
              </a:rPr>
              <a:t>separate hyperplan</a:t>
            </a:r>
            <a:r>
              <a:rPr lang="en-US" sz="1600">
                <a:latin typeface="Calibri" panose="020F0502020204030204" pitchFamily="34" charset="0"/>
                <a:ea typeface="Calibri" panose="020F0502020204030204" pitchFamily="34" charset="0"/>
                <a:cs typeface="Calibri" panose="020F0502020204030204" pitchFamily="34" charset="0"/>
              </a:rPr>
              <a:t>e</a:t>
            </a:r>
            <a:r>
              <a:rPr lang="en-US" sz="1600"/>
              <a:t>.</a:t>
            </a:r>
          </a:p>
        </p:txBody>
      </p:sp>
      <p:sp>
        <p:nvSpPr>
          <p:cNvPr id="29" name="Rectangle 28">
            <a:extLst>
              <a:ext uri="{FF2B5EF4-FFF2-40B4-BE49-F238E27FC236}">
                <a16:creationId xmlns:a16="http://schemas.microsoft.com/office/drawing/2014/main" id="{367BFE37-0C95-4B50-A19B-89B62A9811A2}"/>
              </a:ext>
            </a:extLst>
          </p:cNvPr>
          <p:cNvSpPr/>
          <p:nvPr/>
        </p:nvSpPr>
        <p:spPr>
          <a:xfrm>
            <a:off x="4998799" y="4429609"/>
            <a:ext cx="6916623" cy="12237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0" name="Rectangle 29">
            <a:extLst>
              <a:ext uri="{FF2B5EF4-FFF2-40B4-BE49-F238E27FC236}">
                <a16:creationId xmlns:a16="http://schemas.microsoft.com/office/drawing/2014/main" id="{FCF26F37-9BD4-658D-832E-F7B066AF9791}"/>
              </a:ext>
            </a:extLst>
          </p:cNvPr>
          <p:cNvSpPr/>
          <p:nvPr/>
        </p:nvSpPr>
        <p:spPr>
          <a:xfrm>
            <a:off x="1281662" y="5749249"/>
            <a:ext cx="3600783" cy="5978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32" name="Connector: Curved 31">
            <a:extLst>
              <a:ext uri="{FF2B5EF4-FFF2-40B4-BE49-F238E27FC236}">
                <a16:creationId xmlns:a16="http://schemas.microsoft.com/office/drawing/2014/main" id="{0F44A19B-9CBB-43F6-FBD3-65747B1338B7}"/>
              </a:ext>
            </a:extLst>
          </p:cNvPr>
          <p:cNvCxnSpPr>
            <a:cxnSpLocks/>
            <a:stCxn id="30" idx="3"/>
            <a:endCxn id="34" idx="2"/>
          </p:cNvCxnSpPr>
          <p:nvPr/>
        </p:nvCxnSpPr>
        <p:spPr>
          <a:xfrm flipV="1">
            <a:off x="4882444" y="5653343"/>
            <a:ext cx="1080912" cy="394852"/>
          </a:xfrm>
          <a:prstGeom prst="curved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DAD63001-731A-7A12-9EEE-4FEF8F6688E8}"/>
              </a:ext>
            </a:extLst>
          </p:cNvPr>
          <p:cNvSpPr/>
          <p:nvPr/>
        </p:nvSpPr>
        <p:spPr>
          <a:xfrm>
            <a:off x="5712178" y="5565423"/>
            <a:ext cx="502356" cy="879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6" name="Rectangle 35">
            <a:extLst>
              <a:ext uri="{FF2B5EF4-FFF2-40B4-BE49-F238E27FC236}">
                <a16:creationId xmlns:a16="http://schemas.microsoft.com/office/drawing/2014/main" id="{34144FCF-DFEE-6328-F36C-11C199F81738}"/>
              </a:ext>
            </a:extLst>
          </p:cNvPr>
          <p:cNvSpPr/>
          <p:nvPr/>
        </p:nvSpPr>
        <p:spPr>
          <a:xfrm>
            <a:off x="10029264" y="4738721"/>
            <a:ext cx="1773269" cy="6340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73279791-C404-DA47-E907-77A65C248030}"/>
                  </a:ext>
                </a:extLst>
              </p:cNvPr>
              <p:cNvSpPr txBox="1"/>
              <p:nvPr/>
            </p:nvSpPr>
            <p:spPr>
              <a:xfrm>
                <a:off x="9932071" y="5641854"/>
                <a:ext cx="2818600" cy="830997"/>
              </a:xfrm>
              <a:prstGeom prst="rect">
                <a:avLst/>
              </a:prstGeom>
              <a:noFill/>
            </p:spPr>
            <p:txBody>
              <a:bodyPr wrap="square">
                <a:spAutoFit/>
              </a:bodyPr>
              <a:lstStyle/>
              <a:p>
                <a:r>
                  <a:rPr lang="en-US" sz="2400"/>
                  <a:t>Inner product</a:t>
                </a:r>
              </a:p>
              <a:p>
                <a14:m>
                  <m:oMath xmlns:m="http://schemas.openxmlformats.org/officeDocument/2006/math">
                    <m:r>
                      <a:rPr lang="vi-VN" sz="2400" i="1">
                        <a:latin typeface="Cambria Math" panose="02040503050406030204" pitchFamily="18" charset="0"/>
                        <a:ea typeface="Cambria Math" panose="02040503050406030204" pitchFamily="18" charset="0"/>
                      </a:rPr>
                      <m:t>𝒪</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𝑀</m:t>
                        </m:r>
                        <m:r>
                          <a:rPr lang="en-US" sz="2400" i="1">
                            <a:latin typeface="Cambria Math" panose="02040503050406030204" pitchFamily="18" charset="0"/>
                            <a:ea typeface="Cambria Math" panose="02040503050406030204" pitchFamily="18" charset="0"/>
                          </a:rPr>
                          <m:t>∗?</m:t>
                        </m:r>
                      </m:e>
                    </m:d>
                  </m:oMath>
                </a14:m>
                <a:r>
                  <a:rPr lang="en-US" sz="2400"/>
                  <a:t> complexity</a:t>
                </a:r>
                <a:endParaRPr lang="vi-VN" sz="2400"/>
              </a:p>
            </p:txBody>
          </p:sp>
        </mc:Choice>
        <mc:Fallback>
          <p:sp>
            <p:nvSpPr>
              <p:cNvPr id="37" name="TextBox 36">
                <a:extLst>
                  <a:ext uri="{FF2B5EF4-FFF2-40B4-BE49-F238E27FC236}">
                    <a16:creationId xmlns:a16="http://schemas.microsoft.com/office/drawing/2014/main" id="{73279791-C404-DA47-E907-77A65C248030}"/>
                  </a:ext>
                </a:extLst>
              </p:cNvPr>
              <p:cNvSpPr txBox="1">
                <a:spLocks noRot="1" noChangeAspect="1" noMove="1" noResize="1" noEditPoints="1" noAdjustHandles="1" noChangeArrowheads="1" noChangeShapeType="1" noTextEdit="1"/>
              </p:cNvSpPr>
              <p:nvPr/>
            </p:nvSpPr>
            <p:spPr>
              <a:xfrm>
                <a:off x="9932071" y="5641854"/>
                <a:ext cx="2818600" cy="830997"/>
              </a:xfrm>
              <a:prstGeom prst="rect">
                <a:avLst/>
              </a:prstGeom>
              <a:blipFill>
                <a:blip r:embed="rId9"/>
                <a:stretch>
                  <a:fillRect l="-3125" t="-6061" r="-2679" b="-16667"/>
                </a:stretch>
              </a:blipFill>
            </p:spPr>
            <p:txBody>
              <a:bodyPr/>
              <a:lstStyle/>
              <a:p>
                <a:r>
                  <a:rPr lang="en-VN">
                    <a:noFill/>
                  </a:rPr>
                  <a:t> </a:t>
                </a:r>
              </a:p>
            </p:txBody>
          </p:sp>
        </mc:Fallback>
      </mc:AlternateContent>
      <p:cxnSp>
        <p:nvCxnSpPr>
          <p:cNvPr id="39" name="Straight Arrow Connector 38">
            <a:extLst>
              <a:ext uri="{FF2B5EF4-FFF2-40B4-BE49-F238E27FC236}">
                <a16:creationId xmlns:a16="http://schemas.microsoft.com/office/drawing/2014/main" id="{79C30425-DF0B-18FA-FA1F-465C30DCCF46}"/>
              </a:ext>
            </a:extLst>
          </p:cNvPr>
          <p:cNvCxnSpPr>
            <a:stCxn id="36" idx="2"/>
          </p:cNvCxnSpPr>
          <p:nvPr/>
        </p:nvCxnSpPr>
        <p:spPr>
          <a:xfrm>
            <a:off x="10915899" y="5372804"/>
            <a:ext cx="0" cy="4296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3D0A6849-FEC4-789D-3925-595B4D9B291B}"/>
                  </a:ext>
                </a:extLst>
              </p:cNvPr>
              <p:cNvSpPr txBox="1"/>
              <p:nvPr/>
            </p:nvSpPr>
            <p:spPr>
              <a:xfrm>
                <a:off x="5943151" y="5882830"/>
                <a:ext cx="3542376" cy="517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𝐾</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𝑗</m:t>
                              </m:r>
                            </m:sub>
                          </m:sSub>
                        </m:e>
                      </m:d>
                      <m:r>
                        <a:rPr lang="en-US" sz="2400" i="1">
                          <a:latin typeface="Cambria Math" panose="02040503050406030204" pitchFamily="18" charset="0"/>
                        </a:rPr>
                        <m:t>≡</m:t>
                      </m:r>
                      <m:r>
                        <a:rPr lang="en-US" sz="2400" i="1">
                          <a:latin typeface="Cambria Math" panose="02040503050406030204" pitchFamily="18" charset="0"/>
                        </a:rPr>
                        <m:t>𝜙</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e>
                          </m:d>
                        </m:e>
                        <m:sup>
                          <m:r>
                            <a:rPr lang="en-US" sz="2400" i="1">
                              <a:latin typeface="Cambria Math" panose="02040503050406030204" pitchFamily="18" charset="0"/>
                              <a:ea typeface="Cambria Math" panose="02040503050406030204" pitchFamily="18" charset="0"/>
                            </a:rPr>
                            <m:t>⊺</m:t>
                          </m:r>
                        </m:sup>
                      </m:sSup>
                      <m:r>
                        <a:rPr lang="en-US" sz="2400" i="1">
                          <a:latin typeface="Cambria Math" panose="02040503050406030204" pitchFamily="18" charset="0"/>
                        </a:rPr>
                        <m:t>𝜙</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𝑗</m:t>
                              </m:r>
                            </m:sub>
                          </m:sSub>
                        </m:e>
                      </m:d>
                    </m:oMath>
                  </m:oMathPara>
                </a14:m>
                <a:endParaRPr lang="vi-VN" sz="2400"/>
              </a:p>
            </p:txBody>
          </p:sp>
        </mc:Choice>
        <mc:Fallback>
          <p:sp>
            <p:nvSpPr>
              <p:cNvPr id="40" name="TextBox 39">
                <a:extLst>
                  <a:ext uri="{FF2B5EF4-FFF2-40B4-BE49-F238E27FC236}">
                    <a16:creationId xmlns:a16="http://schemas.microsoft.com/office/drawing/2014/main" id="{3D0A6849-FEC4-789D-3925-595B4D9B291B}"/>
                  </a:ext>
                </a:extLst>
              </p:cNvPr>
              <p:cNvSpPr txBox="1">
                <a:spLocks noRot="1" noChangeAspect="1" noMove="1" noResize="1" noEditPoints="1" noAdjustHandles="1" noChangeArrowheads="1" noChangeShapeType="1" noTextEdit="1"/>
              </p:cNvSpPr>
              <p:nvPr/>
            </p:nvSpPr>
            <p:spPr>
              <a:xfrm>
                <a:off x="5943151" y="5882830"/>
                <a:ext cx="3542376" cy="517834"/>
              </a:xfrm>
              <a:prstGeom prst="rect">
                <a:avLst/>
              </a:prstGeom>
              <a:blipFill>
                <a:blip r:embed="rId10"/>
                <a:stretch>
                  <a:fillRect b="-9524"/>
                </a:stretch>
              </a:blipFill>
            </p:spPr>
            <p:txBody>
              <a:bodyPr/>
              <a:lstStyle/>
              <a:p>
                <a:r>
                  <a:rPr lang="en-VN">
                    <a:noFill/>
                  </a:rPr>
                  <a:t> </a:t>
                </a:r>
              </a:p>
            </p:txBody>
          </p:sp>
        </mc:Fallback>
      </mc:AlternateContent>
      <p:cxnSp>
        <p:nvCxnSpPr>
          <p:cNvPr id="41" name="Straight Arrow Connector 40">
            <a:extLst>
              <a:ext uri="{FF2B5EF4-FFF2-40B4-BE49-F238E27FC236}">
                <a16:creationId xmlns:a16="http://schemas.microsoft.com/office/drawing/2014/main" id="{BA780AF0-79C1-3BEC-6D55-98141397BEAE}"/>
              </a:ext>
            </a:extLst>
          </p:cNvPr>
          <p:cNvCxnSpPr>
            <a:cxnSpLocks/>
          </p:cNvCxnSpPr>
          <p:nvPr/>
        </p:nvCxnSpPr>
        <p:spPr>
          <a:xfrm flipH="1">
            <a:off x="9336627" y="6157093"/>
            <a:ext cx="603499" cy="116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15DD048-64BE-EE15-60E3-3E2F5D49F6D4}"/>
              </a:ext>
            </a:extLst>
          </p:cNvPr>
          <p:cNvSpPr txBox="1"/>
          <p:nvPr/>
        </p:nvSpPr>
        <p:spPr>
          <a:xfrm>
            <a:off x="6005690" y="6356351"/>
            <a:ext cx="4340965" cy="461665"/>
          </a:xfrm>
          <a:prstGeom prst="rect">
            <a:avLst/>
          </a:prstGeom>
          <a:noFill/>
        </p:spPr>
        <p:txBody>
          <a:bodyPr wrap="square">
            <a:spAutoFit/>
          </a:bodyPr>
          <a:lstStyle/>
          <a:p>
            <a:r>
              <a:rPr lang="en-US" sz="2400"/>
              <a:t>Kernel function is faster!</a:t>
            </a:r>
            <a:endParaRPr lang="vi-VN" sz="2400"/>
          </a:p>
        </p:txBody>
      </p:sp>
    </p:spTree>
    <p:extLst>
      <p:ext uri="{BB962C8B-B14F-4D97-AF65-F5344CB8AC3E}">
        <p14:creationId xmlns:p14="http://schemas.microsoft.com/office/powerpoint/2010/main" val="4209657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p:txBody>
          <a:bodyPr>
            <a:normAutofit/>
          </a:bodyPr>
          <a:lstStyle/>
          <a:p>
            <a:r>
              <a:rPr lang="en-US"/>
              <a:t>2.3. Quantum deep learning</a:t>
            </a:r>
            <a:endParaRPr lang="en-VN"/>
          </a:p>
        </p:txBody>
      </p:sp>
      <p:sp>
        <p:nvSpPr>
          <p:cNvPr id="3" name="TextBox 2">
            <a:extLst>
              <a:ext uri="{FF2B5EF4-FFF2-40B4-BE49-F238E27FC236}">
                <a16:creationId xmlns:a16="http://schemas.microsoft.com/office/drawing/2014/main" id="{26AFD4A1-EBD6-2E40-084C-BE85233C1D54}"/>
              </a:ext>
            </a:extLst>
          </p:cNvPr>
          <p:cNvSpPr txBox="1"/>
          <p:nvPr/>
        </p:nvSpPr>
        <p:spPr>
          <a:xfrm>
            <a:off x="-2268637" y="5162309"/>
            <a:ext cx="184731" cy="369332"/>
          </a:xfrm>
          <a:prstGeom prst="rect">
            <a:avLst/>
          </a:prstGeom>
          <a:noFill/>
        </p:spPr>
        <p:txBody>
          <a:bodyPr wrap="none" rtlCol="0">
            <a:spAutoFit/>
          </a:bodyPr>
          <a:lstStyle/>
          <a:p>
            <a:endParaRPr lang="en-VN"/>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27</a:t>
            </a:fld>
            <a:endParaRPr lang="en-VN"/>
          </a:p>
        </p:txBody>
      </p:sp>
      <p:pic>
        <p:nvPicPr>
          <p:cNvPr id="13" name="Content Placeholder 12">
            <a:extLst>
              <a:ext uri="{FF2B5EF4-FFF2-40B4-BE49-F238E27FC236}">
                <a16:creationId xmlns:a16="http://schemas.microsoft.com/office/drawing/2014/main" id="{496FC931-64CF-3C35-F631-36208D90102C}"/>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rcRect l="2194" r="2194"/>
          <a:stretch/>
        </p:blipFill>
        <p:spPr>
          <a:xfrm>
            <a:off x="680155" y="2316153"/>
            <a:ext cx="7772400" cy="3580932"/>
          </a:xfrm>
        </p:spPr>
      </p:pic>
      <p:sp>
        <p:nvSpPr>
          <p:cNvPr id="5" name="TextBox 4">
            <a:extLst>
              <a:ext uri="{FF2B5EF4-FFF2-40B4-BE49-F238E27FC236}">
                <a16:creationId xmlns:a16="http://schemas.microsoft.com/office/drawing/2014/main" id="{7CF15648-7EA3-8FB4-1BD5-A72FAA990D5B}"/>
              </a:ext>
            </a:extLst>
          </p:cNvPr>
          <p:cNvSpPr txBox="1"/>
          <p:nvPr/>
        </p:nvSpPr>
        <p:spPr>
          <a:xfrm>
            <a:off x="794658" y="6281343"/>
            <a:ext cx="8975271" cy="523220"/>
          </a:xfrm>
          <a:prstGeom prst="rect">
            <a:avLst/>
          </a:prstGeom>
          <a:noFill/>
        </p:spPr>
        <p:txBody>
          <a:bodyPr wrap="square">
            <a:spAutoFit/>
          </a:bodyPr>
          <a:lstStyle/>
          <a:p>
            <a:r>
              <a:rPr lang="vi-VN" sz="140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400" b="1">
                <a:solidFill>
                  <a:srgbClr val="000000"/>
                </a:solidFill>
                <a:latin typeface="Calibri" panose="020F0502020204030204" pitchFamily="34" charset="0"/>
                <a:ea typeface="Calibri" panose="020F0502020204030204" pitchFamily="34" charset="0"/>
                <a:cs typeface="Calibri" panose="020F0502020204030204" pitchFamily="34" charset="0"/>
              </a:rPr>
              <a:t>2.4</a:t>
            </a:r>
            <a:r>
              <a:rPr lang="vi-VN" sz="140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400">
                <a:solidFill>
                  <a:srgbClr val="00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7" name="Straight Arrow Connector 6">
            <a:extLst>
              <a:ext uri="{FF2B5EF4-FFF2-40B4-BE49-F238E27FC236}">
                <a16:creationId xmlns:a16="http://schemas.microsoft.com/office/drawing/2014/main" id="{51033A9E-7CFB-967E-5777-FC6A9111FC31}"/>
              </a:ext>
            </a:extLst>
          </p:cNvPr>
          <p:cNvCxnSpPr>
            <a:cxnSpLocks/>
            <a:stCxn id="10" idx="2"/>
          </p:cNvCxnSpPr>
          <p:nvPr/>
        </p:nvCxnSpPr>
        <p:spPr>
          <a:xfrm flipH="1">
            <a:off x="3715473" y="2553452"/>
            <a:ext cx="1" cy="9565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27A9E96-2521-E87C-86DD-46A5BC807A4D}"/>
              </a:ext>
            </a:extLst>
          </p:cNvPr>
          <p:cNvSpPr txBox="1"/>
          <p:nvPr/>
        </p:nvSpPr>
        <p:spPr>
          <a:xfrm>
            <a:off x="2991091" y="1599345"/>
            <a:ext cx="1448765" cy="954107"/>
          </a:xfrm>
          <a:prstGeom prst="rect">
            <a:avLst/>
          </a:prstGeom>
          <a:noFill/>
        </p:spPr>
        <p:txBody>
          <a:bodyPr wrap="square" rtlCol="0">
            <a:spAutoFit/>
          </a:bodyPr>
          <a:lstStyle/>
          <a:p>
            <a:r>
              <a:rPr lang="en-VN" sz="2800">
                <a:solidFill>
                  <a:schemeClr val="accent1"/>
                </a:solidFill>
              </a:rPr>
              <a:t>Encoder</a:t>
            </a:r>
          </a:p>
        </p:txBody>
      </p:sp>
      <p:cxnSp>
        <p:nvCxnSpPr>
          <p:cNvPr id="14" name="Straight Arrow Connector 13">
            <a:extLst>
              <a:ext uri="{FF2B5EF4-FFF2-40B4-BE49-F238E27FC236}">
                <a16:creationId xmlns:a16="http://schemas.microsoft.com/office/drawing/2014/main" id="{DF83143B-31A2-A937-DA26-AC8F91E2074D}"/>
              </a:ext>
            </a:extLst>
          </p:cNvPr>
          <p:cNvCxnSpPr>
            <a:cxnSpLocks/>
            <a:stCxn id="15" idx="2"/>
          </p:cNvCxnSpPr>
          <p:nvPr/>
        </p:nvCxnSpPr>
        <p:spPr>
          <a:xfrm flipH="1">
            <a:off x="5889084" y="2112776"/>
            <a:ext cx="1" cy="52729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0599988-4B8A-084A-A28B-78E764776AF0}"/>
              </a:ext>
            </a:extLst>
          </p:cNvPr>
          <p:cNvSpPr txBox="1"/>
          <p:nvPr/>
        </p:nvSpPr>
        <p:spPr>
          <a:xfrm>
            <a:off x="4517484" y="1589556"/>
            <a:ext cx="2743201" cy="523220"/>
          </a:xfrm>
          <a:prstGeom prst="rect">
            <a:avLst/>
          </a:prstGeom>
          <a:noFill/>
        </p:spPr>
        <p:txBody>
          <a:bodyPr wrap="square" rtlCol="0">
            <a:spAutoFit/>
          </a:bodyPr>
          <a:lstStyle/>
          <a:p>
            <a:pPr algn="ctr"/>
            <a:r>
              <a:rPr lang="en-US" sz="2800">
                <a:solidFill>
                  <a:schemeClr val="accent1"/>
                </a:solidFill>
              </a:rPr>
              <a:t>Neural net</a:t>
            </a:r>
            <a:endParaRPr lang="en-VN" sz="2800">
              <a:solidFill>
                <a:schemeClr val="accent1"/>
              </a:solidFill>
            </a:endParaRPr>
          </a:p>
        </p:txBody>
      </p:sp>
      <p:cxnSp>
        <p:nvCxnSpPr>
          <p:cNvPr id="19" name="Straight Arrow Connector 18">
            <a:extLst>
              <a:ext uri="{FF2B5EF4-FFF2-40B4-BE49-F238E27FC236}">
                <a16:creationId xmlns:a16="http://schemas.microsoft.com/office/drawing/2014/main" id="{0E79078A-1245-858A-4307-557D80619F7F}"/>
              </a:ext>
            </a:extLst>
          </p:cNvPr>
          <p:cNvCxnSpPr>
            <a:cxnSpLocks/>
            <a:stCxn id="20" idx="2"/>
          </p:cNvCxnSpPr>
          <p:nvPr/>
        </p:nvCxnSpPr>
        <p:spPr>
          <a:xfrm flipH="1">
            <a:off x="7896828" y="2112777"/>
            <a:ext cx="1" cy="5272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72F4F7E-B965-DE13-5F91-FFDCB7F44952}"/>
              </a:ext>
            </a:extLst>
          </p:cNvPr>
          <p:cNvSpPr txBox="1"/>
          <p:nvPr/>
        </p:nvSpPr>
        <p:spPr>
          <a:xfrm>
            <a:off x="7106375" y="1589557"/>
            <a:ext cx="1580907" cy="523220"/>
          </a:xfrm>
          <a:prstGeom prst="rect">
            <a:avLst/>
          </a:prstGeom>
          <a:noFill/>
        </p:spPr>
        <p:txBody>
          <a:bodyPr wrap="square" rtlCol="0">
            <a:spAutoFit/>
          </a:bodyPr>
          <a:lstStyle/>
          <a:p>
            <a:r>
              <a:rPr lang="en-VN" sz="2800">
                <a:solidFill>
                  <a:schemeClr val="accent1"/>
                </a:solidFill>
              </a:rPr>
              <a:t>Decoder</a:t>
            </a:r>
          </a:p>
        </p:txBody>
      </p:sp>
      <p:sp>
        <p:nvSpPr>
          <p:cNvPr id="6" name="Right Brace 5">
            <a:extLst>
              <a:ext uri="{FF2B5EF4-FFF2-40B4-BE49-F238E27FC236}">
                <a16:creationId xmlns:a16="http://schemas.microsoft.com/office/drawing/2014/main" id="{9CB7696F-9455-88CB-58A6-6544586E3AC4}"/>
              </a:ext>
            </a:extLst>
          </p:cNvPr>
          <p:cNvSpPr/>
          <p:nvPr/>
        </p:nvSpPr>
        <p:spPr>
          <a:xfrm>
            <a:off x="8467151" y="2270941"/>
            <a:ext cx="440261" cy="3407371"/>
          </a:xfrm>
          <a:prstGeom prst="rightBrace">
            <a:avLst>
              <a:gd name="adj1" fmla="val 73718"/>
              <a:gd name="adj2" fmla="val 50161"/>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sz="2400"/>
          </a:p>
        </p:txBody>
      </p:sp>
      <p:sp>
        <p:nvSpPr>
          <p:cNvPr id="9" name="TextBox 8">
            <a:extLst>
              <a:ext uri="{FF2B5EF4-FFF2-40B4-BE49-F238E27FC236}">
                <a16:creationId xmlns:a16="http://schemas.microsoft.com/office/drawing/2014/main" id="{15EC4E57-EB40-6293-6067-6610018F81F7}"/>
              </a:ext>
            </a:extLst>
          </p:cNvPr>
          <p:cNvSpPr txBox="1"/>
          <p:nvPr/>
        </p:nvSpPr>
        <p:spPr>
          <a:xfrm>
            <a:off x="9106832" y="3543739"/>
            <a:ext cx="2590800" cy="830997"/>
          </a:xfrm>
          <a:prstGeom prst="rect">
            <a:avLst/>
          </a:prstGeom>
          <a:noFill/>
        </p:spPr>
        <p:txBody>
          <a:bodyPr wrap="square" rtlCol="0">
            <a:spAutoFit/>
          </a:bodyPr>
          <a:lstStyle/>
          <a:p>
            <a:r>
              <a:rPr lang="en-US" sz="2400"/>
              <a:t>Quantum neural network (QNN)</a:t>
            </a:r>
            <a:endParaRPr lang="vi-VN" sz="2400"/>
          </a:p>
        </p:txBody>
      </p:sp>
    </p:spTree>
    <p:extLst>
      <p:ext uri="{BB962C8B-B14F-4D97-AF65-F5344CB8AC3E}">
        <p14:creationId xmlns:p14="http://schemas.microsoft.com/office/powerpoint/2010/main" val="3667023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5" name="Content Placeholder 4">
                <a:extLst>
                  <a:ext uri="{FF2B5EF4-FFF2-40B4-BE49-F238E27FC236}">
                    <a16:creationId xmlns:a16="http://schemas.microsoft.com/office/drawing/2014/main" id="{220F8FBE-952F-9B9B-23D2-58E76D708160}"/>
                  </a:ext>
                </a:extLst>
              </p:cNvPr>
              <p:cNvGraphicFramePr>
                <a:graphicFrameLocks noGrp="1"/>
              </p:cNvGraphicFramePr>
              <p:nvPr>
                <p:ph idx="1"/>
              </p:nvPr>
            </p:nvGraphicFramePr>
            <p:xfrm>
              <a:off x="838200" y="1690689"/>
              <a:ext cx="9965267" cy="4976019"/>
            </p:xfrm>
            <a:graphic>
              <a:graphicData uri="http://schemas.openxmlformats.org/drawingml/2006/table">
                <a:tbl>
                  <a:tblPr firstRow="1" bandRow="1">
                    <a:tableStyleId>{5940675A-B579-460E-94D1-54222C63F5DA}</a:tableStyleId>
                  </a:tblPr>
                  <a:tblGrid>
                    <a:gridCol w="1380067">
                      <a:extLst>
                        <a:ext uri="{9D8B030D-6E8A-4147-A177-3AD203B41FA5}">
                          <a16:colId xmlns:a16="http://schemas.microsoft.com/office/drawing/2014/main" val="4088917639"/>
                        </a:ext>
                      </a:extLst>
                    </a:gridCol>
                    <a:gridCol w="3506284">
                      <a:extLst>
                        <a:ext uri="{9D8B030D-6E8A-4147-A177-3AD203B41FA5}">
                          <a16:colId xmlns:a16="http://schemas.microsoft.com/office/drawing/2014/main" val="2364876114"/>
                        </a:ext>
                      </a:extLst>
                    </a:gridCol>
                    <a:gridCol w="5078916">
                      <a:extLst>
                        <a:ext uri="{9D8B030D-6E8A-4147-A177-3AD203B41FA5}">
                          <a16:colId xmlns:a16="http://schemas.microsoft.com/office/drawing/2014/main" val="3439772334"/>
                        </a:ext>
                      </a:extLst>
                    </a:gridCol>
                  </a:tblGrid>
                  <a:tr h="853440">
                    <a:tc>
                      <a:txBody>
                        <a:bodyPr/>
                        <a:lstStyle/>
                        <a:p>
                          <a:r>
                            <a:rPr lang="en-VN" sz="2400" b="1"/>
                            <a:t>Attribute</a:t>
                          </a:r>
                        </a:p>
                      </a:txBody>
                      <a:tcPr marL="121920" marR="121920" marT="60960" marB="60960" anchor="ctr"/>
                    </a:tc>
                    <a:tc>
                      <a:txBody>
                        <a:bodyPr/>
                        <a:lstStyle/>
                        <a:p>
                          <a:r>
                            <a:rPr lang="en-US" sz="2400" b="1"/>
                            <a:t>Classical d</a:t>
                          </a:r>
                          <a:r>
                            <a:rPr lang="en-VN" sz="2400" b="1"/>
                            <a:t>eep learning</a:t>
                          </a:r>
                        </a:p>
                      </a:txBody>
                      <a:tcPr marL="121920" marR="121920" marT="60960" marB="60960" anchor="ctr"/>
                    </a:tc>
                    <a:tc>
                      <a:txBody>
                        <a:bodyPr/>
                        <a:lstStyle/>
                        <a:p>
                          <a:r>
                            <a:rPr lang="en-US" sz="2400" b="1"/>
                            <a:t>Quantum deep learning</a:t>
                          </a:r>
                          <a:endParaRPr lang="en-VN" sz="2400" b="1"/>
                        </a:p>
                      </a:txBody>
                      <a:tcPr marL="121920" marR="121920" marT="60960" marB="60960" anchor="ctr"/>
                    </a:tc>
                    <a:extLst>
                      <a:ext uri="{0D108BD9-81ED-4DB2-BD59-A6C34878D82A}">
                        <a16:rowId xmlns:a16="http://schemas.microsoft.com/office/drawing/2014/main" val="2927070420"/>
                      </a:ext>
                    </a:extLst>
                  </a:tr>
                  <a:tr h="853440">
                    <a:tc>
                      <a:txBody>
                        <a:bodyPr/>
                        <a:lstStyle/>
                        <a:p>
                          <a:r>
                            <a:rPr lang="en-VN" sz="2400"/>
                            <a:t>Main concept</a:t>
                          </a:r>
                        </a:p>
                      </a:txBody>
                      <a:tcPr marL="121920" marR="121920" marT="60960" marB="60960" anchor="ctr"/>
                    </a:tc>
                    <a:tc>
                      <a:txBody>
                        <a:bodyPr/>
                        <a:lstStyle/>
                        <a:p>
                          <a:r>
                            <a:rPr lang="en-VN" sz="2400"/>
                            <a:t>Neural network</a:t>
                          </a:r>
                        </a:p>
                      </a:txBody>
                      <a:tcPr marL="121920" marR="121920" marT="60960" marB="60960" anchor="ctr"/>
                    </a:tc>
                    <a:tc>
                      <a:txBody>
                        <a:bodyPr/>
                        <a:lstStyle/>
                        <a:p>
                          <a:r>
                            <a:rPr lang="en-VN" sz="2400"/>
                            <a:t>Parameterized quantum circuit (PQC</a:t>
                          </a:r>
                          <a:r>
                            <a:rPr lang="en-US" sz="2400"/>
                            <a:t>)</a:t>
                          </a:r>
                          <a:endParaRPr lang="en-VN" sz="2400" b="1">
                            <a:solidFill>
                              <a:srgbClr val="FF0000"/>
                            </a:solidFill>
                          </a:endParaRPr>
                        </a:p>
                      </a:txBody>
                      <a:tcPr marL="121920" marR="121920" marT="60960" marB="60960" anchor="ctr"/>
                    </a:tc>
                    <a:extLst>
                      <a:ext uri="{0D108BD9-81ED-4DB2-BD59-A6C34878D82A}">
                        <a16:rowId xmlns:a16="http://schemas.microsoft.com/office/drawing/2014/main" val="1531077414"/>
                      </a:ext>
                    </a:extLst>
                  </a:tr>
                  <a:tr h="853440">
                    <a:tc>
                      <a:txBody>
                        <a:bodyPr/>
                        <a:lstStyle/>
                        <a:p>
                          <a:r>
                            <a:rPr lang="en-VN" sz="2400"/>
                            <a:t>Parameter</a:t>
                          </a:r>
                        </a:p>
                      </a:txBody>
                      <a:tcPr marL="121920" marR="121920" marT="60960" marB="60960" anchor="ctr"/>
                    </a:tc>
                    <a:tc>
                      <a:txBody>
                        <a:bodyPr/>
                        <a:lstStyle/>
                        <a:p>
                          <a:r>
                            <a:rPr lang="en-VN" sz="2400"/>
                            <a:t>Weight </a:t>
                          </a:r>
                          <a14:m>
                            <m:oMath xmlns:m="http://schemas.openxmlformats.org/officeDocument/2006/math">
                              <m:sSub>
                                <m:sSubPr>
                                  <m:ctrlPr>
                                    <a:rPr lang="vi-VN" sz="2400" b="0" i="1">
                                      <a:latin typeface="Cambria Math" panose="02040503050406030204" pitchFamily="18" charset="0"/>
                                    </a:rPr>
                                  </m:ctrlPr>
                                </m:sSubPr>
                                <m:e>
                                  <m:r>
                                    <a:rPr lang="vi-VN" sz="2400" b="0" i="1">
                                      <a:latin typeface="Cambria Math" panose="02040503050406030204" pitchFamily="18" charset="0"/>
                                    </a:rPr>
                                    <m:t>{</m:t>
                                  </m:r>
                                  <m:r>
                                    <a:rPr lang="en-VN" sz="2400" i="1">
                                      <a:latin typeface="Cambria Math" panose="02040503050406030204" pitchFamily="18" charset="0"/>
                                    </a:rPr>
                                    <m:t>𝑤</m:t>
                                  </m:r>
                                </m:e>
                                <m:sub>
                                  <m:r>
                                    <a:rPr lang="vi-VN" sz="2400" b="0" i="1">
                                      <a:latin typeface="Cambria Math" panose="02040503050406030204" pitchFamily="18" charset="0"/>
                                    </a:rPr>
                                    <m:t>𝑖</m:t>
                                  </m:r>
                                </m:sub>
                              </m:sSub>
                              <m:r>
                                <a:rPr lang="vi-VN" sz="2400" b="0" i="1">
                                  <a:latin typeface="Cambria Math" panose="02040503050406030204" pitchFamily="18" charset="0"/>
                                </a:rPr>
                                <m:t>}</m:t>
                              </m:r>
                            </m:oMath>
                          </a14:m>
                          <a:r>
                            <a:rPr lang="en-VN" sz="2400" i="1"/>
                            <a:t> </a:t>
                          </a:r>
                          <a:r>
                            <a:rPr lang="en-VN" sz="2400" i="0"/>
                            <a:t>in nodes</a:t>
                          </a:r>
                          <a:endParaRPr lang="en-VN" sz="2400" i="1"/>
                        </a:p>
                      </a:txBody>
                      <a:tcPr marL="121920" marR="121920" marT="60960" marB="60960" anchor="ctr"/>
                    </a:tc>
                    <a:tc>
                      <a:txBody>
                        <a:bodyPr/>
                        <a:lstStyle/>
                        <a:p>
                          <a:r>
                            <a:rPr lang="en-VN" sz="2400"/>
                            <a:t>Angle value </a:t>
                          </a:r>
                          <a14:m>
                            <m:oMath xmlns:m="http://schemas.openxmlformats.org/officeDocument/2006/math">
                              <m:d>
                                <m:dPr>
                                  <m:begChr m:val="{"/>
                                  <m:endChr m:val="}"/>
                                  <m:ctrlPr>
                                    <a:rPr lang="vi-VN" sz="2400" b="0" i="1">
                                      <a:latin typeface="Cambria Math" panose="02040503050406030204" pitchFamily="18" charset="0"/>
                                    </a:rPr>
                                  </m:ctrlPr>
                                </m:dPr>
                                <m:e>
                                  <m:sSub>
                                    <m:sSubPr>
                                      <m:ctrlPr>
                                        <a:rPr lang="vi-VN" sz="2400" b="0" i="1">
                                          <a:latin typeface="Cambria Math" panose="02040503050406030204" pitchFamily="18" charset="0"/>
                                        </a:rPr>
                                      </m:ctrlPr>
                                    </m:sSubPr>
                                    <m:e>
                                      <m:r>
                                        <a:rPr lang="vi-VN" sz="2400" b="0" i="1">
                                          <a:latin typeface="Cambria Math" panose="02040503050406030204" pitchFamily="18" charset="0"/>
                                        </a:rPr>
                                        <m:t>𝜃</m:t>
                                      </m:r>
                                    </m:e>
                                    <m:sub>
                                      <m:r>
                                        <m:rPr>
                                          <m:sty m:val="p"/>
                                        </m:rPr>
                                        <a:rPr lang="vi-VN" sz="2400" b="0" i="1">
                                          <a:latin typeface="Cambria Math" panose="02040503050406030204" pitchFamily="18" charset="0"/>
                                        </a:rPr>
                                        <m:t>i</m:t>
                                      </m:r>
                                    </m:sub>
                                  </m:sSub>
                                </m:e>
                              </m:d>
                            </m:oMath>
                          </a14:m>
                          <a:r>
                            <a:rPr lang="en-VN" sz="2400"/>
                            <a:t> in rotation gates </a:t>
                          </a:r>
                          <a14:m>
                            <m:oMath xmlns:m="http://schemas.openxmlformats.org/officeDocument/2006/math">
                              <m:d>
                                <m:dPr>
                                  <m:begChr m:val="{"/>
                                  <m:endChr m:val="}"/>
                                  <m:ctrlPr>
                                    <a:rPr lang="vi-VN" sz="2400" b="0" i="1">
                                      <a:latin typeface="Cambria Math" panose="02040503050406030204" pitchFamily="18" charset="0"/>
                                    </a:rPr>
                                  </m:ctrlPr>
                                </m:dPr>
                                <m:e>
                                  <m:sSub>
                                    <m:sSubPr>
                                      <m:ctrlPr>
                                        <a:rPr lang="vi-VN" sz="2400" b="0" i="1">
                                          <a:latin typeface="Cambria Math" panose="02040503050406030204" pitchFamily="18" charset="0"/>
                                        </a:rPr>
                                      </m:ctrlPr>
                                    </m:sSubPr>
                                    <m:e>
                                      <m:r>
                                        <a:rPr lang="vi-VN" sz="2400" b="0" i="1">
                                          <a:latin typeface="Cambria Math" panose="02040503050406030204" pitchFamily="18" charset="0"/>
                                        </a:rPr>
                                        <m:t>𝑅</m:t>
                                      </m:r>
                                    </m:e>
                                    <m:sub>
                                      <m:r>
                                        <a:rPr lang="vi-VN" sz="2400" b="0" i="1">
                                          <a:latin typeface="Cambria Math" panose="02040503050406030204" pitchFamily="18" charset="0"/>
                                        </a:rPr>
                                        <m:t>𝑋</m:t>
                                      </m:r>
                                    </m:sub>
                                  </m:sSub>
                                  <m:r>
                                    <a:rPr lang="vi-VN" sz="2400" b="0" i="1">
                                      <a:latin typeface="Cambria Math" panose="02040503050406030204" pitchFamily="18" charset="0"/>
                                    </a:rPr>
                                    <m:t>,</m:t>
                                  </m:r>
                                  <m:sSub>
                                    <m:sSubPr>
                                      <m:ctrlPr>
                                        <a:rPr lang="vi-VN" sz="2400" b="0" i="1">
                                          <a:latin typeface="Cambria Math" panose="02040503050406030204" pitchFamily="18" charset="0"/>
                                        </a:rPr>
                                      </m:ctrlPr>
                                    </m:sSubPr>
                                    <m:e>
                                      <m:r>
                                        <a:rPr lang="vi-VN" sz="2400" b="0" i="1">
                                          <a:latin typeface="Cambria Math" panose="02040503050406030204" pitchFamily="18" charset="0"/>
                                        </a:rPr>
                                        <m:t>𝑅</m:t>
                                      </m:r>
                                    </m:e>
                                    <m:sub>
                                      <m:r>
                                        <a:rPr lang="vi-VN" sz="2400" b="0" i="1">
                                          <a:latin typeface="Cambria Math" panose="02040503050406030204" pitchFamily="18" charset="0"/>
                                        </a:rPr>
                                        <m:t>𝑌</m:t>
                                      </m:r>
                                    </m:sub>
                                  </m:sSub>
                                  <m:r>
                                    <a:rPr lang="vi-VN" sz="2400" b="0" i="1">
                                      <a:latin typeface="Cambria Math" panose="02040503050406030204" pitchFamily="18" charset="0"/>
                                    </a:rPr>
                                    <m:t>,</m:t>
                                  </m:r>
                                  <m:sSub>
                                    <m:sSubPr>
                                      <m:ctrlPr>
                                        <a:rPr lang="vi-VN" sz="2400" b="0" i="1">
                                          <a:latin typeface="Cambria Math" panose="02040503050406030204" pitchFamily="18" charset="0"/>
                                        </a:rPr>
                                      </m:ctrlPr>
                                    </m:sSubPr>
                                    <m:e>
                                      <m:r>
                                        <a:rPr lang="vi-VN" sz="2400" b="0" i="1">
                                          <a:latin typeface="Cambria Math" panose="02040503050406030204" pitchFamily="18" charset="0"/>
                                        </a:rPr>
                                        <m:t>𝑅</m:t>
                                      </m:r>
                                    </m:e>
                                    <m:sub>
                                      <m:r>
                                        <a:rPr lang="vi-VN" sz="2400" b="0" i="1">
                                          <a:latin typeface="Cambria Math" panose="02040503050406030204" pitchFamily="18" charset="0"/>
                                        </a:rPr>
                                        <m:t>𝑍</m:t>
                                      </m:r>
                                    </m:sub>
                                  </m:sSub>
                                </m:e>
                              </m:d>
                            </m:oMath>
                          </a14:m>
                          <a:endParaRPr lang="en-VN" sz="2400"/>
                        </a:p>
                      </a:txBody>
                      <a:tcPr marL="121920" marR="121920" marT="60960" marB="60960" anchor="ctr"/>
                    </a:tc>
                    <a:extLst>
                      <a:ext uri="{0D108BD9-81ED-4DB2-BD59-A6C34878D82A}">
                        <a16:rowId xmlns:a16="http://schemas.microsoft.com/office/drawing/2014/main" val="1800732459"/>
                      </a:ext>
                    </a:extLst>
                  </a:tr>
                  <a:tr h="853440">
                    <a:tc>
                      <a:txBody>
                        <a:bodyPr/>
                        <a:lstStyle/>
                        <a:p>
                          <a:r>
                            <a:rPr lang="en-VN" sz="2400"/>
                            <a:t>Gradient</a:t>
                          </a:r>
                        </a:p>
                      </a:txBody>
                      <a:tcPr marL="121920" marR="121920" marT="60960" marB="60960" anchor="ctr"/>
                    </a:tc>
                    <a:tc>
                      <a:txBody>
                        <a:bodyPr/>
                        <a:lstStyle/>
                        <a:p>
                          <a:r>
                            <a:rPr lang="en-VN" sz="2400"/>
                            <a:t>Backpropagation</a:t>
                          </a:r>
                        </a:p>
                      </a:txBody>
                      <a:tcPr marL="121920" marR="121920" marT="60960" marB="60960" anchor="ctr"/>
                    </a:tc>
                    <a:tc>
                      <a:txBody>
                        <a:bodyPr/>
                        <a:lstStyle/>
                        <a:p>
                          <a:r>
                            <a:rPr lang="en-VN" sz="2400"/>
                            <a:t>General parameter-shif</a:t>
                          </a:r>
                          <a:r>
                            <a:rPr lang="en-VN" sz="2400" b="0">
                              <a:solidFill>
                                <a:schemeClr val="tx1"/>
                              </a:solidFill>
                            </a:rPr>
                            <a:t>t rule </a:t>
                          </a:r>
                          <a:r>
                            <a:rPr lang="en-US" sz="2400" b="0">
                              <a:solidFill>
                                <a:schemeClr val="tx1"/>
                              </a:solidFill>
                            </a:rPr>
                            <a:t>and gradient tensor metric</a:t>
                          </a:r>
                          <a:endParaRPr lang="en-VN" sz="2400" b="0">
                            <a:solidFill>
                              <a:schemeClr val="tx1"/>
                            </a:solidFill>
                          </a:endParaRPr>
                        </a:p>
                      </a:txBody>
                      <a:tcPr marL="121920" marR="121920" marT="60960" marB="60960" anchor="ctr"/>
                    </a:tc>
                    <a:extLst>
                      <a:ext uri="{0D108BD9-81ED-4DB2-BD59-A6C34878D82A}">
                        <a16:rowId xmlns:a16="http://schemas.microsoft.com/office/drawing/2014/main" val="3394045804"/>
                      </a:ext>
                    </a:extLst>
                  </a:tr>
                  <a:tr h="853440">
                    <a:tc>
                      <a:txBody>
                        <a:bodyPr/>
                        <a:lstStyle/>
                        <a:p>
                          <a:r>
                            <a:rPr lang="en-VN" sz="2400"/>
                            <a:t>Optimizer</a:t>
                          </a:r>
                        </a:p>
                      </a:txBody>
                      <a:tcPr marL="121920" marR="121920" marT="60960" marB="60960" anchor="ctr"/>
                    </a:tc>
                    <a:tc>
                      <a:txBody>
                        <a:bodyPr/>
                        <a:lstStyle/>
                        <a:p>
                          <a:r>
                            <a:rPr lang="en-US" sz="2400"/>
                            <a:t>Classical optimizer</a:t>
                          </a:r>
                          <a:endParaRPr lang="en-VN" sz="2400"/>
                        </a:p>
                      </a:txBody>
                      <a:tcPr marL="121920" marR="121920" marT="60960" marB="60960" anchor="ctr"/>
                    </a:tc>
                    <a:tc>
                      <a:txBody>
                        <a:bodyPr/>
                        <a:lstStyle/>
                        <a:p>
                          <a:r>
                            <a:rPr lang="en-US" sz="2400"/>
                            <a:t>Classical optimizer + gradient-free optimizer</a:t>
                          </a:r>
                          <a:endParaRPr lang="en-VN" sz="2400" b="1">
                            <a:solidFill>
                              <a:srgbClr val="FF0000"/>
                            </a:solidFill>
                          </a:endParaRPr>
                        </a:p>
                      </a:txBody>
                      <a:tcPr marL="121920" marR="121920" marT="60960" marB="60960" anchor="ctr"/>
                    </a:tc>
                    <a:extLst>
                      <a:ext uri="{0D108BD9-81ED-4DB2-BD59-A6C34878D82A}">
                        <a16:rowId xmlns:a16="http://schemas.microsoft.com/office/drawing/2014/main" val="491440071"/>
                      </a:ext>
                    </a:extLst>
                  </a:tr>
                  <a:tr h="708819">
                    <a:tc>
                      <a:txBody>
                        <a:bodyPr/>
                        <a:lstStyle/>
                        <a:p>
                          <a:r>
                            <a:rPr lang="en-VN" sz="2400"/>
                            <a:t>Loss</a:t>
                          </a:r>
                        </a:p>
                      </a:txBody>
                      <a:tcPr marL="121920" marR="121920" marT="60960" marB="60960" anchor="ctr"/>
                    </a:tc>
                    <a:tc>
                      <a:txBody>
                        <a:bodyPr/>
                        <a:lstStyle/>
                        <a:p>
                          <a:r>
                            <a:rPr lang="en-VN" sz="2400"/>
                            <a:t>Various type</a:t>
                          </a:r>
                        </a:p>
                      </a:txBody>
                      <a:tcPr marL="121920" marR="121920" marT="60960" marB="60960" anchor="ctr"/>
                    </a:tc>
                    <a:tc>
                      <a:txBody>
                        <a:bodyPr/>
                        <a:lstStyle/>
                        <a:p>
                          <a:r>
                            <a:rPr lang="en-US" sz="2400"/>
                            <a:t>Associated with e</a:t>
                          </a:r>
                          <a:r>
                            <a:rPr lang="en-VN" sz="2400"/>
                            <a:t>xpectation value</a:t>
                          </a:r>
                          <a:r>
                            <a:rPr lang="en-US" sz="2400"/>
                            <a:t>s</a:t>
                          </a:r>
                          <a:endParaRPr lang="en-VN" sz="2400"/>
                        </a:p>
                      </a:txBody>
                      <a:tcPr marL="121920" marR="121920" marT="60960" marB="60960" anchor="ctr"/>
                    </a:tc>
                    <a:extLst>
                      <a:ext uri="{0D108BD9-81ED-4DB2-BD59-A6C34878D82A}">
                        <a16:rowId xmlns:a16="http://schemas.microsoft.com/office/drawing/2014/main" val="3662645663"/>
                      </a:ext>
                    </a:extLst>
                  </a:tr>
                </a:tbl>
              </a:graphicData>
            </a:graphic>
          </p:graphicFrame>
        </mc:Choice>
        <mc:Fallback>
          <p:graphicFrame>
            <p:nvGraphicFramePr>
              <p:cNvPr id="5" name="Content Placeholder 4">
                <a:extLst>
                  <a:ext uri="{FF2B5EF4-FFF2-40B4-BE49-F238E27FC236}">
                    <a16:creationId xmlns:a16="http://schemas.microsoft.com/office/drawing/2014/main" id="{220F8FBE-952F-9B9B-23D2-58E76D708160}"/>
                  </a:ext>
                </a:extLst>
              </p:cNvPr>
              <p:cNvGraphicFramePr>
                <a:graphicFrameLocks noGrp="1"/>
              </p:cNvGraphicFramePr>
              <p:nvPr>
                <p:ph idx="1"/>
              </p:nvPr>
            </p:nvGraphicFramePr>
            <p:xfrm>
              <a:off x="838200" y="1690689"/>
              <a:ext cx="9965267" cy="4976019"/>
            </p:xfrm>
            <a:graphic>
              <a:graphicData uri="http://schemas.openxmlformats.org/drawingml/2006/table">
                <a:tbl>
                  <a:tblPr firstRow="1" bandRow="1">
                    <a:tableStyleId>{5940675A-B579-460E-94D1-54222C63F5DA}</a:tableStyleId>
                  </a:tblPr>
                  <a:tblGrid>
                    <a:gridCol w="1380067">
                      <a:extLst>
                        <a:ext uri="{9D8B030D-6E8A-4147-A177-3AD203B41FA5}">
                          <a16:colId xmlns:a16="http://schemas.microsoft.com/office/drawing/2014/main" val="4088917639"/>
                        </a:ext>
                      </a:extLst>
                    </a:gridCol>
                    <a:gridCol w="3506284">
                      <a:extLst>
                        <a:ext uri="{9D8B030D-6E8A-4147-A177-3AD203B41FA5}">
                          <a16:colId xmlns:a16="http://schemas.microsoft.com/office/drawing/2014/main" val="2364876114"/>
                        </a:ext>
                      </a:extLst>
                    </a:gridCol>
                    <a:gridCol w="5078916">
                      <a:extLst>
                        <a:ext uri="{9D8B030D-6E8A-4147-A177-3AD203B41FA5}">
                          <a16:colId xmlns:a16="http://schemas.microsoft.com/office/drawing/2014/main" val="3439772334"/>
                        </a:ext>
                      </a:extLst>
                    </a:gridCol>
                  </a:tblGrid>
                  <a:tr h="853440">
                    <a:tc>
                      <a:txBody>
                        <a:bodyPr/>
                        <a:lstStyle/>
                        <a:p>
                          <a:r>
                            <a:rPr lang="en-VN" sz="2400" b="1"/>
                            <a:t>Attribute</a:t>
                          </a:r>
                        </a:p>
                      </a:txBody>
                      <a:tcPr marL="121920" marR="121920" marT="60960" marB="60960" anchor="ctr"/>
                    </a:tc>
                    <a:tc>
                      <a:txBody>
                        <a:bodyPr/>
                        <a:lstStyle/>
                        <a:p>
                          <a:r>
                            <a:rPr lang="en-US" sz="2400" b="1"/>
                            <a:t>Classical d</a:t>
                          </a:r>
                          <a:r>
                            <a:rPr lang="en-VN" sz="2400" b="1"/>
                            <a:t>eep learning</a:t>
                          </a:r>
                        </a:p>
                      </a:txBody>
                      <a:tcPr marL="121920" marR="121920" marT="60960" marB="60960" anchor="ctr"/>
                    </a:tc>
                    <a:tc>
                      <a:txBody>
                        <a:bodyPr/>
                        <a:lstStyle/>
                        <a:p>
                          <a:r>
                            <a:rPr lang="en-US" sz="2400" b="1"/>
                            <a:t>Quantum deep learning</a:t>
                          </a:r>
                          <a:endParaRPr lang="en-VN" sz="2400" b="1"/>
                        </a:p>
                      </a:txBody>
                      <a:tcPr marL="121920" marR="121920" marT="60960" marB="60960" anchor="ctr"/>
                    </a:tc>
                    <a:extLst>
                      <a:ext uri="{0D108BD9-81ED-4DB2-BD59-A6C34878D82A}">
                        <a16:rowId xmlns:a16="http://schemas.microsoft.com/office/drawing/2014/main" val="2927070420"/>
                      </a:ext>
                    </a:extLst>
                  </a:tr>
                  <a:tr h="853440">
                    <a:tc>
                      <a:txBody>
                        <a:bodyPr/>
                        <a:lstStyle/>
                        <a:p>
                          <a:r>
                            <a:rPr lang="en-VN" sz="2400"/>
                            <a:t>Main concept</a:t>
                          </a:r>
                        </a:p>
                      </a:txBody>
                      <a:tcPr marL="121920" marR="121920" marT="60960" marB="60960" anchor="ctr"/>
                    </a:tc>
                    <a:tc>
                      <a:txBody>
                        <a:bodyPr/>
                        <a:lstStyle/>
                        <a:p>
                          <a:r>
                            <a:rPr lang="en-VN" sz="2400"/>
                            <a:t>Neural network</a:t>
                          </a:r>
                        </a:p>
                      </a:txBody>
                      <a:tcPr marL="121920" marR="121920" marT="60960" marB="60960" anchor="ctr"/>
                    </a:tc>
                    <a:tc>
                      <a:txBody>
                        <a:bodyPr/>
                        <a:lstStyle/>
                        <a:p>
                          <a:r>
                            <a:rPr lang="en-VN" sz="2400"/>
                            <a:t>Parameterized quantum circuit (PQC</a:t>
                          </a:r>
                          <a:r>
                            <a:rPr lang="en-US" sz="2400"/>
                            <a:t>)</a:t>
                          </a:r>
                          <a:endParaRPr lang="en-VN" sz="2400" b="1">
                            <a:solidFill>
                              <a:srgbClr val="FF0000"/>
                            </a:solidFill>
                          </a:endParaRPr>
                        </a:p>
                      </a:txBody>
                      <a:tcPr marL="121920" marR="121920" marT="60960" marB="60960" anchor="ctr"/>
                    </a:tc>
                    <a:extLst>
                      <a:ext uri="{0D108BD9-81ED-4DB2-BD59-A6C34878D82A}">
                        <a16:rowId xmlns:a16="http://schemas.microsoft.com/office/drawing/2014/main" val="1531077414"/>
                      </a:ext>
                    </a:extLst>
                  </a:tr>
                  <a:tr h="853440">
                    <a:tc>
                      <a:txBody>
                        <a:bodyPr/>
                        <a:lstStyle/>
                        <a:p>
                          <a:r>
                            <a:rPr lang="en-VN" sz="2400"/>
                            <a:t>Parameter</a:t>
                          </a:r>
                        </a:p>
                      </a:txBody>
                      <a:tcPr marL="121920" marR="121920" marT="60960" marB="60960" anchor="ctr"/>
                    </a:tc>
                    <a:tc>
                      <a:txBody>
                        <a:bodyPr/>
                        <a:lstStyle/>
                        <a:p>
                          <a:endParaRPr lang="en-VN"/>
                        </a:p>
                      </a:txBody>
                      <a:tcPr marL="121920" marR="121920" marT="60960" marB="60960" anchor="ctr">
                        <a:blipFill>
                          <a:blip r:embed="rId3"/>
                          <a:stretch>
                            <a:fillRect l="-39855" t="-201471" r="-145652" b="-282353"/>
                          </a:stretch>
                        </a:blipFill>
                      </a:tcPr>
                    </a:tc>
                    <a:tc>
                      <a:txBody>
                        <a:bodyPr/>
                        <a:lstStyle/>
                        <a:p>
                          <a:endParaRPr lang="en-VN"/>
                        </a:p>
                      </a:txBody>
                      <a:tcPr marL="121920" marR="121920" marT="60960" marB="60960" anchor="ctr">
                        <a:blipFill>
                          <a:blip r:embed="rId3"/>
                          <a:stretch>
                            <a:fillRect l="-96500" t="-201471" r="-500" b="-282353"/>
                          </a:stretch>
                        </a:blipFill>
                      </a:tcPr>
                    </a:tc>
                    <a:extLst>
                      <a:ext uri="{0D108BD9-81ED-4DB2-BD59-A6C34878D82A}">
                        <a16:rowId xmlns:a16="http://schemas.microsoft.com/office/drawing/2014/main" val="1800732459"/>
                      </a:ext>
                    </a:extLst>
                  </a:tr>
                  <a:tr h="853440">
                    <a:tc>
                      <a:txBody>
                        <a:bodyPr/>
                        <a:lstStyle/>
                        <a:p>
                          <a:r>
                            <a:rPr lang="en-VN" sz="2400"/>
                            <a:t>Gradient</a:t>
                          </a:r>
                        </a:p>
                      </a:txBody>
                      <a:tcPr marL="121920" marR="121920" marT="60960" marB="60960" anchor="ctr"/>
                    </a:tc>
                    <a:tc>
                      <a:txBody>
                        <a:bodyPr/>
                        <a:lstStyle/>
                        <a:p>
                          <a:r>
                            <a:rPr lang="en-VN" sz="2400"/>
                            <a:t>Backpropagation</a:t>
                          </a:r>
                        </a:p>
                      </a:txBody>
                      <a:tcPr marL="121920" marR="121920" marT="60960" marB="60960" anchor="ctr"/>
                    </a:tc>
                    <a:tc>
                      <a:txBody>
                        <a:bodyPr/>
                        <a:lstStyle/>
                        <a:p>
                          <a:r>
                            <a:rPr lang="en-VN" sz="2400"/>
                            <a:t>General parameter-shif</a:t>
                          </a:r>
                          <a:r>
                            <a:rPr lang="en-VN" sz="2400" b="0">
                              <a:solidFill>
                                <a:schemeClr val="tx1"/>
                              </a:solidFill>
                            </a:rPr>
                            <a:t>t rule </a:t>
                          </a:r>
                          <a:r>
                            <a:rPr lang="en-US" sz="2400" b="0">
                              <a:solidFill>
                                <a:schemeClr val="tx1"/>
                              </a:solidFill>
                            </a:rPr>
                            <a:t>and gradient tensor metric</a:t>
                          </a:r>
                          <a:endParaRPr lang="en-VN" sz="2400" b="0">
                            <a:solidFill>
                              <a:schemeClr val="tx1"/>
                            </a:solidFill>
                          </a:endParaRPr>
                        </a:p>
                      </a:txBody>
                      <a:tcPr marL="121920" marR="121920" marT="60960" marB="60960" anchor="ctr"/>
                    </a:tc>
                    <a:extLst>
                      <a:ext uri="{0D108BD9-81ED-4DB2-BD59-A6C34878D82A}">
                        <a16:rowId xmlns:a16="http://schemas.microsoft.com/office/drawing/2014/main" val="3394045804"/>
                      </a:ext>
                    </a:extLst>
                  </a:tr>
                  <a:tr h="853440">
                    <a:tc>
                      <a:txBody>
                        <a:bodyPr/>
                        <a:lstStyle/>
                        <a:p>
                          <a:r>
                            <a:rPr lang="en-VN" sz="2400"/>
                            <a:t>Optimizer</a:t>
                          </a:r>
                        </a:p>
                      </a:txBody>
                      <a:tcPr marL="121920" marR="121920" marT="60960" marB="60960" anchor="ctr"/>
                    </a:tc>
                    <a:tc>
                      <a:txBody>
                        <a:bodyPr/>
                        <a:lstStyle/>
                        <a:p>
                          <a:r>
                            <a:rPr lang="en-US" sz="2400"/>
                            <a:t>Classical optimizer</a:t>
                          </a:r>
                          <a:endParaRPr lang="en-VN" sz="2400"/>
                        </a:p>
                      </a:txBody>
                      <a:tcPr marL="121920" marR="121920" marT="60960" marB="60960" anchor="ctr"/>
                    </a:tc>
                    <a:tc>
                      <a:txBody>
                        <a:bodyPr/>
                        <a:lstStyle/>
                        <a:p>
                          <a:r>
                            <a:rPr lang="en-US" sz="2400"/>
                            <a:t>Classical optimizer + gradient-free optimizer</a:t>
                          </a:r>
                          <a:endParaRPr lang="en-VN" sz="2400" b="1">
                            <a:solidFill>
                              <a:srgbClr val="FF0000"/>
                            </a:solidFill>
                          </a:endParaRPr>
                        </a:p>
                      </a:txBody>
                      <a:tcPr marL="121920" marR="121920" marT="60960" marB="60960" anchor="ctr"/>
                    </a:tc>
                    <a:extLst>
                      <a:ext uri="{0D108BD9-81ED-4DB2-BD59-A6C34878D82A}">
                        <a16:rowId xmlns:a16="http://schemas.microsoft.com/office/drawing/2014/main" val="491440071"/>
                      </a:ext>
                    </a:extLst>
                  </a:tr>
                  <a:tr h="708819">
                    <a:tc>
                      <a:txBody>
                        <a:bodyPr/>
                        <a:lstStyle/>
                        <a:p>
                          <a:r>
                            <a:rPr lang="en-VN" sz="2400"/>
                            <a:t>Loss</a:t>
                          </a:r>
                        </a:p>
                      </a:txBody>
                      <a:tcPr marL="121920" marR="121920" marT="60960" marB="60960" anchor="ctr"/>
                    </a:tc>
                    <a:tc>
                      <a:txBody>
                        <a:bodyPr/>
                        <a:lstStyle/>
                        <a:p>
                          <a:r>
                            <a:rPr lang="en-VN" sz="2400"/>
                            <a:t>Various type</a:t>
                          </a:r>
                        </a:p>
                      </a:txBody>
                      <a:tcPr marL="121920" marR="121920" marT="60960" marB="60960" anchor="ctr"/>
                    </a:tc>
                    <a:tc>
                      <a:txBody>
                        <a:bodyPr/>
                        <a:lstStyle/>
                        <a:p>
                          <a:r>
                            <a:rPr lang="en-US" sz="2400"/>
                            <a:t>Associated with e</a:t>
                          </a:r>
                          <a:r>
                            <a:rPr lang="en-VN" sz="2400"/>
                            <a:t>xpectation value</a:t>
                          </a:r>
                          <a:r>
                            <a:rPr lang="en-US" sz="2400"/>
                            <a:t>s</a:t>
                          </a:r>
                          <a:endParaRPr lang="en-VN" sz="2400"/>
                        </a:p>
                      </a:txBody>
                      <a:tcPr marL="121920" marR="121920" marT="60960" marB="60960" anchor="ctr"/>
                    </a:tc>
                    <a:extLst>
                      <a:ext uri="{0D108BD9-81ED-4DB2-BD59-A6C34878D82A}">
                        <a16:rowId xmlns:a16="http://schemas.microsoft.com/office/drawing/2014/main" val="3662645663"/>
                      </a:ext>
                    </a:extLst>
                  </a:tr>
                </a:tbl>
              </a:graphicData>
            </a:graphic>
          </p:graphicFrame>
        </mc:Fallback>
      </mc:AlternateContent>
      <p:sp>
        <p:nvSpPr>
          <p:cNvPr id="4" name="Slide Number Placeholder 3">
            <a:extLst>
              <a:ext uri="{FF2B5EF4-FFF2-40B4-BE49-F238E27FC236}">
                <a16:creationId xmlns:a16="http://schemas.microsoft.com/office/drawing/2014/main" id="{4686656F-9B6C-AA48-E02C-5AFE69EDDC6B}"/>
              </a:ext>
            </a:extLst>
          </p:cNvPr>
          <p:cNvSpPr>
            <a:spLocks noGrp="1"/>
          </p:cNvSpPr>
          <p:nvPr>
            <p:ph type="sldNum" sz="quarter" idx="12"/>
          </p:nvPr>
        </p:nvSpPr>
        <p:spPr/>
        <p:txBody>
          <a:bodyPr/>
          <a:lstStyle/>
          <a:p>
            <a:fld id="{6A45828D-F580-42DE-B77E-860980F07F32}" type="slidenum">
              <a:rPr lang="vi-VN" smtClean="0"/>
              <a:t>28</a:t>
            </a:fld>
            <a:endParaRPr lang="vi-VN"/>
          </a:p>
        </p:txBody>
      </p:sp>
      <p:sp>
        <p:nvSpPr>
          <p:cNvPr id="7" name="Title 1">
            <a:extLst>
              <a:ext uri="{FF2B5EF4-FFF2-40B4-BE49-F238E27FC236}">
                <a16:creationId xmlns:a16="http://schemas.microsoft.com/office/drawing/2014/main" id="{096BB24B-50C0-2C31-565E-01AC4FB90057}"/>
              </a:ext>
            </a:extLst>
          </p:cNvPr>
          <p:cNvSpPr txBox="1">
            <a:spLocks/>
          </p:cNvSpPr>
          <p:nvPr/>
        </p:nvSpPr>
        <p:spPr>
          <a:xfrm>
            <a:off x="838201" y="-11171"/>
            <a:ext cx="8621889" cy="1701860"/>
          </a:xfrm>
          <a:prstGeom prst="rect">
            <a:avLst/>
          </a:prstGeom>
        </p:spPr>
        <p:txBody>
          <a:bodyPr vert="horz" lIns="121920" tIns="60960" rIns="121920" bIns="6096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400"/>
              <a:t>2.3. Quantum deep learning</a:t>
            </a:r>
            <a:br>
              <a:rPr lang="en-US" sz="4400"/>
            </a:br>
            <a:r>
              <a:rPr lang="en-US" sz="2667"/>
              <a:t>QNN</a:t>
            </a:r>
            <a:endParaRPr lang="vi-VN" sz="2667"/>
          </a:p>
        </p:txBody>
      </p:sp>
    </p:spTree>
    <p:extLst>
      <p:ext uri="{BB962C8B-B14F-4D97-AF65-F5344CB8AC3E}">
        <p14:creationId xmlns:p14="http://schemas.microsoft.com/office/powerpoint/2010/main" val="506857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66">
            <a:extLst>
              <a:ext uri="{FF2B5EF4-FFF2-40B4-BE49-F238E27FC236}">
                <a16:creationId xmlns:a16="http://schemas.microsoft.com/office/drawing/2014/main" id="{836CBC3D-EF71-6A65-9816-529C8966F914}"/>
              </a:ext>
            </a:extLst>
          </p:cNvPr>
          <p:cNvPicPr>
            <a:picLocks noChangeAspect="1"/>
          </p:cNvPicPr>
          <p:nvPr/>
        </p:nvPicPr>
        <p:blipFill>
          <a:blip r:embed="rId2"/>
          <a:stretch>
            <a:fillRect/>
          </a:stretch>
        </p:blipFill>
        <p:spPr>
          <a:xfrm>
            <a:off x="5990079" y="1509455"/>
            <a:ext cx="6111896" cy="4211067"/>
          </a:xfrm>
          <a:prstGeom prst="rect">
            <a:avLst/>
          </a:prstGeom>
        </p:spPr>
      </p:pic>
      <p:sp>
        <p:nvSpPr>
          <p:cNvPr id="2" name="Title 1">
            <a:extLst>
              <a:ext uri="{FF2B5EF4-FFF2-40B4-BE49-F238E27FC236}">
                <a16:creationId xmlns:a16="http://schemas.microsoft.com/office/drawing/2014/main" id="{7C9EA768-7825-D899-7EB9-8E656DB18DFC}"/>
              </a:ext>
            </a:extLst>
          </p:cNvPr>
          <p:cNvSpPr>
            <a:spLocks noGrp="1"/>
          </p:cNvSpPr>
          <p:nvPr>
            <p:ph type="title"/>
          </p:nvPr>
        </p:nvSpPr>
        <p:spPr/>
        <p:txBody>
          <a:bodyPr>
            <a:normAutofit/>
          </a:bodyPr>
          <a:lstStyle/>
          <a:p>
            <a:r>
              <a:rPr lang="en-US"/>
              <a:t>2.3. Quantum deep learning</a:t>
            </a:r>
            <a:br>
              <a:rPr lang="en-US"/>
            </a:br>
            <a:r>
              <a:rPr lang="vi-VN" sz="2667">
                <a:solidFill>
                  <a:srgbClr val="000000"/>
                </a:solidFill>
                <a:latin typeface="Calibri" panose="020F0502020204030204" pitchFamily="34" charset="0"/>
                <a:ea typeface="Calibri" panose="020F0502020204030204" pitchFamily="34" charset="0"/>
                <a:cs typeface="Calibri" panose="020F0502020204030204" pitchFamily="34" charset="0"/>
              </a:rPr>
              <a:t>Variational classifier</a:t>
            </a:r>
            <a:r>
              <a:rPr lang="en-US" sz="2667">
                <a:solidFill>
                  <a:srgbClr val="000000"/>
                </a:solidFill>
                <a:latin typeface="Calibri" panose="020F0502020204030204" pitchFamily="34" charset="0"/>
                <a:ea typeface="Calibri" panose="020F0502020204030204" pitchFamily="34" charset="0"/>
                <a:cs typeface="Calibri" panose="020F0502020204030204" pitchFamily="34" charset="0"/>
              </a:rPr>
              <a:t> for simple classification problem</a:t>
            </a:r>
            <a:endParaRPr lang="vi-VN">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44185E0-0E07-E5A5-AFF6-6DD803C8AD8C}"/>
                  </a:ext>
                </a:extLst>
              </p:cNvPr>
              <p:cNvSpPr>
                <a:spLocks noGrp="1"/>
              </p:cNvSpPr>
              <p:nvPr>
                <p:ph idx="1"/>
              </p:nvPr>
            </p:nvSpPr>
            <p:spPr>
              <a:xfrm>
                <a:off x="3970732" y="1509347"/>
                <a:ext cx="962377" cy="554608"/>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vi-VN"/>
              </a:p>
            </p:txBody>
          </p:sp>
        </mc:Choice>
        <mc:Fallback>
          <p:sp>
            <p:nvSpPr>
              <p:cNvPr id="3" name="Content Placeholder 2">
                <a:extLst>
                  <a:ext uri="{FF2B5EF4-FFF2-40B4-BE49-F238E27FC236}">
                    <a16:creationId xmlns:a16="http://schemas.microsoft.com/office/drawing/2014/main" id="{044185E0-0E07-E5A5-AFF6-6DD803C8AD8C}"/>
                  </a:ext>
                </a:extLst>
              </p:cNvPr>
              <p:cNvSpPr>
                <a:spLocks noGrp="1" noRot="1" noChangeAspect="1" noMove="1" noResize="1" noEditPoints="1" noAdjustHandles="1" noChangeArrowheads="1" noChangeShapeType="1" noTextEdit="1"/>
              </p:cNvSpPr>
              <p:nvPr>
                <p:ph idx="1"/>
              </p:nvPr>
            </p:nvSpPr>
            <p:spPr>
              <a:xfrm>
                <a:off x="3970732" y="1509347"/>
                <a:ext cx="962377" cy="554608"/>
              </a:xfrm>
              <a:blipFill>
                <a:blip r:embed="rId3"/>
                <a:stretch>
                  <a:fillRect b="-6818"/>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E0C902D3-69C9-171B-7CCC-10670D9959C4}"/>
              </a:ext>
            </a:extLst>
          </p:cNvPr>
          <p:cNvSpPr>
            <a:spLocks noGrp="1"/>
          </p:cNvSpPr>
          <p:nvPr>
            <p:ph type="sldNum" sz="quarter" idx="12"/>
          </p:nvPr>
        </p:nvSpPr>
        <p:spPr/>
        <p:txBody>
          <a:bodyPr/>
          <a:lstStyle/>
          <a:p>
            <a:fld id="{6A45828D-F580-42DE-B77E-860980F07F32}" type="slidenum">
              <a:rPr lang="vi-VN" smtClean="0"/>
              <a:t>29</a:t>
            </a:fld>
            <a:endParaRPr lang="vi-VN"/>
          </a:p>
        </p:txBody>
      </p:sp>
      <p:cxnSp>
        <p:nvCxnSpPr>
          <p:cNvPr id="5" name="Straight Connector 4">
            <a:extLst>
              <a:ext uri="{FF2B5EF4-FFF2-40B4-BE49-F238E27FC236}">
                <a16:creationId xmlns:a16="http://schemas.microsoft.com/office/drawing/2014/main" id="{AC37A47B-3497-0189-3696-8F3EDC336E86}"/>
              </a:ext>
            </a:extLst>
          </p:cNvPr>
          <p:cNvCxnSpPr>
            <a:cxnSpLocks/>
          </p:cNvCxnSpPr>
          <p:nvPr/>
        </p:nvCxnSpPr>
        <p:spPr>
          <a:xfrm>
            <a:off x="982134" y="2232599"/>
            <a:ext cx="40019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A46C41D8-4B17-AFA1-0C90-38CB592448F3}"/>
                  </a:ext>
                </a:extLst>
              </p:cNvPr>
              <p:cNvSpPr/>
              <p:nvPr/>
            </p:nvSpPr>
            <p:spPr>
              <a:xfrm>
                <a:off x="1596961" y="1825626"/>
                <a:ext cx="1093960"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𝑈</m:t>
                          </m:r>
                        </m:e>
                        <m:sub>
                          <m:r>
                            <a:rPr lang="en-US" sz="2400" i="1">
                              <a:solidFill>
                                <a:schemeClr val="tx1"/>
                              </a:solidFill>
                              <a:latin typeface="Cambria Math" panose="02040503050406030204" pitchFamily="18" charset="0"/>
                            </a:rPr>
                            <m:t>𝜙</m:t>
                          </m:r>
                        </m:sub>
                      </m:sSub>
                      <m:d>
                        <m:dPr>
                          <m:ctrlPr>
                            <a:rPr lang="en-US" sz="2400"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oMath>
                  </m:oMathPara>
                </a14:m>
                <a:endParaRPr sz="2400"/>
              </a:p>
            </p:txBody>
          </p:sp>
        </mc:Choice>
        <mc:Fallback>
          <p:sp>
            <p:nvSpPr>
              <p:cNvPr id="6" name="Rectangle 5">
                <a:extLst>
                  <a:ext uri="{FF2B5EF4-FFF2-40B4-BE49-F238E27FC236}">
                    <a16:creationId xmlns:a16="http://schemas.microsoft.com/office/drawing/2014/main" id="{A46C41D8-4B17-AFA1-0C90-38CB592448F3}"/>
                  </a:ext>
                </a:extLst>
              </p:cNvPr>
              <p:cNvSpPr>
                <a:spLocks noRot="1" noChangeAspect="1" noMove="1" noResize="1" noEditPoints="1" noAdjustHandles="1" noChangeArrowheads="1" noChangeShapeType="1" noTextEdit="1"/>
              </p:cNvSpPr>
              <p:nvPr/>
            </p:nvSpPr>
            <p:spPr>
              <a:xfrm>
                <a:off x="1596961" y="1825626"/>
                <a:ext cx="1093960" cy="867719"/>
              </a:xfrm>
              <a:prstGeom prst="rect">
                <a:avLst/>
              </a:prstGeom>
              <a:blipFill>
                <a:blip r:embed="rId4"/>
                <a:stretch>
                  <a:fillRect l="-6818"/>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C181CD01-5C8A-D480-3184-E10ADB4AF7CC}"/>
                  </a:ext>
                </a:extLst>
              </p:cNvPr>
              <p:cNvSpPr/>
              <p:nvPr/>
            </p:nvSpPr>
            <p:spPr>
              <a:xfrm>
                <a:off x="2830715" y="1835195"/>
                <a:ext cx="1093960"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d>
                        <m:dPr>
                          <m:ctrlPr>
                            <a:rPr lang="en-US" sz="2400" i="1">
                              <a:solidFill>
                                <a:schemeClr val="tx1"/>
                              </a:solidFill>
                              <a:latin typeface="Cambria Math" panose="02040503050406030204" pitchFamily="18" charset="0"/>
                              <a:ea typeface="Cambria Math" panose="02040503050406030204" pitchFamily="18" charset="0"/>
                            </a:rPr>
                          </m:ctrlPr>
                        </m:dPr>
                        <m:e>
                          <m:r>
                            <a:rPr lang="en-US" sz="2400" b="1" i="1">
                              <a:solidFill>
                                <a:schemeClr val="tx1"/>
                              </a:solidFill>
                              <a:latin typeface="Cambria Math" panose="02040503050406030204" pitchFamily="18" charset="0"/>
                              <a:ea typeface="Cambria Math" panose="02040503050406030204" pitchFamily="18" charset="0"/>
                            </a:rPr>
                            <m:t>𝜽</m:t>
                          </m:r>
                        </m:e>
                      </m:d>
                    </m:oMath>
                  </m:oMathPara>
                </a14:m>
                <a:endParaRPr sz="2400"/>
              </a:p>
            </p:txBody>
          </p:sp>
        </mc:Choice>
        <mc:Fallback>
          <p:sp>
            <p:nvSpPr>
              <p:cNvPr id="7" name="Rectangle 6">
                <a:extLst>
                  <a:ext uri="{FF2B5EF4-FFF2-40B4-BE49-F238E27FC236}">
                    <a16:creationId xmlns:a16="http://schemas.microsoft.com/office/drawing/2014/main" id="{C181CD01-5C8A-D480-3184-E10ADB4AF7CC}"/>
                  </a:ext>
                </a:extLst>
              </p:cNvPr>
              <p:cNvSpPr>
                <a:spLocks noRot="1" noChangeAspect="1" noMove="1" noResize="1" noEditPoints="1" noAdjustHandles="1" noChangeArrowheads="1" noChangeShapeType="1" noTextEdit="1"/>
              </p:cNvSpPr>
              <p:nvPr/>
            </p:nvSpPr>
            <p:spPr>
              <a:xfrm>
                <a:off x="2830715" y="1835195"/>
                <a:ext cx="1093960" cy="867719"/>
              </a:xfrm>
              <a:prstGeom prst="rect">
                <a:avLst/>
              </a:prstGeom>
              <a:blipFill>
                <a:blip r:embed="rId5"/>
                <a:stretch>
                  <a:fillRect/>
                </a:stretch>
              </a:blipFill>
              <a:ln>
                <a:solidFill>
                  <a:schemeClr val="tx1"/>
                </a:solidFill>
              </a:ln>
            </p:spPr>
            <p:txBody>
              <a:bodyPr/>
              <a:lstStyle/>
              <a:p>
                <a:r>
                  <a:rPr lang="en-VN">
                    <a:noFill/>
                  </a:rPr>
                  <a:t> </a:t>
                </a:r>
              </a:p>
            </p:txBody>
          </p:sp>
        </mc:Fallback>
      </mc:AlternateContent>
      <p:cxnSp>
        <p:nvCxnSpPr>
          <p:cNvPr id="8" name="Straight Connector 7">
            <a:extLst>
              <a:ext uri="{FF2B5EF4-FFF2-40B4-BE49-F238E27FC236}">
                <a16:creationId xmlns:a16="http://schemas.microsoft.com/office/drawing/2014/main" id="{33AFF204-6C7E-9AFD-0582-43C9F7DEA832}"/>
              </a:ext>
            </a:extLst>
          </p:cNvPr>
          <p:cNvCxnSpPr>
            <a:cxnSpLocks/>
          </p:cNvCxnSpPr>
          <p:nvPr/>
        </p:nvCxnSpPr>
        <p:spPr>
          <a:xfrm flipV="1">
            <a:off x="1106662" y="2074833"/>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9CA47BB-9405-6EDB-3512-80BFE2BE42C8}"/>
              </a:ext>
            </a:extLst>
          </p:cNvPr>
          <p:cNvSpPr/>
          <p:nvPr/>
        </p:nvSpPr>
        <p:spPr>
          <a:xfrm>
            <a:off x="9116452" y="2505247"/>
            <a:ext cx="132008" cy="4083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p:sp>
        <p:nvSpPr>
          <p:cNvPr id="10" name="Hình chữ nhật 93">
            <a:extLst>
              <a:ext uri="{FF2B5EF4-FFF2-40B4-BE49-F238E27FC236}">
                <a16:creationId xmlns:a16="http://schemas.microsoft.com/office/drawing/2014/main" id="{EFE13B25-ECB3-E9F5-F513-F9CD4FA3B8C0}"/>
              </a:ext>
            </a:extLst>
          </p:cNvPr>
          <p:cNvSpPr/>
          <p:nvPr/>
        </p:nvSpPr>
        <p:spPr>
          <a:xfrm>
            <a:off x="4247709" y="2027977"/>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11" name="Arc 10">
            <a:extLst>
              <a:ext uri="{FF2B5EF4-FFF2-40B4-BE49-F238E27FC236}">
                <a16:creationId xmlns:a16="http://schemas.microsoft.com/office/drawing/2014/main" id="{C9ED6E86-5FE4-6EF1-4502-E6A44C34CCA8}"/>
              </a:ext>
            </a:extLst>
          </p:cNvPr>
          <p:cNvSpPr/>
          <p:nvPr/>
        </p:nvSpPr>
        <p:spPr>
          <a:xfrm>
            <a:off x="4321971" y="2220776"/>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12" name="Straight Arrow Connector 11">
            <a:extLst>
              <a:ext uri="{FF2B5EF4-FFF2-40B4-BE49-F238E27FC236}">
                <a16:creationId xmlns:a16="http://schemas.microsoft.com/office/drawing/2014/main" id="{5BA249B3-B21D-8783-D169-5DAA571E6C10}"/>
              </a:ext>
            </a:extLst>
          </p:cNvPr>
          <p:cNvCxnSpPr>
            <a:cxnSpLocks/>
          </p:cNvCxnSpPr>
          <p:nvPr/>
        </p:nvCxnSpPr>
        <p:spPr>
          <a:xfrm flipV="1">
            <a:off x="4394259" y="2117271"/>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8" name="Hộp Văn bản 38">
                <a:extLst>
                  <a:ext uri="{FF2B5EF4-FFF2-40B4-BE49-F238E27FC236}">
                    <a16:creationId xmlns:a16="http://schemas.microsoft.com/office/drawing/2014/main" id="{4ED1B7A7-61EB-F144-0567-D1850867AAFB}"/>
                  </a:ext>
                </a:extLst>
              </p:cNvPr>
              <p:cNvSpPr txBox="1"/>
              <p:nvPr/>
            </p:nvSpPr>
            <p:spPr>
              <a:xfrm>
                <a:off x="4937080" y="2020721"/>
                <a:ext cx="461233" cy="36933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0</m:t>
                          </m:r>
                        </m:sub>
                      </m:sSub>
                    </m:oMath>
                  </m:oMathPara>
                </a14:m>
                <a:endParaRPr lang="vi-VN"/>
              </a:p>
            </p:txBody>
          </p:sp>
        </mc:Choice>
        <mc:Fallback>
          <p:sp>
            <p:nvSpPr>
              <p:cNvPr id="18" name="Hộp Văn bản 38">
                <a:extLst>
                  <a:ext uri="{FF2B5EF4-FFF2-40B4-BE49-F238E27FC236}">
                    <a16:creationId xmlns:a16="http://schemas.microsoft.com/office/drawing/2014/main" id="{4ED1B7A7-61EB-F144-0567-D1850867AAFB}"/>
                  </a:ext>
                </a:extLst>
              </p:cNvPr>
              <p:cNvSpPr txBox="1">
                <a:spLocks noRot="1" noChangeAspect="1" noMove="1" noResize="1" noEditPoints="1" noAdjustHandles="1" noChangeArrowheads="1" noChangeShapeType="1" noTextEdit="1"/>
              </p:cNvSpPr>
              <p:nvPr/>
            </p:nvSpPr>
            <p:spPr>
              <a:xfrm>
                <a:off x="4937080" y="2020721"/>
                <a:ext cx="461233" cy="369332"/>
              </a:xfrm>
              <a:prstGeom prst="rect">
                <a:avLst/>
              </a:prstGeom>
              <a:blipFill>
                <a:blip r:embed="rId6"/>
                <a:stretch>
                  <a:fillRect b="-9677"/>
                </a:stretch>
              </a:blipFill>
            </p:spPr>
            <p:txBody>
              <a:bodyPr/>
              <a:lstStyle/>
              <a:p>
                <a:r>
                  <a:rPr lang="en-VN">
                    <a:noFill/>
                  </a:rPr>
                  <a:t> </a:t>
                </a:r>
              </a:p>
            </p:txBody>
          </p:sp>
        </mc:Fallback>
      </mc:AlternateContent>
      <p:cxnSp>
        <p:nvCxnSpPr>
          <p:cNvPr id="19" name="Connector: Elbow 18">
            <a:extLst>
              <a:ext uri="{FF2B5EF4-FFF2-40B4-BE49-F238E27FC236}">
                <a16:creationId xmlns:a16="http://schemas.microsoft.com/office/drawing/2014/main" id="{50E00607-E48D-31D7-782E-6AB392C51FAC}"/>
              </a:ext>
            </a:extLst>
          </p:cNvPr>
          <p:cNvCxnSpPr>
            <a:cxnSpLocks/>
            <a:stCxn id="18" idx="3"/>
            <a:endCxn id="21" idx="3"/>
          </p:cNvCxnSpPr>
          <p:nvPr/>
        </p:nvCxnSpPr>
        <p:spPr>
          <a:xfrm flipH="1">
            <a:off x="5163237" y="2205387"/>
            <a:ext cx="235076" cy="580439"/>
          </a:xfrm>
          <a:prstGeom prst="bentConnector3">
            <a:avLst>
              <a:gd name="adj1" fmla="val -97245"/>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1" name="Hộp Văn bản 38">
                <a:extLst>
                  <a:ext uri="{FF2B5EF4-FFF2-40B4-BE49-F238E27FC236}">
                    <a16:creationId xmlns:a16="http://schemas.microsoft.com/office/drawing/2014/main" id="{61A1D8E1-32E7-C507-B2CA-5866BB85D1A1}"/>
                  </a:ext>
                </a:extLst>
              </p:cNvPr>
              <p:cNvSpPr txBox="1"/>
              <p:nvPr/>
            </p:nvSpPr>
            <p:spPr>
              <a:xfrm>
                <a:off x="4029129" y="2554993"/>
                <a:ext cx="1134108" cy="461665"/>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𝐶</m:t>
                      </m:r>
                      <m:d>
                        <m:dPr>
                          <m:ctrlPr>
                            <a:rPr lang="en-US" sz="2400" i="1">
                              <a:latin typeface="Cambria Math" panose="02040503050406030204" pitchFamily="18" charset="0"/>
                            </a:rPr>
                          </m:ctrlPr>
                        </m:dPr>
                        <m:e>
                          <m:r>
                            <a:rPr lang="en-US" sz="2400" b="1" i="1">
                              <a:latin typeface="Cambria Math" panose="02040503050406030204" pitchFamily="18" charset="0"/>
                            </a:rPr>
                            <m:t>𝜽</m:t>
                          </m:r>
                          <m:r>
                            <a:rPr lang="en-US" sz="2400" b="1" i="1">
                              <a:latin typeface="Cambria Math" panose="02040503050406030204" pitchFamily="18" charset="0"/>
                            </a:rPr>
                            <m:t>,</m:t>
                          </m:r>
                          <m:r>
                            <a:rPr lang="en-US" sz="2400" i="1">
                              <a:latin typeface="Cambria Math" panose="02040503050406030204" pitchFamily="18" charset="0"/>
                            </a:rPr>
                            <m:t>𝑏</m:t>
                          </m:r>
                        </m:e>
                      </m:d>
                    </m:oMath>
                  </m:oMathPara>
                </a14:m>
                <a:endParaRPr lang="vi-VN" sz="2400"/>
              </a:p>
            </p:txBody>
          </p:sp>
        </mc:Choice>
        <mc:Fallback>
          <p:sp>
            <p:nvSpPr>
              <p:cNvPr id="21" name="Hộp Văn bản 38">
                <a:extLst>
                  <a:ext uri="{FF2B5EF4-FFF2-40B4-BE49-F238E27FC236}">
                    <a16:creationId xmlns:a16="http://schemas.microsoft.com/office/drawing/2014/main" id="{61A1D8E1-32E7-C507-B2CA-5866BB85D1A1}"/>
                  </a:ext>
                </a:extLst>
              </p:cNvPr>
              <p:cNvSpPr txBox="1">
                <a:spLocks noRot="1" noChangeAspect="1" noMove="1" noResize="1" noEditPoints="1" noAdjustHandles="1" noChangeArrowheads="1" noChangeShapeType="1" noTextEdit="1"/>
              </p:cNvSpPr>
              <p:nvPr/>
            </p:nvSpPr>
            <p:spPr>
              <a:xfrm>
                <a:off x="4029129" y="2554993"/>
                <a:ext cx="1134108" cy="461665"/>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17BD2E7A-FCBA-0454-03ED-B468A673F8E3}"/>
                  </a:ext>
                </a:extLst>
              </p:cNvPr>
              <p:cNvSpPr txBox="1"/>
              <p:nvPr/>
            </p:nvSpPr>
            <p:spPr>
              <a:xfrm>
                <a:off x="838201" y="4127071"/>
                <a:ext cx="5995505" cy="2628092"/>
              </a:xfrm>
              <a:prstGeom prst="rect">
                <a:avLst/>
              </a:prstGeom>
              <a:noFill/>
            </p:spPr>
            <p:txBody>
              <a:bodyPr wrap="square" rtlCol="0">
                <a:spAutoFit/>
              </a:bodyPr>
              <a:lstStyle/>
              <a:p>
                <a:r>
                  <a:rPr lang="en-US" sz="2400" b="1"/>
                  <a:t>Problem</a:t>
                </a:r>
                <a:r>
                  <a:rPr lang="en-US" sz="2400"/>
                  <a:t>: </a:t>
                </a:r>
              </a:p>
              <a:p>
                <a:r>
                  <a:rPr lang="en-US" sz="2400"/>
                  <a:t>Simulate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e>
                      <m:sup>
                        <m:r>
                          <a:rPr lang="en-US" sz="2400" i="1">
                            <a:latin typeface="Cambria Math" panose="02040503050406030204" pitchFamily="18" charset="0"/>
                          </a:rPr>
                          <m:t>⊗</m:t>
                        </m:r>
                        <m:r>
                          <a:rPr lang="en-US" sz="2400" i="1">
                            <a:latin typeface="Cambria Math" panose="02040503050406030204" pitchFamily="18" charset="0"/>
                          </a:rPr>
                          <m:t>𝑛</m:t>
                        </m:r>
                      </m:sup>
                    </m:sSup>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oMath>
                </a14:m>
                <a:r>
                  <a:rPr lang="en-US" sz="2400"/>
                  <a:t> </a:t>
                </a:r>
              </a:p>
              <a:p>
                <a:r>
                  <a:rPr lang="en-US" sz="2400" b="1"/>
                  <a:t>Example</a:t>
                </a:r>
                <a:r>
                  <a:rPr lang="en-US" sz="2400"/>
                  <a:t>: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(|0100⟩)=1</m:t>
                    </m:r>
                  </m:oMath>
                </a14:m>
                <a:endParaRPr lang="en-US" sz="2400"/>
              </a:p>
              <a:p>
                <a:r>
                  <a:rPr lang="en-US" sz="2400"/>
                  <a:t>Cost function </a:t>
                </a:r>
                <a14:m>
                  <m:oMath xmlns:m="http://schemas.openxmlformats.org/officeDocument/2006/math">
                    <m:r>
                      <a:rPr lang="en-US" sz="2400" i="1">
                        <a:latin typeface="Cambria Math" panose="02040503050406030204" pitchFamily="18" charset="0"/>
                      </a:rPr>
                      <m:t>𝐶</m:t>
                    </m:r>
                    <m:d>
                      <m:dPr>
                        <m:ctrlPr>
                          <a:rPr lang="en-US" sz="2400" i="1">
                            <a:latin typeface="Cambria Math" panose="02040503050406030204" pitchFamily="18" charset="0"/>
                          </a:rPr>
                        </m:ctrlPr>
                      </m:dPr>
                      <m:e>
                        <m:r>
                          <a:rPr lang="en-US" sz="2400" b="1" i="1">
                            <a:latin typeface="Cambria Math" panose="02040503050406030204" pitchFamily="18" charset="0"/>
                          </a:rPr>
                          <m:t>𝜽</m:t>
                        </m:r>
                        <m:r>
                          <a:rPr lang="en-US" sz="2400" i="1">
                            <a:latin typeface="Cambria Math" panose="02040503050406030204" pitchFamily="18" charset="0"/>
                          </a:rPr>
                          <m:t>,</m:t>
                        </m:r>
                        <m:r>
                          <a:rPr lang="en-US" sz="2400" i="1">
                            <a:latin typeface="Cambria Math" panose="02040503050406030204" pitchFamily="18" charset="0"/>
                          </a:rPr>
                          <m:t>𝑏</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sSup>
                      <m:sSupPr>
                        <m:ctrlPr>
                          <a:rPr lang="en-US" sz="2400" i="1">
                            <a:latin typeface="Cambria Math" panose="02040503050406030204" pitchFamily="18" charset="0"/>
                          </a:rPr>
                        </m:ctrlPr>
                      </m:sSupPr>
                      <m:e>
                        <m:nary>
                          <m:naryPr>
                            <m:chr m:val="∑"/>
                            <m:subHide m:val="on"/>
                            <m:supHide m:val="on"/>
                            <m:ctrlPr>
                              <a:rPr lang="en-US" sz="2400" i="1">
                                <a:latin typeface="Cambria Math" panose="02040503050406030204" pitchFamily="18" charset="0"/>
                              </a:rPr>
                            </m:ctrlPr>
                          </m:naryPr>
                          <m:sub/>
                          <m:sup/>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e>
                            </m:d>
                          </m:e>
                        </m:nary>
                      </m:e>
                      <m:sup>
                        <m:r>
                          <a:rPr lang="en-US" sz="2400" i="1">
                            <a:latin typeface="Cambria Math" panose="02040503050406030204" pitchFamily="18" charset="0"/>
                          </a:rPr>
                          <m:t>2</m:t>
                        </m:r>
                      </m:sup>
                    </m:sSup>
                    <m:r>
                      <a:rPr lang="en-US" sz="2400" i="1">
                        <a:solidFill>
                          <a:srgbClr val="FF0000"/>
                        </a:solidFill>
                        <a:latin typeface="Cambria Math" panose="02040503050406030204" pitchFamily="18" charset="0"/>
                      </a:rPr>
                      <m:t>→0</m:t>
                    </m:r>
                  </m:oMath>
                </a14:m>
                <a:endParaRPr lang="en-US" sz="2400"/>
              </a:p>
              <a:p>
                <a:r>
                  <a:rPr lang="en-US" sz="2400"/>
                  <a:t>Accuracy metric </a:t>
                </a:r>
                <a14:m>
                  <m:oMath xmlns:m="http://schemas.openxmlformats.org/officeDocument/2006/math">
                    <m:r>
                      <a:rPr lang="en-US" sz="2400" i="1">
                        <a:latin typeface="Cambria Math" panose="02040503050406030204" pitchFamily="18" charset="0"/>
                      </a:rPr>
                      <m:t>𝐴</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𝕀</m:t>
                    </m:r>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𝑖</m:t>
                                </m:r>
                              </m:sub>
                            </m:sSub>
                          </m:e>
                        </m:d>
                        <m:r>
                          <a:rPr lang="en-US" sz="2400" i="1">
                            <a:latin typeface="Cambria Math" panose="02040503050406030204" pitchFamily="18" charset="0"/>
                          </a:rPr>
                          <m:t>&lt;</m:t>
                        </m:r>
                        <m:r>
                          <a:rPr lang="en-US" sz="2400" i="1">
                            <a:latin typeface="Cambria Math" panose="02040503050406030204" pitchFamily="18" charset="0"/>
                          </a:rPr>
                          <m:t>𝜏</m:t>
                        </m:r>
                      </m:e>
                    </m:d>
                    <m:r>
                      <a:rPr lang="en-US" sz="2400">
                        <a:solidFill>
                          <a:srgbClr val="FF0000"/>
                        </a:solidFill>
                        <a:latin typeface="Cambria Math" panose="02040503050406030204" pitchFamily="18" charset="0"/>
                        <a:ea typeface="Cambria Math" panose="02040503050406030204" pitchFamily="18" charset="0"/>
                      </a:rPr>
                      <m:t>→1</m:t>
                    </m:r>
                  </m:oMath>
                </a14:m>
                <a:endParaRPr lang="vi-VN" sz="2400"/>
              </a:p>
            </p:txBody>
          </p:sp>
        </mc:Choice>
        <mc:Fallback>
          <p:sp>
            <p:nvSpPr>
              <p:cNvPr id="25" name="TextBox 24">
                <a:extLst>
                  <a:ext uri="{FF2B5EF4-FFF2-40B4-BE49-F238E27FC236}">
                    <a16:creationId xmlns:a16="http://schemas.microsoft.com/office/drawing/2014/main" id="{17BD2E7A-FCBA-0454-03ED-B468A673F8E3}"/>
                  </a:ext>
                </a:extLst>
              </p:cNvPr>
              <p:cNvSpPr txBox="1">
                <a:spLocks noRot="1" noChangeAspect="1" noMove="1" noResize="1" noEditPoints="1" noAdjustHandles="1" noChangeArrowheads="1" noChangeShapeType="1" noTextEdit="1"/>
              </p:cNvSpPr>
              <p:nvPr/>
            </p:nvSpPr>
            <p:spPr>
              <a:xfrm>
                <a:off x="838201" y="4127071"/>
                <a:ext cx="5995505" cy="2628092"/>
              </a:xfrm>
              <a:prstGeom prst="rect">
                <a:avLst/>
              </a:prstGeom>
              <a:blipFill>
                <a:blip r:embed="rId8"/>
                <a:stretch>
                  <a:fillRect l="-1691" t="-1442"/>
                </a:stretch>
              </a:blipFill>
            </p:spPr>
            <p:txBody>
              <a:bodyPr/>
              <a:lstStyle/>
              <a:p>
                <a:r>
                  <a:rPr lang="en-VN">
                    <a:noFill/>
                  </a:rPr>
                  <a:t> </a:t>
                </a:r>
              </a:p>
            </p:txBody>
          </p:sp>
        </mc:Fallback>
      </mc:AlternateContent>
      <p:cxnSp>
        <p:nvCxnSpPr>
          <p:cNvPr id="28" name="Straight Connector 27">
            <a:extLst>
              <a:ext uri="{FF2B5EF4-FFF2-40B4-BE49-F238E27FC236}">
                <a16:creationId xmlns:a16="http://schemas.microsoft.com/office/drawing/2014/main" id="{3F808467-E4F3-770C-F3B6-56290E5CB4F7}"/>
              </a:ext>
            </a:extLst>
          </p:cNvPr>
          <p:cNvCxnSpPr>
            <a:cxnSpLocks/>
          </p:cNvCxnSpPr>
          <p:nvPr/>
        </p:nvCxnSpPr>
        <p:spPr>
          <a:xfrm>
            <a:off x="1596963" y="3073621"/>
            <a:ext cx="1097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DBFFBBA-C7F4-82BE-0FF0-1E3F6D956FA5}"/>
              </a:ext>
            </a:extLst>
          </p:cNvPr>
          <p:cNvCxnSpPr>
            <a:cxnSpLocks/>
          </p:cNvCxnSpPr>
          <p:nvPr/>
        </p:nvCxnSpPr>
        <p:spPr>
          <a:xfrm>
            <a:off x="1596963" y="3606080"/>
            <a:ext cx="1097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357AB84-EB14-67D7-69F1-38B0BE9462DD}"/>
              </a:ext>
            </a:extLst>
          </p:cNvPr>
          <p:cNvCxnSpPr>
            <a:cxnSpLocks/>
          </p:cNvCxnSpPr>
          <p:nvPr/>
        </p:nvCxnSpPr>
        <p:spPr>
          <a:xfrm>
            <a:off x="1596961" y="3872311"/>
            <a:ext cx="1097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1379386-FAED-ACD0-B1E2-FDFD7A5C6CFE}"/>
              </a:ext>
            </a:extLst>
          </p:cNvPr>
          <p:cNvCxnSpPr>
            <a:cxnSpLocks/>
          </p:cNvCxnSpPr>
          <p:nvPr/>
        </p:nvCxnSpPr>
        <p:spPr>
          <a:xfrm>
            <a:off x="1596961" y="3339851"/>
            <a:ext cx="1097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62C4C930-3E5E-EAC0-9505-FD6838B6F83E}"/>
                  </a:ext>
                </a:extLst>
              </p:cNvPr>
              <p:cNvSpPr txBox="1"/>
              <p:nvPr/>
            </p:nvSpPr>
            <p:spPr>
              <a:xfrm>
                <a:off x="1287049" y="2928581"/>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|0⟩</m:t>
                      </m:r>
                    </m:oMath>
                  </m:oMathPara>
                </a14:m>
                <a:endParaRPr lang="vi-VN" sz="1600"/>
              </a:p>
            </p:txBody>
          </p:sp>
        </mc:Choice>
        <mc:Fallback>
          <p:sp>
            <p:nvSpPr>
              <p:cNvPr id="33" name="TextBox 32">
                <a:extLst>
                  <a:ext uri="{FF2B5EF4-FFF2-40B4-BE49-F238E27FC236}">
                    <a16:creationId xmlns:a16="http://schemas.microsoft.com/office/drawing/2014/main" id="{62C4C930-3E5E-EAC0-9505-FD6838B6F83E}"/>
                  </a:ext>
                </a:extLst>
              </p:cNvPr>
              <p:cNvSpPr txBox="1">
                <a:spLocks noRot="1" noChangeAspect="1" noMove="1" noResize="1" noEditPoints="1" noAdjustHandles="1" noChangeArrowheads="1" noChangeShapeType="1" noTextEdit="1"/>
              </p:cNvSpPr>
              <p:nvPr/>
            </p:nvSpPr>
            <p:spPr>
              <a:xfrm>
                <a:off x="1287049" y="2928581"/>
                <a:ext cx="310983" cy="246221"/>
              </a:xfrm>
              <a:prstGeom prst="rect">
                <a:avLst/>
              </a:prstGeom>
              <a:blipFill>
                <a:blip r:embed="rId9"/>
                <a:stretch>
                  <a:fillRect l="-20000" r="-20000" b="-2857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A686794-006E-97A2-72EE-DBEDBEC4DF8C}"/>
                  </a:ext>
                </a:extLst>
              </p:cNvPr>
              <p:cNvSpPr txBox="1"/>
              <p:nvPr/>
            </p:nvSpPr>
            <p:spPr>
              <a:xfrm>
                <a:off x="1287047" y="3199589"/>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|0⟩</m:t>
                      </m:r>
                    </m:oMath>
                  </m:oMathPara>
                </a14:m>
                <a:endParaRPr lang="vi-VN" sz="1600"/>
              </a:p>
            </p:txBody>
          </p:sp>
        </mc:Choice>
        <mc:Fallback>
          <p:sp>
            <p:nvSpPr>
              <p:cNvPr id="34" name="TextBox 33">
                <a:extLst>
                  <a:ext uri="{FF2B5EF4-FFF2-40B4-BE49-F238E27FC236}">
                    <a16:creationId xmlns:a16="http://schemas.microsoft.com/office/drawing/2014/main" id="{9A686794-006E-97A2-72EE-DBEDBEC4DF8C}"/>
                  </a:ext>
                </a:extLst>
              </p:cNvPr>
              <p:cNvSpPr txBox="1">
                <a:spLocks noRot="1" noChangeAspect="1" noMove="1" noResize="1" noEditPoints="1" noAdjustHandles="1" noChangeArrowheads="1" noChangeShapeType="1" noTextEdit="1"/>
              </p:cNvSpPr>
              <p:nvPr/>
            </p:nvSpPr>
            <p:spPr>
              <a:xfrm>
                <a:off x="1287047" y="3199589"/>
                <a:ext cx="310983" cy="246221"/>
              </a:xfrm>
              <a:prstGeom prst="rect">
                <a:avLst/>
              </a:prstGeom>
              <a:blipFill>
                <a:blip r:embed="rId10"/>
                <a:stretch>
                  <a:fillRect l="-20000" r="-20000" b="-35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650F8933-1CCB-75F9-F0DE-7B693F6AE8F2}"/>
                  </a:ext>
                </a:extLst>
              </p:cNvPr>
              <p:cNvSpPr txBox="1"/>
              <p:nvPr/>
            </p:nvSpPr>
            <p:spPr>
              <a:xfrm>
                <a:off x="1287047" y="3461039"/>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|0⟩</m:t>
                      </m:r>
                    </m:oMath>
                  </m:oMathPara>
                </a14:m>
                <a:endParaRPr lang="vi-VN" sz="1600"/>
              </a:p>
            </p:txBody>
          </p:sp>
        </mc:Choice>
        <mc:Fallback>
          <p:sp>
            <p:nvSpPr>
              <p:cNvPr id="35" name="TextBox 34">
                <a:extLst>
                  <a:ext uri="{FF2B5EF4-FFF2-40B4-BE49-F238E27FC236}">
                    <a16:creationId xmlns:a16="http://schemas.microsoft.com/office/drawing/2014/main" id="{650F8933-1CCB-75F9-F0DE-7B693F6AE8F2}"/>
                  </a:ext>
                </a:extLst>
              </p:cNvPr>
              <p:cNvSpPr txBox="1">
                <a:spLocks noRot="1" noChangeAspect="1" noMove="1" noResize="1" noEditPoints="1" noAdjustHandles="1" noChangeArrowheads="1" noChangeShapeType="1" noTextEdit="1"/>
              </p:cNvSpPr>
              <p:nvPr/>
            </p:nvSpPr>
            <p:spPr>
              <a:xfrm>
                <a:off x="1287047" y="3461039"/>
                <a:ext cx="310983" cy="246221"/>
              </a:xfrm>
              <a:prstGeom prst="rect">
                <a:avLst/>
              </a:prstGeom>
              <a:blipFill>
                <a:blip r:embed="rId11"/>
                <a:stretch>
                  <a:fillRect l="-20000" r="-20000" b="-35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07D8F6EF-242F-D107-3921-4C8DA23B790E}"/>
                  </a:ext>
                </a:extLst>
              </p:cNvPr>
              <p:cNvSpPr txBox="1"/>
              <p:nvPr/>
            </p:nvSpPr>
            <p:spPr>
              <a:xfrm>
                <a:off x="1287046" y="3744421"/>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|0⟩</m:t>
                      </m:r>
                    </m:oMath>
                  </m:oMathPara>
                </a14:m>
                <a:endParaRPr lang="vi-VN" sz="1600"/>
              </a:p>
            </p:txBody>
          </p:sp>
        </mc:Choice>
        <mc:Fallback>
          <p:sp>
            <p:nvSpPr>
              <p:cNvPr id="36" name="TextBox 35">
                <a:extLst>
                  <a:ext uri="{FF2B5EF4-FFF2-40B4-BE49-F238E27FC236}">
                    <a16:creationId xmlns:a16="http://schemas.microsoft.com/office/drawing/2014/main" id="{07D8F6EF-242F-D107-3921-4C8DA23B790E}"/>
                  </a:ext>
                </a:extLst>
              </p:cNvPr>
              <p:cNvSpPr txBox="1">
                <a:spLocks noRot="1" noChangeAspect="1" noMove="1" noResize="1" noEditPoints="1" noAdjustHandles="1" noChangeArrowheads="1" noChangeShapeType="1" noTextEdit="1"/>
              </p:cNvSpPr>
              <p:nvPr/>
            </p:nvSpPr>
            <p:spPr>
              <a:xfrm>
                <a:off x="1287046" y="3744421"/>
                <a:ext cx="310983" cy="246221"/>
              </a:xfrm>
              <a:prstGeom prst="rect">
                <a:avLst/>
              </a:prstGeom>
              <a:blipFill>
                <a:blip r:embed="rId12"/>
                <a:stretch>
                  <a:fillRect l="-20000" r="-20000" b="-3333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531E5F31-65DF-4BD6-D72B-DC4B2875B1C7}"/>
                  </a:ext>
                </a:extLst>
              </p:cNvPr>
              <p:cNvSpPr txBox="1"/>
              <p:nvPr/>
            </p:nvSpPr>
            <p:spPr>
              <a:xfrm>
                <a:off x="2735567" y="2921890"/>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|0⟩</m:t>
                      </m:r>
                    </m:oMath>
                  </m:oMathPara>
                </a14:m>
                <a:endParaRPr lang="vi-VN" sz="1600"/>
              </a:p>
            </p:txBody>
          </p:sp>
        </mc:Choice>
        <mc:Fallback>
          <p:sp>
            <p:nvSpPr>
              <p:cNvPr id="37" name="TextBox 36">
                <a:extLst>
                  <a:ext uri="{FF2B5EF4-FFF2-40B4-BE49-F238E27FC236}">
                    <a16:creationId xmlns:a16="http://schemas.microsoft.com/office/drawing/2014/main" id="{531E5F31-65DF-4BD6-D72B-DC4B2875B1C7}"/>
                  </a:ext>
                </a:extLst>
              </p:cNvPr>
              <p:cNvSpPr txBox="1">
                <a:spLocks noRot="1" noChangeAspect="1" noMove="1" noResize="1" noEditPoints="1" noAdjustHandles="1" noChangeArrowheads="1" noChangeShapeType="1" noTextEdit="1"/>
              </p:cNvSpPr>
              <p:nvPr/>
            </p:nvSpPr>
            <p:spPr>
              <a:xfrm>
                <a:off x="2735567" y="2921890"/>
                <a:ext cx="310983" cy="246221"/>
              </a:xfrm>
              <a:prstGeom prst="rect">
                <a:avLst/>
              </a:prstGeom>
              <a:blipFill>
                <a:blip r:embed="rId13"/>
                <a:stretch>
                  <a:fillRect l="-19231" r="-15385" b="-3333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CFD953BB-2A8E-1B6B-3673-0426FE203245}"/>
                  </a:ext>
                </a:extLst>
              </p:cNvPr>
              <p:cNvSpPr txBox="1"/>
              <p:nvPr/>
            </p:nvSpPr>
            <p:spPr>
              <a:xfrm>
                <a:off x="2735566" y="3192898"/>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|1⟩</m:t>
                      </m:r>
                    </m:oMath>
                  </m:oMathPara>
                </a14:m>
                <a:endParaRPr lang="vi-VN" sz="1600"/>
              </a:p>
            </p:txBody>
          </p:sp>
        </mc:Choice>
        <mc:Fallback>
          <p:sp>
            <p:nvSpPr>
              <p:cNvPr id="38" name="TextBox 37">
                <a:extLst>
                  <a:ext uri="{FF2B5EF4-FFF2-40B4-BE49-F238E27FC236}">
                    <a16:creationId xmlns:a16="http://schemas.microsoft.com/office/drawing/2014/main" id="{CFD953BB-2A8E-1B6B-3673-0426FE203245}"/>
                  </a:ext>
                </a:extLst>
              </p:cNvPr>
              <p:cNvSpPr txBox="1">
                <a:spLocks noRot="1" noChangeAspect="1" noMove="1" noResize="1" noEditPoints="1" noAdjustHandles="1" noChangeArrowheads="1" noChangeShapeType="1" noTextEdit="1"/>
              </p:cNvSpPr>
              <p:nvPr/>
            </p:nvSpPr>
            <p:spPr>
              <a:xfrm>
                <a:off x="2735566" y="3192898"/>
                <a:ext cx="310983" cy="246221"/>
              </a:xfrm>
              <a:prstGeom prst="rect">
                <a:avLst/>
              </a:prstGeom>
              <a:blipFill>
                <a:blip r:embed="rId14"/>
                <a:stretch>
                  <a:fillRect l="-19231" r="-15385" b="-35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D9D52FDE-713A-5C63-041D-635F8CFDD37C}"/>
                  </a:ext>
                </a:extLst>
              </p:cNvPr>
              <p:cNvSpPr txBox="1"/>
              <p:nvPr/>
            </p:nvSpPr>
            <p:spPr>
              <a:xfrm>
                <a:off x="2735566" y="3454349"/>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|0⟩</m:t>
                      </m:r>
                    </m:oMath>
                  </m:oMathPara>
                </a14:m>
                <a:endParaRPr lang="vi-VN" sz="1600"/>
              </a:p>
            </p:txBody>
          </p:sp>
        </mc:Choice>
        <mc:Fallback>
          <p:sp>
            <p:nvSpPr>
              <p:cNvPr id="39" name="TextBox 38">
                <a:extLst>
                  <a:ext uri="{FF2B5EF4-FFF2-40B4-BE49-F238E27FC236}">
                    <a16:creationId xmlns:a16="http://schemas.microsoft.com/office/drawing/2014/main" id="{D9D52FDE-713A-5C63-041D-635F8CFDD37C}"/>
                  </a:ext>
                </a:extLst>
              </p:cNvPr>
              <p:cNvSpPr txBox="1">
                <a:spLocks noRot="1" noChangeAspect="1" noMove="1" noResize="1" noEditPoints="1" noAdjustHandles="1" noChangeArrowheads="1" noChangeShapeType="1" noTextEdit="1"/>
              </p:cNvSpPr>
              <p:nvPr/>
            </p:nvSpPr>
            <p:spPr>
              <a:xfrm>
                <a:off x="2735566" y="3454349"/>
                <a:ext cx="310983" cy="246221"/>
              </a:xfrm>
              <a:prstGeom prst="rect">
                <a:avLst/>
              </a:prstGeom>
              <a:blipFill>
                <a:blip r:embed="rId15"/>
                <a:stretch>
                  <a:fillRect l="-19231" r="-15385" b="-35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817E38D2-8998-D300-DAC9-7F0E35CDCF4E}"/>
                  </a:ext>
                </a:extLst>
              </p:cNvPr>
              <p:cNvSpPr txBox="1"/>
              <p:nvPr/>
            </p:nvSpPr>
            <p:spPr>
              <a:xfrm>
                <a:off x="2735565" y="3737730"/>
                <a:ext cx="31098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|0⟩</m:t>
                      </m:r>
                    </m:oMath>
                  </m:oMathPara>
                </a14:m>
                <a:endParaRPr lang="vi-VN" sz="1600"/>
              </a:p>
            </p:txBody>
          </p:sp>
        </mc:Choice>
        <mc:Fallback>
          <p:sp>
            <p:nvSpPr>
              <p:cNvPr id="40" name="TextBox 39">
                <a:extLst>
                  <a:ext uri="{FF2B5EF4-FFF2-40B4-BE49-F238E27FC236}">
                    <a16:creationId xmlns:a16="http://schemas.microsoft.com/office/drawing/2014/main" id="{817E38D2-8998-D300-DAC9-7F0E35CDCF4E}"/>
                  </a:ext>
                </a:extLst>
              </p:cNvPr>
              <p:cNvSpPr txBox="1">
                <a:spLocks noRot="1" noChangeAspect="1" noMove="1" noResize="1" noEditPoints="1" noAdjustHandles="1" noChangeArrowheads="1" noChangeShapeType="1" noTextEdit="1"/>
              </p:cNvSpPr>
              <p:nvPr/>
            </p:nvSpPr>
            <p:spPr>
              <a:xfrm>
                <a:off x="2735565" y="3737730"/>
                <a:ext cx="310983" cy="246221"/>
              </a:xfrm>
              <a:prstGeom prst="rect">
                <a:avLst/>
              </a:prstGeom>
              <a:blipFill>
                <a:blip r:embed="rId16"/>
                <a:stretch>
                  <a:fillRect l="-19231" r="-15385" b="-35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41" name="Rectangle 40">
                <a:extLst>
                  <a:ext uri="{FF2B5EF4-FFF2-40B4-BE49-F238E27FC236}">
                    <a16:creationId xmlns:a16="http://schemas.microsoft.com/office/drawing/2014/main" id="{7F123D99-0816-36F4-FF8B-D5C5CAB289DA}"/>
                  </a:ext>
                </a:extLst>
              </p:cNvPr>
              <p:cNvSpPr/>
              <p:nvPr/>
            </p:nvSpPr>
            <p:spPr>
              <a:xfrm>
                <a:off x="1873935" y="3168111"/>
                <a:ext cx="309915" cy="3677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𝑋</m:t>
                      </m:r>
                    </m:oMath>
                  </m:oMathPara>
                </a14:m>
                <a:endParaRPr sz="2400"/>
              </a:p>
            </p:txBody>
          </p:sp>
        </mc:Choice>
        <mc:Fallback>
          <p:sp>
            <p:nvSpPr>
              <p:cNvPr id="41" name="Rectangle 40">
                <a:extLst>
                  <a:ext uri="{FF2B5EF4-FFF2-40B4-BE49-F238E27FC236}">
                    <a16:creationId xmlns:a16="http://schemas.microsoft.com/office/drawing/2014/main" id="{7F123D99-0816-36F4-FF8B-D5C5CAB289DA}"/>
                  </a:ext>
                </a:extLst>
              </p:cNvPr>
              <p:cNvSpPr>
                <a:spLocks noRot="1" noChangeAspect="1" noMove="1" noResize="1" noEditPoints="1" noAdjustHandles="1" noChangeArrowheads="1" noChangeShapeType="1" noTextEdit="1"/>
              </p:cNvSpPr>
              <p:nvPr/>
            </p:nvSpPr>
            <p:spPr>
              <a:xfrm>
                <a:off x="1873935" y="3168111"/>
                <a:ext cx="309915" cy="367728"/>
              </a:xfrm>
              <a:prstGeom prst="rect">
                <a:avLst/>
              </a:prstGeom>
              <a:blipFill>
                <a:blip r:embed="rId17"/>
                <a:stretch>
                  <a:fillRect l="-44444" t="-9677" r="-11111" b="-29032"/>
                </a:stretch>
              </a:blipFill>
              <a:ln>
                <a:solidFill>
                  <a:schemeClr val="tx1"/>
                </a:solidFill>
              </a:ln>
            </p:spPr>
            <p:txBody>
              <a:bodyPr/>
              <a:lstStyle/>
              <a:p>
                <a:r>
                  <a:rPr lang="en-VN">
                    <a:noFill/>
                  </a:rPr>
                  <a:t> </a:t>
                </a:r>
              </a:p>
            </p:txBody>
          </p:sp>
        </mc:Fallback>
      </mc:AlternateContent>
      <p:cxnSp>
        <p:nvCxnSpPr>
          <p:cNvPr id="43" name="Straight Connector 42">
            <a:extLst>
              <a:ext uri="{FF2B5EF4-FFF2-40B4-BE49-F238E27FC236}">
                <a16:creationId xmlns:a16="http://schemas.microsoft.com/office/drawing/2014/main" id="{F38000E6-65D8-A315-1CB5-E14FD80C86F5}"/>
              </a:ext>
            </a:extLst>
          </p:cNvPr>
          <p:cNvCxnSpPr>
            <a:stCxn id="37" idx="0"/>
          </p:cNvCxnSpPr>
          <p:nvPr/>
        </p:nvCxnSpPr>
        <p:spPr>
          <a:xfrm flipH="1" flipV="1">
            <a:off x="2690921" y="2702913"/>
            <a:ext cx="200138" cy="218977"/>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371DD7BC-309C-8F59-0870-F9D1B803E2B9}"/>
              </a:ext>
            </a:extLst>
          </p:cNvPr>
          <p:cNvCxnSpPr>
            <a:cxnSpLocks/>
            <a:stCxn id="33" idx="0"/>
          </p:cNvCxnSpPr>
          <p:nvPr/>
        </p:nvCxnSpPr>
        <p:spPr>
          <a:xfrm flipV="1">
            <a:off x="1442541" y="2702913"/>
            <a:ext cx="149613" cy="225668"/>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9" name="Hộp Văn bản 38">
                <a:extLst>
                  <a:ext uri="{FF2B5EF4-FFF2-40B4-BE49-F238E27FC236}">
                    <a16:creationId xmlns:a16="http://schemas.microsoft.com/office/drawing/2014/main" id="{BA3606F7-0786-9E45-1CF4-E2ED5CEE2994}"/>
                  </a:ext>
                </a:extLst>
              </p:cNvPr>
              <p:cNvSpPr txBox="1"/>
              <p:nvPr/>
            </p:nvSpPr>
            <p:spPr>
              <a:xfrm>
                <a:off x="4894669" y="3430701"/>
                <a:ext cx="1184459" cy="256545"/>
              </a:xfrm>
              <a:prstGeom prst="rect">
                <a:avLst/>
              </a:prstGeom>
              <a:noFill/>
            </p:spPr>
            <p:txBody>
              <a:bodyPr wrap="square" rtlCol="0">
                <a:spAutoFit/>
              </a:bodyPr>
              <a:lstStyle/>
              <a:p>
                <a:r>
                  <a:rPr lang="en-US" sz="1067"/>
                  <a:t>classical bias </a:t>
                </a:r>
                <a14:m>
                  <m:oMath xmlns:m="http://schemas.openxmlformats.org/officeDocument/2006/math">
                    <m:r>
                      <a:rPr lang="en-US" sz="1067" i="1">
                        <a:latin typeface="Cambria Math" panose="02040503050406030204" pitchFamily="18" charset="0"/>
                      </a:rPr>
                      <m:t>𝑏</m:t>
                    </m:r>
                  </m:oMath>
                </a14:m>
                <a:endParaRPr lang="vi-VN" sz="1067"/>
              </a:p>
            </p:txBody>
          </p:sp>
        </mc:Choice>
        <mc:Fallback>
          <p:sp>
            <p:nvSpPr>
              <p:cNvPr id="49" name="Hộp Văn bản 38">
                <a:extLst>
                  <a:ext uri="{FF2B5EF4-FFF2-40B4-BE49-F238E27FC236}">
                    <a16:creationId xmlns:a16="http://schemas.microsoft.com/office/drawing/2014/main" id="{BA3606F7-0786-9E45-1CF4-E2ED5CEE2994}"/>
                  </a:ext>
                </a:extLst>
              </p:cNvPr>
              <p:cNvSpPr txBox="1">
                <a:spLocks noRot="1" noChangeAspect="1" noMove="1" noResize="1" noEditPoints="1" noAdjustHandles="1" noChangeArrowheads="1" noChangeShapeType="1" noTextEdit="1"/>
              </p:cNvSpPr>
              <p:nvPr/>
            </p:nvSpPr>
            <p:spPr>
              <a:xfrm>
                <a:off x="4894669" y="3430701"/>
                <a:ext cx="1184459" cy="256545"/>
              </a:xfrm>
              <a:prstGeom prst="rect">
                <a:avLst/>
              </a:prstGeom>
              <a:blipFill>
                <a:blip r:embed="rId18"/>
                <a:stretch>
                  <a:fillRect b="-14286"/>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40AB7EAD-B6A2-8D13-4D48-91C996A60CF3}"/>
                  </a:ext>
                </a:extLst>
              </p:cNvPr>
              <p:cNvSpPr txBox="1"/>
              <p:nvPr/>
            </p:nvSpPr>
            <p:spPr>
              <a:xfrm>
                <a:off x="5223867" y="2528288"/>
                <a:ext cx="52380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Cambria Math" panose="02040503050406030204" pitchFamily="18" charset="0"/>
                        </a:rPr>
                        <m:t>⨁</m:t>
                      </m:r>
                    </m:oMath>
                  </m:oMathPara>
                </a14:m>
                <a:endParaRPr lang="vi-VN" sz="2400"/>
              </a:p>
            </p:txBody>
          </p:sp>
        </mc:Choice>
        <mc:Fallback>
          <p:sp>
            <p:nvSpPr>
              <p:cNvPr id="53" name="TextBox 52">
                <a:extLst>
                  <a:ext uri="{FF2B5EF4-FFF2-40B4-BE49-F238E27FC236}">
                    <a16:creationId xmlns:a16="http://schemas.microsoft.com/office/drawing/2014/main" id="{40AB7EAD-B6A2-8D13-4D48-91C996A60CF3}"/>
                  </a:ext>
                </a:extLst>
              </p:cNvPr>
              <p:cNvSpPr txBox="1">
                <a:spLocks noRot="1" noChangeAspect="1" noMove="1" noResize="1" noEditPoints="1" noAdjustHandles="1" noChangeArrowheads="1" noChangeShapeType="1" noTextEdit="1"/>
              </p:cNvSpPr>
              <p:nvPr/>
            </p:nvSpPr>
            <p:spPr>
              <a:xfrm>
                <a:off x="5223867" y="2528288"/>
                <a:ext cx="523805" cy="461665"/>
              </a:xfrm>
              <a:prstGeom prst="rect">
                <a:avLst/>
              </a:prstGeom>
              <a:blipFill>
                <a:blip r:embed="rId19"/>
                <a:stretch>
                  <a:fillRect b="-5405"/>
                </a:stretch>
              </a:blipFill>
            </p:spPr>
            <p:txBody>
              <a:bodyPr/>
              <a:lstStyle/>
              <a:p>
                <a:r>
                  <a:rPr lang="en-VN">
                    <a:noFill/>
                  </a:rPr>
                  <a:t> </a:t>
                </a:r>
              </a:p>
            </p:txBody>
          </p:sp>
        </mc:Fallback>
      </mc:AlternateContent>
      <p:cxnSp>
        <p:nvCxnSpPr>
          <p:cNvPr id="55" name="Straight Arrow Connector 54">
            <a:extLst>
              <a:ext uri="{FF2B5EF4-FFF2-40B4-BE49-F238E27FC236}">
                <a16:creationId xmlns:a16="http://schemas.microsoft.com/office/drawing/2014/main" id="{444FF664-F2FE-F9C8-9D4B-3E0F53CA6847}"/>
              </a:ext>
            </a:extLst>
          </p:cNvPr>
          <p:cNvCxnSpPr>
            <a:cxnSpLocks/>
          </p:cNvCxnSpPr>
          <p:nvPr/>
        </p:nvCxnSpPr>
        <p:spPr>
          <a:xfrm flipV="1">
            <a:off x="5491013" y="2913642"/>
            <a:ext cx="0" cy="5254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or: Elbow 56">
            <a:extLst>
              <a:ext uri="{FF2B5EF4-FFF2-40B4-BE49-F238E27FC236}">
                <a16:creationId xmlns:a16="http://schemas.microsoft.com/office/drawing/2014/main" id="{E21621C4-12E4-6F3F-E9C1-23962570B2A3}"/>
              </a:ext>
            </a:extLst>
          </p:cNvPr>
          <p:cNvCxnSpPr>
            <a:cxnSpLocks/>
            <a:stCxn id="21" idx="2"/>
            <a:endCxn id="7" idx="2"/>
          </p:cNvCxnSpPr>
          <p:nvPr/>
        </p:nvCxnSpPr>
        <p:spPr>
          <a:xfrm rot="5400000" flipH="1">
            <a:off x="3830067" y="2250542"/>
            <a:ext cx="313744" cy="1218488"/>
          </a:xfrm>
          <a:prstGeom prst="bentConnector3">
            <a:avLst>
              <a:gd name="adj1" fmla="val -7286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60" name="Hộp Văn bản 38">
                <a:extLst>
                  <a:ext uri="{FF2B5EF4-FFF2-40B4-BE49-F238E27FC236}">
                    <a16:creationId xmlns:a16="http://schemas.microsoft.com/office/drawing/2014/main" id="{F306436C-1C53-76A7-4302-CEC728A08B9D}"/>
                  </a:ext>
                </a:extLst>
              </p:cNvPr>
              <p:cNvSpPr txBox="1"/>
              <p:nvPr/>
            </p:nvSpPr>
            <p:spPr>
              <a:xfrm>
                <a:off x="3382217" y="3430702"/>
                <a:ext cx="1184459" cy="256545"/>
              </a:xfrm>
              <a:prstGeom prst="rect">
                <a:avLst/>
              </a:prstGeom>
              <a:noFill/>
            </p:spPr>
            <p:txBody>
              <a:bodyPr wrap="square" rtlCol="0">
                <a:spAutoFit/>
              </a:bodyPr>
              <a:lstStyle/>
              <a:p>
                <a:pPr algn="ctr"/>
                <a:r>
                  <a:rPr lang="en-US" sz="1067"/>
                  <a:t>Update </a:t>
                </a:r>
                <a14:m>
                  <m:oMath xmlns:m="http://schemas.openxmlformats.org/officeDocument/2006/math">
                    <m:r>
                      <a:rPr lang="en-US" sz="1067" b="1" i="1">
                        <a:latin typeface="Cambria Math" panose="02040503050406030204" pitchFamily="18" charset="0"/>
                      </a:rPr>
                      <m:t>𝜽</m:t>
                    </m:r>
                    <m:r>
                      <a:rPr lang="en-US" sz="1067" b="1" i="1">
                        <a:latin typeface="Cambria Math" panose="02040503050406030204" pitchFamily="18" charset="0"/>
                      </a:rPr>
                      <m:t>,</m:t>
                    </m:r>
                    <m:r>
                      <a:rPr lang="en-US" sz="1067" i="1">
                        <a:latin typeface="Cambria Math" panose="02040503050406030204" pitchFamily="18" charset="0"/>
                      </a:rPr>
                      <m:t>𝑏</m:t>
                    </m:r>
                  </m:oMath>
                </a14:m>
                <a:endParaRPr lang="vi-VN" sz="1067"/>
              </a:p>
            </p:txBody>
          </p:sp>
        </mc:Choice>
        <mc:Fallback>
          <p:sp>
            <p:nvSpPr>
              <p:cNvPr id="60" name="Hộp Văn bản 38">
                <a:extLst>
                  <a:ext uri="{FF2B5EF4-FFF2-40B4-BE49-F238E27FC236}">
                    <a16:creationId xmlns:a16="http://schemas.microsoft.com/office/drawing/2014/main" id="{F306436C-1C53-76A7-4302-CEC728A08B9D}"/>
                  </a:ext>
                </a:extLst>
              </p:cNvPr>
              <p:cNvSpPr txBox="1">
                <a:spLocks noRot="1" noChangeAspect="1" noMove="1" noResize="1" noEditPoints="1" noAdjustHandles="1" noChangeArrowheads="1" noChangeShapeType="1" noTextEdit="1"/>
              </p:cNvSpPr>
              <p:nvPr/>
            </p:nvSpPr>
            <p:spPr>
              <a:xfrm>
                <a:off x="3382217" y="3430702"/>
                <a:ext cx="1184459" cy="256545"/>
              </a:xfrm>
              <a:prstGeom prst="rect">
                <a:avLst/>
              </a:prstGeom>
              <a:blipFill>
                <a:blip r:embed="rId20"/>
                <a:stretch>
                  <a:fillRect b="-14286"/>
                </a:stretch>
              </a:blipFill>
            </p:spPr>
            <p:txBody>
              <a:bodyPr/>
              <a:lstStyle/>
              <a:p>
                <a:r>
                  <a:rPr lang="en-VN">
                    <a:noFill/>
                  </a:rPr>
                  <a:t> </a:t>
                </a:r>
              </a:p>
            </p:txBody>
          </p:sp>
        </mc:Fallback>
      </mc:AlternateContent>
      <p:sp>
        <p:nvSpPr>
          <p:cNvPr id="70" name="TextBox 69">
            <a:extLst>
              <a:ext uri="{FF2B5EF4-FFF2-40B4-BE49-F238E27FC236}">
                <a16:creationId xmlns:a16="http://schemas.microsoft.com/office/drawing/2014/main" id="{DAB74536-4230-0A64-1C5E-60DDB14161ED}"/>
              </a:ext>
            </a:extLst>
          </p:cNvPr>
          <p:cNvSpPr txBox="1"/>
          <p:nvPr/>
        </p:nvSpPr>
        <p:spPr>
          <a:xfrm>
            <a:off x="8624191" y="1745915"/>
            <a:ext cx="2921591" cy="1569660"/>
          </a:xfrm>
          <a:prstGeom prst="rect">
            <a:avLst/>
          </a:prstGeom>
          <a:noFill/>
        </p:spPr>
        <p:txBody>
          <a:bodyPr wrap="square" rtlCol="0">
            <a:spAutoFit/>
          </a:bodyPr>
          <a:lstStyle/>
          <a:p>
            <a:r>
              <a:rPr lang="en-US" sz="2400"/>
              <a:t>#qubits = 4</a:t>
            </a:r>
          </a:p>
          <a:p>
            <a:r>
              <a:rPr lang="en-US" sz="2400"/>
              <a:t>#qparam = 24</a:t>
            </a:r>
          </a:p>
          <a:p>
            <a:r>
              <a:rPr lang="en-US" sz="2400"/>
              <a:t>#cparam = 1</a:t>
            </a:r>
          </a:p>
          <a:p>
            <a:r>
              <a:rPr lang="en-US" sz="2400"/>
              <a:t>Optimizer: Adam</a:t>
            </a:r>
            <a:endParaRPr lang="vi-VN" sz="2400"/>
          </a:p>
        </p:txBody>
      </p:sp>
      <p:sp>
        <p:nvSpPr>
          <p:cNvPr id="72" name="TextBox 71">
            <a:extLst>
              <a:ext uri="{FF2B5EF4-FFF2-40B4-BE49-F238E27FC236}">
                <a16:creationId xmlns:a16="http://schemas.microsoft.com/office/drawing/2014/main" id="{214D7C79-1F81-EA1B-AE22-320699699983}"/>
              </a:ext>
            </a:extLst>
          </p:cNvPr>
          <p:cNvSpPr txBox="1"/>
          <p:nvPr/>
        </p:nvSpPr>
        <p:spPr>
          <a:xfrm>
            <a:off x="838200" y="6416502"/>
            <a:ext cx="6096000" cy="297454"/>
          </a:xfrm>
          <a:prstGeom prst="rect">
            <a:avLst/>
          </a:prstGeom>
          <a:noFill/>
        </p:spPr>
        <p:txBody>
          <a:bodyPr wrap="square">
            <a:spAutoFit/>
          </a:bodyPr>
          <a:lstStyle/>
          <a:p>
            <a:r>
              <a:rPr lang="en-US" sz="1333" b="1">
                <a:latin typeface="Calibri" panose="020F0502020204030204" pitchFamily="34" charset="0"/>
                <a:ea typeface="Calibri" panose="020F0502020204030204" pitchFamily="34" charset="0"/>
                <a:cs typeface="Calibri" panose="020F0502020204030204" pitchFamily="34" charset="0"/>
              </a:rPr>
              <a:t>[2.5]</a:t>
            </a:r>
            <a:r>
              <a:rPr lang="en-US" sz="1333">
                <a:latin typeface="Calibri" panose="020F0502020204030204" pitchFamily="34" charset="0"/>
                <a:ea typeface="Calibri" panose="020F0502020204030204" pitchFamily="34" charset="0"/>
                <a:cs typeface="Calibri" panose="020F0502020204030204" pitchFamily="34" charset="0"/>
              </a:rPr>
              <a:t> </a:t>
            </a:r>
            <a:r>
              <a:rPr lang="vi-VN" sz="1333">
                <a:latin typeface="Calibri" panose="020F0502020204030204" pitchFamily="34" charset="0"/>
                <a:ea typeface="Calibri" panose="020F0502020204030204" pitchFamily="34" charset="0"/>
                <a:cs typeface="Calibri" panose="020F0502020204030204" pitchFamily="34" charset="0"/>
              </a:rPr>
              <a:t>https://pennylane.ai/qml/demos/tutorial_variational_classifier</a:t>
            </a:r>
          </a:p>
        </p:txBody>
      </p:sp>
    </p:spTree>
    <p:extLst>
      <p:ext uri="{BB962C8B-B14F-4D97-AF65-F5344CB8AC3E}">
        <p14:creationId xmlns:p14="http://schemas.microsoft.com/office/powerpoint/2010/main" val="4002909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623C-CBD7-DC11-7A71-61E0389A57A0}"/>
              </a:ext>
            </a:extLst>
          </p:cNvPr>
          <p:cNvSpPr>
            <a:spLocks noGrp="1"/>
          </p:cNvSpPr>
          <p:nvPr>
            <p:ph type="title"/>
          </p:nvPr>
        </p:nvSpPr>
        <p:spPr/>
        <p:txBody>
          <a:bodyPr>
            <a:normAutofit/>
          </a:bodyPr>
          <a:lstStyle/>
          <a:p>
            <a:r>
              <a:rPr lang="en-US"/>
              <a:t>2.3.1. Quantum deep learning</a:t>
            </a:r>
            <a:br>
              <a:rPr lang="en-US"/>
            </a:br>
            <a:r>
              <a:rPr lang="en-US" sz="2667"/>
              <a:t>Quanvolutional NN (QuNN)</a:t>
            </a:r>
            <a:endParaRPr lang="en-VN" sz="2667"/>
          </a:p>
        </p:txBody>
      </p:sp>
      <p:sp>
        <p:nvSpPr>
          <p:cNvPr id="4" name="Slide Number Placeholder 3">
            <a:extLst>
              <a:ext uri="{FF2B5EF4-FFF2-40B4-BE49-F238E27FC236}">
                <a16:creationId xmlns:a16="http://schemas.microsoft.com/office/drawing/2014/main" id="{4F0514A6-95CA-4E9D-3747-CDFE72B1C4D1}"/>
              </a:ext>
            </a:extLst>
          </p:cNvPr>
          <p:cNvSpPr>
            <a:spLocks noGrp="1"/>
          </p:cNvSpPr>
          <p:nvPr>
            <p:ph type="sldNum" sz="quarter" idx="12"/>
          </p:nvPr>
        </p:nvSpPr>
        <p:spPr/>
        <p:txBody>
          <a:bodyPr/>
          <a:lstStyle/>
          <a:p>
            <a:fld id="{6A45828D-F580-42DE-B77E-860980F07F32}" type="slidenum">
              <a:rPr lang="vi-VN" smtClean="0"/>
              <a:t>30</a:t>
            </a:fld>
            <a:endParaRPr lang="vi-VN"/>
          </a:p>
        </p:txBody>
      </p:sp>
      <p:pic>
        <p:nvPicPr>
          <p:cNvPr id="133" name="Picture 132" descr="A diagram of a diagram of a filter&#10;&#10;Description automatically generated with medium confidence">
            <a:extLst>
              <a:ext uri="{FF2B5EF4-FFF2-40B4-BE49-F238E27FC236}">
                <a16:creationId xmlns:a16="http://schemas.microsoft.com/office/drawing/2014/main" id="{5BC86B94-0938-48F8-819C-61048E20CD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1278563"/>
            <a:ext cx="9982200" cy="4968868"/>
          </a:xfrm>
          <a:prstGeom prst="rect">
            <a:avLst/>
          </a:prstGeom>
        </p:spPr>
      </p:pic>
      <p:sp>
        <p:nvSpPr>
          <p:cNvPr id="134" name="TextBox 133">
            <a:extLst>
              <a:ext uri="{FF2B5EF4-FFF2-40B4-BE49-F238E27FC236}">
                <a16:creationId xmlns:a16="http://schemas.microsoft.com/office/drawing/2014/main" id="{2CB6E27A-E942-3720-CB2E-B43C254ADC56}"/>
              </a:ext>
            </a:extLst>
          </p:cNvPr>
          <p:cNvSpPr txBox="1"/>
          <p:nvPr/>
        </p:nvSpPr>
        <p:spPr>
          <a:xfrm>
            <a:off x="838199" y="6238851"/>
            <a:ext cx="10515599" cy="502573"/>
          </a:xfrm>
          <a:prstGeom prst="rect">
            <a:avLst/>
          </a:prstGeom>
          <a:noFill/>
        </p:spPr>
        <p:txBody>
          <a:bodyPr wrap="square">
            <a:spAutoFit/>
          </a:bodyPr>
          <a:lstStyle/>
          <a:p>
            <a:r>
              <a:rPr lang="vi-VN" sz="1333"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333" b="1">
                <a:solidFill>
                  <a:srgbClr val="000000"/>
                </a:solidFill>
                <a:latin typeface="Calibri" panose="020F0502020204030204" pitchFamily="34" charset="0"/>
                <a:ea typeface="Calibri" panose="020F0502020204030204" pitchFamily="34" charset="0"/>
                <a:cs typeface="Calibri" panose="020F0502020204030204" pitchFamily="34" charset="0"/>
              </a:rPr>
              <a:t>2.6</a:t>
            </a:r>
            <a:r>
              <a:rPr lang="vi-VN" sz="1333"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333">
                <a:solidFill>
                  <a:srgbClr val="000000"/>
                </a:solidFill>
                <a:latin typeface="Calibri" panose="020F0502020204030204" pitchFamily="34" charset="0"/>
                <a:ea typeface="Calibri" panose="020F0502020204030204" pitchFamily="34" charset="0"/>
                <a:cs typeface="Calibri" panose="020F0502020204030204" pitchFamily="34" charset="0"/>
              </a:rPr>
              <a:t>Y. Lecun et al, Gradient-based learning applied to document recognition, Proceedings of the IEEE 86(11) (1998) 2278–2324</a:t>
            </a:r>
          </a:p>
          <a:p>
            <a:r>
              <a:rPr lang="en-US" sz="1333" b="1"/>
              <a:t>[2.7] </a:t>
            </a:r>
            <a:r>
              <a:rPr lang="en-US" sz="1333"/>
              <a:t>T. Hur et al, Quantum convolutional neural network for classical data classification, Quantum Machine Intelligence 4 (Feb 2022) p. 3.</a:t>
            </a:r>
          </a:p>
        </p:txBody>
      </p:sp>
    </p:spTree>
    <p:extLst>
      <p:ext uri="{BB962C8B-B14F-4D97-AF65-F5344CB8AC3E}">
        <p14:creationId xmlns:p14="http://schemas.microsoft.com/office/powerpoint/2010/main" val="154451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Đường nối Thẳng 121">
            <a:extLst>
              <a:ext uri="{FF2B5EF4-FFF2-40B4-BE49-F238E27FC236}">
                <a16:creationId xmlns:a16="http://schemas.microsoft.com/office/drawing/2014/main" id="{375A0477-0DB0-A150-E301-8D8D4B1AD1D9}"/>
              </a:ext>
            </a:extLst>
          </p:cNvPr>
          <p:cNvCxnSpPr>
            <a:cxnSpLocks/>
          </p:cNvCxnSpPr>
          <p:nvPr/>
        </p:nvCxnSpPr>
        <p:spPr>
          <a:xfrm>
            <a:off x="1522871" y="3813441"/>
            <a:ext cx="243137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E245623C-CBD7-DC11-7A71-61E0389A57A0}"/>
              </a:ext>
            </a:extLst>
          </p:cNvPr>
          <p:cNvSpPr>
            <a:spLocks noGrp="1"/>
          </p:cNvSpPr>
          <p:nvPr>
            <p:ph type="title"/>
          </p:nvPr>
        </p:nvSpPr>
        <p:spPr/>
        <p:txBody>
          <a:bodyPr>
            <a:normAutofit/>
          </a:bodyPr>
          <a:lstStyle/>
          <a:p>
            <a:r>
              <a:rPr lang="en-US"/>
              <a:t>2.3.2. Quantum deep learning</a:t>
            </a:r>
            <a:br>
              <a:rPr lang="en-US"/>
            </a:br>
            <a:r>
              <a:rPr lang="en-US" sz="2667"/>
              <a:t>Quantum Convolution NN (QCNN)</a:t>
            </a:r>
            <a:endParaRPr lang="en-VN" sz="2667"/>
          </a:p>
        </p:txBody>
      </p:sp>
      <p:sp>
        <p:nvSpPr>
          <p:cNvPr id="4" name="Slide Number Placeholder 3">
            <a:extLst>
              <a:ext uri="{FF2B5EF4-FFF2-40B4-BE49-F238E27FC236}">
                <a16:creationId xmlns:a16="http://schemas.microsoft.com/office/drawing/2014/main" id="{4F0514A6-95CA-4E9D-3747-CDFE72B1C4D1}"/>
              </a:ext>
            </a:extLst>
          </p:cNvPr>
          <p:cNvSpPr>
            <a:spLocks noGrp="1"/>
          </p:cNvSpPr>
          <p:nvPr>
            <p:ph type="sldNum" sz="quarter" idx="12"/>
          </p:nvPr>
        </p:nvSpPr>
        <p:spPr/>
        <p:txBody>
          <a:bodyPr/>
          <a:lstStyle/>
          <a:p>
            <a:fld id="{6A45828D-F580-42DE-B77E-860980F07F32}" type="slidenum">
              <a:rPr lang="vi-VN" smtClean="0"/>
              <a:t>31</a:t>
            </a:fld>
            <a:endParaRPr lang="vi-VN"/>
          </a:p>
        </p:txBody>
      </p:sp>
      <p:sp>
        <p:nvSpPr>
          <p:cNvPr id="134" name="TextBox 133">
            <a:extLst>
              <a:ext uri="{FF2B5EF4-FFF2-40B4-BE49-F238E27FC236}">
                <a16:creationId xmlns:a16="http://schemas.microsoft.com/office/drawing/2014/main" id="{2CB6E27A-E942-3720-CB2E-B43C254ADC56}"/>
              </a:ext>
            </a:extLst>
          </p:cNvPr>
          <p:cNvSpPr txBox="1"/>
          <p:nvPr/>
        </p:nvSpPr>
        <p:spPr>
          <a:xfrm>
            <a:off x="838200" y="6238852"/>
            <a:ext cx="9982200" cy="502573"/>
          </a:xfrm>
          <a:prstGeom prst="rect">
            <a:avLst/>
          </a:prstGeom>
          <a:noFill/>
        </p:spPr>
        <p:txBody>
          <a:bodyPr wrap="square">
            <a:spAutoFit/>
          </a:bodyPr>
          <a:lstStyle/>
          <a:p>
            <a:r>
              <a:rPr lang="en-US" sz="1333" b="1">
                <a:solidFill>
                  <a:srgbClr val="222222"/>
                </a:solidFill>
              </a:rPr>
              <a:t>[2.9]</a:t>
            </a:r>
            <a:r>
              <a:rPr lang="en-US" sz="1333">
                <a:solidFill>
                  <a:srgbClr val="222222"/>
                </a:solidFill>
              </a:rPr>
              <a:t> Cong, I., Choi, S. &amp; Lukin, M.D. Quantum convolutional neural networks. Nat. Phys. 15, 1273–1278 (2019). https://doi.org/10.1038/s41567-019-0648-8</a:t>
            </a:r>
            <a:endParaRPr lang="en-US" sz="1333"/>
          </a:p>
        </p:txBody>
      </p:sp>
      <p:cxnSp>
        <p:nvCxnSpPr>
          <p:cNvPr id="8" name="Đường nối Thẳng 121">
            <a:extLst>
              <a:ext uri="{FF2B5EF4-FFF2-40B4-BE49-F238E27FC236}">
                <a16:creationId xmlns:a16="http://schemas.microsoft.com/office/drawing/2014/main" id="{C3D1C4C7-758E-C8A4-11C0-07F96CDF6FB4}"/>
              </a:ext>
            </a:extLst>
          </p:cNvPr>
          <p:cNvCxnSpPr>
            <a:cxnSpLocks/>
          </p:cNvCxnSpPr>
          <p:nvPr/>
        </p:nvCxnSpPr>
        <p:spPr>
          <a:xfrm>
            <a:off x="1464169" y="2153983"/>
            <a:ext cx="570760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Đường nối Thẳng 121">
            <a:extLst>
              <a:ext uri="{FF2B5EF4-FFF2-40B4-BE49-F238E27FC236}">
                <a16:creationId xmlns:a16="http://schemas.microsoft.com/office/drawing/2014/main" id="{5B203A3C-D247-F74E-AC9F-5A538DFEF3F2}"/>
              </a:ext>
            </a:extLst>
          </p:cNvPr>
          <p:cNvCxnSpPr>
            <a:cxnSpLocks/>
          </p:cNvCxnSpPr>
          <p:nvPr/>
        </p:nvCxnSpPr>
        <p:spPr>
          <a:xfrm flipV="1">
            <a:off x="1634044" y="2042805"/>
            <a:ext cx="65877" cy="2032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Đường nối Thẳng 121">
            <a:extLst>
              <a:ext uri="{FF2B5EF4-FFF2-40B4-BE49-F238E27FC236}">
                <a16:creationId xmlns:a16="http://schemas.microsoft.com/office/drawing/2014/main" id="{1BEE5764-0854-0337-115D-3F5F19C8F656}"/>
              </a:ext>
            </a:extLst>
          </p:cNvPr>
          <p:cNvCxnSpPr>
            <a:cxnSpLocks/>
          </p:cNvCxnSpPr>
          <p:nvPr/>
        </p:nvCxnSpPr>
        <p:spPr>
          <a:xfrm>
            <a:off x="1488231" y="2681047"/>
            <a:ext cx="2048579" cy="724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Đường nối Thẳng 121">
            <a:extLst>
              <a:ext uri="{FF2B5EF4-FFF2-40B4-BE49-F238E27FC236}">
                <a16:creationId xmlns:a16="http://schemas.microsoft.com/office/drawing/2014/main" id="{6A285830-656A-91D3-069B-DD553FD1B7A1}"/>
              </a:ext>
            </a:extLst>
          </p:cNvPr>
          <p:cNvCxnSpPr>
            <a:cxnSpLocks/>
          </p:cNvCxnSpPr>
          <p:nvPr/>
        </p:nvCxnSpPr>
        <p:spPr>
          <a:xfrm flipV="1">
            <a:off x="1634044" y="2589267"/>
            <a:ext cx="65877" cy="2032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7" name="Hình chữ nhật 40">
                <a:extLst>
                  <a:ext uri="{FF2B5EF4-FFF2-40B4-BE49-F238E27FC236}">
                    <a16:creationId xmlns:a16="http://schemas.microsoft.com/office/drawing/2014/main" id="{F54C8C57-6773-17A6-FD9F-C1D8C1FDA9EE}"/>
                  </a:ext>
                </a:extLst>
              </p:cNvPr>
              <p:cNvSpPr/>
              <p:nvPr/>
            </p:nvSpPr>
            <p:spPr>
              <a:xfrm>
                <a:off x="2614965" y="2042806"/>
                <a:ext cx="612009" cy="7496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𝑈</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17" name="Hình chữ nhật 40">
                <a:extLst>
                  <a:ext uri="{FF2B5EF4-FFF2-40B4-BE49-F238E27FC236}">
                    <a16:creationId xmlns:a16="http://schemas.microsoft.com/office/drawing/2014/main" id="{F54C8C57-6773-17A6-FD9F-C1D8C1FDA9EE}"/>
                  </a:ext>
                </a:extLst>
              </p:cNvPr>
              <p:cNvSpPr>
                <a:spLocks noRot="1" noChangeAspect="1" noMove="1" noResize="1" noEditPoints="1" noAdjustHandles="1" noChangeArrowheads="1" noChangeShapeType="1" noTextEdit="1"/>
              </p:cNvSpPr>
              <p:nvPr/>
            </p:nvSpPr>
            <p:spPr>
              <a:xfrm>
                <a:off x="2614965" y="2042806"/>
                <a:ext cx="612009" cy="749661"/>
              </a:xfrm>
              <a:prstGeom prst="rect">
                <a:avLst/>
              </a:prstGeom>
              <a:blipFill>
                <a:blip r:embed="rId3"/>
                <a:stretch>
                  <a:fillRect/>
                </a:stretch>
              </a:blipFill>
              <a:ln>
                <a:solidFill>
                  <a:schemeClr val="tx1"/>
                </a:solidFill>
              </a:ln>
            </p:spPr>
            <p:txBody>
              <a:bodyPr/>
              <a:lstStyle/>
              <a:p>
                <a:r>
                  <a:rPr lang="en-VN">
                    <a:noFill/>
                  </a:rPr>
                  <a:t> </a:t>
                </a:r>
              </a:p>
            </p:txBody>
          </p:sp>
        </mc:Fallback>
      </mc:AlternateContent>
      <p:cxnSp>
        <p:nvCxnSpPr>
          <p:cNvPr id="18" name="Đường nối Thẳng 121">
            <a:extLst>
              <a:ext uri="{FF2B5EF4-FFF2-40B4-BE49-F238E27FC236}">
                <a16:creationId xmlns:a16="http://schemas.microsoft.com/office/drawing/2014/main" id="{B3955602-EA0C-B32C-D218-FB5256BBB442}"/>
              </a:ext>
            </a:extLst>
          </p:cNvPr>
          <p:cNvCxnSpPr>
            <a:cxnSpLocks/>
          </p:cNvCxnSpPr>
          <p:nvPr/>
        </p:nvCxnSpPr>
        <p:spPr>
          <a:xfrm flipV="1">
            <a:off x="1522871" y="3225128"/>
            <a:ext cx="2431379" cy="1114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9" name="Đường nối Thẳng 121">
            <a:extLst>
              <a:ext uri="{FF2B5EF4-FFF2-40B4-BE49-F238E27FC236}">
                <a16:creationId xmlns:a16="http://schemas.microsoft.com/office/drawing/2014/main" id="{645FF703-7FA4-0A3D-EED9-2BB99AD1BBCA}"/>
              </a:ext>
            </a:extLst>
          </p:cNvPr>
          <p:cNvCxnSpPr>
            <a:cxnSpLocks/>
          </p:cNvCxnSpPr>
          <p:nvPr/>
        </p:nvCxnSpPr>
        <p:spPr>
          <a:xfrm flipV="1">
            <a:off x="1634044" y="3128552"/>
            <a:ext cx="65877" cy="2032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6" name="Hình chữ nhật 40">
                <a:extLst>
                  <a:ext uri="{FF2B5EF4-FFF2-40B4-BE49-F238E27FC236}">
                    <a16:creationId xmlns:a16="http://schemas.microsoft.com/office/drawing/2014/main" id="{296342C1-B207-1843-04DE-F8E0BA241B5E}"/>
                  </a:ext>
                </a:extLst>
              </p:cNvPr>
              <p:cNvSpPr/>
              <p:nvPr/>
            </p:nvSpPr>
            <p:spPr>
              <a:xfrm>
                <a:off x="1883445" y="2604604"/>
                <a:ext cx="612009" cy="7414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𝑈</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16" name="Hình chữ nhật 40">
                <a:extLst>
                  <a:ext uri="{FF2B5EF4-FFF2-40B4-BE49-F238E27FC236}">
                    <a16:creationId xmlns:a16="http://schemas.microsoft.com/office/drawing/2014/main" id="{296342C1-B207-1843-04DE-F8E0BA241B5E}"/>
                  </a:ext>
                </a:extLst>
              </p:cNvPr>
              <p:cNvSpPr>
                <a:spLocks noRot="1" noChangeAspect="1" noMove="1" noResize="1" noEditPoints="1" noAdjustHandles="1" noChangeArrowheads="1" noChangeShapeType="1" noTextEdit="1"/>
              </p:cNvSpPr>
              <p:nvPr/>
            </p:nvSpPr>
            <p:spPr>
              <a:xfrm>
                <a:off x="1883445" y="2604604"/>
                <a:ext cx="612009" cy="741433"/>
              </a:xfrm>
              <a:prstGeom prst="rect">
                <a:avLst/>
              </a:prstGeom>
              <a:blipFill>
                <a:blip r:embed="rId4"/>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3" name="Hình chữ nhật 40">
                <a:extLst>
                  <a:ext uri="{FF2B5EF4-FFF2-40B4-BE49-F238E27FC236}">
                    <a16:creationId xmlns:a16="http://schemas.microsoft.com/office/drawing/2014/main" id="{5BCE81B1-C3EB-2BFF-0DC0-E84DE717A21B}"/>
                  </a:ext>
                </a:extLst>
              </p:cNvPr>
              <p:cNvSpPr/>
              <p:nvPr/>
            </p:nvSpPr>
            <p:spPr>
              <a:xfrm>
                <a:off x="2614965" y="3147498"/>
                <a:ext cx="612009" cy="7953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𝑈</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23" name="Hình chữ nhật 40">
                <a:extLst>
                  <a:ext uri="{FF2B5EF4-FFF2-40B4-BE49-F238E27FC236}">
                    <a16:creationId xmlns:a16="http://schemas.microsoft.com/office/drawing/2014/main" id="{5BCE81B1-C3EB-2BFF-0DC0-E84DE717A21B}"/>
                  </a:ext>
                </a:extLst>
              </p:cNvPr>
              <p:cNvSpPr>
                <a:spLocks noRot="1" noChangeAspect="1" noMove="1" noResize="1" noEditPoints="1" noAdjustHandles="1" noChangeArrowheads="1" noChangeShapeType="1" noTextEdit="1"/>
              </p:cNvSpPr>
              <p:nvPr/>
            </p:nvSpPr>
            <p:spPr>
              <a:xfrm>
                <a:off x="2614965" y="3147498"/>
                <a:ext cx="612009" cy="795359"/>
              </a:xfrm>
              <a:prstGeom prst="rect">
                <a:avLst/>
              </a:prstGeom>
              <a:blipFill>
                <a:blip r:embed="rId5"/>
                <a:stretch>
                  <a:fillRect/>
                </a:stretch>
              </a:blipFill>
              <a:ln>
                <a:solidFill>
                  <a:schemeClr val="tx1"/>
                </a:solidFill>
              </a:ln>
            </p:spPr>
            <p:txBody>
              <a:bodyPr/>
              <a:lstStyle/>
              <a:p>
                <a:r>
                  <a:rPr lang="en-VN">
                    <a:noFill/>
                  </a:rPr>
                  <a:t> </a:t>
                </a:r>
              </a:p>
            </p:txBody>
          </p:sp>
        </mc:Fallback>
      </mc:AlternateContent>
      <p:sp>
        <p:nvSpPr>
          <p:cNvPr id="26" name="Hình chữ nhật 93">
            <a:extLst>
              <a:ext uri="{FF2B5EF4-FFF2-40B4-BE49-F238E27FC236}">
                <a16:creationId xmlns:a16="http://schemas.microsoft.com/office/drawing/2014/main" id="{38F4FEE7-C3A1-D2E2-949E-2DCBEE110F50}"/>
              </a:ext>
            </a:extLst>
          </p:cNvPr>
          <p:cNvSpPr/>
          <p:nvPr/>
        </p:nvSpPr>
        <p:spPr>
          <a:xfrm>
            <a:off x="3545825" y="249094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27" name="Arc 26">
            <a:extLst>
              <a:ext uri="{FF2B5EF4-FFF2-40B4-BE49-F238E27FC236}">
                <a16:creationId xmlns:a16="http://schemas.microsoft.com/office/drawing/2014/main" id="{D92335B8-AF36-EE3E-C11C-E056AB1AE881}"/>
              </a:ext>
            </a:extLst>
          </p:cNvPr>
          <p:cNvSpPr/>
          <p:nvPr/>
        </p:nvSpPr>
        <p:spPr>
          <a:xfrm>
            <a:off x="3620087" y="2683740"/>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28" name="Straight Arrow Connector 27">
            <a:extLst>
              <a:ext uri="{FF2B5EF4-FFF2-40B4-BE49-F238E27FC236}">
                <a16:creationId xmlns:a16="http://schemas.microsoft.com/office/drawing/2014/main" id="{C82470F0-3217-5D4A-98D9-FA2CFBE4E257}"/>
              </a:ext>
            </a:extLst>
          </p:cNvPr>
          <p:cNvCxnSpPr>
            <a:cxnSpLocks/>
          </p:cNvCxnSpPr>
          <p:nvPr/>
        </p:nvCxnSpPr>
        <p:spPr>
          <a:xfrm flipV="1">
            <a:off x="3692375" y="2580235"/>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9" name="Hình chữ nhật 40">
                <a:extLst>
                  <a:ext uri="{FF2B5EF4-FFF2-40B4-BE49-F238E27FC236}">
                    <a16:creationId xmlns:a16="http://schemas.microsoft.com/office/drawing/2014/main" id="{356E8DCC-A28C-8C8F-9B6E-29E1676ED5BE}"/>
                  </a:ext>
                </a:extLst>
              </p:cNvPr>
              <p:cNvSpPr/>
              <p:nvPr/>
            </p:nvSpPr>
            <p:spPr>
              <a:xfrm>
                <a:off x="3424041" y="1957018"/>
                <a:ext cx="612009" cy="3620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𝑉</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29" name="Hình chữ nhật 40">
                <a:extLst>
                  <a:ext uri="{FF2B5EF4-FFF2-40B4-BE49-F238E27FC236}">
                    <a16:creationId xmlns:a16="http://schemas.microsoft.com/office/drawing/2014/main" id="{356E8DCC-A28C-8C8F-9B6E-29E1676ED5BE}"/>
                  </a:ext>
                </a:extLst>
              </p:cNvPr>
              <p:cNvSpPr>
                <a:spLocks noRot="1" noChangeAspect="1" noMove="1" noResize="1" noEditPoints="1" noAdjustHandles="1" noChangeArrowheads="1" noChangeShapeType="1" noTextEdit="1"/>
              </p:cNvSpPr>
              <p:nvPr/>
            </p:nvSpPr>
            <p:spPr>
              <a:xfrm>
                <a:off x="3424041" y="1957018"/>
                <a:ext cx="612009" cy="362053"/>
              </a:xfrm>
              <a:prstGeom prst="rect">
                <a:avLst/>
              </a:prstGeom>
              <a:blipFill>
                <a:blip r:embed="rId6"/>
                <a:stretch>
                  <a:fillRect b="-19355"/>
                </a:stretch>
              </a:blipFill>
              <a:ln>
                <a:solidFill>
                  <a:schemeClr val="tx1"/>
                </a:solidFill>
              </a:ln>
            </p:spPr>
            <p:txBody>
              <a:bodyPr/>
              <a:lstStyle/>
              <a:p>
                <a:r>
                  <a:rPr lang="en-VN">
                    <a:noFill/>
                  </a:rPr>
                  <a:t> </a:t>
                </a:r>
              </a:p>
            </p:txBody>
          </p:sp>
        </mc:Fallback>
      </mc:AlternateContent>
      <p:cxnSp>
        <p:nvCxnSpPr>
          <p:cNvPr id="30" name="Đường nối Thẳng 121">
            <a:extLst>
              <a:ext uri="{FF2B5EF4-FFF2-40B4-BE49-F238E27FC236}">
                <a16:creationId xmlns:a16="http://schemas.microsoft.com/office/drawing/2014/main" id="{796AA247-4D50-4C15-96BA-CC67DDC686E7}"/>
              </a:ext>
            </a:extLst>
          </p:cNvPr>
          <p:cNvCxnSpPr>
            <a:cxnSpLocks/>
          </p:cNvCxnSpPr>
          <p:nvPr/>
        </p:nvCxnSpPr>
        <p:spPr>
          <a:xfrm flipV="1">
            <a:off x="3730044" y="2319071"/>
            <a:ext cx="0" cy="17157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6" name="Đường nối Thẳng 121">
            <a:extLst>
              <a:ext uri="{FF2B5EF4-FFF2-40B4-BE49-F238E27FC236}">
                <a16:creationId xmlns:a16="http://schemas.microsoft.com/office/drawing/2014/main" id="{E821C874-6052-D24B-E104-B840EC52ECDA}"/>
              </a:ext>
            </a:extLst>
          </p:cNvPr>
          <p:cNvCxnSpPr>
            <a:cxnSpLocks/>
          </p:cNvCxnSpPr>
          <p:nvPr/>
        </p:nvCxnSpPr>
        <p:spPr>
          <a:xfrm flipV="1">
            <a:off x="3793544" y="2319071"/>
            <a:ext cx="0" cy="17157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0EB67210-0368-AB29-9938-958E79629C63}"/>
                  </a:ext>
                </a:extLst>
              </p:cNvPr>
              <p:cNvSpPr txBox="1"/>
              <p:nvPr/>
            </p:nvSpPr>
            <p:spPr>
              <a:xfrm rot="5400000">
                <a:off x="1924075" y="3881305"/>
                <a:ext cx="69544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en-VN" sz="2400"/>
              </a:p>
            </p:txBody>
          </p:sp>
        </mc:Choice>
        <mc:Fallback>
          <p:sp>
            <p:nvSpPr>
              <p:cNvPr id="37" name="TextBox 36">
                <a:extLst>
                  <a:ext uri="{FF2B5EF4-FFF2-40B4-BE49-F238E27FC236}">
                    <a16:creationId xmlns:a16="http://schemas.microsoft.com/office/drawing/2014/main" id="{0EB67210-0368-AB29-9938-958E79629C63}"/>
                  </a:ext>
                </a:extLst>
              </p:cNvPr>
              <p:cNvSpPr txBox="1">
                <a:spLocks noRot="1" noChangeAspect="1" noMove="1" noResize="1" noEditPoints="1" noAdjustHandles="1" noChangeArrowheads="1" noChangeShapeType="1" noTextEdit="1"/>
              </p:cNvSpPr>
              <p:nvPr/>
            </p:nvSpPr>
            <p:spPr>
              <a:xfrm rot="5400000">
                <a:off x="1924075" y="3881305"/>
                <a:ext cx="695444" cy="461665"/>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9" name="Hình chữ nhật 40">
                <a:extLst>
                  <a:ext uri="{FF2B5EF4-FFF2-40B4-BE49-F238E27FC236}">
                    <a16:creationId xmlns:a16="http://schemas.microsoft.com/office/drawing/2014/main" id="{0A3B16D5-4B69-0FB9-1A92-7CAB7AE75D73}"/>
                  </a:ext>
                </a:extLst>
              </p:cNvPr>
              <p:cNvSpPr/>
              <p:nvPr/>
            </p:nvSpPr>
            <p:spPr>
              <a:xfrm>
                <a:off x="4575812" y="1949873"/>
                <a:ext cx="612009" cy="8349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𝑈</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39" name="Hình chữ nhật 40">
                <a:extLst>
                  <a:ext uri="{FF2B5EF4-FFF2-40B4-BE49-F238E27FC236}">
                    <a16:creationId xmlns:a16="http://schemas.microsoft.com/office/drawing/2014/main" id="{0A3B16D5-4B69-0FB9-1A92-7CAB7AE75D73}"/>
                  </a:ext>
                </a:extLst>
              </p:cNvPr>
              <p:cNvSpPr>
                <a:spLocks noRot="1" noChangeAspect="1" noMove="1" noResize="1" noEditPoints="1" noAdjustHandles="1" noChangeArrowheads="1" noChangeShapeType="1" noTextEdit="1"/>
              </p:cNvSpPr>
              <p:nvPr/>
            </p:nvSpPr>
            <p:spPr>
              <a:xfrm>
                <a:off x="4575812" y="1949873"/>
                <a:ext cx="612009" cy="834983"/>
              </a:xfrm>
              <a:prstGeom prst="rect">
                <a:avLst/>
              </a:prstGeom>
              <a:blipFill>
                <a:blip r:embed="rId8"/>
                <a:stretch>
                  <a:fillRect/>
                </a:stretch>
              </a:blipFill>
              <a:ln>
                <a:solidFill>
                  <a:schemeClr val="tx1"/>
                </a:solidFill>
              </a:ln>
            </p:spPr>
            <p:txBody>
              <a:bodyPr/>
              <a:lstStyle/>
              <a:p>
                <a:r>
                  <a:rPr lang="en-VN">
                    <a:noFill/>
                  </a:rPr>
                  <a:t> </a:t>
                </a:r>
              </a:p>
            </p:txBody>
          </p:sp>
        </mc:Fallback>
      </mc:AlternateContent>
      <p:cxnSp>
        <p:nvCxnSpPr>
          <p:cNvPr id="41" name="Đường nối Thẳng 121">
            <a:extLst>
              <a:ext uri="{FF2B5EF4-FFF2-40B4-BE49-F238E27FC236}">
                <a16:creationId xmlns:a16="http://schemas.microsoft.com/office/drawing/2014/main" id="{15C49660-CC9D-34A7-D618-3AD5252A5B00}"/>
              </a:ext>
            </a:extLst>
          </p:cNvPr>
          <p:cNvCxnSpPr>
            <a:cxnSpLocks/>
          </p:cNvCxnSpPr>
          <p:nvPr/>
        </p:nvCxnSpPr>
        <p:spPr>
          <a:xfrm flipV="1">
            <a:off x="1634044" y="3716865"/>
            <a:ext cx="65877" cy="2032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2" name="Hình chữ nhật 93">
            <a:extLst>
              <a:ext uri="{FF2B5EF4-FFF2-40B4-BE49-F238E27FC236}">
                <a16:creationId xmlns:a16="http://schemas.microsoft.com/office/drawing/2014/main" id="{BD9AFABE-6E55-7C07-6869-D80A8C01E35A}"/>
              </a:ext>
            </a:extLst>
          </p:cNvPr>
          <p:cNvSpPr/>
          <p:nvPr/>
        </p:nvSpPr>
        <p:spPr>
          <a:xfrm>
            <a:off x="3545825" y="3581763"/>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43" name="Arc 42">
            <a:extLst>
              <a:ext uri="{FF2B5EF4-FFF2-40B4-BE49-F238E27FC236}">
                <a16:creationId xmlns:a16="http://schemas.microsoft.com/office/drawing/2014/main" id="{5732B4A8-D78B-25A4-B226-94B5B707E328}"/>
              </a:ext>
            </a:extLst>
          </p:cNvPr>
          <p:cNvSpPr/>
          <p:nvPr/>
        </p:nvSpPr>
        <p:spPr>
          <a:xfrm>
            <a:off x="3620087" y="3774563"/>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44" name="Straight Arrow Connector 43">
            <a:extLst>
              <a:ext uri="{FF2B5EF4-FFF2-40B4-BE49-F238E27FC236}">
                <a16:creationId xmlns:a16="http://schemas.microsoft.com/office/drawing/2014/main" id="{603AB747-7B5F-D673-42CE-0A2724E56FB2}"/>
              </a:ext>
            </a:extLst>
          </p:cNvPr>
          <p:cNvCxnSpPr>
            <a:cxnSpLocks/>
          </p:cNvCxnSpPr>
          <p:nvPr/>
        </p:nvCxnSpPr>
        <p:spPr>
          <a:xfrm flipV="1">
            <a:off x="3692375" y="3671058"/>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5" name="Hình chữ nhật 40">
                <a:extLst>
                  <a:ext uri="{FF2B5EF4-FFF2-40B4-BE49-F238E27FC236}">
                    <a16:creationId xmlns:a16="http://schemas.microsoft.com/office/drawing/2014/main" id="{F06AAF0F-B4DB-039D-2929-166EC3F309DE}"/>
                  </a:ext>
                </a:extLst>
              </p:cNvPr>
              <p:cNvSpPr/>
              <p:nvPr/>
            </p:nvSpPr>
            <p:spPr>
              <a:xfrm>
                <a:off x="3424041" y="3047840"/>
                <a:ext cx="612009" cy="3620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𝑉</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45" name="Hình chữ nhật 40">
                <a:extLst>
                  <a:ext uri="{FF2B5EF4-FFF2-40B4-BE49-F238E27FC236}">
                    <a16:creationId xmlns:a16="http://schemas.microsoft.com/office/drawing/2014/main" id="{F06AAF0F-B4DB-039D-2929-166EC3F309DE}"/>
                  </a:ext>
                </a:extLst>
              </p:cNvPr>
              <p:cNvSpPr>
                <a:spLocks noRot="1" noChangeAspect="1" noMove="1" noResize="1" noEditPoints="1" noAdjustHandles="1" noChangeArrowheads="1" noChangeShapeType="1" noTextEdit="1"/>
              </p:cNvSpPr>
              <p:nvPr/>
            </p:nvSpPr>
            <p:spPr>
              <a:xfrm>
                <a:off x="3424041" y="3047840"/>
                <a:ext cx="612009" cy="362053"/>
              </a:xfrm>
              <a:prstGeom prst="rect">
                <a:avLst/>
              </a:prstGeom>
              <a:blipFill>
                <a:blip r:embed="rId9"/>
                <a:stretch>
                  <a:fillRect b="-19355"/>
                </a:stretch>
              </a:blipFill>
              <a:ln>
                <a:solidFill>
                  <a:schemeClr val="tx1"/>
                </a:solidFill>
              </a:ln>
            </p:spPr>
            <p:txBody>
              <a:bodyPr/>
              <a:lstStyle/>
              <a:p>
                <a:r>
                  <a:rPr lang="en-VN">
                    <a:noFill/>
                  </a:rPr>
                  <a:t> </a:t>
                </a:r>
              </a:p>
            </p:txBody>
          </p:sp>
        </mc:Fallback>
      </mc:AlternateContent>
      <p:cxnSp>
        <p:nvCxnSpPr>
          <p:cNvPr id="46" name="Đường nối Thẳng 121">
            <a:extLst>
              <a:ext uri="{FF2B5EF4-FFF2-40B4-BE49-F238E27FC236}">
                <a16:creationId xmlns:a16="http://schemas.microsoft.com/office/drawing/2014/main" id="{A6E28092-4386-985B-6CF7-C86D0C0CC7D2}"/>
              </a:ext>
            </a:extLst>
          </p:cNvPr>
          <p:cNvCxnSpPr>
            <a:cxnSpLocks/>
          </p:cNvCxnSpPr>
          <p:nvPr/>
        </p:nvCxnSpPr>
        <p:spPr>
          <a:xfrm flipV="1">
            <a:off x="3730044" y="3409894"/>
            <a:ext cx="0" cy="17157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7" name="Đường nối Thẳng 121">
            <a:extLst>
              <a:ext uri="{FF2B5EF4-FFF2-40B4-BE49-F238E27FC236}">
                <a16:creationId xmlns:a16="http://schemas.microsoft.com/office/drawing/2014/main" id="{8A36F32E-022B-3D8E-B059-893216064810}"/>
              </a:ext>
            </a:extLst>
          </p:cNvPr>
          <p:cNvCxnSpPr>
            <a:cxnSpLocks/>
          </p:cNvCxnSpPr>
          <p:nvPr/>
        </p:nvCxnSpPr>
        <p:spPr>
          <a:xfrm flipV="1">
            <a:off x="3793544" y="3409894"/>
            <a:ext cx="0" cy="17157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Connector: Elbow 48">
            <a:extLst>
              <a:ext uri="{FF2B5EF4-FFF2-40B4-BE49-F238E27FC236}">
                <a16:creationId xmlns:a16="http://schemas.microsoft.com/office/drawing/2014/main" id="{940E5214-BB4B-FDEB-18D6-7AB156A9F0D7}"/>
              </a:ext>
            </a:extLst>
          </p:cNvPr>
          <p:cNvCxnSpPr>
            <a:cxnSpLocks/>
            <a:stCxn id="45" idx="3"/>
            <a:endCxn id="50" idx="1"/>
          </p:cNvCxnSpPr>
          <p:nvPr/>
        </p:nvCxnSpPr>
        <p:spPr>
          <a:xfrm flipV="1">
            <a:off x="4036049" y="2682546"/>
            <a:ext cx="536963" cy="546321"/>
          </a:xfrm>
          <a:prstGeom prst="bentConnector3">
            <a:avLst/>
          </a:prstGeom>
          <a:ln w="28575"/>
        </p:spPr>
        <p:style>
          <a:lnRef idx="1">
            <a:schemeClr val="dk1"/>
          </a:lnRef>
          <a:fillRef idx="0">
            <a:schemeClr val="dk1"/>
          </a:fillRef>
          <a:effectRef idx="0">
            <a:schemeClr val="dk1"/>
          </a:effectRef>
          <a:fontRef idx="minor">
            <a:schemeClr val="tx1"/>
          </a:fontRef>
        </p:style>
      </p:cxnSp>
      <p:sp>
        <p:nvSpPr>
          <p:cNvPr id="50" name="Hình chữ nhật 40">
            <a:extLst>
              <a:ext uri="{FF2B5EF4-FFF2-40B4-BE49-F238E27FC236}">
                <a16:creationId xmlns:a16="http://schemas.microsoft.com/office/drawing/2014/main" id="{768D510E-8E4D-1F48-B22E-9AE472CB8C30}"/>
              </a:ext>
            </a:extLst>
          </p:cNvPr>
          <p:cNvSpPr/>
          <p:nvPr/>
        </p:nvSpPr>
        <p:spPr>
          <a:xfrm>
            <a:off x="4573012" y="2543759"/>
            <a:ext cx="227003" cy="277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867" i="1">
              <a:solidFill>
                <a:schemeClr val="tx1"/>
              </a:solidFill>
              <a:latin typeface="Times New Roman" panose="02020603050405020304" pitchFamily="18" charset="0"/>
              <a:cs typeface="Times New Roman" panose="02020603050405020304" pitchFamily="18" charset="0"/>
            </a:endParaRPr>
          </a:p>
        </p:txBody>
      </p:sp>
      <p:cxnSp>
        <p:nvCxnSpPr>
          <p:cNvPr id="52" name="Đường nối Thẳng 121">
            <a:extLst>
              <a:ext uri="{FF2B5EF4-FFF2-40B4-BE49-F238E27FC236}">
                <a16:creationId xmlns:a16="http://schemas.microsoft.com/office/drawing/2014/main" id="{34244688-7E8F-27B7-834A-F704300F9CBA}"/>
              </a:ext>
            </a:extLst>
          </p:cNvPr>
          <p:cNvCxnSpPr>
            <a:cxnSpLocks/>
            <a:endCxn id="55" idx="1"/>
          </p:cNvCxnSpPr>
          <p:nvPr/>
        </p:nvCxnSpPr>
        <p:spPr>
          <a:xfrm>
            <a:off x="5185022" y="2684668"/>
            <a:ext cx="1109665" cy="372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54" name="Hình chữ nhật 40">
                <a:extLst>
                  <a:ext uri="{FF2B5EF4-FFF2-40B4-BE49-F238E27FC236}">
                    <a16:creationId xmlns:a16="http://schemas.microsoft.com/office/drawing/2014/main" id="{2FEE742E-3BCC-406E-0DAE-375D3C7D8490}"/>
                  </a:ext>
                </a:extLst>
              </p:cNvPr>
              <p:cNvSpPr/>
              <p:nvPr/>
            </p:nvSpPr>
            <p:spPr>
              <a:xfrm>
                <a:off x="5408345" y="2580235"/>
                <a:ext cx="612009" cy="4720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𝑈</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54" name="Hình chữ nhật 40">
                <a:extLst>
                  <a:ext uri="{FF2B5EF4-FFF2-40B4-BE49-F238E27FC236}">
                    <a16:creationId xmlns:a16="http://schemas.microsoft.com/office/drawing/2014/main" id="{2FEE742E-3BCC-406E-0DAE-375D3C7D8490}"/>
                  </a:ext>
                </a:extLst>
              </p:cNvPr>
              <p:cNvSpPr>
                <a:spLocks noRot="1" noChangeAspect="1" noMove="1" noResize="1" noEditPoints="1" noAdjustHandles="1" noChangeArrowheads="1" noChangeShapeType="1" noTextEdit="1"/>
              </p:cNvSpPr>
              <p:nvPr/>
            </p:nvSpPr>
            <p:spPr>
              <a:xfrm>
                <a:off x="5408345" y="2580235"/>
                <a:ext cx="612009" cy="472015"/>
              </a:xfrm>
              <a:prstGeom prst="rect">
                <a:avLst/>
              </a:prstGeom>
              <a:blipFill>
                <a:blip r:embed="rId10"/>
                <a:stretch>
                  <a:fillRect b="-2500"/>
                </a:stretch>
              </a:blipFill>
              <a:ln>
                <a:solidFill>
                  <a:schemeClr val="tx1"/>
                </a:solidFill>
              </a:ln>
            </p:spPr>
            <p:txBody>
              <a:bodyPr/>
              <a:lstStyle/>
              <a:p>
                <a:r>
                  <a:rPr lang="en-VN">
                    <a:noFill/>
                  </a:rPr>
                  <a:t> </a:t>
                </a:r>
              </a:p>
            </p:txBody>
          </p:sp>
        </mc:Fallback>
      </mc:AlternateContent>
      <p:sp>
        <p:nvSpPr>
          <p:cNvPr id="55" name="Hình chữ nhật 93">
            <a:extLst>
              <a:ext uri="{FF2B5EF4-FFF2-40B4-BE49-F238E27FC236}">
                <a16:creationId xmlns:a16="http://schemas.microsoft.com/office/drawing/2014/main" id="{289DF0A7-1A7F-6267-74D3-EA7130D575B1}"/>
              </a:ext>
            </a:extLst>
          </p:cNvPr>
          <p:cNvSpPr/>
          <p:nvPr/>
        </p:nvSpPr>
        <p:spPr>
          <a:xfrm>
            <a:off x="6294688" y="2483766"/>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56" name="Arc 55">
            <a:extLst>
              <a:ext uri="{FF2B5EF4-FFF2-40B4-BE49-F238E27FC236}">
                <a16:creationId xmlns:a16="http://schemas.microsoft.com/office/drawing/2014/main" id="{2D00F4E9-ED46-FD80-5C63-3301B52787D2}"/>
              </a:ext>
            </a:extLst>
          </p:cNvPr>
          <p:cNvSpPr/>
          <p:nvPr/>
        </p:nvSpPr>
        <p:spPr>
          <a:xfrm>
            <a:off x="6368949" y="2676565"/>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57" name="Straight Arrow Connector 56">
            <a:extLst>
              <a:ext uri="{FF2B5EF4-FFF2-40B4-BE49-F238E27FC236}">
                <a16:creationId xmlns:a16="http://schemas.microsoft.com/office/drawing/2014/main" id="{6EB2E91E-8F37-FAAE-0075-38480DE24E4F}"/>
              </a:ext>
            </a:extLst>
          </p:cNvPr>
          <p:cNvCxnSpPr>
            <a:cxnSpLocks/>
          </p:cNvCxnSpPr>
          <p:nvPr/>
        </p:nvCxnSpPr>
        <p:spPr>
          <a:xfrm flipV="1">
            <a:off x="6441238" y="2573060"/>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58" name="Hình chữ nhật 40">
                <a:extLst>
                  <a:ext uri="{FF2B5EF4-FFF2-40B4-BE49-F238E27FC236}">
                    <a16:creationId xmlns:a16="http://schemas.microsoft.com/office/drawing/2014/main" id="{3EE528B7-C42D-43B0-8F29-39FFED91946B}"/>
                  </a:ext>
                </a:extLst>
              </p:cNvPr>
              <p:cNvSpPr/>
              <p:nvPr/>
            </p:nvSpPr>
            <p:spPr>
              <a:xfrm>
                <a:off x="6172904" y="1936591"/>
                <a:ext cx="612009" cy="3620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𝑉</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58" name="Hình chữ nhật 40">
                <a:extLst>
                  <a:ext uri="{FF2B5EF4-FFF2-40B4-BE49-F238E27FC236}">
                    <a16:creationId xmlns:a16="http://schemas.microsoft.com/office/drawing/2014/main" id="{3EE528B7-C42D-43B0-8F29-39FFED91946B}"/>
                  </a:ext>
                </a:extLst>
              </p:cNvPr>
              <p:cNvSpPr>
                <a:spLocks noRot="1" noChangeAspect="1" noMove="1" noResize="1" noEditPoints="1" noAdjustHandles="1" noChangeArrowheads="1" noChangeShapeType="1" noTextEdit="1"/>
              </p:cNvSpPr>
              <p:nvPr/>
            </p:nvSpPr>
            <p:spPr>
              <a:xfrm>
                <a:off x="6172904" y="1936591"/>
                <a:ext cx="612009" cy="362053"/>
              </a:xfrm>
              <a:prstGeom prst="rect">
                <a:avLst/>
              </a:prstGeom>
              <a:blipFill>
                <a:blip r:embed="rId11"/>
                <a:stretch>
                  <a:fillRect b="-20000"/>
                </a:stretch>
              </a:blipFill>
              <a:ln>
                <a:solidFill>
                  <a:schemeClr val="tx1"/>
                </a:solidFill>
              </a:ln>
            </p:spPr>
            <p:txBody>
              <a:bodyPr/>
              <a:lstStyle/>
              <a:p>
                <a:r>
                  <a:rPr lang="en-VN">
                    <a:noFill/>
                  </a:rPr>
                  <a:t> </a:t>
                </a:r>
              </a:p>
            </p:txBody>
          </p:sp>
        </mc:Fallback>
      </mc:AlternateContent>
      <p:cxnSp>
        <p:nvCxnSpPr>
          <p:cNvPr id="59" name="Đường nối Thẳng 121">
            <a:extLst>
              <a:ext uri="{FF2B5EF4-FFF2-40B4-BE49-F238E27FC236}">
                <a16:creationId xmlns:a16="http://schemas.microsoft.com/office/drawing/2014/main" id="{32111A35-6236-6A17-8D15-4E2AAC672BCE}"/>
              </a:ext>
            </a:extLst>
          </p:cNvPr>
          <p:cNvCxnSpPr>
            <a:cxnSpLocks/>
          </p:cNvCxnSpPr>
          <p:nvPr/>
        </p:nvCxnSpPr>
        <p:spPr>
          <a:xfrm flipV="1">
            <a:off x="6478907" y="2298645"/>
            <a:ext cx="0" cy="17157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0" name="Đường nối Thẳng 121">
            <a:extLst>
              <a:ext uri="{FF2B5EF4-FFF2-40B4-BE49-F238E27FC236}">
                <a16:creationId xmlns:a16="http://schemas.microsoft.com/office/drawing/2014/main" id="{59BCDB74-D2DD-CF16-439D-F596AADC653D}"/>
              </a:ext>
            </a:extLst>
          </p:cNvPr>
          <p:cNvCxnSpPr>
            <a:cxnSpLocks/>
          </p:cNvCxnSpPr>
          <p:nvPr/>
        </p:nvCxnSpPr>
        <p:spPr>
          <a:xfrm flipV="1">
            <a:off x="6542407" y="2298645"/>
            <a:ext cx="0" cy="17157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487AB4E6-68F6-285C-76F1-AC9BC19E92AC}"/>
                  </a:ext>
                </a:extLst>
              </p:cNvPr>
              <p:cNvSpPr txBox="1"/>
              <p:nvPr/>
            </p:nvSpPr>
            <p:spPr>
              <a:xfrm rot="5400000">
                <a:off x="5463162" y="3027273"/>
                <a:ext cx="69544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en-VN" sz="2400"/>
              </a:p>
            </p:txBody>
          </p:sp>
        </mc:Choice>
        <mc:Fallback>
          <p:sp>
            <p:nvSpPr>
              <p:cNvPr id="61" name="TextBox 60">
                <a:extLst>
                  <a:ext uri="{FF2B5EF4-FFF2-40B4-BE49-F238E27FC236}">
                    <a16:creationId xmlns:a16="http://schemas.microsoft.com/office/drawing/2014/main" id="{487AB4E6-68F6-285C-76F1-AC9BC19E92AC}"/>
                  </a:ext>
                </a:extLst>
              </p:cNvPr>
              <p:cNvSpPr txBox="1">
                <a:spLocks noRot="1" noChangeAspect="1" noMove="1" noResize="1" noEditPoints="1" noAdjustHandles="1" noChangeArrowheads="1" noChangeShapeType="1" noTextEdit="1"/>
              </p:cNvSpPr>
              <p:nvPr/>
            </p:nvSpPr>
            <p:spPr>
              <a:xfrm rot="5400000">
                <a:off x="5463162" y="3027273"/>
                <a:ext cx="695444" cy="461665"/>
              </a:xfrm>
              <a:prstGeom prst="rect">
                <a:avLst/>
              </a:prstGeom>
              <a:blipFill>
                <a:blip r:embed="rId12"/>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36" name="Hình chữ nhật 40">
                <a:extLst>
                  <a:ext uri="{FF2B5EF4-FFF2-40B4-BE49-F238E27FC236}">
                    <a16:creationId xmlns:a16="http://schemas.microsoft.com/office/drawing/2014/main" id="{6ED06677-255C-3C8B-AE1E-223CB075D21C}"/>
                  </a:ext>
                </a:extLst>
              </p:cNvPr>
              <p:cNvSpPr/>
              <p:nvPr/>
            </p:nvSpPr>
            <p:spPr>
              <a:xfrm>
                <a:off x="7171778" y="1929447"/>
                <a:ext cx="612009" cy="1116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867" i="1">
                          <a:solidFill>
                            <a:schemeClr val="tx1"/>
                          </a:solidFill>
                          <a:latin typeface="Cambria Math" panose="02040503050406030204" pitchFamily="18" charset="0"/>
                          <a:cs typeface="Times New Roman" panose="02020603050405020304" pitchFamily="18" charset="0"/>
                        </a:rPr>
                        <m:t> </m:t>
                      </m:r>
                      <m:r>
                        <a:rPr lang="en-US" sz="1867" i="1">
                          <a:solidFill>
                            <a:schemeClr val="tx1"/>
                          </a:solidFill>
                          <a:latin typeface="Cambria Math" panose="02040503050406030204" pitchFamily="18" charset="0"/>
                          <a:cs typeface="Times New Roman" panose="02020603050405020304" pitchFamily="18" charset="0"/>
                        </a:rPr>
                        <m:t>𝐹</m:t>
                      </m:r>
                    </m:oMath>
                  </m:oMathPara>
                </a14:m>
                <a:endParaRPr lang="vi-VN" sz="1867" i="1">
                  <a:solidFill>
                    <a:schemeClr val="tx1"/>
                  </a:solidFill>
                  <a:latin typeface="Times New Roman" panose="02020603050405020304" pitchFamily="18" charset="0"/>
                  <a:cs typeface="Times New Roman" panose="02020603050405020304" pitchFamily="18" charset="0"/>
                </a:endParaRPr>
              </a:p>
            </p:txBody>
          </p:sp>
        </mc:Choice>
        <mc:Fallback>
          <p:sp>
            <p:nvSpPr>
              <p:cNvPr id="136" name="Hình chữ nhật 40">
                <a:extLst>
                  <a:ext uri="{FF2B5EF4-FFF2-40B4-BE49-F238E27FC236}">
                    <a16:creationId xmlns:a16="http://schemas.microsoft.com/office/drawing/2014/main" id="{6ED06677-255C-3C8B-AE1E-223CB075D21C}"/>
                  </a:ext>
                </a:extLst>
              </p:cNvPr>
              <p:cNvSpPr>
                <a:spLocks noRot="1" noChangeAspect="1" noMove="1" noResize="1" noEditPoints="1" noAdjustHandles="1" noChangeArrowheads="1" noChangeShapeType="1" noTextEdit="1"/>
              </p:cNvSpPr>
              <p:nvPr/>
            </p:nvSpPr>
            <p:spPr>
              <a:xfrm>
                <a:off x="7171778" y="1929447"/>
                <a:ext cx="612009" cy="1116931"/>
              </a:xfrm>
              <a:prstGeom prst="rect">
                <a:avLst/>
              </a:prstGeom>
              <a:blipFill>
                <a:blip r:embed="rId13"/>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37" name="TextBox 136">
                <a:extLst>
                  <a:ext uri="{FF2B5EF4-FFF2-40B4-BE49-F238E27FC236}">
                    <a16:creationId xmlns:a16="http://schemas.microsoft.com/office/drawing/2014/main" id="{46592854-2A99-8D57-52FE-DC9FCE5AE860}"/>
                  </a:ext>
                </a:extLst>
              </p:cNvPr>
              <p:cNvSpPr txBox="1"/>
              <p:nvPr/>
            </p:nvSpPr>
            <p:spPr>
              <a:xfrm rot="5400000">
                <a:off x="7198267" y="3001366"/>
                <a:ext cx="69544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m:t>
                      </m:r>
                    </m:oMath>
                  </m:oMathPara>
                </a14:m>
                <a:endParaRPr lang="en-VN" sz="2400"/>
              </a:p>
            </p:txBody>
          </p:sp>
        </mc:Choice>
        <mc:Fallback>
          <p:sp>
            <p:nvSpPr>
              <p:cNvPr id="137" name="TextBox 136">
                <a:extLst>
                  <a:ext uri="{FF2B5EF4-FFF2-40B4-BE49-F238E27FC236}">
                    <a16:creationId xmlns:a16="http://schemas.microsoft.com/office/drawing/2014/main" id="{46592854-2A99-8D57-52FE-DC9FCE5AE860}"/>
                  </a:ext>
                </a:extLst>
              </p:cNvPr>
              <p:cNvSpPr txBox="1">
                <a:spLocks noRot="1" noChangeAspect="1" noMove="1" noResize="1" noEditPoints="1" noAdjustHandles="1" noChangeArrowheads="1" noChangeShapeType="1" noTextEdit="1"/>
              </p:cNvSpPr>
              <p:nvPr/>
            </p:nvSpPr>
            <p:spPr>
              <a:xfrm rot="5400000">
                <a:off x="7198267" y="3001366"/>
                <a:ext cx="695444" cy="461665"/>
              </a:xfrm>
              <a:prstGeom prst="rect">
                <a:avLst/>
              </a:prstGeom>
              <a:blipFill>
                <a:blip r:embed="rId14"/>
                <a:stretch>
                  <a:fillRect/>
                </a:stretch>
              </a:blipFill>
            </p:spPr>
            <p:txBody>
              <a:bodyPr/>
              <a:lstStyle/>
              <a:p>
                <a:r>
                  <a:rPr lang="en-VN">
                    <a:noFill/>
                  </a:rPr>
                  <a:t> </a:t>
                </a:r>
              </a:p>
            </p:txBody>
          </p:sp>
        </mc:Fallback>
      </mc:AlternateContent>
      <p:cxnSp>
        <p:nvCxnSpPr>
          <p:cNvPr id="143" name="Connector: Elbow 142">
            <a:extLst>
              <a:ext uri="{FF2B5EF4-FFF2-40B4-BE49-F238E27FC236}">
                <a16:creationId xmlns:a16="http://schemas.microsoft.com/office/drawing/2014/main" id="{CDC52959-7369-20AF-E191-FEFC2885EEA2}"/>
              </a:ext>
            </a:extLst>
          </p:cNvPr>
          <p:cNvCxnSpPr>
            <a:cxnSpLocks/>
          </p:cNvCxnSpPr>
          <p:nvPr/>
        </p:nvCxnSpPr>
        <p:spPr>
          <a:xfrm flipV="1">
            <a:off x="6519951" y="2673093"/>
            <a:ext cx="653364" cy="585012"/>
          </a:xfrm>
          <a:prstGeom prst="bentConnector3">
            <a:avLst>
              <a:gd name="adj1" fmla="val 50000"/>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44" name="TextBox 143">
                <a:extLst>
                  <a:ext uri="{FF2B5EF4-FFF2-40B4-BE49-F238E27FC236}">
                    <a16:creationId xmlns:a16="http://schemas.microsoft.com/office/drawing/2014/main" id="{44A0DE75-00D6-A63B-BB64-6B5292B971F1}"/>
                  </a:ext>
                </a:extLst>
              </p:cNvPr>
              <p:cNvSpPr txBox="1"/>
              <p:nvPr/>
            </p:nvSpPr>
            <p:spPr>
              <a:xfrm>
                <a:off x="803597" y="2692075"/>
                <a:ext cx="77185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1">
                              <a:latin typeface="Cambria Math" panose="02040503050406030204" pitchFamily="18" charset="0"/>
                            </a:rPr>
                            <m:t>𝑖𝑛</m:t>
                          </m:r>
                        </m:sub>
                      </m:sSub>
                    </m:oMath>
                  </m:oMathPara>
                </a14:m>
                <a:endParaRPr lang="vi-VN" sz="2400"/>
              </a:p>
            </p:txBody>
          </p:sp>
        </mc:Choice>
        <mc:Fallback>
          <p:sp>
            <p:nvSpPr>
              <p:cNvPr id="144" name="TextBox 143">
                <a:extLst>
                  <a:ext uri="{FF2B5EF4-FFF2-40B4-BE49-F238E27FC236}">
                    <a16:creationId xmlns:a16="http://schemas.microsoft.com/office/drawing/2014/main" id="{44A0DE75-00D6-A63B-BB64-6B5292B971F1}"/>
                  </a:ext>
                </a:extLst>
              </p:cNvPr>
              <p:cNvSpPr txBox="1">
                <a:spLocks noRot="1" noChangeAspect="1" noMove="1" noResize="1" noEditPoints="1" noAdjustHandles="1" noChangeArrowheads="1" noChangeShapeType="1" noTextEdit="1"/>
              </p:cNvSpPr>
              <p:nvPr/>
            </p:nvSpPr>
            <p:spPr>
              <a:xfrm>
                <a:off x="803597" y="2692075"/>
                <a:ext cx="771857" cy="369332"/>
              </a:xfrm>
              <a:prstGeom prst="rect">
                <a:avLst/>
              </a:prstGeom>
              <a:blipFill>
                <a:blip r:embed="rId15"/>
                <a:stretch>
                  <a:fillRect b="-27586"/>
                </a:stretch>
              </a:blipFill>
            </p:spPr>
            <p:txBody>
              <a:bodyPr/>
              <a:lstStyle/>
              <a:p>
                <a:r>
                  <a:rPr lang="en-VN">
                    <a:noFill/>
                  </a:rPr>
                  <a:t> </a:t>
                </a:r>
              </a:p>
            </p:txBody>
          </p:sp>
        </mc:Fallback>
      </mc:AlternateContent>
      <p:cxnSp>
        <p:nvCxnSpPr>
          <p:cNvPr id="146" name="Straight Connector 145">
            <a:extLst>
              <a:ext uri="{FF2B5EF4-FFF2-40B4-BE49-F238E27FC236}">
                <a16:creationId xmlns:a16="http://schemas.microsoft.com/office/drawing/2014/main" id="{3EF55449-C729-5F84-29B6-04C25546016E}"/>
              </a:ext>
            </a:extLst>
          </p:cNvPr>
          <p:cNvCxnSpPr>
            <a:cxnSpLocks/>
          </p:cNvCxnSpPr>
          <p:nvPr/>
        </p:nvCxnSpPr>
        <p:spPr>
          <a:xfrm>
            <a:off x="3330223" y="1794934"/>
            <a:ext cx="0" cy="3242097"/>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47" name="TextBox 146">
            <a:extLst>
              <a:ext uri="{FF2B5EF4-FFF2-40B4-BE49-F238E27FC236}">
                <a16:creationId xmlns:a16="http://schemas.microsoft.com/office/drawing/2014/main" id="{03F685AE-F355-7406-7337-0D2B0DF6951F}"/>
              </a:ext>
            </a:extLst>
          </p:cNvPr>
          <p:cNvSpPr txBox="1"/>
          <p:nvPr/>
        </p:nvSpPr>
        <p:spPr>
          <a:xfrm>
            <a:off x="1490098" y="4433713"/>
            <a:ext cx="1670996" cy="656462"/>
          </a:xfrm>
          <a:prstGeom prst="rect">
            <a:avLst/>
          </a:prstGeom>
          <a:noFill/>
        </p:spPr>
        <p:txBody>
          <a:bodyPr wrap="square" lIns="0" tIns="0" rIns="0" bIns="0" rtlCol="0">
            <a:spAutoFit/>
          </a:bodyPr>
          <a:lstStyle/>
          <a:p>
            <a:r>
              <a:rPr lang="en-US" sz="2133"/>
              <a:t>Quantum convolutional</a:t>
            </a:r>
            <a:endParaRPr lang="vi-VN" sz="2133"/>
          </a:p>
        </p:txBody>
      </p:sp>
      <p:cxnSp>
        <p:nvCxnSpPr>
          <p:cNvPr id="149" name="Straight Connector 148">
            <a:extLst>
              <a:ext uri="{FF2B5EF4-FFF2-40B4-BE49-F238E27FC236}">
                <a16:creationId xmlns:a16="http://schemas.microsoft.com/office/drawing/2014/main" id="{ABE9EEA0-CEE9-68BB-6B86-BDC43D7746FF}"/>
              </a:ext>
            </a:extLst>
          </p:cNvPr>
          <p:cNvCxnSpPr>
            <a:cxnSpLocks/>
          </p:cNvCxnSpPr>
          <p:nvPr/>
        </p:nvCxnSpPr>
        <p:spPr>
          <a:xfrm>
            <a:off x="4395539" y="1788845"/>
            <a:ext cx="0" cy="3242097"/>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50" name="TextBox 149">
            <a:extLst>
              <a:ext uri="{FF2B5EF4-FFF2-40B4-BE49-F238E27FC236}">
                <a16:creationId xmlns:a16="http://schemas.microsoft.com/office/drawing/2014/main" id="{BC82C20E-21DE-7359-8219-1A7B03307E10}"/>
              </a:ext>
            </a:extLst>
          </p:cNvPr>
          <p:cNvSpPr txBox="1"/>
          <p:nvPr/>
        </p:nvSpPr>
        <p:spPr>
          <a:xfrm>
            <a:off x="3330223" y="4438089"/>
            <a:ext cx="1065317" cy="328231"/>
          </a:xfrm>
          <a:prstGeom prst="rect">
            <a:avLst/>
          </a:prstGeom>
          <a:noFill/>
        </p:spPr>
        <p:txBody>
          <a:bodyPr wrap="square" lIns="0" tIns="0" rIns="0" bIns="0" rtlCol="0">
            <a:spAutoFit/>
          </a:bodyPr>
          <a:lstStyle/>
          <a:p>
            <a:pPr algn="ctr"/>
            <a:r>
              <a:rPr lang="en-US" sz="2133"/>
              <a:t>Pooling</a:t>
            </a:r>
            <a:endParaRPr lang="vi-VN" sz="2133"/>
          </a:p>
        </p:txBody>
      </p:sp>
      <p:cxnSp>
        <p:nvCxnSpPr>
          <p:cNvPr id="152" name="Straight Connector 151">
            <a:extLst>
              <a:ext uri="{FF2B5EF4-FFF2-40B4-BE49-F238E27FC236}">
                <a16:creationId xmlns:a16="http://schemas.microsoft.com/office/drawing/2014/main" id="{03A3E575-DB3D-220E-8FE5-EC1801073DB9}"/>
              </a:ext>
            </a:extLst>
          </p:cNvPr>
          <p:cNvCxnSpPr>
            <a:cxnSpLocks/>
          </p:cNvCxnSpPr>
          <p:nvPr/>
        </p:nvCxnSpPr>
        <p:spPr>
          <a:xfrm>
            <a:off x="6103687" y="1791878"/>
            <a:ext cx="0" cy="3242097"/>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53" name="Straight Connector 152">
            <a:extLst>
              <a:ext uri="{FF2B5EF4-FFF2-40B4-BE49-F238E27FC236}">
                <a16:creationId xmlns:a16="http://schemas.microsoft.com/office/drawing/2014/main" id="{3673AD6D-BA93-681B-1CF8-0B4A491F11E4}"/>
              </a:ext>
            </a:extLst>
          </p:cNvPr>
          <p:cNvCxnSpPr>
            <a:cxnSpLocks/>
          </p:cNvCxnSpPr>
          <p:nvPr/>
        </p:nvCxnSpPr>
        <p:spPr>
          <a:xfrm>
            <a:off x="7075081" y="1781000"/>
            <a:ext cx="0" cy="3242097"/>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56" name="TextBox 155">
            <a:extLst>
              <a:ext uri="{FF2B5EF4-FFF2-40B4-BE49-F238E27FC236}">
                <a16:creationId xmlns:a16="http://schemas.microsoft.com/office/drawing/2014/main" id="{710C2D2E-FCF6-1619-0BA6-5354F681E738}"/>
              </a:ext>
            </a:extLst>
          </p:cNvPr>
          <p:cNvSpPr txBox="1"/>
          <p:nvPr/>
        </p:nvSpPr>
        <p:spPr>
          <a:xfrm>
            <a:off x="4501907" y="4426426"/>
            <a:ext cx="1670996" cy="656462"/>
          </a:xfrm>
          <a:prstGeom prst="rect">
            <a:avLst/>
          </a:prstGeom>
          <a:noFill/>
        </p:spPr>
        <p:txBody>
          <a:bodyPr wrap="square" lIns="0" tIns="0" rIns="0" bIns="0" rtlCol="0">
            <a:spAutoFit/>
          </a:bodyPr>
          <a:lstStyle/>
          <a:p>
            <a:r>
              <a:rPr lang="en-US" sz="2133"/>
              <a:t>Quantum convolutional</a:t>
            </a:r>
            <a:endParaRPr lang="vi-VN" sz="2133"/>
          </a:p>
        </p:txBody>
      </p:sp>
      <p:sp>
        <p:nvSpPr>
          <p:cNvPr id="157" name="TextBox 156">
            <a:extLst>
              <a:ext uri="{FF2B5EF4-FFF2-40B4-BE49-F238E27FC236}">
                <a16:creationId xmlns:a16="http://schemas.microsoft.com/office/drawing/2014/main" id="{5A78E7CC-68C9-7189-ABC9-83A3714DAD19}"/>
              </a:ext>
            </a:extLst>
          </p:cNvPr>
          <p:cNvSpPr txBox="1"/>
          <p:nvPr/>
        </p:nvSpPr>
        <p:spPr>
          <a:xfrm>
            <a:off x="6051960" y="4436179"/>
            <a:ext cx="1065317" cy="328231"/>
          </a:xfrm>
          <a:prstGeom prst="rect">
            <a:avLst/>
          </a:prstGeom>
          <a:noFill/>
        </p:spPr>
        <p:txBody>
          <a:bodyPr wrap="square" lIns="0" tIns="0" rIns="0" bIns="0" rtlCol="0">
            <a:spAutoFit/>
          </a:bodyPr>
          <a:lstStyle/>
          <a:p>
            <a:pPr algn="ctr"/>
            <a:r>
              <a:rPr lang="en-US" sz="2133"/>
              <a:t>Pooling</a:t>
            </a:r>
            <a:endParaRPr lang="vi-VN" sz="2133"/>
          </a:p>
        </p:txBody>
      </p:sp>
      <p:sp>
        <p:nvSpPr>
          <p:cNvPr id="162" name="TextBox 161">
            <a:extLst>
              <a:ext uri="{FF2B5EF4-FFF2-40B4-BE49-F238E27FC236}">
                <a16:creationId xmlns:a16="http://schemas.microsoft.com/office/drawing/2014/main" id="{B6B3867B-5052-0D7D-7769-E65DD8011989}"/>
              </a:ext>
            </a:extLst>
          </p:cNvPr>
          <p:cNvSpPr txBox="1"/>
          <p:nvPr/>
        </p:nvSpPr>
        <p:spPr>
          <a:xfrm>
            <a:off x="7173315" y="4436179"/>
            <a:ext cx="1400595" cy="656462"/>
          </a:xfrm>
          <a:prstGeom prst="rect">
            <a:avLst/>
          </a:prstGeom>
          <a:noFill/>
        </p:spPr>
        <p:txBody>
          <a:bodyPr wrap="square" lIns="0" tIns="0" rIns="0" bIns="0" rtlCol="0">
            <a:spAutoFit/>
          </a:bodyPr>
          <a:lstStyle/>
          <a:p>
            <a:r>
              <a:rPr lang="en-US" sz="2133"/>
              <a:t>Fully connection</a:t>
            </a:r>
            <a:endParaRPr lang="vi-VN" sz="2133"/>
          </a:p>
        </p:txBody>
      </p:sp>
      <p:sp>
        <p:nvSpPr>
          <p:cNvPr id="163" name="Right Brace 162">
            <a:extLst>
              <a:ext uri="{FF2B5EF4-FFF2-40B4-BE49-F238E27FC236}">
                <a16:creationId xmlns:a16="http://schemas.microsoft.com/office/drawing/2014/main" id="{24A65EFD-DEFE-3DA8-8E14-B2718215C4F3}"/>
              </a:ext>
            </a:extLst>
          </p:cNvPr>
          <p:cNvSpPr/>
          <p:nvPr/>
        </p:nvSpPr>
        <p:spPr>
          <a:xfrm rot="5400000">
            <a:off x="4472867" y="2284417"/>
            <a:ext cx="440261" cy="6339420"/>
          </a:xfrm>
          <a:prstGeom prst="rightBrace">
            <a:avLst>
              <a:gd name="adj1" fmla="val 73718"/>
              <a:gd name="adj2" fmla="val 50161"/>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sz="2400"/>
          </a:p>
        </p:txBody>
      </p:sp>
      <p:sp>
        <p:nvSpPr>
          <p:cNvPr id="164" name="TextBox 163">
            <a:extLst>
              <a:ext uri="{FF2B5EF4-FFF2-40B4-BE49-F238E27FC236}">
                <a16:creationId xmlns:a16="http://schemas.microsoft.com/office/drawing/2014/main" id="{BC3F6724-A1A6-3236-C079-EE0B1B1DAEA6}"/>
              </a:ext>
            </a:extLst>
          </p:cNvPr>
          <p:cNvSpPr txBox="1"/>
          <p:nvPr/>
        </p:nvSpPr>
        <p:spPr>
          <a:xfrm>
            <a:off x="3559525" y="5716574"/>
            <a:ext cx="2590800" cy="461665"/>
          </a:xfrm>
          <a:prstGeom prst="rect">
            <a:avLst/>
          </a:prstGeom>
          <a:noFill/>
        </p:spPr>
        <p:txBody>
          <a:bodyPr wrap="square" rtlCol="0">
            <a:spAutoFit/>
          </a:bodyPr>
          <a:lstStyle/>
          <a:p>
            <a:r>
              <a:rPr lang="en-US" sz="2400"/>
              <a:t>No classical steps</a:t>
            </a:r>
            <a:endParaRPr lang="vi-VN" sz="2400"/>
          </a:p>
        </p:txBody>
      </p:sp>
    </p:spTree>
    <p:extLst>
      <p:ext uri="{BB962C8B-B14F-4D97-AF65-F5344CB8AC3E}">
        <p14:creationId xmlns:p14="http://schemas.microsoft.com/office/powerpoint/2010/main" val="2795348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F568-EDD9-5BE6-57E1-DA4D4F18662B}"/>
              </a:ext>
            </a:extLst>
          </p:cNvPr>
          <p:cNvSpPr>
            <a:spLocks noGrp="1"/>
          </p:cNvSpPr>
          <p:nvPr>
            <p:ph type="title"/>
          </p:nvPr>
        </p:nvSpPr>
        <p:spPr/>
        <p:txBody>
          <a:bodyPr>
            <a:normAutofit/>
          </a:bodyPr>
          <a:lstStyle/>
          <a:p>
            <a:r>
              <a:rPr lang="en-US"/>
              <a:t>2.</a:t>
            </a:r>
            <a:r>
              <a:rPr lang="en-VN"/>
              <a:t>4. </a:t>
            </a:r>
            <a:r>
              <a:rPr lang="en-US"/>
              <a:t>Additional information</a:t>
            </a:r>
            <a:br>
              <a:rPr lang="en-US"/>
            </a:br>
            <a:r>
              <a:rPr lang="en-US" sz="2667"/>
              <a:t>Power of QML</a:t>
            </a:r>
            <a:endParaRPr lang="en-VN" sz="2667"/>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097048C-C071-7150-E357-14634982BD15}"/>
                  </a:ext>
                </a:extLst>
              </p:cNvPr>
              <p:cNvSpPr>
                <a:spLocks noGrp="1"/>
              </p:cNvSpPr>
              <p:nvPr>
                <p:ph idx="1"/>
              </p:nvPr>
            </p:nvSpPr>
            <p:spPr>
              <a:xfrm>
                <a:off x="838200" y="1825625"/>
                <a:ext cx="9779000" cy="4351339"/>
              </a:xfrm>
            </p:spPr>
            <p:txBody>
              <a:bodyPr/>
              <a:lstStyle/>
              <a:p>
                <a:pPr marL="0" indent="0">
                  <a:buNone/>
                </a:pPr>
                <a:r>
                  <a:rPr lang="en-VN"/>
                  <a:t>We will focus on PQC which is the main computation in QML</a:t>
                </a:r>
              </a:p>
              <a:p>
                <a:pPr marL="0" indent="0">
                  <a:buNone/>
                </a:pPr>
                <a:r>
                  <a:rPr lang="en-VN" b="1"/>
                  <a:t>Encoder</a:t>
                </a:r>
                <a:r>
                  <a:rPr lang="en-VN"/>
                  <a:t>: use a very small </a:t>
                </a:r>
                <a:r>
                  <a:rPr lang="en-US"/>
                  <a:t>qubit </a:t>
                </a:r>
                <a:r>
                  <a:rPr lang="en-VN"/>
                  <a:t>(</a:t>
                </a:r>
                <a14:m>
                  <m:oMath xmlns:m="http://schemas.openxmlformats.org/officeDocument/2006/math">
                    <m:func>
                      <m:funcPr>
                        <m:ctrlPr>
                          <a:rPr lang="vi-VN" b="0" i="1" smtClean="0">
                            <a:latin typeface="Cambria Math" panose="02040503050406030204" pitchFamily="18" charset="0"/>
                          </a:rPr>
                        </m:ctrlPr>
                      </m:funcPr>
                      <m:fName>
                        <m:sSub>
                          <m:sSubPr>
                            <m:ctrlPr>
                              <a:rPr lang="vi-VN" b="0" i="1" smtClean="0">
                                <a:latin typeface="Cambria Math" panose="02040503050406030204" pitchFamily="18" charset="0"/>
                              </a:rPr>
                            </m:ctrlPr>
                          </m:sSubPr>
                          <m:e>
                            <m:r>
                              <m:rPr>
                                <m:sty m:val="p"/>
                              </m:rPr>
                              <a:rPr lang="en-VN" i="0" smtClean="0">
                                <a:latin typeface="Cambria Math" panose="02040503050406030204" pitchFamily="18" charset="0"/>
                              </a:rPr>
                              <m:t>log</m:t>
                            </m:r>
                          </m:e>
                          <m:sub>
                            <m:r>
                              <a:rPr lang="vi-VN" b="0" i="1" smtClean="0">
                                <a:latin typeface="Cambria Math" panose="02040503050406030204" pitchFamily="18" charset="0"/>
                              </a:rPr>
                              <m:t>2</m:t>
                            </m:r>
                          </m:sub>
                        </m:sSub>
                      </m:fName>
                      <m:e>
                        <m:r>
                          <a:rPr lang="en-US" b="0" i="1" smtClean="0">
                            <a:latin typeface="Cambria Math" panose="02040503050406030204" pitchFamily="18" charset="0"/>
                          </a:rPr>
                          <m:t>𝑁</m:t>
                        </m:r>
                      </m:e>
                    </m:func>
                  </m:oMath>
                </a14:m>
                <a:r>
                  <a:rPr lang="en-VN"/>
                  <a:t>) to loading / encoding </a:t>
                </a:r>
                <a14:m>
                  <m:oMath xmlns:m="http://schemas.openxmlformats.org/officeDocument/2006/math">
                    <m:r>
                      <m:rPr>
                        <m:sty m:val="p"/>
                      </m:rPr>
                      <a:rPr lang="en-VN" i="1">
                        <a:latin typeface="Cambria Math" panose="02040503050406030204" pitchFamily="18" charset="0"/>
                      </a:rPr>
                      <m:t>N</m:t>
                    </m:r>
                  </m:oMath>
                </a14:m>
                <a:r>
                  <a:rPr lang="en-VN"/>
                  <a:t> – dimensional normalized </a:t>
                </a:r>
                <a14:m>
                  <m:oMath xmlns:m="http://schemas.openxmlformats.org/officeDocument/2006/math">
                    <m:r>
                      <a:rPr lang="en-VN" i="1">
                        <a:latin typeface="Cambria Math" panose="02040503050406030204" pitchFamily="18" charset="0"/>
                      </a:rPr>
                      <m:t>𝑥</m:t>
                    </m:r>
                  </m:oMath>
                </a14:m>
                <a:r>
                  <a:rPr lang="en-VN" i="1"/>
                  <a:t>. </a:t>
                </a:r>
                <a:endParaRPr lang="en-US" i="1"/>
              </a:p>
              <a:p>
                <a:pPr marL="0" indent="0">
                  <a:buNone/>
                </a:pPr>
                <a:r>
                  <a:rPr lang="en-VN" b="1"/>
                  <a:t>Operator</a:t>
                </a:r>
                <a:r>
                  <a:rPr lang="en-VN"/>
                  <a:t>: like classical </a:t>
                </a:r>
                <a:r>
                  <a:rPr lang="en-US"/>
                  <a:t>NN</a:t>
                </a:r>
                <a:r>
                  <a:rPr lang="en-VN"/>
                  <a:t>, the structure of </a:t>
                </a:r>
                <a14:m>
                  <m:oMath xmlns:m="http://schemas.openxmlformats.org/officeDocument/2006/math">
                    <m:r>
                      <a:rPr lang="en-VN" i="1">
                        <a:latin typeface="Cambria Math" panose="02040503050406030204" pitchFamily="18" charset="0"/>
                      </a:rPr>
                      <m:t>𝑈</m:t>
                    </m:r>
                    <m:r>
                      <a:rPr lang="vi-VN" b="0" i="1">
                        <a:latin typeface="Cambria Math" panose="02040503050406030204" pitchFamily="18" charset="0"/>
                      </a:rPr>
                      <m:t>(</m:t>
                    </m:r>
                    <m:r>
                      <a:rPr lang="vi-VN" b="1" i="1">
                        <a:latin typeface="Cambria Math" panose="02040503050406030204" pitchFamily="18" charset="0"/>
                      </a:rPr>
                      <m:t>𝜽</m:t>
                    </m:r>
                    <m:r>
                      <a:rPr lang="en-VN" i="1">
                        <a:latin typeface="Cambria Math" panose="02040503050406030204" pitchFamily="18" charset="0"/>
                      </a:rPr>
                      <m:t>)</m:t>
                    </m:r>
                  </m:oMath>
                </a14:m>
                <a:r>
                  <a:rPr lang="en-VN"/>
                  <a:t> decides the model extract feature / process information good or bad.</a:t>
                </a:r>
              </a:p>
              <a:p>
                <a:pPr marL="0" indent="0">
                  <a:buNone/>
                </a:pPr>
                <a:r>
                  <a:rPr lang="en-US" b="1"/>
                  <a:t>Decoder</a:t>
                </a:r>
                <a:r>
                  <a:rPr lang="en-VN"/>
                  <a:t>: quantum information </a:t>
                </a:r>
                <a14:m>
                  <m:oMath xmlns:m="http://schemas.openxmlformats.org/officeDocument/2006/math">
                    <m:r>
                      <a:rPr lang="en-US" b="0" i="1" smtClean="0">
                        <a:latin typeface="Cambria Math" panose="02040503050406030204" pitchFamily="18" charset="0"/>
                      </a:rPr>
                      <m:t>→</m:t>
                    </m:r>
                  </m:oMath>
                </a14:m>
                <a:r>
                  <a:rPr lang="en-US"/>
                  <a:t> </a:t>
                </a:r>
                <a:r>
                  <a:rPr lang="en-VN"/>
                  <a:t>classical information. </a:t>
                </a:r>
              </a:p>
            </p:txBody>
          </p:sp>
        </mc:Choice>
        <mc:Fallback>
          <p:sp>
            <p:nvSpPr>
              <p:cNvPr id="3" name="Content Placeholder 2">
                <a:extLst>
                  <a:ext uri="{FF2B5EF4-FFF2-40B4-BE49-F238E27FC236}">
                    <a16:creationId xmlns:a16="http://schemas.microsoft.com/office/drawing/2014/main" id="{7097048C-C071-7150-E357-14634982BD15}"/>
                  </a:ext>
                </a:extLst>
              </p:cNvPr>
              <p:cNvSpPr>
                <a:spLocks noGrp="1" noRot="1" noChangeAspect="1" noMove="1" noResize="1" noEditPoints="1" noAdjustHandles="1" noChangeArrowheads="1" noChangeShapeType="1" noTextEdit="1"/>
              </p:cNvSpPr>
              <p:nvPr>
                <p:ph idx="1"/>
              </p:nvPr>
            </p:nvSpPr>
            <p:spPr>
              <a:xfrm>
                <a:off x="838200" y="1825625"/>
                <a:ext cx="9779000" cy="4351339"/>
              </a:xfrm>
              <a:blipFill>
                <a:blip r:embed="rId3"/>
                <a:stretch>
                  <a:fillRect l="-1297" t="-232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7043E9AF-36CB-0288-6816-A41245770716}"/>
              </a:ext>
            </a:extLst>
          </p:cNvPr>
          <p:cNvSpPr>
            <a:spLocks noGrp="1"/>
          </p:cNvSpPr>
          <p:nvPr>
            <p:ph type="sldNum" sz="quarter" idx="12"/>
          </p:nvPr>
        </p:nvSpPr>
        <p:spPr/>
        <p:txBody>
          <a:bodyPr/>
          <a:lstStyle/>
          <a:p>
            <a:fld id="{6A45828D-F580-42DE-B77E-860980F07F32}" type="slidenum">
              <a:rPr lang="vi-VN" smtClean="0"/>
              <a:t>32</a:t>
            </a:fld>
            <a:endParaRPr lang="vi-VN"/>
          </a:p>
        </p:txBody>
      </p:sp>
    </p:spTree>
    <p:extLst>
      <p:ext uri="{BB962C8B-B14F-4D97-AF65-F5344CB8AC3E}">
        <p14:creationId xmlns:p14="http://schemas.microsoft.com/office/powerpoint/2010/main" val="30328358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F568-EDD9-5BE6-57E1-DA4D4F18662B}"/>
              </a:ext>
            </a:extLst>
          </p:cNvPr>
          <p:cNvSpPr>
            <a:spLocks noGrp="1"/>
          </p:cNvSpPr>
          <p:nvPr>
            <p:ph type="title"/>
          </p:nvPr>
        </p:nvSpPr>
        <p:spPr/>
        <p:txBody>
          <a:bodyPr>
            <a:normAutofit/>
          </a:bodyPr>
          <a:lstStyle/>
          <a:p>
            <a:r>
              <a:rPr lang="en-US"/>
              <a:t>2.</a:t>
            </a:r>
            <a:r>
              <a:rPr lang="en-VN"/>
              <a:t>4. </a:t>
            </a:r>
            <a:r>
              <a:rPr lang="en-US"/>
              <a:t>Additional information</a:t>
            </a:r>
            <a:br>
              <a:rPr lang="en-US"/>
            </a:br>
            <a:r>
              <a:rPr lang="en-VN" sz="2667"/>
              <a:t>Challenge in QML field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097048C-C071-7150-E357-14634982BD15}"/>
                  </a:ext>
                </a:extLst>
              </p:cNvPr>
              <p:cNvSpPr>
                <a:spLocks noGrp="1"/>
              </p:cNvSpPr>
              <p:nvPr>
                <p:ph idx="1"/>
              </p:nvPr>
            </p:nvSpPr>
            <p:spPr>
              <a:xfrm>
                <a:off x="838200" y="1825625"/>
                <a:ext cx="9779000" cy="3463219"/>
              </a:xfrm>
            </p:spPr>
            <p:txBody>
              <a:bodyPr/>
              <a:lstStyle/>
              <a:p>
                <a:r>
                  <a:rPr lang="en-VN"/>
                  <a:t>Standard architechture?</a:t>
                </a:r>
              </a:p>
              <a:p>
                <a:r>
                  <a:rPr lang="en-VN"/>
                  <a:t>Trainability, Expressibility</a:t>
                </a:r>
              </a:p>
              <a:p>
                <a:r>
                  <a:rPr lang="en-VN"/>
                  <a:t>Lack of experiment resources (not enough </a:t>
                </a:r>
                <a:r>
                  <a:rPr lang="en-US"/>
                  <a:t>simulated #</a:t>
                </a:r>
                <a:r>
                  <a:rPr lang="en-VN"/>
                  <a:t>qubit to</a:t>
                </a:r>
                <a:r>
                  <a:rPr lang="en-US"/>
                  <a:t> transform toy dataset </a:t>
                </a:r>
                <a14:m>
                  <m:oMath xmlns:m="http://schemas.openxmlformats.org/officeDocument/2006/math">
                    <m:r>
                      <a:rPr lang="en-US" b="0" i="1" smtClean="0">
                        <a:latin typeface="Cambria Math" panose="02040503050406030204" pitchFamily="18" charset="0"/>
                      </a:rPr>
                      <m:t>→</m:t>
                    </m:r>
                  </m:oMath>
                </a14:m>
                <a:r>
                  <a:rPr lang="en-VN"/>
                  <a:t> real dataset)</a:t>
                </a:r>
                <a:endParaRPr lang="en-US"/>
              </a:p>
              <a:p>
                <a:r>
                  <a:rPr lang="en-US">
                    <a:solidFill>
                      <a:srgbClr val="FF0000"/>
                    </a:solidFill>
                  </a:rPr>
                  <a:t>Hype in QML</a:t>
                </a:r>
                <a:r>
                  <a:rPr lang="en-US"/>
                  <a:t>: some applied QML models are actually worse than classical models.</a:t>
                </a:r>
              </a:p>
              <a:p>
                <a:r>
                  <a:rPr lang="en-US"/>
                  <a:t>Other problems</a:t>
                </a:r>
              </a:p>
              <a:p>
                <a:endParaRPr lang="en-VN"/>
              </a:p>
            </p:txBody>
          </p:sp>
        </mc:Choice>
        <mc:Fallback>
          <p:sp>
            <p:nvSpPr>
              <p:cNvPr id="3" name="Content Placeholder 2">
                <a:extLst>
                  <a:ext uri="{FF2B5EF4-FFF2-40B4-BE49-F238E27FC236}">
                    <a16:creationId xmlns:a16="http://schemas.microsoft.com/office/drawing/2014/main" id="{7097048C-C071-7150-E357-14634982BD15}"/>
                  </a:ext>
                </a:extLst>
              </p:cNvPr>
              <p:cNvSpPr>
                <a:spLocks noGrp="1" noRot="1" noChangeAspect="1" noMove="1" noResize="1" noEditPoints="1" noAdjustHandles="1" noChangeArrowheads="1" noChangeShapeType="1" noTextEdit="1"/>
              </p:cNvSpPr>
              <p:nvPr>
                <p:ph idx="1"/>
              </p:nvPr>
            </p:nvSpPr>
            <p:spPr>
              <a:xfrm>
                <a:off x="838200" y="1825625"/>
                <a:ext cx="9779000" cy="3463219"/>
              </a:xfrm>
              <a:blipFill>
                <a:blip r:embed="rId3"/>
                <a:stretch>
                  <a:fillRect l="-1167" t="-2920"/>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7043E9AF-36CB-0288-6816-A41245770716}"/>
              </a:ext>
            </a:extLst>
          </p:cNvPr>
          <p:cNvSpPr>
            <a:spLocks noGrp="1"/>
          </p:cNvSpPr>
          <p:nvPr>
            <p:ph type="sldNum" sz="quarter" idx="12"/>
          </p:nvPr>
        </p:nvSpPr>
        <p:spPr/>
        <p:txBody>
          <a:bodyPr/>
          <a:lstStyle/>
          <a:p>
            <a:fld id="{6A45828D-F580-42DE-B77E-860980F07F32}" type="slidenum">
              <a:rPr lang="vi-VN" smtClean="0"/>
              <a:t>33</a:t>
            </a:fld>
            <a:endParaRPr lang="vi-VN"/>
          </a:p>
        </p:txBody>
      </p:sp>
      <p:sp>
        <p:nvSpPr>
          <p:cNvPr id="8" name="TextBox 7">
            <a:extLst>
              <a:ext uri="{FF2B5EF4-FFF2-40B4-BE49-F238E27FC236}">
                <a16:creationId xmlns:a16="http://schemas.microsoft.com/office/drawing/2014/main" id="{18207FF7-7528-30EF-E0BE-C3FEC552CD95}"/>
              </a:ext>
            </a:extLst>
          </p:cNvPr>
          <p:cNvSpPr txBox="1"/>
          <p:nvPr/>
        </p:nvSpPr>
        <p:spPr>
          <a:xfrm>
            <a:off x="838199" y="5367259"/>
            <a:ext cx="10631311" cy="1323439"/>
          </a:xfrm>
          <a:prstGeom prst="rect">
            <a:avLst/>
          </a:prstGeom>
          <a:noFill/>
        </p:spPr>
        <p:txBody>
          <a:bodyPr wrap="square">
            <a:spAutoFit/>
          </a:bodyPr>
          <a:lstStyle/>
          <a:p>
            <a:r>
              <a:rPr lang="en-US" sz="1600" b="1"/>
              <a:t>[2.12] </a:t>
            </a:r>
            <a:r>
              <a:rPr lang="en-US" sz="1600"/>
              <a:t>Joseph Bowles, Shahnawaz Ahmed, &amp; Maria Schuld. (2024). Better than classical? The subtle art of benchmarking quantum machine learning models.</a:t>
            </a:r>
          </a:p>
          <a:p>
            <a:r>
              <a:rPr lang="en-US" sz="1600" b="1"/>
              <a:t>[2.13] </a:t>
            </a:r>
            <a:r>
              <a:rPr lang="en-US" sz="1600"/>
              <a:t>Schuld, M., &amp; Killoran, N. (2022). Is Quantum Advantage the Right Goal for Quantum Machine Learning?. PRX Quantum, 3, 030101.</a:t>
            </a:r>
          </a:p>
          <a:p>
            <a:r>
              <a:rPr lang="en-US" sz="1600" b="1"/>
              <a:t>[2.14] </a:t>
            </a:r>
            <a:r>
              <a:rPr lang="en-US" sz="1600"/>
              <a:t>Jens Eisert, &amp; John Preskill. (2025). Mind the gaps: The fraught road to quantum advantage.</a:t>
            </a:r>
          </a:p>
        </p:txBody>
      </p:sp>
    </p:spTree>
    <p:extLst>
      <p:ext uri="{BB962C8B-B14F-4D97-AF65-F5344CB8AC3E}">
        <p14:creationId xmlns:p14="http://schemas.microsoft.com/office/powerpoint/2010/main" val="1624147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CA5-BB6A-5EBC-38F7-2567029A8823}"/>
              </a:ext>
            </a:extLst>
          </p:cNvPr>
          <p:cNvSpPr>
            <a:spLocks noGrp="1"/>
          </p:cNvSpPr>
          <p:nvPr>
            <p:ph type="ctrTitle"/>
          </p:nvPr>
        </p:nvSpPr>
        <p:spPr>
          <a:xfrm>
            <a:off x="1524001" y="1122362"/>
            <a:ext cx="9969660" cy="4630255"/>
          </a:xfrm>
        </p:spPr>
        <p:txBody>
          <a:bodyPr>
            <a:normAutofit/>
          </a:bodyPr>
          <a:lstStyle/>
          <a:p>
            <a:pPr algn="l"/>
            <a:r>
              <a:rPr lang="en-US" b="1"/>
              <a:t>Accelerators for quantum computer: interdisciplinary research direction between “Vi mạch” &amp; Quantum</a:t>
            </a:r>
            <a:br>
              <a:rPr lang="en-US" b="1"/>
            </a:br>
            <a:endParaRPr lang="en-VN"/>
          </a:p>
        </p:txBody>
      </p:sp>
      <p:sp>
        <p:nvSpPr>
          <p:cNvPr id="4" name="Slide Number Placeholder 3">
            <a:extLst>
              <a:ext uri="{FF2B5EF4-FFF2-40B4-BE49-F238E27FC236}">
                <a16:creationId xmlns:a16="http://schemas.microsoft.com/office/drawing/2014/main" id="{6CBD1614-B956-B316-5EB9-69023E12316F}"/>
              </a:ext>
            </a:extLst>
          </p:cNvPr>
          <p:cNvSpPr>
            <a:spLocks noGrp="1"/>
          </p:cNvSpPr>
          <p:nvPr>
            <p:ph type="sldNum" sz="quarter" idx="12"/>
          </p:nvPr>
        </p:nvSpPr>
        <p:spPr/>
        <p:txBody>
          <a:bodyPr/>
          <a:lstStyle/>
          <a:p>
            <a:fld id="{4E9BB9E5-D81C-FE46-A488-49ADE3951462}" type="slidenum">
              <a:t>34</a:t>
            </a:fld>
            <a:endParaRPr lang="en-VN"/>
          </a:p>
        </p:txBody>
      </p:sp>
    </p:spTree>
    <p:extLst>
      <p:ext uri="{BB962C8B-B14F-4D97-AF65-F5344CB8AC3E}">
        <p14:creationId xmlns:p14="http://schemas.microsoft.com/office/powerpoint/2010/main" val="1119578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47147E-B377-DEBF-3DDA-42340C59B1B4}"/>
              </a:ext>
            </a:extLst>
          </p:cNvPr>
          <p:cNvSpPr/>
          <p:nvPr/>
        </p:nvSpPr>
        <p:spPr>
          <a:xfrm>
            <a:off x="5166658" y="2819400"/>
            <a:ext cx="6893395" cy="30915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4" name="Picture 3">
            <a:extLst>
              <a:ext uri="{FF2B5EF4-FFF2-40B4-BE49-F238E27FC236}">
                <a16:creationId xmlns:a16="http://schemas.microsoft.com/office/drawing/2014/main" id="{A42C1B7F-147A-8F90-D55A-724A0AF293DB}"/>
              </a:ext>
            </a:extLst>
          </p:cNvPr>
          <p:cNvPicPr>
            <a:picLocks noChangeAspect="1"/>
          </p:cNvPicPr>
          <p:nvPr/>
        </p:nvPicPr>
        <p:blipFill>
          <a:blip r:embed="rId3"/>
          <a:stretch>
            <a:fillRect/>
          </a:stretch>
        </p:blipFill>
        <p:spPr>
          <a:xfrm>
            <a:off x="259756" y="1244041"/>
            <a:ext cx="4774955" cy="4303460"/>
          </a:xfrm>
          <a:prstGeom prst="rect">
            <a:avLst/>
          </a:prstGeom>
          <a:ln>
            <a:solidFill>
              <a:schemeClr val="tx1"/>
            </a:solidFill>
          </a:ln>
        </p:spPr>
      </p:pic>
      <p:pic>
        <p:nvPicPr>
          <p:cNvPr id="2052" name="Picture 4" descr="A white robot soldier stands in front of a white background aiming a  futuristic rifle | Premium AI-generated image">
            <a:extLst>
              <a:ext uri="{FF2B5EF4-FFF2-40B4-BE49-F238E27FC236}">
                <a16:creationId xmlns:a16="http://schemas.microsoft.com/office/drawing/2014/main" id="{CEF0FDBE-0854-BF55-22F2-2BCB773EDDF5}"/>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3134" b="98291" l="9585" r="89617">
                        <a14:foregroundMark x1="43930" y1="16239" x2="50000" y2="37607"/>
                        <a14:foregroundMark x1="72524" y1="61538" x2="77955" y2="86325"/>
                        <a14:foregroundMark x1="77955" y1="86325" x2="56550" y2="86325"/>
                        <a14:foregroundMark x1="56550" y1="86325" x2="77636" y2="92308"/>
                        <a14:foregroundMark x1="77636" y1="92308" x2="50319" y2="93162"/>
                        <a14:foregroundMark x1="25080" y1="98575" x2="55431" y2="99145"/>
                        <a14:foregroundMark x1="55431" y1="99145" x2="76358" y2="96011"/>
                        <a14:foregroundMark x1="76358" y1="96011" x2="81949" y2="96581"/>
                        <a14:foregroundMark x1="83067" y1="88889" x2="79393" y2="79487"/>
                        <a14:foregroundMark x1="79393" y1="79487" x2="75719" y2="55840"/>
                        <a14:foregroundMark x1="75719" y1="55840" x2="75559" y2="55556"/>
                        <a14:foregroundMark x1="85304" y1="98291" x2="76997" y2="52422"/>
                        <a14:foregroundMark x1="87061" y1="18519" x2="88658" y2="24786"/>
                        <a14:foregroundMark x1="87061" y1="16524" x2="83227" y2="15954"/>
                        <a14:foregroundMark x1="43770" y1="8262" x2="52077" y2="9972"/>
                        <a14:foregroundMark x1="52077" y1="9972" x2="55591" y2="20798"/>
                        <a14:foregroundMark x1="55591" y1="20798" x2="55911" y2="28205"/>
                        <a14:foregroundMark x1="45527" y1="5128" x2="52716" y2="5413"/>
                        <a14:foregroundMark x1="52716" y1="5413" x2="56070" y2="14530"/>
                        <a14:foregroundMark x1="56070" y1="14530" x2="57348" y2="23362"/>
                        <a14:foregroundMark x1="38658" y1="9402" x2="37859" y2="17664"/>
                        <a14:foregroundMark x1="50799" y1="3134" x2="55751" y2="9687"/>
                        <a14:foregroundMark x1="55751" y1="9687" x2="57987" y2="20228"/>
                        <a14:foregroundMark x1="57987" y1="20228" x2="57668" y2="31054"/>
                        <a14:foregroundMark x1="57668" y1="31054" x2="56390" y2="33618"/>
                        <a14:foregroundMark x1="55431" y1="9687" x2="57668" y2="21083"/>
                        <a14:foregroundMark x1="21246" y1="72650" x2="21725" y2="61823"/>
                        <a14:foregroundMark x1="21725" y1="61823" x2="25240" y2="56125"/>
                        <a14:foregroundMark x1="24281" y1="57550" x2="29872" y2="50997"/>
                        <a14:foregroundMark x1="29872" y1="50997" x2="32109" y2="49858"/>
                        <a14:foregroundMark x1="38179" y1="45014" x2="42013" y2="37322"/>
                        <a14:foregroundMark x1="56390" y1="43305" x2="52556" y2="50997"/>
                        <a14:foregroundMark x1="59585" y1="40741" x2="56709" y2="35328"/>
                        <a14:foregroundMark x1="57827" y1="13960" x2="55591" y2="4558"/>
                        <a14:foregroundMark x1="56390" y1="3134" x2="58626" y2="11111"/>
                        <a14:foregroundMark x1="57987" y1="17664" x2="58786" y2="15954"/>
                        <a14:foregroundMark x1="36901" y1="25926" x2="36901" y2="22507"/>
                        <a14:foregroundMark x1="57987" y1="14530" x2="58786" y2="22507"/>
                        <a14:foregroundMark x1="58626" y1="12536" x2="58626" y2="19943"/>
                      </a14:backgroundRemoval>
                    </a14:imgEffect>
                  </a14:imgLayer>
                </a14:imgProps>
              </a:ext>
              <a:ext uri="{28A0092B-C50C-407E-A947-70E740481C1C}">
                <a14:useLocalDpi xmlns:a14="http://schemas.microsoft.com/office/drawing/2010/main" val="0"/>
              </a:ext>
            </a:extLst>
          </a:blip>
          <a:srcRect/>
          <a:stretch>
            <a:fillRect/>
          </a:stretch>
        </p:blipFill>
        <p:spPr bwMode="auto">
          <a:xfrm>
            <a:off x="4241800" y="1250016"/>
            <a:ext cx="7950200" cy="4457700"/>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E00D0D34-B1B9-51BC-2B16-BABA66CF9DC7}"/>
              </a:ext>
            </a:extLst>
          </p:cNvPr>
          <p:cNvSpPr/>
          <p:nvPr/>
        </p:nvSpPr>
        <p:spPr>
          <a:xfrm rot="3225978">
            <a:off x="8595056" y="739437"/>
            <a:ext cx="1515396" cy="560228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TextBox 5">
            <a:extLst>
              <a:ext uri="{FF2B5EF4-FFF2-40B4-BE49-F238E27FC236}">
                <a16:creationId xmlns:a16="http://schemas.microsoft.com/office/drawing/2014/main" id="{38F30963-6F3A-6D76-B142-FF3E8CC2BC52}"/>
              </a:ext>
            </a:extLst>
          </p:cNvPr>
          <p:cNvSpPr txBox="1"/>
          <p:nvPr/>
        </p:nvSpPr>
        <p:spPr>
          <a:xfrm>
            <a:off x="9165770" y="1046789"/>
            <a:ext cx="3086299" cy="707886"/>
          </a:xfrm>
          <a:prstGeom prst="rect">
            <a:avLst/>
          </a:prstGeom>
          <a:noFill/>
        </p:spPr>
        <p:txBody>
          <a:bodyPr wrap="square" rtlCol="0">
            <a:spAutoFit/>
          </a:bodyPr>
          <a:lstStyle/>
          <a:p>
            <a:r>
              <a:rPr lang="en-VN" sz="2000">
                <a:solidFill>
                  <a:srgbClr val="FF0000"/>
                </a:solidFill>
              </a:rPr>
              <a:t>Quantum computer (QPU) as powerful weapon</a:t>
            </a:r>
          </a:p>
        </p:txBody>
      </p:sp>
      <p:sp>
        <p:nvSpPr>
          <p:cNvPr id="7" name="Oval 6">
            <a:extLst>
              <a:ext uri="{FF2B5EF4-FFF2-40B4-BE49-F238E27FC236}">
                <a16:creationId xmlns:a16="http://schemas.microsoft.com/office/drawing/2014/main" id="{E4AA7EB3-5503-1C2D-8D52-A535EC6D386C}"/>
              </a:ext>
            </a:extLst>
          </p:cNvPr>
          <p:cNvSpPr/>
          <p:nvPr/>
        </p:nvSpPr>
        <p:spPr>
          <a:xfrm>
            <a:off x="6934225" y="925286"/>
            <a:ext cx="2231545" cy="250371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TextBox 7">
            <a:extLst>
              <a:ext uri="{FF2B5EF4-FFF2-40B4-BE49-F238E27FC236}">
                <a16:creationId xmlns:a16="http://schemas.microsoft.com/office/drawing/2014/main" id="{EB8AB569-6089-325D-D155-4F2FF6D116B5}"/>
              </a:ext>
            </a:extLst>
          </p:cNvPr>
          <p:cNvSpPr txBox="1"/>
          <p:nvPr/>
        </p:nvSpPr>
        <p:spPr>
          <a:xfrm>
            <a:off x="5459549" y="219291"/>
            <a:ext cx="6531429" cy="584775"/>
          </a:xfrm>
          <a:prstGeom prst="rect">
            <a:avLst/>
          </a:prstGeom>
          <a:noFill/>
        </p:spPr>
        <p:txBody>
          <a:bodyPr wrap="square" rtlCol="0">
            <a:spAutoFit/>
          </a:bodyPr>
          <a:lstStyle/>
          <a:p>
            <a:r>
              <a:rPr lang="en-VN" sz="3200">
                <a:solidFill>
                  <a:srgbClr val="FF0000"/>
                </a:solidFill>
              </a:rPr>
              <a:t>AI (GPU, TPU, …) for ‘smart’ control</a:t>
            </a:r>
          </a:p>
        </p:txBody>
      </p:sp>
      <p:sp>
        <p:nvSpPr>
          <p:cNvPr id="10" name="TextBox 9">
            <a:extLst>
              <a:ext uri="{FF2B5EF4-FFF2-40B4-BE49-F238E27FC236}">
                <a16:creationId xmlns:a16="http://schemas.microsoft.com/office/drawing/2014/main" id="{04F653DA-87B9-72BA-D0E9-9D5A1E7047BE}"/>
              </a:ext>
            </a:extLst>
          </p:cNvPr>
          <p:cNvSpPr txBox="1"/>
          <p:nvPr/>
        </p:nvSpPr>
        <p:spPr>
          <a:xfrm rot="19040902">
            <a:off x="5040086" y="2648780"/>
            <a:ext cx="2612571" cy="646331"/>
          </a:xfrm>
          <a:prstGeom prst="rect">
            <a:avLst/>
          </a:prstGeom>
          <a:noFill/>
        </p:spPr>
        <p:txBody>
          <a:bodyPr wrap="square">
            <a:spAutoFit/>
          </a:bodyPr>
          <a:lstStyle/>
          <a:p>
            <a:r>
              <a:rPr lang="en-VN">
                <a:solidFill>
                  <a:srgbClr val="FF0000"/>
                </a:solidFill>
              </a:rPr>
              <a:t>CPU for autonomic nervous system</a:t>
            </a:r>
          </a:p>
        </p:txBody>
      </p:sp>
      <p:sp>
        <p:nvSpPr>
          <p:cNvPr id="12" name="TextBox 11">
            <a:extLst>
              <a:ext uri="{FF2B5EF4-FFF2-40B4-BE49-F238E27FC236}">
                <a16:creationId xmlns:a16="http://schemas.microsoft.com/office/drawing/2014/main" id="{3600C378-7689-0092-902E-EC86736A92B7}"/>
              </a:ext>
            </a:extLst>
          </p:cNvPr>
          <p:cNvSpPr txBox="1"/>
          <p:nvPr/>
        </p:nvSpPr>
        <p:spPr>
          <a:xfrm>
            <a:off x="5459549" y="5967442"/>
            <a:ext cx="6531429" cy="461665"/>
          </a:xfrm>
          <a:prstGeom prst="rect">
            <a:avLst/>
          </a:prstGeom>
          <a:noFill/>
        </p:spPr>
        <p:txBody>
          <a:bodyPr wrap="square" rtlCol="0">
            <a:spAutoFit/>
          </a:bodyPr>
          <a:lstStyle/>
          <a:p>
            <a:r>
              <a:rPr lang="en-VN" sz="2400">
                <a:solidFill>
                  <a:srgbClr val="FF0000"/>
                </a:solidFill>
              </a:rPr>
              <a:t>VLSI design as a backbone for whole system</a:t>
            </a:r>
          </a:p>
        </p:txBody>
      </p:sp>
    </p:spTree>
    <p:extLst>
      <p:ext uri="{BB962C8B-B14F-4D97-AF65-F5344CB8AC3E}">
        <p14:creationId xmlns:p14="http://schemas.microsoft.com/office/powerpoint/2010/main" val="4146033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Quantum Computer Icon Stock Illustrations – 2,183 Quantum ...">
            <a:extLst>
              <a:ext uri="{FF2B5EF4-FFF2-40B4-BE49-F238E27FC236}">
                <a16:creationId xmlns:a16="http://schemas.microsoft.com/office/drawing/2014/main" id="{689EB9EE-E20A-C3B5-630A-89C021581E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526" t="11574" r="21131" b="11524"/>
          <a:stretch/>
        </p:blipFill>
        <p:spPr bwMode="auto">
          <a:xfrm>
            <a:off x="4219459" y="1694019"/>
            <a:ext cx="1482687" cy="19883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1410FAD-57A9-475B-6CA4-5A5CF0CD17EE}"/>
              </a:ext>
            </a:extLst>
          </p:cNvPr>
          <p:cNvSpPr txBox="1"/>
          <p:nvPr/>
        </p:nvSpPr>
        <p:spPr>
          <a:xfrm>
            <a:off x="4307358" y="3682393"/>
            <a:ext cx="1306888" cy="923330"/>
          </a:xfrm>
          <a:prstGeom prst="rect">
            <a:avLst/>
          </a:prstGeom>
          <a:noFill/>
        </p:spPr>
        <p:txBody>
          <a:bodyPr wrap="square" rtlCol="0">
            <a:spAutoFit/>
          </a:bodyPr>
          <a:lstStyle/>
          <a:p>
            <a:pPr algn="ctr"/>
            <a:r>
              <a:rPr lang="en-US" dirty="0"/>
              <a:t>Quantum Processing Unit </a:t>
            </a:r>
          </a:p>
        </p:txBody>
      </p:sp>
      <p:sp>
        <p:nvSpPr>
          <p:cNvPr id="7" name="Rectangle 6">
            <a:extLst>
              <a:ext uri="{FF2B5EF4-FFF2-40B4-BE49-F238E27FC236}">
                <a16:creationId xmlns:a16="http://schemas.microsoft.com/office/drawing/2014/main" id="{BE075B4C-EC20-EBAD-7510-D38D92979750}"/>
              </a:ext>
            </a:extLst>
          </p:cNvPr>
          <p:cNvSpPr/>
          <p:nvPr/>
        </p:nvSpPr>
        <p:spPr>
          <a:xfrm>
            <a:off x="4120309" y="1575409"/>
            <a:ext cx="1685581" cy="3128791"/>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A3B918F8-25BA-62DD-054A-76D41077AA62}"/>
              </a:ext>
            </a:extLst>
          </p:cNvPr>
          <p:cNvSpPr/>
          <p:nvPr/>
        </p:nvSpPr>
        <p:spPr>
          <a:xfrm>
            <a:off x="2161144" y="1432190"/>
            <a:ext cx="4272708" cy="4714837"/>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49A28BDA-1837-828E-15A2-33F01143EE19}"/>
              </a:ext>
            </a:extLst>
          </p:cNvPr>
          <p:cNvSpPr txBox="1"/>
          <p:nvPr/>
        </p:nvSpPr>
        <p:spPr>
          <a:xfrm>
            <a:off x="3767769" y="77758"/>
            <a:ext cx="3172858" cy="646331"/>
          </a:xfrm>
          <a:prstGeom prst="rect">
            <a:avLst/>
          </a:prstGeom>
          <a:noFill/>
        </p:spPr>
        <p:txBody>
          <a:bodyPr wrap="square" rtlCol="0">
            <a:spAutoFit/>
          </a:bodyPr>
          <a:lstStyle/>
          <a:p>
            <a:r>
              <a:rPr lang="en-VN">
                <a:solidFill>
                  <a:srgbClr val="FF0000"/>
                </a:solidFill>
              </a:rPr>
              <a:t>Heart of quantum computers, we </a:t>
            </a:r>
            <a:r>
              <a:rPr lang="en-VN" b="1">
                <a:solidFill>
                  <a:srgbClr val="FF0000"/>
                </a:solidFill>
              </a:rPr>
              <a:t>can not </a:t>
            </a:r>
            <a:r>
              <a:rPr lang="en-VN">
                <a:solidFill>
                  <a:srgbClr val="FF0000"/>
                </a:solidFill>
              </a:rPr>
              <a:t>cover this part!</a:t>
            </a:r>
          </a:p>
        </p:txBody>
      </p:sp>
      <p:cxnSp>
        <p:nvCxnSpPr>
          <p:cNvPr id="13" name="Elbow Connector 12">
            <a:extLst>
              <a:ext uri="{FF2B5EF4-FFF2-40B4-BE49-F238E27FC236}">
                <a16:creationId xmlns:a16="http://schemas.microsoft.com/office/drawing/2014/main" id="{C384BD78-6790-B0AA-41CE-BAC7EDDD7C71}"/>
              </a:ext>
            </a:extLst>
          </p:cNvPr>
          <p:cNvCxnSpPr>
            <a:stCxn id="7" idx="0"/>
            <a:endCxn id="9" idx="2"/>
          </p:cNvCxnSpPr>
          <p:nvPr/>
        </p:nvCxnSpPr>
        <p:spPr>
          <a:xfrm rot="5400000" flipH="1" flipV="1">
            <a:off x="4732989" y="954200"/>
            <a:ext cx="851320" cy="391098"/>
          </a:xfrm>
          <a:prstGeom prst="bent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cryogenic cooling system quantum computer color icon ...">
            <a:extLst>
              <a:ext uri="{FF2B5EF4-FFF2-40B4-BE49-F238E27FC236}">
                <a16:creationId xmlns:a16="http://schemas.microsoft.com/office/drawing/2014/main" id="{2E80E7F8-B2D8-C855-9A52-37A542F62C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512" t="13225" r="8892" b="14264"/>
          <a:stretch>
            <a:fillRect/>
          </a:stretch>
        </p:blipFill>
        <p:spPr bwMode="auto">
          <a:xfrm>
            <a:off x="2291506" y="1575409"/>
            <a:ext cx="1383536" cy="121461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BBD8349-AB2F-5F56-9532-E41E81E73210}"/>
              </a:ext>
            </a:extLst>
          </p:cNvPr>
          <p:cNvSpPr txBox="1"/>
          <p:nvPr/>
        </p:nvSpPr>
        <p:spPr>
          <a:xfrm>
            <a:off x="2291506" y="2940500"/>
            <a:ext cx="1306888" cy="646331"/>
          </a:xfrm>
          <a:prstGeom prst="rect">
            <a:avLst/>
          </a:prstGeom>
          <a:noFill/>
        </p:spPr>
        <p:txBody>
          <a:bodyPr wrap="square" rtlCol="0">
            <a:spAutoFit/>
          </a:bodyPr>
          <a:lstStyle/>
          <a:p>
            <a:pPr algn="ctr"/>
            <a:r>
              <a:rPr lang="en-US" dirty="0"/>
              <a:t>Cryogenic system</a:t>
            </a:r>
          </a:p>
        </p:txBody>
      </p:sp>
      <p:cxnSp>
        <p:nvCxnSpPr>
          <p:cNvPr id="17" name="Curved Connector 16">
            <a:extLst>
              <a:ext uri="{FF2B5EF4-FFF2-40B4-BE49-F238E27FC236}">
                <a16:creationId xmlns:a16="http://schemas.microsoft.com/office/drawing/2014/main" id="{B53475C2-7D78-C307-0A7B-4DAA2D6877AC}"/>
              </a:ext>
            </a:extLst>
          </p:cNvPr>
          <p:cNvCxnSpPr>
            <a:stCxn id="1026" idx="3"/>
          </p:cNvCxnSpPr>
          <p:nvPr/>
        </p:nvCxnSpPr>
        <p:spPr>
          <a:xfrm>
            <a:off x="3675042" y="2182714"/>
            <a:ext cx="544417" cy="505492"/>
          </a:xfrm>
          <a:prstGeom prst="curvedConnector3">
            <a:avLst>
              <a:gd name="adj1" fmla="val 35835"/>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2D865B3-74AD-F176-BBF5-879EBBD2B27E}"/>
              </a:ext>
            </a:extLst>
          </p:cNvPr>
          <p:cNvSpPr txBox="1"/>
          <p:nvPr/>
        </p:nvSpPr>
        <p:spPr>
          <a:xfrm rot="3107445">
            <a:off x="3425324" y="2531815"/>
            <a:ext cx="852442" cy="215444"/>
          </a:xfrm>
          <a:prstGeom prst="rect">
            <a:avLst/>
          </a:prstGeom>
          <a:noFill/>
        </p:spPr>
        <p:txBody>
          <a:bodyPr wrap="square" rtlCol="0">
            <a:spAutoFit/>
          </a:bodyPr>
          <a:lstStyle/>
          <a:p>
            <a:pPr algn="ctr"/>
            <a:r>
              <a:rPr lang="en-US" sz="800" dirty="0">
                <a:solidFill>
                  <a:schemeClr val="accent1"/>
                </a:solidFill>
              </a:rPr>
              <a:t>Turn to ~ 0</a:t>
            </a:r>
            <a:r>
              <a:rPr lang="en-US" sz="800" baseline="30000" dirty="0">
                <a:solidFill>
                  <a:schemeClr val="accent1"/>
                </a:solidFill>
              </a:rPr>
              <a:t>o</a:t>
            </a:r>
            <a:r>
              <a:rPr lang="en-US" sz="800" dirty="0">
                <a:solidFill>
                  <a:schemeClr val="accent1"/>
                </a:solidFill>
              </a:rPr>
              <a:t>K</a:t>
            </a:r>
          </a:p>
        </p:txBody>
      </p:sp>
      <p:sp>
        <p:nvSpPr>
          <p:cNvPr id="21" name="TextBox 20">
            <a:extLst>
              <a:ext uri="{FF2B5EF4-FFF2-40B4-BE49-F238E27FC236}">
                <a16:creationId xmlns:a16="http://schemas.microsoft.com/office/drawing/2014/main" id="{3CEE1F09-DA37-A8ED-4CC0-36E5AFAA080F}"/>
              </a:ext>
            </a:extLst>
          </p:cNvPr>
          <p:cNvSpPr txBox="1"/>
          <p:nvPr/>
        </p:nvSpPr>
        <p:spPr>
          <a:xfrm>
            <a:off x="2291506" y="5114830"/>
            <a:ext cx="2015852" cy="646331"/>
          </a:xfrm>
          <a:prstGeom prst="rect">
            <a:avLst/>
          </a:prstGeom>
          <a:noFill/>
        </p:spPr>
        <p:txBody>
          <a:bodyPr wrap="square">
            <a:spAutoFit/>
          </a:bodyPr>
          <a:lstStyle/>
          <a:p>
            <a:r>
              <a:rPr lang="en-US"/>
              <a:t>Control Electronics</a:t>
            </a:r>
          </a:p>
          <a:p>
            <a:r>
              <a:rPr lang="en-US"/>
              <a:t>(FPGA/ASIC)</a:t>
            </a:r>
            <a:endParaRPr lang="en-VN"/>
          </a:p>
        </p:txBody>
      </p:sp>
      <p:pic>
        <p:nvPicPr>
          <p:cNvPr id="22" name="Picture 6" descr="Fpga Images - Free Download on Freepik">
            <a:extLst>
              <a:ext uri="{FF2B5EF4-FFF2-40B4-BE49-F238E27FC236}">
                <a16:creationId xmlns:a16="http://schemas.microsoft.com/office/drawing/2014/main" id="{D78EA29A-F5FE-F283-C670-42D3F4BE427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026" t="24120" r="23646" b="23350"/>
          <a:stretch/>
        </p:blipFill>
        <p:spPr bwMode="auto">
          <a:xfrm>
            <a:off x="2325435" y="3734847"/>
            <a:ext cx="1278423" cy="1283334"/>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Elbow Connector 22">
            <a:extLst>
              <a:ext uri="{FF2B5EF4-FFF2-40B4-BE49-F238E27FC236}">
                <a16:creationId xmlns:a16="http://schemas.microsoft.com/office/drawing/2014/main" id="{981A0A62-A412-E8FE-1C63-707C449955F0}"/>
              </a:ext>
            </a:extLst>
          </p:cNvPr>
          <p:cNvCxnSpPr>
            <a:cxnSpLocks/>
            <a:stCxn id="21" idx="1"/>
            <a:endCxn id="25" idx="2"/>
          </p:cNvCxnSpPr>
          <p:nvPr/>
        </p:nvCxnSpPr>
        <p:spPr>
          <a:xfrm rot="10800000">
            <a:off x="1128372" y="4561180"/>
            <a:ext cx="1163135" cy="876816"/>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2EFF444-494F-C5B8-F6C7-7758B2280ABA}"/>
              </a:ext>
            </a:extLst>
          </p:cNvPr>
          <p:cNvSpPr txBox="1"/>
          <p:nvPr/>
        </p:nvSpPr>
        <p:spPr>
          <a:xfrm>
            <a:off x="139548" y="4191848"/>
            <a:ext cx="1977646" cy="369332"/>
          </a:xfrm>
          <a:prstGeom prst="rect">
            <a:avLst/>
          </a:prstGeom>
          <a:noFill/>
        </p:spPr>
        <p:txBody>
          <a:bodyPr wrap="square" rtlCol="0">
            <a:spAutoFit/>
          </a:bodyPr>
          <a:lstStyle/>
          <a:p>
            <a:r>
              <a:rPr lang="en-VN">
                <a:solidFill>
                  <a:srgbClr val="00B050"/>
                </a:solidFill>
              </a:rPr>
              <a:t>We CAN cover this</a:t>
            </a:r>
          </a:p>
        </p:txBody>
      </p:sp>
      <p:cxnSp>
        <p:nvCxnSpPr>
          <p:cNvPr id="28" name="Curved Connector 27">
            <a:extLst>
              <a:ext uri="{FF2B5EF4-FFF2-40B4-BE49-F238E27FC236}">
                <a16:creationId xmlns:a16="http://schemas.microsoft.com/office/drawing/2014/main" id="{38B1A35C-C77E-B27B-6722-027A04C9D1EB}"/>
              </a:ext>
            </a:extLst>
          </p:cNvPr>
          <p:cNvCxnSpPr>
            <a:cxnSpLocks/>
            <a:stCxn id="22" idx="3"/>
            <a:endCxn id="7" idx="1"/>
          </p:cNvCxnSpPr>
          <p:nvPr/>
        </p:nvCxnSpPr>
        <p:spPr>
          <a:xfrm flipV="1">
            <a:off x="3603858" y="3139805"/>
            <a:ext cx="516451" cy="123670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98865C7-A074-9D1C-FA34-F2F7A4B60151}"/>
              </a:ext>
            </a:extLst>
          </p:cNvPr>
          <p:cNvSpPr txBox="1"/>
          <p:nvPr/>
        </p:nvSpPr>
        <p:spPr>
          <a:xfrm rot="16397374">
            <a:off x="3336464" y="3627126"/>
            <a:ext cx="852442" cy="215444"/>
          </a:xfrm>
          <a:prstGeom prst="rect">
            <a:avLst/>
          </a:prstGeom>
          <a:noFill/>
        </p:spPr>
        <p:txBody>
          <a:bodyPr wrap="square" rtlCol="0">
            <a:spAutoFit/>
          </a:bodyPr>
          <a:lstStyle/>
          <a:p>
            <a:pPr algn="ctr"/>
            <a:r>
              <a:rPr lang="en-US" sz="800" dirty="0">
                <a:solidFill>
                  <a:schemeClr val="accent1"/>
                </a:solidFill>
              </a:rPr>
              <a:t>Control</a:t>
            </a:r>
          </a:p>
        </p:txBody>
      </p:sp>
      <p:pic>
        <p:nvPicPr>
          <p:cNvPr id="1028" name="Picture 4" descr="Old computer - Free computer icons">
            <a:extLst>
              <a:ext uri="{FF2B5EF4-FFF2-40B4-BE49-F238E27FC236}">
                <a16:creationId xmlns:a16="http://schemas.microsoft.com/office/drawing/2014/main" id="{DBE0455D-DC0E-B8FD-0F29-B09C7BA411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1427" y="2212670"/>
            <a:ext cx="2180952" cy="21809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ox - Download free icons">
            <a:extLst>
              <a:ext uri="{FF2B5EF4-FFF2-40B4-BE49-F238E27FC236}">
                <a16:creationId xmlns:a16="http://schemas.microsoft.com/office/drawing/2014/main" id="{6FD200E8-058E-7724-EFD4-41655BF66A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2467" y="4641458"/>
            <a:ext cx="974217" cy="974217"/>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F5C872BF-55EE-9636-0CDA-F6B0F87C130D}"/>
              </a:ext>
            </a:extLst>
          </p:cNvPr>
          <p:cNvSpPr txBox="1"/>
          <p:nvPr/>
        </p:nvSpPr>
        <p:spPr>
          <a:xfrm>
            <a:off x="4170366" y="5468461"/>
            <a:ext cx="2263486" cy="646331"/>
          </a:xfrm>
          <a:prstGeom prst="rect">
            <a:avLst/>
          </a:prstGeom>
          <a:noFill/>
        </p:spPr>
        <p:txBody>
          <a:bodyPr wrap="square">
            <a:spAutoFit/>
          </a:bodyPr>
          <a:lstStyle/>
          <a:p>
            <a:r>
              <a:rPr lang="en-US"/>
              <a:t>Error correcting code device (FPGA/ASIC)</a:t>
            </a:r>
            <a:endParaRPr lang="en-VN"/>
          </a:p>
        </p:txBody>
      </p:sp>
      <p:cxnSp>
        <p:nvCxnSpPr>
          <p:cNvPr id="33" name="Curved Connector 32">
            <a:extLst>
              <a:ext uri="{FF2B5EF4-FFF2-40B4-BE49-F238E27FC236}">
                <a16:creationId xmlns:a16="http://schemas.microsoft.com/office/drawing/2014/main" id="{7034EB39-F909-A510-54E3-AD7CD628C05D}"/>
              </a:ext>
            </a:extLst>
          </p:cNvPr>
          <p:cNvCxnSpPr>
            <a:cxnSpLocks/>
            <a:stCxn id="1030" idx="3"/>
            <a:endCxn id="5" idx="3"/>
          </p:cNvCxnSpPr>
          <p:nvPr/>
        </p:nvCxnSpPr>
        <p:spPr>
          <a:xfrm flipV="1">
            <a:off x="5516684" y="2688206"/>
            <a:ext cx="185462" cy="2440361"/>
          </a:xfrm>
          <a:prstGeom prst="curvedConnector3">
            <a:avLst>
              <a:gd name="adj1" fmla="val 312363"/>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F2D0B98-8930-C410-7FCC-B6E5C3CADF84}"/>
              </a:ext>
            </a:extLst>
          </p:cNvPr>
          <p:cNvSpPr txBox="1"/>
          <p:nvPr/>
        </p:nvSpPr>
        <p:spPr>
          <a:xfrm rot="16200000">
            <a:off x="5696818" y="3808894"/>
            <a:ext cx="1035603" cy="215444"/>
          </a:xfrm>
          <a:prstGeom prst="rect">
            <a:avLst/>
          </a:prstGeom>
          <a:noFill/>
        </p:spPr>
        <p:txBody>
          <a:bodyPr wrap="square" rtlCol="0">
            <a:spAutoFit/>
          </a:bodyPr>
          <a:lstStyle/>
          <a:p>
            <a:pPr algn="ctr"/>
            <a:r>
              <a:rPr lang="en-US" sz="800" dirty="0">
                <a:solidFill>
                  <a:schemeClr val="accent1"/>
                </a:solidFill>
              </a:rPr>
              <a:t>Noise mitigation</a:t>
            </a:r>
          </a:p>
        </p:txBody>
      </p:sp>
      <p:cxnSp>
        <p:nvCxnSpPr>
          <p:cNvPr id="38" name="Elbow Connector 37">
            <a:extLst>
              <a:ext uri="{FF2B5EF4-FFF2-40B4-BE49-F238E27FC236}">
                <a16:creationId xmlns:a16="http://schemas.microsoft.com/office/drawing/2014/main" id="{1AF1C3CD-C2B5-F191-2D21-13387C3A68B7}"/>
              </a:ext>
            </a:extLst>
          </p:cNvPr>
          <p:cNvCxnSpPr>
            <a:cxnSpLocks/>
            <a:stCxn id="32" idx="3"/>
            <a:endCxn id="39" idx="2"/>
          </p:cNvCxnSpPr>
          <p:nvPr/>
        </p:nvCxnSpPr>
        <p:spPr>
          <a:xfrm flipV="1">
            <a:off x="6433852" y="5599417"/>
            <a:ext cx="1502229" cy="192210"/>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DD2233A-7B2E-14FA-4E26-FFF1B9ACB875}"/>
              </a:ext>
            </a:extLst>
          </p:cNvPr>
          <p:cNvSpPr txBox="1"/>
          <p:nvPr/>
        </p:nvSpPr>
        <p:spPr>
          <a:xfrm>
            <a:off x="6804338" y="5230085"/>
            <a:ext cx="2263485" cy="369332"/>
          </a:xfrm>
          <a:prstGeom prst="rect">
            <a:avLst/>
          </a:prstGeom>
          <a:noFill/>
        </p:spPr>
        <p:txBody>
          <a:bodyPr wrap="square" rtlCol="0">
            <a:spAutoFit/>
          </a:bodyPr>
          <a:lstStyle/>
          <a:p>
            <a:r>
              <a:rPr lang="en-VN">
                <a:solidFill>
                  <a:srgbClr val="00B050"/>
                </a:solidFill>
              </a:rPr>
              <a:t>We CAN cover this</a:t>
            </a:r>
          </a:p>
        </p:txBody>
      </p:sp>
      <p:sp>
        <p:nvSpPr>
          <p:cNvPr id="42" name="TextBox 41">
            <a:extLst>
              <a:ext uri="{FF2B5EF4-FFF2-40B4-BE49-F238E27FC236}">
                <a16:creationId xmlns:a16="http://schemas.microsoft.com/office/drawing/2014/main" id="{D117F73C-34DD-CF5E-F494-61FC3429DE74}"/>
              </a:ext>
            </a:extLst>
          </p:cNvPr>
          <p:cNvSpPr txBox="1"/>
          <p:nvPr/>
        </p:nvSpPr>
        <p:spPr>
          <a:xfrm>
            <a:off x="3024801" y="6516011"/>
            <a:ext cx="2545391" cy="369332"/>
          </a:xfrm>
          <a:prstGeom prst="rect">
            <a:avLst/>
          </a:prstGeom>
          <a:noFill/>
        </p:spPr>
        <p:txBody>
          <a:bodyPr wrap="square" rtlCol="0">
            <a:spAutoFit/>
          </a:bodyPr>
          <a:lstStyle/>
          <a:p>
            <a:pPr algn="ctr"/>
            <a:r>
              <a:rPr lang="en-US" b="1" dirty="0"/>
              <a:t>Quantum Computer</a:t>
            </a:r>
          </a:p>
        </p:txBody>
      </p:sp>
      <p:sp>
        <p:nvSpPr>
          <p:cNvPr id="43" name="Left Brace 42">
            <a:extLst>
              <a:ext uri="{FF2B5EF4-FFF2-40B4-BE49-F238E27FC236}">
                <a16:creationId xmlns:a16="http://schemas.microsoft.com/office/drawing/2014/main" id="{BE938957-4FA9-32B4-C85A-BAA50BA5521D}"/>
              </a:ext>
            </a:extLst>
          </p:cNvPr>
          <p:cNvSpPr/>
          <p:nvPr/>
        </p:nvSpPr>
        <p:spPr>
          <a:xfrm rot="16200000">
            <a:off x="4161211" y="4228533"/>
            <a:ext cx="272573" cy="4272708"/>
          </a:xfrm>
          <a:prstGeom prst="leftBrace">
            <a:avLst>
              <a:gd name="adj1" fmla="val 49404"/>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pic>
        <p:nvPicPr>
          <p:cNvPr id="1032" name="Picture 8" descr="FPGA Icons - Free SVG &amp; PNG FPGA Images - Noun Project">
            <a:extLst>
              <a:ext uri="{FF2B5EF4-FFF2-40B4-BE49-F238E27FC236}">
                <a16:creationId xmlns:a16="http://schemas.microsoft.com/office/drawing/2014/main" id="{8023E64E-B5F9-153B-5C01-1B0C615202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2106" y="2332062"/>
            <a:ext cx="1071608" cy="1071608"/>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Curved Connector 43">
            <a:extLst>
              <a:ext uri="{FF2B5EF4-FFF2-40B4-BE49-F238E27FC236}">
                <a16:creationId xmlns:a16="http://schemas.microsoft.com/office/drawing/2014/main" id="{F36AD5A7-3018-38C6-0B18-D4D1412A89F0}"/>
              </a:ext>
            </a:extLst>
          </p:cNvPr>
          <p:cNvCxnSpPr>
            <a:cxnSpLocks/>
            <a:stCxn id="1028" idx="0"/>
            <a:endCxn id="8" idx="0"/>
          </p:cNvCxnSpPr>
          <p:nvPr/>
        </p:nvCxnSpPr>
        <p:spPr>
          <a:xfrm rot="16200000" flipV="1">
            <a:off x="7114461" y="-1384773"/>
            <a:ext cx="780480" cy="6414405"/>
          </a:xfrm>
          <a:prstGeom prst="curvedConnector3">
            <a:avLst>
              <a:gd name="adj1" fmla="val 12599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0FCE5C4-3913-C54F-39C1-2CFB539CC0DB}"/>
              </a:ext>
            </a:extLst>
          </p:cNvPr>
          <p:cNvSpPr txBox="1"/>
          <p:nvPr/>
        </p:nvSpPr>
        <p:spPr>
          <a:xfrm>
            <a:off x="5796359" y="858908"/>
            <a:ext cx="4078161" cy="307777"/>
          </a:xfrm>
          <a:prstGeom prst="rect">
            <a:avLst/>
          </a:prstGeom>
          <a:noFill/>
        </p:spPr>
        <p:txBody>
          <a:bodyPr wrap="square" rtlCol="0">
            <a:spAutoFit/>
          </a:bodyPr>
          <a:lstStyle/>
          <a:p>
            <a:pPr algn="ctr"/>
            <a:r>
              <a:rPr lang="en-US" sz="1400" dirty="0">
                <a:solidFill>
                  <a:schemeClr val="accent1"/>
                </a:solidFill>
              </a:rPr>
              <a:t>(3) Control and deploy on real quantum computers</a:t>
            </a:r>
          </a:p>
        </p:txBody>
      </p:sp>
      <p:sp>
        <p:nvSpPr>
          <p:cNvPr id="48" name="TextBox 47">
            <a:extLst>
              <a:ext uri="{FF2B5EF4-FFF2-40B4-BE49-F238E27FC236}">
                <a16:creationId xmlns:a16="http://schemas.microsoft.com/office/drawing/2014/main" id="{0CE8EFE8-8188-2D85-7229-291883B45E61}"/>
              </a:ext>
            </a:extLst>
          </p:cNvPr>
          <p:cNvSpPr txBox="1"/>
          <p:nvPr/>
        </p:nvSpPr>
        <p:spPr>
          <a:xfrm>
            <a:off x="6485377" y="3429000"/>
            <a:ext cx="2180952" cy="646331"/>
          </a:xfrm>
          <a:prstGeom prst="rect">
            <a:avLst/>
          </a:prstGeom>
          <a:noFill/>
        </p:spPr>
        <p:txBody>
          <a:bodyPr wrap="square" rtlCol="0">
            <a:spAutoFit/>
          </a:bodyPr>
          <a:lstStyle/>
          <a:p>
            <a:pPr algn="ctr"/>
            <a:r>
              <a:rPr lang="en-US" b="1" dirty="0"/>
              <a:t>Quantum Emulator</a:t>
            </a:r>
          </a:p>
          <a:p>
            <a:pPr algn="ctr"/>
            <a:r>
              <a:rPr lang="en-US" b="1" dirty="0"/>
              <a:t>(GPU/FPGA/ASIC)</a:t>
            </a:r>
          </a:p>
        </p:txBody>
      </p:sp>
      <p:cxnSp>
        <p:nvCxnSpPr>
          <p:cNvPr id="49" name="Elbow Connector 48">
            <a:extLst>
              <a:ext uri="{FF2B5EF4-FFF2-40B4-BE49-F238E27FC236}">
                <a16:creationId xmlns:a16="http://schemas.microsoft.com/office/drawing/2014/main" id="{E93CEE10-7A3C-E885-8629-1697F34D9DA4}"/>
              </a:ext>
            </a:extLst>
          </p:cNvPr>
          <p:cNvCxnSpPr>
            <a:cxnSpLocks/>
            <a:stCxn id="48" idx="2"/>
            <a:endCxn id="39" idx="0"/>
          </p:cNvCxnSpPr>
          <p:nvPr/>
        </p:nvCxnSpPr>
        <p:spPr>
          <a:xfrm rot="16200000" flipH="1">
            <a:off x="7178590" y="4472594"/>
            <a:ext cx="1154754" cy="360228"/>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17A5AF79-2189-C669-1654-6CAD274702FA}"/>
              </a:ext>
            </a:extLst>
          </p:cNvPr>
          <p:cNvCxnSpPr>
            <a:cxnSpLocks/>
            <a:stCxn id="1028" idx="0"/>
            <a:endCxn id="1032" idx="0"/>
          </p:cNvCxnSpPr>
          <p:nvPr/>
        </p:nvCxnSpPr>
        <p:spPr>
          <a:xfrm rot="16200000" flipH="1" flipV="1">
            <a:off x="9035211" y="655369"/>
            <a:ext cx="119392" cy="3233993"/>
          </a:xfrm>
          <a:prstGeom prst="curvedConnector3">
            <a:avLst>
              <a:gd name="adj1" fmla="val -191470"/>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6724913-080A-7E70-4025-D644FCC7F41D}"/>
              </a:ext>
            </a:extLst>
          </p:cNvPr>
          <p:cNvSpPr txBox="1"/>
          <p:nvPr/>
        </p:nvSpPr>
        <p:spPr>
          <a:xfrm>
            <a:off x="6683521" y="1665608"/>
            <a:ext cx="3817792" cy="523220"/>
          </a:xfrm>
          <a:prstGeom prst="rect">
            <a:avLst/>
          </a:prstGeom>
          <a:noFill/>
        </p:spPr>
        <p:txBody>
          <a:bodyPr wrap="square" rtlCol="0">
            <a:spAutoFit/>
          </a:bodyPr>
          <a:lstStyle/>
          <a:p>
            <a:pPr algn="ctr"/>
            <a:r>
              <a:rPr lang="en-US" sz="1400" dirty="0">
                <a:solidFill>
                  <a:schemeClr val="accent1"/>
                </a:solidFill>
              </a:rPr>
              <a:t>(1) Deploy quantum programs at small scale</a:t>
            </a:r>
          </a:p>
          <a:p>
            <a:pPr algn="ctr"/>
            <a:endParaRPr lang="en-US" sz="1400" dirty="0">
              <a:solidFill>
                <a:schemeClr val="accent1"/>
              </a:solidFill>
            </a:endParaRPr>
          </a:p>
        </p:txBody>
      </p:sp>
      <p:cxnSp>
        <p:nvCxnSpPr>
          <p:cNvPr id="57" name="Curved Connector 56">
            <a:extLst>
              <a:ext uri="{FF2B5EF4-FFF2-40B4-BE49-F238E27FC236}">
                <a16:creationId xmlns:a16="http://schemas.microsoft.com/office/drawing/2014/main" id="{F340BFD3-FA13-972F-5707-CFE231A311DF}"/>
              </a:ext>
            </a:extLst>
          </p:cNvPr>
          <p:cNvCxnSpPr>
            <a:cxnSpLocks/>
            <a:stCxn id="1032" idx="3"/>
            <a:endCxn id="1028" idx="1"/>
          </p:cNvCxnSpPr>
          <p:nvPr/>
        </p:nvCxnSpPr>
        <p:spPr>
          <a:xfrm>
            <a:off x="8013714" y="2867866"/>
            <a:ext cx="1607713" cy="43528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F7F188C-5CF2-F268-3780-410C4062AF13}"/>
              </a:ext>
            </a:extLst>
          </p:cNvPr>
          <p:cNvSpPr txBox="1"/>
          <p:nvPr/>
        </p:nvSpPr>
        <p:spPr>
          <a:xfrm>
            <a:off x="8013714" y="2129202"/>
            <a:ext cx="2017142" cy="738664"/>
          </a:xfrm>
          <a:prstGeom prst="rect">
            <a:avLst/>
          </a:prstGeom>
          <a:noFill/>
        </p:spPr>
        <p:txBody>
          <a:bodyPr wrap="square" rtlCol="0">
            <a:spAutoFit/>
          </a:bodyPr>
          <a:lstStyle/>
          <a:p>
            <a:r>
              <a:rPr lang="en-US" sz="1400" dirty="0">
                <a:solidFill>
                  <a:schemeClr val="accent1"/>
                </a:solidFill>
              </a:rPr>
              <a:t>(2) Pass all test cases?</a:t>
            </a:r>
          </a:p>
          <a:p>
            <a:r>
              <a:rPr lang="en-US" sz="1400" dirty="0">
                <a:solidFill>
                  <a:schemeClr val="accent1"/>
                </a:solidFill>
              </a:rPr>
              <a:t>Then deploy on real quantum computers</a:t>
            </a:r>
          </a:p>
        </p:txBody>
      </p:sp>
      <p:sp>
        <p:nvSpPr>
          <p:cNvPr id="62" name="TextBox 61">
            <a:extLst>
              <a:ext uri="{FF2B5EF4-FFF2-40B4-BE49-F238E27FC236}">
                <a16:creationId xmlns:a16="http://schemas.microsoft.com/office/drawing/2014/main" id="{E94BB4D1-C45D-93D3-F071-B61403DD10F7}"/>
              </a:ext>
            </a:extLst>
          </p:cNvPr>
          <p:cNvSpPr txBox="1"/>
          <p:nvPr/>
        </p:nvSpPr>
        <p:spPr>
          <a:xfrm>
            <a:off x="9851272" y="4381229"/>
            <a:ext cx="2151976" cy="646331"/>
          </a:xfrm>
          <a:prstGeom prst="rect">
            <a:avLst/>
          </a:prstGeom>
          <a:noFill/>
        </p:spPr>
        <p:txBody>
          <a:bodyPr wrap="square">
            <a:spAutoFit/>
          </a:bodyPr>
          <a:lstStyle/>
          <a:p>
            <a:r>
              <a:rPr lang="en-US"/>
              <a:t>Classical computer</a:t>
            </a:r>
          </a:p>
          <a:p>
            <a:r>
              <a:rPr lang="en-US"/>
              <a:t>(Your computer)</a:t>
            </a:r>
            <a:endParaRPr lang="en-VN"/>
          </a:p>
        </p:txBody>
      </p:sp>
    </p:spTree>
    <p:extLst>
      <p:ext uri="{BB962C8B-B14F-4D97-AF65-F5344CB8AC3E}">
        <p14:creationId xmlns:p14="http://schemas.microsoft.com/office/powerpoint/2010/main" val="763241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4944E3-8D53-006E-685C-AE6576CCE24F}"/>
              </a:ext>
            </a:extLst>
          </p:cNvPr>
          <p:cNvPicPr>
            <a:picLocks noChangeAspect="1"/>
          </p:cNvPicPr>
          <p:nvPr/>
        </p:nvPicPr>
        <p:blipFill>
          <a:blip r:embed="rId2"/>
          <a:stretch>
            <a:fillRect/>
          </a:stretch>
        </p:blipFill>
        <p:spPr>
          <a:xfrm>
            <a:off x="201022" y="1150283"/>
            <a:ext cx="5056754" cy="4557433"/>
          </a:xfrm>
          <a:prstGeom prst="rect">
            <a:avLst/>
          </a:prstGeom>
          <a:ln>
            <a:solidFill>
              <a:schemeClr val="tx1"/>
            </a:solidFill>
          </a:ln>
        </p:spPr>
      </p:pic>
      <p:pic>
        <p:nvPicPr>
          <p:cNvPr id="7" name="Picture 6" descr="A diagram of a computer network&#10;&#10;AI-generated content may be incorrect.">
            <a:extLst>
              <a:ext uri="{FF2B5EF4-FFF2-40B4-BE49-F238E27FC236}">
                <a16:creationId xmlns:a16="http://schemas.microsoft.com/office/drawing/2014/main" id="{96F3D4A2-173D-6F28-81FE-26CF1FBA48AE}"/>
              </a:ext>
            </a:extLst>
          </p:cNvPr>
          <p:cNvPicPr>
            <a:picLocks noChangeAspect="1"/>
          </p:cNvPicPr>
          <p:nvPr/>
        </p:nvPicPr>
        <p:blipFill>
          <a:blip r:embed="rId3"/>
          <a:stretch>
            <a:fillRect/>
          </a:stretch>
        </p:blipFill>
        <p:spPr>
          <a:xfrm>
            <a:off x="6934224" y="2976250"/>
            <a:ext cx="5163796" cy="3881750"/>
          </a:xfrm>
          <a:prstGeom prst="rect">
            <a:avLst/>
          </a:prstGeom>
        </p:spPr>
      </p:pic>
      <p:pic>
        <p:nvPicPr>
          <p:cNvPr id="1028" name="Picture 4" descr="The quantum-centric supercomputing of tomorrow—today | IBM Quantum  Computing Blog">
            <a:extLst>
              <a:ext uri="{FF2B5EF4-FFF2-40B4-BE49-F238E27FC236}">
                <a16:creationId xmlns:a16="http://schemas.microsoft.com/office/drawing/2014/main" id="{4EDAF6BC-54BC-F3C3-8FFD-E1A34ED3B4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25" y="70858"/>
            <a:ext cx="5163796" cy="290539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D1A208C-341A-E2C9-8434-B40010FD463F}"/>
              </a:ext>
            </a:extLst>
          </p:cNvPr>
          <p:cNvSpPr txBox="1"/>
          <p:nvPr/>
        </p:nvSpPr>
        <p:spPr>
          <a:xfrm>
            <a:off x="6934224" y="70858"/>
            <a:ext cx="2545442" cy="646331"/>
          </a:xfrm>
          <a:prstGeom prst="rect">
            <a:avLst/>
          </a:prstGeom>
          <a:noFill/>
        </p:spPr>
        <p:txBody>
          <a:bodyPr wrap="square" rtlCol="0">
            <a:spAutoFit/>
          </a:bodyPr>
          <a:lstStyle/>
          <a:p>
            <a:r>
              <a:rPr lang="en-VN" b="1"/>
              <a:t>IBM hybrid quantum-classical computer</a:t>
            </a:r>
          </a:p>
        </p:txBody>
      </p:sp>
      <p:sp>
        <p:nvSpPr>
          <p:cNvPr id="9" name="TextBox 8">
            <a:extLst>
              <a:ext uri="{FF2B5EF4-FFF2-40B4-BE49-F238E27FC236}">
                <a16:creationId xmlns:a16="http://schemas.microsoft.com/office/drawing/2014/main" id="{597B9AC5-7C93-AE01-AF36-36A8AB5F47D0}"/>
              </a:ext>
            </a:extLst>
          </p:cNvPr>
          <p:cNvSpPr txBox="1"/>
          <p:nvPr/>
        </p:nvSpPr>
        <p:spPr>
          <a:xfrm rot="16200000">
            <a:off x="6351914" y="1264409"/>
            <a:ext cx="795289" cy="369332"/>
          </a:xfrm>
          <a:prstGeom prst="rect">
            <a:avLst/>
          </a:prstGeom>
          <a:noFill/>
        </p:spPr>
        <p:txBody>
          <a:bodyPr wrap="square" rtlCol="0">
            <a:spAutoFit/>
          </a:bodyPr>
          <a:lstStyle/>
          <a:p>
            <a:r>
              <a:rPr lang="en-VN" b="1"/>
              <a:t>USA</a:t>
            </a:r>
          </a:p>
        </p:txBody>
      </p:sp>
      <p:sp>
        <p:nvSpPr>
          <p:cNvPr id="10" name="TextBox 9">
            <a:extLst>
              <a:ext uri="{FF2B5EF4-FFF2-40B4-BE49-F238E27FC236}">
                <a16:creationId xmlns:a16="http://schemas.microsoft.com/office/drawing/2014/main" id="{5221647A-7849-E9F3-F1B8-7FB386584544}"/>
              </a:ext>
            </a:extLst>
          </p:cNvPr>
          <p:cNvSpPr txBox="1"/>
          <p:nvPr/>
        </p:nvSpPr>
        <p:spPr>
          <a:xfrm rot="16200000">
            <a:off x="6057716" y="4413593"/>
            <a:ext cx="1433018" cy="369332"/>
          </a:xfrm>
          <a:prstGeom prst="rect">
            <a:avLst/>
          </a:prstGeom>
          <a:noFill/>
        </p:spPr>
        <p:txBody>
          <a:bodyPr wrap="square" rtlCol="0">
            <a:spAutoFit/>
          </a:bodyPr>
          <a:lstStyle/>
          <a:p>
            <a:r>
              <a:rPr lang="en-VN" b="1"/>
              <a:t>HPCi Japan</a:t>
            </a:r>
          </a:p>
        </p:txBody>
      </p:sp>
      <p:sp>
        <p:nvSpPr>
          <p:cNvPr id="11" name="Oval 10">
            <a:extLst>
              <a:ext uri="{FF2B5EF4-FFF2-40B4-BE49-F238E27FC236}">
                <a16:creationId xmlns:a16="http://schemas.microsoft.com/office/drawing/2014/main" id="{4C4A24E7-CCB0-D117-0411-B36EC56D5811}"/>
              </a:ext>
            </a:extLst>
          </p:cNvPr>
          <p:cNvSpPr/>
          <p:nvPr/>
        </p:nvSpPr>
        <p:spPr>
          <a:xfrm rot="20038546">
            <a:off x="1522606" y="2069540"/>
            <a:ext cx="1770926" cy="352708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019728EC-CEFD-A6C3-C316-9A0F9B9D0840}"/>
              </a:ext>
            </a:extLst>
          </p:cNvPr>
          <p:cNvSpPr txBox="1"/>
          <p:nvPr/>
        </p:nvSpPr>
        <p:spPr>
          <a:xfrm>
            <a:off x="347241" y="6047951"/>
            <a:ext cx="6342926" cy="584775"/>
          </a:xfrm>
          <a:prstGeom prst="rect">
            <a:avLst/>
          </a:prstGeom>
          <a:noFill/>
        </p:spPr>
        <p:txBody>
          <a:bodyPr wrap="square" rtlCol="0">
            <a:spAutoFit/>
          </a:bodyPr>
          <a:lstStyle/>
          <a:p>
            <a:r>
              <a:rPr lang="en-VN" sz="3200">
                <a:solidFill>
                  <a:srgbClr val="FF0000"/>
                </a:solidFill>
              </a:rPr>
              <a:t>Replacing “GPU for quantum task” </a:t>
            </a:r>
          </a:p>
        </p:txBody>
      </p:sp>
      <p:sp>
        <p:nvSpPr>
          <p:cNvPr id="13" name="Right Arrow 12">
            <a:extLst>
              <a:ext uri="{FF2B5EF4-FFF2-40B4-BE49-F238E27FC236}">
                <a16:creationId xmlns:a16="http://schemas.microsoft.com/office/drawing/2014/main" id="{495DEFBF-971F-168D-6F04-0055E7F752D6}"/>
              </a:ext>
            </a:extLst>
          </p:cNvPr>
          <p:cNvSpPr/>
          <p:nvPr/>
        </p:nvSpPr>
        <p:spPr>
          <a:xfrm rot="5400000">
            <a:off x="2608791" y="5569031"/>
            <a:ext cx="646330" cy="40511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820467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A3FC-C78A-4A81-F1C8-CE806553E5E3}"/>
              </a:ext>
            </a:extLst>
          </p:cNvPr>
          <p:cNvSpPr>
            <a:spLocks noGrp="1"/>
          </p:cNvSpPr>
          <p:nvPr>
            <p:ph type="title"/>
          </p:nvPr>
        </p:nvSpPr>
        <p:spPr>
          <a:xfrm>
            <a:off x="732889" y="1"/>
            <a:ext cx="10620911" cy="1240535"/>
          </a:xfrm>
        </p:spPr>
        <p:txBody>
          <a:bodyPr>
            <a:normAutofit/>
          </a:bodyPr>
          <a:lstStyle/>
          <a:p>
            <a:r>
              <a:rPr lang="en-US" sz="3200" dirty="0"/>
              <a:t>1.1. Quantum simulation approach</a:t>
            </a:r>
          </a:p>
        </p:txBody>
      </p:sp>
      <p:graphicFrame>
        <p:nvGraphicFramePr>
          <p:cNvPr id="5" name="Content Placeholder 4">
            <a:extLst>
              <a:ext uri="{FF2B5EF4-FFF2-40B4-BE49-F238E27FC236}">
                <a16:creationId xmlns:a16="http://schemas.microsoft.com/office/drawing/2014/main" id="{72BE2AC1-1666-AECA-F1CD-9B93FED96CF4}"/>
              </a:ext>
            </a:extLst>
          </p:cNvPr>
          <p:cNvGraphicFramePr>
            <a:graphicFrameLocks noGrp="1"/>
          </p:cNvGraphicFramePr>
          <p:nvPr>
            <p:ph idx="1"/>
          </p:nvPr>
        </p:nvGraphicFramePr>
        <p:xfrm>
          <a:off x="838200" y="1609868"/>
          <a:ext cx="10800993" cy="3710400"/>
        </p:xfrm>
        <a:graphic>
          <a:graphicData uri="http://schemas.openxmlformats.org/drawingml/2006/table">
            <a:tbl>
              <a:tblPr firstRow="1" bandRow="1">
                <a:tableStyleId>{5940675A-B579-460E-94D1-54222C63F5DA}</a:tableStyleId>
              </a:tblPr>
              <a:tblGrid>
                <a:gridCol w="2757755">
                  <a:extLst>
                    <a:ext uri="{9D8B030D-6E8A-4147-A177-3AD203B41FA5}">
                      <a16:colId xmlns:a16="http://schemas.microsoft.com/office/drawing/2014/main" val="4132432325"/>
                    </a:ext>
                  </a:extLst>
                </a:gridCol>
                <a:gridCol w="1895582">
                  <a:extLst>
                    <a:ext uri="{9D8B030D-6E8A-4147-A177-3AD203B41FA5}">
                      <a16:colId xmlns:a16="http://schemas.microsoft.com/office/drawing/2014/main" val="2663558509"/>
                    </a:ext>
                  </a:extLst>
                </a:gridCol>
                <a:gridCol w="1325366">
                  <a:extLst>
                    <a:ext uri="{9D8B030D-6E8A-4147-A177-3AD203B41FA5}">
                      <a16:colId xmlns:a16="http://schemas.microsoft.com/office/drawing/2014/main" val="2510835557"/>
                    </a:ext>
                  </a:extLst>
                </a:gridCol>
                <a:gridCol w="1607430">
                  <a:extLst>
                    <a:ext uri="{9D8B030D-6E8A-4147-A177-3AD203B41FA5}">
                      <a16:colId xmlns:a16="http://schemas.microsoft.com/office/drawing/2014/main" val="3060698777"/>
                    </a:ext>
                  </a:extLst>
                </a:gridCol>
                <a:gridCol w="1607430">
                  <a:extLst>
                    <a:ext uri="{9D8B030D-6E8A-4147-A177-3AD203B41FA5}">
                      <a16:colId xmlns:a16="http://schemas.microsoft.com/office/drawing/2014/main" val="3166617795"/>
                    </a:ext>
                  </a:extLst>
                </a:gridCol>
                <a:gridCol w="1607430">
                  <a:extLst>
                    <a:ext uri="{9D8B030D-6E8A-4147-A177-3AD203B41FA5}">
                      <a16:colId xmlns:a16="http://schemas.microsoft.com/office/drawing/2014/main" val="1164519155"/>
                    </a:ext>
                  </a:extLst>
                </a:gridCol>
              </a:tblGrid>
              <a:tr h="517134">
                <a:tc>
                  <a:txBody>
                    <a:bodyPr/>
                    <a:lstStyle/>
                    <a:p>
                      <a:r>
                        <a:rPr lang="en-US" sz="2000" b="1" dirty="0"/>
                        <a:t>Approach</a:t>
                      </a:r>
                      <a:endParaRPr lang="en-US" sz="2000" b="1" dirty="0">
                        <a:solidFill>
                          <a:schemeClr val="tx1"/>
                        </a:solidFill>
                      </a:endParaRPr>
                    </a:p>
                  </a:txBody>
                  <a:tcPr anchor="ctr"/>
                </a:tc>
                <a:tc>
                  <a:txBody>
                    <a:bodyPr/>
                    <a:lstStyle/>
                    <a:p>
                      <a:r>
                        <a:rPr lang="en-US" sz="2000" b="1" dirty="0"/>
                        <a:t>Device</a:t>
                      </a:r>
                      <a:endParaRPr lang="en-US" sz="2000" b="1" dirty="0">
                        <a:solidFill>
                          <a:schemeClr val="tx1"/>
                        </a:solidFill>
                      </a:endParaRPr>
                    </a:p>
                  </a:txBody>
                  <a:tcPr anchor="ctr"/>
                </a:tc>
                <a:tc>
                  <a:txBody>
                    <a:bodyPr/>
                    <a:lstStyle/>
                    <a:p>
                      <a:r>
                        <a:rPr lang="en-US" sz="2000" b="1" dirty="0">
                          <a:solidFill>
                            <a:schemeClr val="tx1"/>
                          </a:solidFill>
                        </a:rPr>
                        <a:t>Type</a:t>
                      </a:r>
                    </a:p>
                  </a:txBody>
                  <a:tcPr anchor="ctr"/>
                </a:tc>
                <a:tc>
                  <a:txBody>
                    <a:bodyPr/>
                    <a:lstStyle/>
                    <a:p>
                      <a:r>
                        <a:rPr lang="en-US" sz="2000" b="1" dirty="0"/>
                        <a:t>Theory analysis</a:t>
                      </a:r>
                      <a:endParaRPr lang="en-US" sz="2000" b="1" dirty="0">
                        <a:solidFill>
                          <a:schemeClr val="tx1"/>
                        </a:solidFill>
                      </a:endParaRPr>
                    </a:p>
                  </a:txBody>
                  <a:tcPr anchor="ctr"/>
                </a:tc>
                <a:tc>
                  <a:txBody>
                    <a:bodyPr/>
                    <a:lstStyle/>
                    <a:p>
                      <a:r>
                        <a:rPr lang="en-US" sz="2000" b="1" dirty="0"/>
                        <a:t>Software design</a:t>
                      </a:r>
                      <a:endParaRPr lang="en-US" sz="2000" b="1" dirty="0">
                        <a:solidFill>
                          <a:schemeClr val="tx1"/>
                        </a:solidFill>
                      </a:endParaRPr>
                    </a:p>
                  </a:txBody>
                  <a:tcPr anchor="ctr"/>
                </a:tc>
                <a:tc>
                  <a:txBody>
                    <a:bodyPr/>
                    <a:lstStyle/>
                    <a:p>
                      <a:r>
                        <a:rPr lang="en-US" sz="2000" b="1" dirty="0"/>
                        <a:t>Hardware design</a:t>
                      </a:r>
                      <a:endParaRPr lang="en-US" sz="2000" b="1" dirty="0">
                        <a:solidFill>
                          <a:schemeClr val="tx1"/>
                        </a:solidFill>
                      </a:endParaRPr>
                    </a:p>
                  </a:txBody>
                  <a:tcPr anchor="ctr"/>
                </a:tc>
                <a:extLst>
                  <a:ext uri="{0D108BD9-81ED-4DB2-BD59-A6C34878D82A}">
                    <a16:rowId xmlns:a16="http://schemas.microsoft.com/office/drawing/2014/main" val="4193280095"/>
                  </a:ext>
                </a:extLst>
              </a:tr>
              <a:tr h="517134">
                <a:tc>
                  <a:txBody>
                    <a:bodyPr/>
                    <a:lstStyle/>
                    <a:p>
                      <a:r>
                        <a:rPr lang="en-US" sz="2000" dirty="0">
                          <a:solidFill>
                            <a:schemeClr val="tx1"/>
                          </a:solidFill>
                        </a:rPr>
                        <a:t>Density matrix variant (state vector) [2]</a:t>
                      </a:r>
                    </a:p>
                  </a:txBody>
                  <a:tcPr anchor="ctr"/>
                </a:tc>
                <a:tc>
                  <a:txBody>
                    <a:bodyPr/>
                    <a:lstStyle/>
                    <a:p>
                      <a:r>
                        <a:rPr lang="en-US" sz="2000" dirty="0"/>
                        <a:t>FPGA ZCU102</a:t>
                      </a:r>
                      <a:endParaRPr lang="en-US" sz="2000" dirty="0">
                        <a:solidFill>
                          <a:schemeClr val="tx1"/>
                        </a:solidFill>
                      </a:endParaRPr>
                    </a:p>
                  </a:txBody>
                  <a:tcPr anchor="ctr"/>
                </a:tc>
                <a:tc>
                  <a:txBody>
                    <a:bodyPr/>
                    <a:lstStyle/>
                    <a:p>
                      <a:r>
                        <a:rPr lang="en-US" sz="2000" dirty="0">
                          <a:solidFill>
                            <a:schemeClr val="tx1"/>
                          </a:solidFill>
                        </a:rPr>
                        <a:t>Emulator</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extLst>
                  <a:ext uri="{0D108BD9-81ED-4DB2-BD59-A6C34878D82A}">
                    <a16:rowId xmlns:a16="http://schemas.microsoft.com/office/drawing/2014/main" val="699590270"/>
                  </a:ext>
                </a:extLst>
              </a:tr>
              <a:tr h="517134">
                <a:tc>
                  <a:txBody>
                    <a:bodyPr/>
                    <a:lstStyle/>
                    <a:p>
                      <a:r>
                        <a:rPr lang="en-US" sz="2000" dirty="0">
                          <a:solidFill>
                            <a:schemeClr val="tx1"/>
                          </a:solidFill>
                        </a:rPr>
                        <a:t>Wave function variant (state vector) [3]</a:t>
                      </a:r>
                    </a:p>
                  </a:txBody>
                  <a:tcPr anchor="ctr"/>
                </a:tc>
                <a:tc>
                  <a:txBody>
                    <a:bodyPr/>
                    <a:lstStyle/>
                    <a:p>
                      <a:r>
                        <a:rPr lang="en-US" sz="2000" dirty="0"/>
                        <a:t>FPGA ZCU102</a:t>
                      </a:r>
                      <a:endParaRPr lang="en-US" sz="2000" dirty="0">
                        <a:solidFill>
                          <a:schemeClr val="tx1"/>
                        </a:solidFill>
                      </a:endParaRPr>
                    </a:p>
                  </a:txBody>
                  <a:tcPr anchor="ctr"/>
                </a:tc>
                <a:tc>
                  <a:txBody>
                    <a:bodyPr/>
                    <a:lstStyle/>
                    <a:p>
                      <a:r>
                        <a:rPr lang="en-US" sz="2000" dirty="0">
                          <a:solidFill>
                            <a:schemeClr val="tx1"/>
                          </a:solidFill>
                        </a:rPr>
                        <a:t>Emulator</a:t>
                      </a:r>
                    </a:p>
                  </a:txBody>
                  <a:tcPr anchor="ctr"/>
                </a:tc>
                <a:tc>
                  <a:txBody>
                    <a:bodyPr/>
                    <a:lstStyle/>
                    <a:p>
                      <a:r>
                        <a:rPr lang="en-US" sz="3200">
                          <a:solidFill>
                            <a:schemeClr val="tx1"/>
                          </a:solidFill>
                        </a:rPr>
                        <a:t>◎</a:t>
                      </a:r>
                      <a:endParaRPr lang="en-US" sz="32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rPr>
                        <a:t>○</a:t>
                      </a:r>
                    </a:p>
                  </a:txBody>
                  <a:tcPr anchor="ctr"/>
                </a:tc>
                <a:tc>
                  <a:txBody>
                    <a:bodyPr/>
                    <a:lstStyle/>
                    <a:p>
                      <a:r>
                        <a:rPr lang="en-US" sz="3200" dirty="0">
                          <a:solidFill>
                            <a:schemeClr val="tx1"/>
                          </a:solidFill>
                        </a:rPr>
                        <a:t>◎</a:t>
                      </a:r>
                    </a:p>
                  </a:txBody>
                  <a:tcPr anchor="ctr"/>
                </a:tc>
                <a:extLst>
                  <a:ext uri="{0D108BD9-81ED-4DB2-BD59-A6C34878D82A}">
                    <a16:rowId xmlns:a16="http://schemas.microsoft.com/office/drawing/2014/main" val="1727279692"/>
                  </a:ext>
                </a:extLst>
              </a:tr>
              <a:tr h="453120">
                <a:tc>
                  <a:txBody>
                    <a:bodyPr/>
                    <a:lstStyle/>
                    <a:p>
                      <a:r>
                        <a:rPr lang="en-US" sz="2000" dirty="0">
                          <a:solidFill>
                            <a:schemeClr val="tx1"/>
                          </a:solidFill>
                        </a:rPr>
                        <a:t>Extended stabilizer formalism [4]</a:t>
                      </a:r>
                    </a:p>
                  </a:txBody>
                  <a:tcPr anchor="ctr"/>
                </a:tc>
                <a:tc>
                  <a:txBody>
                    <a:bodyPr/>
                    <a:lstStyle/>
                    <a:p>
                      <a:r>
                        <a:rPr lang="en-US" sz="2000" dirty="0"/>
                        <a:t>GPU RTX4090</a:t>
                      </a:r>
                      <a:endParaRPr lang="en-US" sz="2000" dirty="0">
                        <a:solidFill>
                          <a:schemeClr val="tx1"/>
                        </a:solidFill>
                      </a:endParaRPr>
                    </a:p>
                  </a:txBody>
                  <a:tcPr anchor="ctr"/>
                </a:tc>
                <a:tc>
                  <a:txBody>
                    <a:bodyPr/>
                    <a:lstStyle/>
                    <a:p>
                      <a:r>
                        <a:rPr lang="en-US" sz="2000" dirty="0">
                          <a:solidFill>
                            <a:schemeClr val="tx1"/>
                          </a:solidFill>
                        </a:rPr>
                        <a:t>Simulator</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extLst>
                  <a:ext uri="{0D108BD9-81ED-4DB2-BD59-A6C34878D82A}">
                    <a16:rowId xmlns:a16="http://schemas.microsoft.com/office/drawing/2014/main" val="263948011"/>
                  </a:ext>
                </a:extLst>
              </a:tr>
              <a:tr h="453120">
                <a:tc>
                  <a:txBody>
                    <a:bodyPr/>
                    <a:lstStyle/>
                    <a:p>
                      <a:r>
                        <a:rPr lang="en-US" sz="2000" dirty="0">
                          <a:solidFill>
                            <a:schemeClr val="tx1"/>
                          </a:solidFill>
                        </a:rPr>
                        <a:t>Tensor-network [5]</a:t>
                      </a:r>
                    </a:p>
                  </a:txBody>
                  <a:tcPr anchor="ctr"/>
                </a:tc>
                <a:tc rowSpan="2" gridSpan="5">
                  <a:txBody>
                    <a:bodyPr/>
                    <a:lstStyle/>
                    <a:p>
                      <a:endParaRPr lang="en-US" sz="2000" dirty="0">
                        <a:solidFill>
                          <a:schemeClr val="tx1"/>
                        </a:solidFill>
                      </a:endParaRPr>
                    </a:p>
                  </a:txBody>
                  <a:tcPr anchor="ctr"/>
                </a:tc>
                <a:tc rowSpan="2" hMerge="1">
                  <a:txBody>
                    <a:bodyPr/>
                    <a:lstStyle/>
                    <a:p>
                      <a:endParaRPr lang="en-US" sz="2000" dirty="0">
                        <a:solidFill>
                          <a:schemeClr val="tx1"/>
                        </a:solidFill>
                      </a:endParaRPr>
                    </a:p>
                  </a:txBody>
                  <a:tcPr anchor="ctr"/>
                </a:tc>
                <a:tc rowSpan="2"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endParaRPr>
                    </a:p>
                  </a:txBody>
                  <a:tcPr anchor="ctr"/>
                </a:tc>
                <a:tc rowSpan="2" hMerge="1">
                  <a:txBody>
                    <a:bodyPr/>
                    <a:lstStyle/>
                    <a:p>
                      <a:endParaRPr lang="en-US" dirty="0">
                        <a:solidFill>
                          <a:schemeClr val="tx1"/>
                        </a:solidFill>
                      </a:endParaRPr>
                    </a:p>
                  </a:txBody>
                  <a:tcPr anchor="ctr"/>
                </a:tc>
                <a:tc rowSpan="2" hMerge="1">
                  <a:txBody>
                    <a:bodyPr/>
                    <a:lstStyle/>
                    <a:p>
                      <a:endParaRPr lang="en-US" dirty="0">
                        <a:solidFill>
                          <a:schemeClr val="tx1"/>
                        </a:solidFill>
                      </a:endParaRPr>
                    </a:p>
                  </a:txBody>
                  <a:tcPr anchor="ctr"/>
                </a:tc>
                <a:extLst>
                  <a:ext uri="{0D108BD9-81ED-4DB2-BD59-A6C34878D82A}">
                    <a16:rowId xmlns:a16="http://schemas.microsoft.com/office/drawing/2014/main" val="280984563"/>
                  </a:ext>
                </a:extLst>
              </a:tr>
              <a:tr h="453120">
                <a:tc>
                  <a:txBody>
                    <a:bodyPr/>
                    <a:lstStyle/>
                    <a:p>
                      <a:r>
                        <a:rPr lang="en-US" sz="2000" dirty="0">
                          <a:solidFill>
                            <a:schemeClr val="tx1"/>
                          </a:solidFill>
                        </a:rPr>
                        <a:t>Decision diagram [6]</a:t>
                      </a:r>
                    </a:p>
                  </a:txBody>
                  <a:tcPr anchor="ctr"/>
                </a:tc>
                <a:tc gridSpan="5" vMerge="1">
                  <a:txBody>
                    <a:bodyPr/>
                    <a:lstStyle/>
                    <a:p>
                      <a:endParaRPr lang="en-US" sz="2000">
                        <a:solidFill>
                          <a:schemeClr val="tx1"/>
                        </a:solidFill>
                      </a:endParaRPr>
                    </a:p>
                  </a:txBody>
                  <a:tcPr anchor="ctr"/>
                </a:tc>
                <a:tc hMerge="1" vMerge="1">
                  <a:txBody>
                    <a:bodyPr/>
                    <a:lstStyle/>
                    <a:p>
                      <a:endParaRPr lang="en-US" sz="2000" dirty="0">
                        <a:solidFill>
                          <a:schemeClr val="tx1"/>
                        </a:solidFill>
                      </a:endParaRPr>
                    </a:p>
                  </a:txBody>
                  <a:tcPr anchor="ctr"/>
                </a:tc>
                <a:tc hMerge="1" vMerge="1">
                  <a:txBody>
                    <a:bodyPr/>
                    <a:lstStyle/>
                    <a:p>
                      <a:endParaRPr lang="en-US" dirty="0">
                        <a:solidFill>
                          <a:schemeClr val="tx1"/>
                        </a:solidFill>
                      </a:endParaRPr>
                    </a:p>
                  </a:txBody>
                  <a:tcPr anchor="ctr"/>
                </a:tc>
                <a:tc hMerge="1" vMerge="1">
                  <a:txBody>
                    <a:bodyPr/>
                    <a:lstStyle/>
                    <a:p>
                      <a:endParaRPr lang="en-US" dirty="0">
                        <a:solidFill>
                          <a:schemeClr val="tx1"/>
                        </a:solidFill>
                      </a:endParaRPr>
                    </a:p>
                  </a:txBody>
                  <a:tcPr anchor="ctr"/>
                </a:tc>
                <a:tc hMerge="1" vMerge="1">
                  <a:txBody>
                    <a:bodyPr/>
                    <a:lstStyle/>
                    <a:p>
                      <a:endParaRPr lang="en-US" dirty="0">
                        <a:solidFill>
                          <a:schemeClr val="tx1"/>
                        </a:solidFill>
                      </a:endParaRPr>
                    </a:p>
                  </a:txBody>
                  <a:tcPr anchor="ctr"/>
                </a:tc>
                <a:extLst>
                  <a:ext uri="{0D108BD9-81ED-4DB2-BD59-A6C34878D82A}">
                    <a16:rowId xmlns:a16="http://schemas.microsoft.com/office/drawing/2014/main" val="20465681"/>
                  </a:ext>
                </a:extLst>
              </a:tr>
            </a:tbl>
          </a:graphicData>
        </a:graphic>
      </p:graphicFrame>
      <p:sp>
        <p:nvSpPr>
          <p:cNvPr id="4" name="Slide Number Placeholder 3">
            <a:extLst>
              <a:ext uri="{FF2B5EF4-FFF2-40B4-BE49-F238E27FC236}">
                <a16:creationId xmlns:a16="http://schemas.microsoft.com/office/drawing/2014/main" id="{357C4283-0DD2-46C0-6A24-E5389849C3D9}"/>
              </a:ext>
            </a:extLst>
          </p:cNvPr>
          <p:cNvSpPr>
            <a:spLocks noGrp="1"/>
          </p:cNvSpPr>
          <p:nvPr>
            <p:ph type="sldNum" sz="quarter" idx="12"/>
          </p:nvPr>
        </p:nvSpPr>
        <p:spPr>
          <a:xfrm>
            <a:off x="11281024" y="6356350"/>
            <a:ext cx="518845" cy="365125"/>
          </a:xfrm>
        </p:spPr>
        <p:txBody>
          <a:bodyPr/>
          <a:lstStyle/>
          <a:p>
            <a:fld id="{3C0C221A-CB66-4297-9A52-937C35126D0C}" type="slidenum">
              <a:rPr lang="en-US" smtClean="0"/>
              <a:t>38</a:t>
            </a:fld>
            <a:endParaRPr lang="en-US"/>
          </a:p>
        </p:txBody>
      </p:sp>
      <p:sp>
        <p:nvSpPr>
          <p:cNvPr id="7" name="TextBox 6">
            <a:extLst>
              <a:ext uri="{FF2B5EF4-FFF2-40B4-BE49-F238E27FC236}">
                <a16:creationId xmlns:a16="http://schemas.microsoft.com/office/drawing/2014/main" id="{52FEAF69-DBDF-F5E1-4408-51D003089334}"/>
              </a:ext>
            </a:extLst>
          </p:cNvPr>
          <p:cNvSpPr txBox="1"/>
          <p:nvPr/>
        </p:nvSpPr>
        <p:spPr>
          <a:xfrm>
            <a:off x="732889" y="1204621"/>
            <a:ext cx="8986464" cy="400110"/>
          </a:xfrm>
          <a:prstGeom prst="rect">
            <a:avLst/>
          </a:prstGeom>
          <a:noFill/>
        </p:spPr>
        <p:txBody>
          <a:bodyPr wrap="square">
            <a:spAutoFit/>
          </a:bodyPr>
          <a:lstStyle/>
          <a:p>
            <a:pPr>
              <a:defRPr/>
            </a:pPr>
            <a:r>
              <a:rPr kumimoji="1" lang="en-US" altLang="ja-JP" sz="2000" b="1" dirty="0">
                <a:latin typeface="Arial" panose="020B0604020202020204" pitchFamily="34" charset="0"/>
                <a:cs typeface="Arial" panose="020B0604020202020204" pitchFamily="34" charset="0"/>
              </a:rPr>
              <a:t>Note: </a:t>
            </a:r>
            <a:r>
              <a:rPr kumimoji="1" lang="en-US" altLang="ja-JP" sz="2000" dirty="0">
                <a:latin typeface="Arial" panose="020B0604020202020204" pitchFamily="34" charset="0"/>
                <a:cs typeface="Arial" panose="020B0604020202020204" pitchFamily="34" charset="0"/>
              </a:rPr>
              <a:t>	</a:t>
            </a:r>
            <a:r>
              <a:rPr lang="en-US" sz="2000" dirty="0">
                <a:solidFill>
                  <a:schemeClr val="tx1"/>
                </a:solidFill>
              </a:rPr>
              <a:t>△</a:t>
            </a:r>
            <a:r>
              <a:rPr kumimoji="1" lang="en-US" altLang="ja-JP" sz="2000" b="1" dirty="0">
                <a:latin typeface="Arial" panose="020B0604020202020204" pitchFamily="34" charset="0"/>
                <a:cs typeface="Arial" panose="020B0604020202020204" pitchFamily="34" charset="0"/>
              </a:rPr>
              <a:t>:</a:t>
            </a:r>
            <a:r>
              <a:rPr kumimoji="1" lang="ja-JP" altLang="en-US" sz="2000" b="1" dirty="0">
                <a:latin typeface="Arial" panose="020B0604020202020204" pitchFamily="34" charset="0"/>
                <a:cs typeface="Arial" panose="020B0604020202020204" pitchFamily="34" charset="0"/>
              </a:rPr>
              <a:t> </a:t>
            </a:r>
            <a:r>
              <a:rPr kumimoji="1" lang="en-US" altLang="ja-JP" sz="2000" dirty="0">
                <a:latin typeface="Arial" panose="020B0604020202020204" pitchFamily="34" charset="0"/>
                <a:cs typeface="Arial" panose="020B0604020202020204" pitchFamily="34" charset="0"/>
              </a:rPr>
              <a:t>Not implemented</a:t>
            </a:r>
            <a:r>
              <a:rPr kumimoji="1" lang="ja-JP" altLang="en-US" sz="2000" dirty="0">
                <a:latin typeface="Arial" panose="020B0604020202020204" pitchFamily="34" charset="0"/>
                <a:cs typeface="Arial" panose="020B0604020202020204" pitchFamily="34" charset="0"/>
              </a:rPr>
              <a:t> </a:t>
            </a:r>
            <a:r>
              <a:rPr lang="en-US" sz="2000" dirty="0">
                <a:solidFill>
                  <a:schemeClr val="tx1"/>
                </a:solidFill>
              </a:rPr>
              <a:t>○</a:t>
            </a:r>
            <a:r>
              <a:rPr kumimoji="1" lang="en-US" altLang="ja-JP" sz="2000" dirty="0">
                <a:latin typeface="Arial" panose="020B0604020202020204" pitchFamily="34" charset="0"/>
                <a:cs typeface="Arial" panose="020B0604020202020204" pitchFamily="34" charset="0"/>
              </a:rPr>
              <a:t>:</a:t>
            </a:r>
            <a:r>
              <a:rPr kumimoji="1" lang="ja-JP" altLang="en-US" sz="2000" dirty="0">
                <a:latin typeface="Arial" panose="020B0604020202020204" pitchFamily="34" charset="0"/>
                <a:cs typeface="Arial" panose="020B0604020202020204" pitchFamily="34" charset="0"/>
              </a:rPr>
              <a:t> </a:t>
            </a:r>
            <a:r>
              <a:rPr kumimoji="1" lang="en-US" altLang="ja-JP" sz="2000" dirty="0">
                <a:latin typeface="Arial" panose="020B0604020202020204" pitchFamily="34" charset="0"/>
                <a:cs typeface="Arial" panose="020B0604020202020204" pitchFamily="34" charset="0"/>
              </a:rPr>
              <a:t>Implemented/Available </a:t>
            </a:r>
            <a:r>
              <a:rPr lang="en-US" sz="2000" dirty="0">
                <a:solidFill>
                  <a:schemeClr val="tx1"/>
                </a:solidFill>
              </a:rPr>
              <a:t>◎</a:t>
            </a:r>
            <a:r>
              <a:rPr kumimoji="1" lang="en-US" altLang="ja-JP" sz="2000" b="1" dirty="0">
                <a:latin typeface="Arial" panose="020B0604020202020204" pitchFamily="34" charset="0"/>
                <a:cs typeface="Arial" panose="020B0604020202020204" pitchFamily="34" charset="0"/>
              </a:rPr>
              <a:t>:</a:t>
            </a:r>
            <a:r>
              <a:rPr kumimoji="1" lang="ja-JP" altLang="en-US" sz="2000" b="1" dirty="0">
                <a:latin typeface="Arial" panose="020B0604020202020204" pitchFamily="34" charset="0"/>
                <a:cs typeface="Arial" panose="020B0604020202020204" pitchFamily="34" charset="0"/>
              </a:rPr>
              <a:t> </a:t>
            </a:r>
            <a:r>
              <a:rPr kumimoji="1" lang="en-US" altLang="ja-JP" sz="2000" dirty="0">
                <a:latin typeface="Arial" panose="020B0604020202020204" pitchFamily="34" charset="0"/>
                <a:cs typeface="Arial" panose="020B0604020202020204" pitchFamily="34" charset="0"/>
              </a:rPr>
              <a:t>Improved       </a:t>
            </a:r>
            <a:endParaRPr kumimoji="1" lang="ja-JP" altLang="en-US"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3C627E3-5762-C518-FF8D-B666A72D65F2}"/>
              </a:ext>
            </a:extLst>
          </p:cNvPr>
          <p:cNvSpPr txBox="1"/>
          <p:nvPr/>
        </p:nvSpPr>
        <p:spPr>
          <a:xfrm>
            <a:off x="732889" y="5325405"/>
            <a:ext cx="10793860" cy="1569660"/>
          </a:xfrm>
          <a:prstGeom prst="rect">
            <a:avLst/>
          </a:prstGeom>
          <a:noFill/>
        </p:spPr>
        <p:txBody>
          <a:bodyPr wrap="square" rtlCol="0">
            <a:spAutoFit/>
          </a:bodyPr>
          <a:lstStyle/>
          <a:p>
            <a:r>
              <a:rPr lang="en-US" sz="1200" dirty="0"/>
              <a:t>[2] Ali Javadi-Abhari,, et al. Quantum computing with </a:t>
            </a:r>
            <a:r>
              <a:rPr lang="en-US" sz="1200" dirty="0" err="1"/>
              <a:t>Qiskit</a:t>
            </a:r>
            <a:r>
              <a:rPr lang="en-US" sz="1200" dirty="0"/>
              <a:t>. </a:t>
            </a:r>
            <a:r>
              <a:rPr lang="en-US" sz="1200" dirty="0" err="1"/>
              <a:t>arXiv</a:t>
            </a:r>
            <a:r>
              <a:rPr lang="en-US" sz="1200" dirty="0"/>
              <a:t> preprint arXiv:2405.08810, 2024.</a:t>
            </a:r>
          </a:p>
          <a:p>
            <a:r>
              <a:rPr lang="en-US" sz="1200" dirty="0"/>
              <a:t>[3] Nguyen et al. </a:t>
            </a:r>
            <a:r>
              <a:rPr lang="en-US" sz="1200" dirty="0" err="1"/>
              <a:t>Qsun</a:t>
            </a:r>
            <a:r>
              <a:rPr lang="en-US" sz="1200" dirty="0"/>
              <a:t>: an open-source platform towards practical quantum machine learning applications. Machine Learning: Science and Technology, 3(1):015034, 2022.</a:t>
            </a:r>
          </a:p>
          <a:p>
            <a:r>
              <a:rPr lang="en-US" sz="1200" dirty="0"/>
              <a:t>[4] Andi Gu, Salvatore F. E. Oliviero, and Lorenzo Leone. Doped stabilizer states in many-body physics and where to find them. Phys. Rev. A, 110:062427, Dec 2024</a:t>
            </a:r>
          </a:p>
          <a:p>
            <a:r>
              <a:rPr lang="en-US" sz="1200" dirty="0"/>
              <a:t>[5] Feng Pan, </a:t>
            </a:r>
            <a:r>
              <a:rPr lang="en-US" sz="1200" dirty="0" err="1"/>
              <a:t>Hanfeng</a:t>
            </a:r>
            <a:r>
              <a:rPr lang="en-US" sz="1200" dirty="0"/>
              <a:t> Gu, </a:t>
            </a:r>
            <a:r>
              <a:rPr lang="en-US" sz="1200" dirty="0" err="1"/>
              <a:t>Lvlin</a:t>
            </a:r>
            <a:r>
              <a:rPr lang="en-US" sz="1200" dirty="0"/>
              <a:t> Kuang, Bing Liu, and Pan Zhang. Efficient quantum circuit simulation by tensor network methods on modern </a:t>
            </a:r>
            <a:r>
              <a:rPr lang="en-US" sz="1200" dirty="0" err="1"/>
              <a:t>gpus</a:t>
            </a:r>
            <a:r>
              <a:rPr lang="en-US" sz="1200" dirty="0"/>
              <a:t>. ACM Transactions on Quantum Computing, 5(4), November 2024. </a:t>
            </a:r>
          </a:p>
          <a:p>
            <a:r>
              <a:rPr lang="en-US" sz="1200" dirty="0"/>
              <a:t>[6] Thomas </a:t>
            </a:r>
            <a:r>
              <a:rPr lang="en-US" sz="1200" dirty="0" err="1"/>
              <a:t>Grurl</a:t>
            </a:r>
            <a:r>
              <a:rPr lang="en-US" sz="1200" dirty="0"/>
              <a:t> and et al. Arrays vs. Decision Diagrams: A Case Study on Quantum Circuit Simulators. In 2020 IEEE 50th International Symposium on Multiple-Valued Logic (ISMVL), pages 176–181, 2020. </a:t>
            </a:r>
          </a:p>
        </p:txBody>
      </p:sp>
      <p:sp>
        <p:nvSpPr>
          <p:cNvPr id="10" name="Rectangle 9">
            <a:extLst>
              <a:ext uri="{FF2B5EF4-FFF2-40B4-BE49-F238E27FC236}">
                <a16:creationId xmlns:a16="http://schemas.microsoft.com/office/drawing/2014/main" id="{62D538AA-9EAD-1534-D2DB-5100E3AE0181}"/>
              </a:ext>
            </a:extLst>
          </p:cNvPr>
          <p:cNvSpPr/>
          <p:nvPr/>
        </p:nvSpPr>
        <p:spPr>
          <a:xfrm>
            <a:off x="6775806" y="1577878"/>
            <a:ext cx="4911047" cy="2870832"/>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17D28CA-14CF-0774-4C80-7056656C7F8A}"/>
              </a:ext>
            </a:extLst>
          </p:cNvPr>
          <p:cNvSpPr txBox="1"/>
          <p:nvPr/>
        </p:nvSpPr>
        <p:spPr>
          <a:xfrm>
            <a:off x="6775806" y="4536261"/>
            <a:ext cx="4750942" cy="707886"/>
          </a:xfrm>
          <a:prstGeom prst="rect">
            <a:avLst/>
          </a:prstGeom>
          <a:noFill/>
        </p:spPr>
        <p:txBody>
          <a:bodyPr wrap="square" rtlCol="0">
            <a:spAutoFit/>
          </a:bodyPr>
          <a:lstStyle/>
          <a:p>
            <a:r>
              <a:rPr lang="en-US" sz="2000" dirty="0">
                <a:solidFill>
                  <a:srgbClr val="FF0000"/>
                </a:solidFill>
              </a:rPr>
              <a:t>All related works are only focus on one of these aspects!</a:t>
            </a:r>
          </a:p>
        </p:txBody>
      </p:sp>
      <p:sp>
        <p:nvSpPr>
          <p:cNvPr id="12" name="TextBox 11">
            <a:extLst>
              <a:ext uri="{FF2B5EF4-FFF2-40B4-BE49-F238E27FC236}">
                <a16:creationId xmlns:a16="http://schemas.microsoft.com/office/drawing/2014/main" id="{B4932F5E-9ABA-EFD5-D7B8-C05CF4CB702F}"/>
              </a:ext>
            </a:extLst>
          </p:cNvPr>
          <p:cNvSpPr txBox="1"/>
          <p:nvPr/>
        </p:nvSpPr>
        <p:spPr>
          <a:xfrm>
            <a:off x="732889" y="891772"/>
            <a:ext cx="8986464" cy="400110"/>
          </a:xfrm>
          <a:prstGeom prst="rect">
            <a:avLst/>
          </a:prstGeom>
          <a:noFill/>
        </p:spPr>
        <p:txBody>
          <a:bodyPr wrap="square">
            <a:spAutoFit/>
          </a:bodyPr>
          <a:lstStyle/>
          <a:p>
            <a:pPr>
              <a:defRPr/>
            </a:pPr>
            <a:r>
              <a:rPr kumimoji="1" lang="en-US" altLang="ja-JP" sz="2000" b="1" dirty="0">
                <a:solidFill>
                  <a:srgbClr val="FF0000"/>
                </a:solidFill>
                <a:latin typeface="Arial" panose="020B0604020202020204" pitchFamily="34" charset="0"/>
                <a:cs typeface="Arial" panose="020B0604020202020204" pitchFamily="34" charset="0"/>
              </a:rPr>
              <a:t>Table 1.1.</a:t>
            </a:r>
            <a:r>
              <a:rPr kumimoji="1" lang="en-US" altLang="ja-JP" sz="2000" dirty="0">
                <a:latin typeface="Arial" panose="020B0604020202020204" pitchFamily="34" charset="0"/>
                <a:cs typeface="Arial" panose="020B0604020202020204" pitchFamily="34" charset="0"/>
              </a:rPr>
              <a:t> My research’s contribution.</a:t>
            </a:r>
            <a:endParaRPr kumimoji="1" lang="ja-JP"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8888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01967-6DAB-FCF8-45CF-36F4C1E6C286}"/>
              </a:ext>
            </a:extLst>
          </p:cNvPr>
          <p:cNvSpPr>
            <a:spLocks noGrp="1"/>
          </p:cNvSpPr>
          <p:nvPr>
            <p:ph type="title"/>
          </p:nvPr>
        </p:nvSpPr>
        <p:spPr/>
        <p:txBody>
          <a:bodyPr>
            <a:normAutofit/>
          </a:bodyPr>
          <a:lstStyle/>
          <a:p>
            <a:r>
              <a:rPr lang="en-US" sz="3200" dirty="0"/>
              <a:t>1.3. Representation of state &amp; gate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7F6365-A6A1-F53A-3A7F-14801FA12829}"/>
                  </a:ext>
                </a:extLst>
              </p:cNvPr>
              <p:cNvSpPr>
                <a:spLocks noGrp="1"/>
              </p:cNvSpPr>
              <p:nvPr>
                <p:ph idx="1"/>
              </p:nvPr>
            </p:nvSpPr>
            <p:spPr>
              <a:xfrm>
                <a:off x="838200" y="1342299"/>
                <a:ext cx="5603697" cy="1545881"/>
              </a:xfrm>
            </p:spPr>
            <p:txBody>
              <a:bodyPr>
                <a:normAutofit/>
              </a:bodyPr>
              <a:lstStyle/>
              <a:p>
                <a:pPr marL="0" indent="0">
                  <a:buNone/>
                </a:pPr>
                <a:r>
                  <a:rPr lang="en-US" sz="2000" dirty="0"/>
                  <a:t>A </a:t>
                </a:r>
                <a14:m>
                  <m:oMath xmlns:m="http://schemas.openxmlformats.org/officeDocument/2006/math">
                    <m:r>
                      <a:rPr lang="en-US" sz="2000" b="0" i="1" smtClean="0">
                        <a:latin typeface="Cambria Math" panose="02040503050406030204" pitchFamily="18" charset="0"/>
                      </a:rPr>
                      <m:t>𝑛</m:t>
                    </m:r>
                  </m:oMath>
                </a14:m>
                <a:r>
                  <a:rPr lang="en-US" sz="2000" dirty="0"/>
                  <a:t> – qubit quantum state can be in the form:</a:t>
                </a:r>
              </a:p>
              <a:p>
                <a:pPr marL="457200" lvl="1" indent="0">
                  <a:buNone/>
                </a:pPr>
                <a14:m>
                  <m:oMath xmlns:m="http://schemas.openxmlformats.org/officeDocument/2006/math">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𝜓</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sup>
                        </m:sSup>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𝛼</m:t>
                                  </m:r>
                                </m:e>
                                <m:sub>
                                  <m:r>
                                    <a:rPr lang="en-US" sz="2000" b="0" i="1" smtClean="0">
                                      <a:latin typeface="Cambria Math" panose="02040503050406030204" pitchFamily="18" charset="0"/>
                                    </a:rPr>
                                    <m:t>0</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mr>
                          <m:mr>
                            <m:e>
                              <m:r>
                                <a:rPr lang="en-US" sz="2000" i="1" smtClean="0">
                                  <a:latin typeface="Cambria Math" panose="02040503050406030204" pitchFamily="18" charset="0"/>
                                  <a:ea typeface="Cambria Math" panose="02040503050406030204" pitchFamily="18" charset="0"/>
                                </a:rPr>
                                <m:t>⋮</m:t>
                              </m:r>
                            </m:e>
                          </m:mr>
                          <m:mr>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𝛼</m:t>
                                  </m:r>
                                </m:e>
                                <m:sub>
                                  <m:r>
                                    <a:rPr lang="en-US" sz="2000" b="0" i="1" smtClean="0">
                                      <a:latin typeface="Cambria Math" panose="02040503050406030204" pitchFamily="18" charset="0"/>
                                    </a:rPr>
                                    <m:t>𝑁</m:t>
                                  </m:r>
                                  <m:r>
                                    <a:rPr lang="en-US" sz="2000" b="0" i="1" smtClean="0">
                                      <a:latin typeface="Cambria Math" panose="02040503050406030204" pitchFamily="18" charset="0"/>
                                    </a:rPr>
                                    <m:t>−1</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mr>
                        </m:m>
                      </m:e>
                    </m:d>
                  </m:oMath>
                </a14:m>
                <a:r>
                  <a:rPr lang="en-US" sz="2000" dirty="0"/>
                  <a:t>  where </a:t>
                </a:r>
                <a14:m>
                  <m:oMath xmlns:m="http://schemas.openxmlformats.org/officeDocument/2006/math">
                    <m:r>
                      <a:rPr lang="en-US" sz="2000" b="0" i="1" smtClean="0">
                        <a:latin typeface="Cambria Math" panose="02040503050406030204" pitchFamily="18" charset="0"/>
                      </a:rPr>
                      <m:t>𝑁</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𝑛</m:t>
                        </m:r>
                      </m:sup>
                    </m:sSup>
                  </m:oMath>
                </a14:m>
                <a:r>
                  <a:rPr lang="en-US" sz="2000" dirty="0"/>
                  <a:t> and </a:t>
                </a:r>
                <a14:m>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𝛼</m:t>
                        </m:r>
                      </m:e>
                      <m:sub>
                        <m:r>
                          <a:rPr lang="en-US" sz="2000" b="0" i="1" smtClean="0">
                            <a:latin typeface="Cambria Math" panose="02040503050406030204" pitchFamily="18" charset="0"/>
                          </a:rPr>
                          <m:t>𝑗</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ℂ</m:t>
                    </m:r>
                  </m:oMath>
                </a14:m>
                <a:r>
                  <a:rPr lang="en-US" sz="2000" dirty="0"/>
                  <a:t> </a:t>
                </a:r>
              </a:p>
            </p:txBody>
          </p:sp>
        </mc:Choice>
        <mc:Fallback xmlns="">
          <p:sp>
            <p:nvSpPr>
              <p:cNvPr id="3" name="Content Placeholder 2">
                <a:extLst>
                  <a:ext uri="{FF2B5EF4-FFF2-40B4-BE49-F238E27FC236}">
                    <a16:creationId xmlns:a16="http://schemas.microsoft.com/office/drawing/2014/main" id="{AF7F6365-A6A1-F53A-3A7F-14801FA12829}"/>
                  </a:ext>
                </a:extLst>
              </p:cNvPr>
              <p:cNvSpPr>
                <a:spLocks noGrp="1" noRot="1" noChangeAspect="1" noMove="1" noResize="1" noEditPoints="1" noAdjustHandles="1" noChangeArrowheads="1" noChangeShapeType="1" noTextEdit="1"/>
              </p:cNvSpPr>
              <p:nvPr>
                <p:ph idx="1"/>
              </p:nvPr>
            </p:nvSpPr>
            <p:spPr>
              <a:xfrm>
                <a:off x="838200" y="1342299"/>
                <a:ext cx="5603697" cy="1545881"/>
              </a:xfrm>
              <a:blipFill>
                <a:blip r:embed="rId3"/>
                <a:stretch>
                  <a:fillRect l="-1357" t="-3252"/>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A9173CE-5AF2-DEF6-8117-C2B6515361C4}"/>
              </a:ext>
            </a:extLst>
          </p:cNvPr>
          <p:cNvSpPr>
            <a:spLocks noGrp="1"/>
          </p:cNvSpPr>
          <p:nvPr>
            <p:ph type="sldNum" sz="quarter" idx="12"/>
          </p:nvPr>
        </p:nvSpPr>
        <p:spPr/>
        <p:txBody>
          <a:bodyPr/>
          <a:lstStyle/>
          <a:p>
            <a:fld id="{3C0C221A-CB66-4297-9A52-937C35126D0C}" type="slidenum">
              <a:rPr lang="en-US" smtClean="0"/>
              <a:t>39</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nvGraphicFramePr>
            <p:xfrm>
              <a:off x="838200" y="3498907"/>
              <a:ext cx="4519773" cy="544894"/>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1848615564"/>
                        </a:ext>
                      </a:extLst>
                    </a:gridCol>
                    <a:gridCol w="900273">
                      <a:extLst>
                        <a:ext uri="{9D8B030D-6E8A-4147-A177-3AD203B41FA5}">
                          <a16:colId xmlns:a16="http://schemas.microsoft.com/office/drawing/2014/main" val="1798586957"/>
                        </a:ext>
                      </a:extLst>
                    </a:gridCol>
                  </a:tblGrid>
                  <a:tr h="314624">
                    <a:tc>
                      <a:txBody>
                        <a:bodyPr/>
                        <a:lstStyle/>
                        <a:p>
                          <a:pPr marL="0" indent="0">
                            <a:buNone/>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𝑔</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𝑤</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𝜃</m:t>
                                    </m:r>
                                  </m:e>
                                </m:d>
                                <m:r>
                                  <a:rPr lang="en-US" sz="2000" b="0" i="1" smtClean="0">
                                    <a:solidFill>
                                      <a:schemeClr val="tx1"/>
                                    </a:solidFill>
                                    <a:latin typeface="Cambria Math" panose="02040503050406030204" pitchFamily="18" charset="0"/>
                                  </a:rPr>
                                  <m:t>:</m:t>
                                </m:r>
                                <m:d>
                                  <m:dPr>
                                    <m:begChr m:val="{"/>
                                    <m:endChr m:val="}"/>
                                    <m:ctrlPr>
                                      <a:rPr lang="en-US" sz="2000" i="1">
                                        <a:solidFill>
                                          <a:schemeClr val="tx1"/>
                                        </a:solidFill>
                                        <a:latin typeface="Cambria Math" panose="02040503050406030204" pitchFamily="18" charset="0"/>
                                      </a:rPr>
                                    </m:ctrlPr>
                                  </m:dPr>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𝛼</m:t>
                                        </m:r>
                                      </m:e>
                                      <m:sub>
                                        <m:r>
                                          <a:rPr lang="en-US" sz="2000" i="1">
                                            <a:solidFill>
                                              <a:schemeClr val="tx1"/>
                                            </a:solidFill>
                                            <a:latin typeface="Cambria Math" panose="02040503050406030204" pitchFamily="18" charset="0"/>
                                          </a:rPr>
                                          <m:t>𝑗</m:t>
                                        </m:r>
                                      </m:sub>
                                      <m:sup>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𝑡</m:t>
                                            </m:r>
                                          </m:e>
                                        </m:d>
                                      </m:sup>
                                    </m:sSubSup>
                                  </m:e>
                                </m:d>
                                <m:r>
                                  <a:rPr lang="en-US" sz="2000" b="0" i="0" smtClean="0">
                                    <a:solidFill>
                                      <a:schemeClr val="tx1"/>
                                    </a:solidFill>
                                    <a:latin typeface="Cambria Math" panose="02040503050406030204" pitchFamily="18" charset="0"/>
                                  </a:rPr>
                                  <m:t>→</m:t>
                                </m:r>
                                <m:d>
                                  <m:dPr>
                                    <m:begChr m:val="{"/>
                                    <m:endChr m:val="}"/>
                                    <m:ctrlPr>
                                      <a:rPr lang="en-US" sz="2000" i="1">
                                        <a:solidFill>
                                          <a:schemeClr val="tx1"/>
                                        </a:solidFill>
                                        <a:latin typeface="Cambria Math" panose="02040503050406030204" pitchFamily="18" charset="0"/>
                                      </a:rPr>
                                    </m:ctrlPr>
                                  </m:dPr>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𝛼</m:t>
                                        </m:r>
                                      </m:e>
                                      <m:sub>
                                        <m:r>
                                          <a:rPr lang="en-US" sz="2000" i="1">
                                            <a:solidFill>
                                              <a:schemeClr val="tx1"/>
                                            </a:solidFill>
                                            <a:latin typeface="Cambria Math" panose="02040503050406030204" pitchFamily="18" charset="0"/>
                                          </a:rPr>
                                          <m:t>𝑗</m:t>
                                        </m:r>
                                      </m:sub>
                                      <m:sup>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e>
                                        </m:d>
                                      </m:sup>
                                    </m:sSubSup>
                                  </m:e>
                                </m:d>
                              </m:oMath>
                            </m:oMathPara>
                          </a14:m>
                          <a:endParaRPr lang="en-US"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chemeClr val="tx1"/>
                              </a:solidFill>
                            </a:rPr>
                            <a:t>(1.1)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3482652502"/>
                  </p:ext>
                </p:extLst>
              </p:nvPr>
            </p:nvGraphicFramePr>
            <p:xfrm>
              <a:off x="838200" y="3498907"/>
              <a:ext cx="4519773" cy="544894"/>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1848615564"/>
                        </a:ext>
                      </a:extLst>
                    </a:gridCol>
                    <a:gridCol w="900273">
                      <a:extLst>
                        <a:ext uri="{9D8B030D-6E8A-4147-A177-3AD203B41FA5}">
                          <a16:colId xmlns:a16="http://schemas.microsoft.com/office/drawing/2014/main" val="1798586957"/>
                        </a:ext>
                      </a:extLst>
                    </a:gridCol>
                  </a:tblGrid>
                  <a:tr h="54489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r="-24916" b="-5495"/>
                          </a:stretch>
                        </a:blipFill>
                      </a:tcPr>
                    </a:tc>
                    <a:tc>
                      <a:txBody>
                        <a:bodyPr/>
                        <a:lstStyle/>
                        <a:p>
                          <a:pPr algn="r"/>
                          <a:r>
                            <a:rPr lang="en-US" sz="2000" b="0" dirty="0">
                              <a:solidFill>
                                <a:schemeClr val="tx1"/>
                              </a:solidFill>
                            </a:rPr>
                            <a:t>(1.1)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F29AD60-6F1B-2BA1-6A04-EC40BE6F8E46}"/>
                  </a:ext>
                </a:extLst>
              </p:cNvPr>
              <p:cNvSpPr txBox="1"/>
              <p:nvPr/>
            </p:nvSpPr>
            <p:spPr>
              <a:xfrm>
                <a:off x="838201" y="4089231"/>
                <a:ext cx="6199598" cy="400110"/>
              </a:xfrm>
              <a:prstGeom prst="rect">
                <a:avLst/>
              </a:prstGeom>
              <a:noFill/>
            </p:spPr>
            <p:txBody>
              <a:bodyPr wrap="square" rtlCol="0">
                <a:spAutoFit/>
              </a:bodyPr>
              <a:lstStyle/>
              <a:p>
                <a:r>
                  <a:rPr lang="en-US" sz="2000" dirty="0"/>
                  <a:t>where </a:t>
                </a:r>
                <a14:m>
                  <m:oMath xmlns:m="http://schemas.openxmlformats.org/officeDocument/2006/math">
                    <m:r>
                      <a:rPr lang="en-US" sz="2000" b="0" i="1" smtClean="0">
                        <a:latin typeface="Cambria Math" panose="02040503050406030204" pitchFamily="18" charset="0"/>
                      </a:rPr>
                      <m:t>𝑤</m:t>
                    </m:r>
                  </m:oMath>
                </a14:m>
                <a:r>
                  <a:rPr lang="en-US" sz="2000" dirty="0"/>
                  <a:t> and </a:t>
                </a:r>
                <a14:m>
                  <m:oMath xmlns:m="http://schemas.openxmlformats.org/officeDocument/2006/math">
                    <m:r>
                      <a:rPr lang="en-US" sz="2000" b="0" i="1" smtClean="0">
                        <a:latin typeface="Cambria Math" panose="02040503050406030204" pitchFamily="18" charset="0"/>
                      </a:rPr>
                      <m:t>𝜃</m:t>
                    </m:r>
                  </m:oMath>
                </a14:m>
                <a:r>
                  <a:rPr lang="en-US" sz="2000" dirty="0"/>
                  <a:t> are wires and parameter (if applicable).</a:t>
                </a:r>
              </a:p>
            </p:txBody>
          </p:sp>
        </mc:Choice>
        <mc:Fallback xmlns="">
          <p:sp>
            <p:nvSpPr>
              <p:cNvPr id="6" name="TextBox 5">
                <a:extLst>
                  <a:ext uri="{FF2B5EF4-FFF2-40B4-BE49-F238E27FC236}">
                    <a16:creationId xmlns:a16="http://schemas.microsoft.com/office/drawing/2014/main" id="{BF29AD60-6F1B-2BA1-6A04-EC40BE6F8E46}"/>
                  </a:ext>
                </a:extLst>
              </p:cNvPr>
              <p:cNvSpPr txBox="1">
                <a:spLocks noRot="1" noChangeAspect="1" noMove="1" noResize="1" noEditPoints="1" noAdjustHandles="1" noChangeArrowheads="1" noChangeShapeType="1" noTextEdit="1"/>
              </p:cNvSpPr>
              <p:nvPr/>
            </p:nvSpPr>
            <p:spPr>
              <a:xfrm>
                <a:off x="838201" y="4089231"/>
                <a:ext cx="6199598" cy="400110"/>
              </a:xfrm>
              <a:prstGeom prst="rect">
                <a:avLst/>
              </a:prstGeom>
              <a:blipFill>
                <a:blip r:embed="rId5"/>
                <a:stretch>
                  <a:fillRect l="-1230" t="-6250" b="-28125"/>
                </a:stretch>
              </a:blipFill>
            </p:spPr>
            <p:txBody>
              <a:bodyPr/>
              <a:lstStyle/>
              <a:p>
                <a:r>
                  <a:rPr lang="en-VN">
                    <a:noFill/>
                  </a:rPr>
                  <a:t> </a:t>
                </a:r>
              </a:p>
            </p:txBody>
          </p:sp>
        </mc:Fallback>
      </mc:AlternateContent>
      <p:sp>
        <p:nvSpPr>
          <p:cNvPr id="7" name="TextBox 6">
            <a:extLst>
              <a:ext uri="{FF2B5EF4-FFF2-40B4-BE49-F238E27FC236}">
                <a16:creationId xmlns:a16="http://schemas.microsoft.com/office/drawing/2014/main" id="{D645D380-5E49-5FC1-893B-5FC4A77F7395}"/>
              </a:ext>
            </a:extLst>
          </p:cNvPr>
          <p:cNvSpPr txBox="1"/>
          <p:nvPr/>
        </p:nvSpPr>
        <p:spPr>
          <a:xfrm>
            <a:off x="838201" y="4489341"/>
            <a:ext cx="5999252" cy="400110"/>
          </a:xfrm>
          <a:prstGeom prst="rect">
            <a:avLst/>
          </a:prstGeom>
          <a:noFill/>
        </p:spPr>
        <p:txBody>
          <a:bodyPr wrap="square" rtlCol="0">
            <a:spAutoFit/>
          </a:bodyPr>
          <a:lstStyle/>
          <a:p>
            <a:r>
              <a:rPr lang="en-US" sz="2000" dirty="0"/>
              <a:t>Our target is to compute the evolved (final) state:</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nvGraphicFramePr>
            <p:xfrm>
              <a:off x="838200" y="4927388"/>
              <a:ext cx="4519773" cy="441325"/>
            </p:xfrm>
            <a:graphic>
              <a:graphicData uri="http://schemas.openxmlformats.org/drawingml/2006/table">
                <a:tbl>
                  <a:tblPr firstRow="1" bandRow="1">
                    <a:tableStyleId>{5C22544A-7EE6-4342-B048-85BDC9FD1C3A}</a:tableStyleId>
                  </a:tblPr>
                  <a:tblGrid>
                    <a:gridCol w="3420438">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314624">
                    <a:tc>
                      <a: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𝜓</m:t>
                                        </m:r>
                                      </m:e>
                                      <m:sup>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𝑚</m:t>
                                            </m:r>
                                          </m:e>
                                        </m:d>
                                      </m:sup>
                                    </m:sSup>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𝑈</m:t>
                                </m:r>
                                <m:d>
                                  <m:dPr>
                                    <m:ctrlPr>
                                      <a:rPr lang="en-US" sz="2000" b="0"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𝜽</m:t>
                                    </m:r>
                                  </m:e>
                                </m:d>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𝜓</m:t>
                                    </m:r>
                                  </m:e>
                                  <m:sup>
                                    <m:r>
                                      <a:rPr lang="en-US" sz="2000" b="0" i="1" smtClean="0">
                                        <a:solidFill>
                                          <a:schemeClr val="tx1"/>
                                        </a:solidFill>
                                        <a:latin typeface="Cambria Math" panose="02040503050406030204" pitchFamily="18" charset="0"/>
                                      </a:rPr>
                                      <m:t>(0)</m:t>
                                    </m:r>
                                  </m:sup>
                                </m:sSup>
                                <m:r>
                                  <a:rPr lang="en-US" sz="2000" b="0" i="1" smtClean="0">
                                    <a:solidFill>
                                      <a:schemeClr val="tx1"/>
                                    </a:solidFill>
                                    <a:latin typeface="Cambria Math" panose="02040503050406030204" pitchFamily="18" charset="0"/>
                                  </a:rPr>
                                  <m:t>⟩</m:t>
                                </m:r>
                              </m:oMath>
                            </m:oMathPara>
                          </a14:m>
                          <a:endParaRPr lang="en-US"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chemeClr val="tx1"/>
                              </a:solidFill>
                            </a:rPr>
                            <a:t>(1.2)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780019310"/>
                  </p:ext>
                </p:extLst>
              </p:nvPr>
            </p:nvGraphicFramePr>
            <p:xfrm>
              <a:off x="838200" y="4927388"/>
              <a:ext cx="4519773" cy="441325"/>
            </p:xfrm>
            <a:graphic>
              <a:graphicData uri="http://schemas.openxmlformats.org/drawingml/2006/table">
                <a:tbl>
                  <a:tblPr firstRow="1" bandRow="1">
                    <a:tableStyleId>{5C22544A-7EE6-4342-B048-85BDC9FD1C3A}</a:tableStyleId>
                  </a:tblPr>
                  <a:tblGrid>
                    <a:gridCol w="3420438">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44132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t="-2740" r="-32028" b="-19178"/>
                          </a:stretch>
                        </a:blipFill>
                      </a:tcPr>
                    </a:tc>
                    <a:tc>
                      <a:txBody>
                        <a:bodyPr/>
                        <a:lstStyle/>
                        <a:p>
                          <a:pPr algn="r"/>
                          <a:r>
                            <a:rPr lang="en-US" sz="2000" b="0" dirty="0">
                              <a:solidFill>
                                <a:schemeClr val="tx1"/>
                              </a:solidFill>
                            </a:rPr>
                            <a:t>(1.2)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A42852-9ED7-46E3-2B48-7240CC4A85CD}"/>
                  </a:ext>
                </a:extLst>
              </p:cNvPr>
              <p:cNvSpPr txBox="1"/>
              <p:nvPr/>
            </p:nvSpPr>
            <p:spPr>
              <a:xfrm>
                <a:off x="838200" y="5461179"/>
                <a:ext cx="6199599" cy="707886"/>
              </a:xfrm>
              <a:prstGeom prst="rect">
                <a:avLst/>
              </a:prstGeom>
              <a:noFill/>
            </p:spPr>
            <p:txBody>
              <a:bodyPr wrap="square" rtlCol="0">
                <a:spAutoFit/>
              </a:bodyPr>
              <a:lstStyle/>
              <a:p>
                <a:r>
                  <a:rPr lang="en-US" sz="2000" dirty="0"/>
                  <a:t>under unitary </a:t>
                </a:r>
                <a14:m>
                  <m:oMath xmlns:m="http://schemas.openxmlformats.org/officeDocument/2006/math">
                    <m:r>
                      <a:rPr lang="en-US" sz="2000" b="0" i="1" smtClean="0">
                        <a:latin typeface="Cambria Math" panose="02040503050406030204" pitchFamily="18" charset="0"/>
                      </a:rPr>
                      <m:t>𝑈</m:t>
                    </m:r>
                  </m:oMath>
                </a14:m>
                <a:r>
                  <a:rPr lang="en-US" sz="2000" dirty="0"/>
                  <a:t>. </a:t>
                </a:r>
                <a14:m>
                  <m:oMath xmlns:m="http://schemas.openxmlformats.org/officeDocument/2006/math">
                    <m:r>
                      <a:rPr lang="en-US" sz="2000" b="0" i="1" smtClean="0">
                        <a:latin typeface="Cambria Math" panose="02040503050406030204" pitchFamily="18" charset="0"/>
                      </a:rPr>
                      <m:t>𝑈</m:t>
                    </m:r>
                  </m:oMath>
                </a14:m>
                <a:r>
                  <a:rPr lang="en-US" sz="2000" dirty="0"/>
                  <a:t> is composed from gates or sub-operators via tensor product/matrix multiplication</a:t>
                </a:r>
              </a:p>
            </p:txBody>
          </p:sp>
        </mc:Choice>
        <mc:Fallback xmlns="">
          <p:sp>
            <p:nvSpPr>
              <p:cNvPr id="9" name="TextBox 8">
                <a:extLst>
                  <a:ext uri="{FF2B5EF4-FFF2-40B4-BE49-F238E27FC236}">
                    <a16:creationId xmlns:a16="http://schemas.microsoft.com/office/drawing/2014/main" id="{7CA42852-9ED7-46E3-2B48-7240CC4A85CD}"/>
                  </a:ext>
                </a:extLst>
              </p:cNvPr>
              <p:cNvSpPr txBox="1">
                <a:spLocks noRot="1" noChangeAspect="1" noMove="1" noResize="1" noEditPoints="1" noAdjustHandles="1" noChangeArrowheads="1" noChangeShapeType="1" noTextEdit="1"/>
              </p:cNvSpPr>
              <p:nvPr/>
            </p:nvSpPr>
            <p:spPr>
              <a:xfrm>
                <a:off x="838200" y="5461179"/>
                <a:ext cx="6199599" cy="707886"/>
              </a:xfrm>
              <a:prstGeom prst="rect">
                <a:avLst/>
              </a:prstGeom>
              <a:blipFill>
                <a:blip r:embed="rId7"/>
                <a:stretch>
                  <a:fillRect l="-1230" t="-3571" b="-14286"/>
                </a:stretch>
              </a:blipFill>
            </p:spPr>
            <p:txBody>
              <a:bodyPr/>
              <a:lstStyle/>
              <a:p>
                <a:r>
                  <a:rPr lang="en-VN">
                    <a:noFill/>
                  </a:rPr>
                  <a:t> </a:t>
                </a:r>
              </a:p>
            </p:txBody>
          </p:sp>
        </mc:Fallback>
      </mc:AlternateContent>
      <p:sp>
        <p:nvSpPr>
          <p:cNvPr id="10" name="Rectangle 9">
            <a:extLst>
              <a:ext uri="{FF2B5EF4-FFF2-40B4-BE49-F238E27FC236}">
                <a16:creationId xmlns:a16="http://schemas.microsoft.com/office/drawing/2014/main" id="{7178EF51-E299-E47D-551E-6A111826D439}"/>
              </a:ext>
            </a:extLst>
          </p:cNvPr>
          <p:cNvSpPr/>
          <p:nvPr/>
        </p:nvSpPr>
        <p:spPr>
          <a:xfrm>
            <a:off x="3107933" y="1931100"/>
            <a:ext cx="3221376" cy="9858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823E5C-D5B2-3403-ADC2-4A2862C2BAE6}"/>
              </a:ext>
            </a:extLst>
          </p:cNvPr>
          <p:cNvSpPr txBox="1"/>
          <p:nvPr/>
        </p:nvSpPr>
        <p:spPr>
          <a:xfrm>
            <a:off x="6329309" y="2108501"/>
            <a:ext cx="3477374" cy="646331"/>
          </a:xfrm>
          <a:prstGeom prst="rect">
            <a:avLst/>
          </a:prstGeom>
          <a:noFill/>
        </p:spPr>
        <p:txBody>
          <a:bodyPr wrap="square" rtlCol="0" anchor="ctr">
            <a:spAutoFit/>
          </a:bodyPr>
          <a:lstStyle/>
          <a:p>
            <a:r>
              <a:rPr lang="en-US" dirty="0">
                <a:solidFill>
                  <a:srgbClr val="FF0000"/>
                </a:solidFill>
              </a:rPr>
              <a:t>The number of amplitudes grows exponentially based on #Qubits</a:t>
            </a:r>
          </a:p>
        </p:txBody>
      </p:sp>
      <p:sp>
        <p:nvSpPr>
          <p:cNvPr id="12" name="Rectangle 11">
            <a:extLst>
              <a:ext uri="{FF2B5EF4-FFF2-40B4-BE49-F238E27FC236}">
                <a16:creationId xmlns:a16="http://schemas.microsoft.com/office/drawing/2014/main" id="{F78A8F11-5D99-B60E-D80B-3645A062F90B}"/>
              </a:ext>
            </a:extLst>
          </p:cNvPr>
          <p:cNvSpPr/>
          <p:nvPr/>
        </p:nvSpPr>
        <p:spPr>
          <a:xfrm>
            <a:off x="1171254" y="3522638"/>
            <a:ext cx="5158055" cy="5448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70DAC06-1867-B145-D4F5-98A511D1261B}"/>
              </a:ext>
            </a:extLst>
          </p:cNvPr>
          <p:cNvSpPr txBox="1"/>
          <p:nvPr/>
        </p:nvSpPr>
        <p:spPr>
          <a:xfrm>
            <a:off x="6329309" y="3584962"/>
            <a:ext cx="3174287" cy="369332"/>
          </a:xfrm>
          <a:prstGeom prst="rect">
            <a:avLst/>
          </a:prstGeom>
          <a:noFill/>
        </p:spPr>
        <p:txBody>
          <a:bodyPr wrap="square" rtlCol="0">
            <a:spAutoFit/>
          </a:bodyPr>
          <a:lstStyle/>
          <a:p>
            <a:r>
              <a:rPr lang="en-US" dirty="0">
                <a:solidFill>
                  <a:srgbClr val="FF0000"/>
                </a:solidFill>
              </a:rPr>
              <a:t>Traversing on a long vector</a:t>
            </a:r>
          </a:p>
        </p:txBody>
      </p:sp>
      <p:sp>
        <p:nvSpPr>
          <p:cNvPr id="14" name="Rectangle 13">
            <a:extLst>
              <a:ext uri="{FF2B5EF4-FFF2-40B4-BE49-F238E27FC236}">
                <a16:creationId xmlns:a16="http://schemas.microsoft.com/office/drawing/2014/main" id="{0C5614B0-CC33-CBF6-E415-2690E7CD43F2}"/>
              </a:ext>
            </a:extLst>
          </p:cNvPr>
          <p:cNvSpPr/>
          <p:nvPr/>
        </p:nvSpPr>
        <p:spPr>
          <a:xfrm>
            <a:off x="1297969" y="4897366"/>
            <a:ext cx="5031340" cy="5448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100C01-3F9F-9A6C-5236-96D07768195E}"/>
                  </a:ext>
                </a:extLst>
              </p:cNvPr>
              <p:cNvSpPr txBox="1"/>
              <p:nvPr/>
            </p:nvSpPr>
            <p:spPr>
              <a:xfrm>
                <a:off x="6329309" y="4860681"/>
                <a:ext cx="3133190" cy="687176"/>
              </a:xfrm>
              <a:prstGeom prst="rect">
                <a:avLst/>
              </a:prstGeom>
              <a:noFill/>
            </p:spPr>
            <p:txBody>
              <a:bodyPr wrap="square" rtlCol="0">
                <a:spAutoFit/>
              </a:bodyPr>
              <a:lstStyle/>
              <a:p>
                <a:r>
                  <a:rPr lang="en-US" dirty="0">
                    <a:solidFill>
                      <a:srgbClr val="FF0000"/>
                    </a:solidFill>
                  </a:rPr>
                  <a:t>Both </a:t>
                </a:r>
                <a14:m>
                  <m:oMath xmlns:m="http://schemas.openxmlformats.org/officeDocument/2006/math">
                    <m:d>
                      <m:dPr>
                        <m:begChr m:val="|"/>
                        <m:endChr m:val="⟩"/>
                        <m:ctrlPr>
                          <a:rPr lang="en-US" b="0" i="1" smtClean="0">
                            <a:solidFill>
                              <a:srgbClr val="FF0000"/>
                            </a:solidFill>
                            <a:latin typeface="Cambria Math" panose="02040503050406030204" pitchFamily="18" charset="0"/>
                          </a:rPr>
                        </m:ctrlPr>
                      </m:dPr>
                      <m:e>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𝜓</m:t>
                            </m:r>
                          </m:e>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𝑡</m:t>
                                </m:r>
                                <m:r>
                                  <a:rPr lang="en-US" b="0" i="1" smtClean="0">
                                    <a:solidFill>
                                      <a:srgbClr val="FF0000"/>
                                    </a:solidFill>
                                    <a:latin typeface="Cambria Math" panose="02040503050406030204" pitchFamily="18" charset="0"/>
                                  </a:rPr>
                                  <m:t>+1</m:t>
                                </m:r>
                              </m:e>
                            </m:d>
                          </m:sup>
                        </m:sSup>
                      </m:e>
                    </m:d>
                  </m:oMath>
                </a14:m>
                <a:r>
                  <a:rPr lang="en-US" dirty="0">
                    <a:solidFill>
                      <a:srgbClr val="FF0000"/>
                    </a:solidFill>
                  </a:rPr>
                  <a:t> and </a:t>
                </a:r>
                <a14:m>
                  <m:oMath xmlns:m="http://schemas.openxmlformats.org/officeDocument/2006/math">
                    <m:d>
                      <m:dPr>
                        <m:begChr m:val="|"/>
                        <m:endChr m:val="⟩"/>
                        <m:ctrlPr>
                          <a:rPr lang="en-US" i="1">
                            <a:solidFill>
                              <a:srgbClr val="FF0000"/>
                            </a:solidFill>
                            <a:latin typeface="Cambria Math" panose="02040503050406030204" pitchFamily="18" charset="0"/>
                          </a:rPr>
                        </m:ctrlPr>
                      </m:dPr>
                      <m:e>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𝜓</m:t>
                            </m:r>
                          </m:e>
                          <m:sup>
                            <m:d>
                              <m:dPr>
                                <m:ctrlPr>
                                  <a:rPr lang="en-US" i="1">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𝑡</m:t>
                                </m:r>
                              </m:e>
                            </m:d>
                          </m:sup>
                        </m:sSup>
                      </m:e>
                    </m:d>
                  </m:oMath>
                </a14:m>
                <a:r>
                  <a:rPr lang="en-US" dirty="0">
                    <a:solidFill>
                      <a:srgbClr val="FF0000"/>
                    </a:solidFill>
                  </a:rPr>
                  <a:t> need to be saved at the same time</a:t>
                </a:r>
              </a:p>
            </p:txBody>
          </p:sp>
        </mc:Choice>
        <mc:Fallback xmlns="">
          <p:sp>
            <p:nvSpPr>
              <p:cNvPr id="15" name="TextBox 14">
                <a:extLst>
                  <a:ext uri="{FF2B5EF4-FFF2-40B4-BE49-F238E27FC236}">
                    <a16:creationId xmlns:a16="http://schemas.microsoft.com/office/drawing/2014/main" id="{E4100C01-3F9F-9A6C-5236-96D07768195E}"/>
                  </a:ext>
                </a:extLst>
              </p:cNvPr>
              <p:cNvSpPr txBox="1">
                <a:spLocks noRot="1" noChangeAspect="1" noMove="1" noResize="1" noEditPoints="1" noAdjustHandles="1" noChangeArrowheads="1" noChangeShapeType="1" noTextEdit="1"/>
              </p:cNvSpPr>
              <p:nvPr/>
            </p:nvSpPr>
            <p:spPr>
              <a:xfrm>
                <a:off x="6329309" y="4860681"/>
                <a:ext cx="3133190" cy="687176"/>
              </a:xfrm>
              <a:prstGeom prst="rect">
                <a:avLst/>
              </a:prstGeom>
              <a:blipFill>
                <a:blip r:embed="rId8"/>
                <a:stretch>
                  <a:fillRect l="-1619" b="-1272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2234D75-88B2-45E4-C352-69BC7A9993D6}"/>
                  </a:ext>
                </a:extLst>
              </p:cNvPr>
              <p:cNvSpPr txBox="1"/>
              <p:nvPr/>
            </p:nvSpPr>
            <p:spPr>
              <a:xfrm>
                <a:off x="4941870" y="2395564"/>
                <a:ext cx="1464067" cy="4583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𝛼</m:t>
                              </m:r>
                            </m:e>
                            <m:sub>
                              <m:r>
                                <a:rPr lang="en-US" sz="2000" i="1">
                                  <a:latin typeface="Cambria Math" panose="02040503050406030204" pitchFamily="18" charset="0"/>
                                </a:rPr>
                                <m:t>𝑗</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d>
                      <m:r>
                        <a:rPr lang="vi-VN" sz="2000" b="0" i="1">
                          <a:latin typeface="Cambria Math" panose="02040503050406030204" pitchFamily="18" charset="0"/>
                        </a:rPr>
                        <m:t>≤</m:t>
                      </m:r>
                      <m:r>
                        <a:rPr lang="en-US" sz="2000" b="0" i="1" smtClean="0">
                          <a:latin typeface="Cambria Math" panose="02040503050406030204" pitchFamily="18" charset="0"/>
                        </a:rPr>
                        <m:t>1</m:t>
                      </m:r>
                    </m:oMath>
                  </m:oMathPara>
                </a14:m>
                <a:endParaRPr lang="en-US" sz="2000" dirty="0"/>
              </a:p>
            </p:txBody>
          </p:sp>
        </mc:Choice>
        <mc:Fallback xmlns="">
          <p:sp>
            <p:nvSpPr>
              <p:cNvPr id="17" name="TextBox 16">
                <a:extLst>
                  <a:ext uri="{FF2B5EF4-FFF2-40B4-BE49-F238E27FC236}">
                    <a16:creationId xmlns:a16="http://schemas.microsoft.com/office/drawing/2014/main" id="{62234D75-88B2-45E4-C352-69BC7A9993D6}"/>
                  </a:ext>
                </a:extLst>
              </p:cNvPr>
              <p:cNvSpPr txBox="1">
                <a:spLocks noRot="1" noChangeAspect="1" noMove="1" noResize="1" noEditPoints="1" noAdjustHandles="1" noChangeArrowheads="1" noChangeShapeType="1" noTextEdit="1"/>
              </p:cNvSpPr>
              <p:nvPr/>
            </p:nvSpPr>
            <p:spPr>
              <a:xfrm>
                <a:off x="4941870" y="2395564"/>
                <a:ext cx="1464067" cy="458395"/>
              </a:xfrm>
              <a:prstGeom prst="rect">
                <a:avLst/>
              </a:prstGeom>
              <a:blipFill>
                <a:blip r:embed="rId9"/>
                <a:stretch>
                  <a:fillRect b="-1351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4224EE5-9F94-9A5D-C5CD-21206D6CB6D6}"/>
                  </a:ext>
                </a:extLst>
              </p:cNvPr>
              <p:cNvSpPr txBox="1"/>
              <p:nvPr/>
            </p:nvSpPr>
            <p:spPr>
              <a:xfrm>
                <a:off x="838200" y="2954887"/>
                <a:ext cx="6095144" cy="504369"/>
              </a:xfrm>
              <a:prstGeom prst="rect">
                <a:avLst/>
              </a:prstGeom>
              <a:noFill/>
            </p:spPr>
            <p:txBody>
              <a:bodyPr wrap="square">
                <a:spAutoFit/>
              </a:bodyPr>
              <a:lstStyle/>
              <a:p>
                <a:pPr marL="0" indent="0">
                  <a:buNone/>
                </a:pPr>
                <a:r>
                  <a:rPr lang="en-US" sz="1800" dirty="0"/>
                  <a:t>A quantum gate update amplitudes </a:t>
                </a:r>
                <a14:m>
                  <m:oMath xmlns:m="http://schemas.openxmlformats.org/officeDocument/2006/math">
                    <m:d>
                      <m:dPr>
                        <m:begChr m:val="{"/>
                        <m:endChr m:val="}"/>
                        <m:ctrlPr>
                          <a:rPr lang="en-US" sz="1800" b="0" i="1" smtClean="0">
                            <a:latin typeface="Cambria Math" panose="02040503050406030204" pitchFamily="18" charset="0"/>
                          </a:rPr>
                        </m:ctrlPr>
                      </m:dPr>
                      <m:e>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𝛼</m:t>
                            </m:r>
                          </m:e>
                          <m:sub>
                            <m:r>
                              <a:rPr lang="en-US" sz="1800" b="0" i="1" smtClean="0">
                                <a:latin typeface="Cambria Math" panose="02040503050406030204" pitchFamily="18" charset="0"/>
                              </a:rPr>
                              <m:t>𝑗</m:t>
                            </m:r>
                          </m:sub>
                          <m:sup>
                            <m:d>
                              <m:dPr>
                                <m:ctrlPr>
                                  <a:rPr lang="en-US" sz="1800" i="1">
                                    <a:latin typeface="Cambria Math" panose="02040503050406030204" pitchFamily="18" charset="0"/>
                                  </a:rPr>
                                </m:ctrlPr>
                              </m:dPr>
                              <m:e>
                                <m:r>
                                  <a:rPr lang="en-US" sz="1800" i="1">
                                    <a:latin typeface="Cambria Math" panose="02040503050406030204" pitchFamily="18" charset="0"/>
                                  </a:rPr>
                                  <m:t>𝑡</m:t>
                                </m:r>
                              </m:e>
                            </m:d>
                          </m:sup>
                        </m:sSubSup>
                      </m:e>
                    </m:d>
                  </m:oMath>
                </a14:m>
                <a:r>
                  <a:rPr lang="en-US" sz="1800" dirty="0"/>
                  <a:t>:</a:t>
                </a:r>
              </a:p>
            </p:txBody>
          </p:sp>
        </mc:Choice>
        <mc:Fallback xmlns="">
          <p:sp>
            <p:nvSpPr>
              <p:cNvPr id="19" name="TextBox 18">
                <a:extLst>
                  <a:ext uri="{FF2B5EF4-FFF2-40B4-BE49-F238E27FC236}">
                    <a16:creationId xmlns:a16="http://schemas.microsoft.com/office/drawing/2014/main" id="{64224EE5-9F94-9A5D-C5CD-21206D6CB6D6}"/>
                  </a:ext>
                </a:extLst>
              </p:cNvPr>
              <p:cNvSpPr txBox="1">
                <a:spLocks noRot="1" noChangeAspect="1" noMove="1" noResize="1" noEditPoints="1" noAdjustHandles="1" noChangeArrowheads="1" noChangeShapeType="1" noTextEdit="1"/>
              </p:cNvSpPr>
              <p:nvPr/>
            </p:nvSpPr>
            <p:spPr>
              <a:xfrm>
                <a:off x="838200" y="2954887"/>
                <a:ext cx="6095144" cy="504369"/>
              </a:xfrm>
              <a:prstGeom prst="rect">
                <a:avLst/>
              </a:prstGeom>
              <a:blipFill>
                <a:blip r:embed="rId10"/>
                <a:stretch>
                  <a:fillRect l="-1042" b="-7317"/>
                </a:stretch>
              </a:blipFill>
            </p:spPr>
            <p:txBody>
              <a:bodyPr/>
              <a:lstStyle/>
              <a:p>
                <a:r>
                  <a:rPr lang="en-VN">
                    <a:noFill/>
                  </a:rPr>
                  <a:t> </a:t>
                </a:r>
              </a:p>
            </p:txBody>
          </p:sp>
        </mc:Fallback>
      </mc:AlternateContent>
    </p:spTree>
    <p:extLst>
      <p:ext uri="{BB962C8B-B14F-4D97-AF65-F5344CB8AC3E}">
        <p14:creationId xmlns:p14="http://schemas.microsoft.com/office/powerpoint/2010/main" val="20007387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29A5-7000-7636-6A2F-429F9CCAB83F}"/>
              </a:ext>
            </a:extLst>
          </p:cNvPr>
          <p:cNvSpPr>
            <a:spLocks noGrp="1"/>
          </p:cNvSpPr>
          <p:nvPr>
            <p:ph type="title"/>
          </p:nvPr>
        </p:nvSpPr>
        <p:spPr>
          <a:xfrm>
            <a:off x="838200" y="1"/>
            <a:ext cx="10515600" cy="1643864"/>
          </a:xfrm>
        </p:spPr>
        <p:txBody>
          <a:bodyPr/>
          <a:lstStyle/>
          <a:p>
            <a:r>
              <a:rPr lang="en-US" dirty="0"/>
              <a:t>2. A wave-function based emulator (</a:t>
            </a:r>
            <a:r>
              <a:rPr lang="en-US" dirty="0" err="1"/>
              <a:t>FQsun</a:t>
            </a:r>
            <a:r>
              <a:rPr lang="en-US" dirty="0"/>
              <a:t>)</a:t>
            </a:r>
          </a:p>
        </p:txBody>
      </p:sp>
      <p:sp>
        <p:nvSpPr>
          <p:cNvPr id="3" name="Content Placeholder 2">
            <a:extLst>
              <a:ext uri="{FF2B5EF4-FFF2-40B4-BE49-F238E27FC236}">
                <a16:creationId xmlns:a16="http://schemas.microsoft.com/office/drawing/2014/main" id="{C2BF494B-D721-FFCB-0B59-D4BB32CE5CC9}"/>
              </a:ext>
            </a:extLst>
          </p:cNvPr>
          <p:cNvSpPr>
            <a:spLocks noGrp="1"/>
          </p:cNvSpPr>
          <p:nvPr>
            <p:ph idx="1"/>
          </p:nvPr>
        </p:nvSpPr>
        <p:spPr>
          <a:xfrm>
            <a:off x="838200" y="1705510"/>
            <a:ext cx="10515600" cy="4471453"/>
          </a:xfrm>
        </p:spPr>
        <p:txBody>
          <a:bodyPr>
            <a:normAutofit/>
          </a:bodyPr>
          <a:lstStyle/>
          <a:p>
            <a:pPr marL="0" indent="0">
              <a:buNone/>
            </a:pPr>
            <a:r>
              <a:rPr lang="en-US" sz="2400" dirty="0"/>
              <a:t>The wave-function approach is based on the representation in the last slides.</a:t>
            </a:r>
          </a:p>
          <a:p>
            <a:pPr marL="0" indent="0">
              <a:buNone/>
            </a:pPr>
            <a:r>
              <a:rPr lang="en-US" sz="2400" dirty="0"/>
              <a:t>Challenges:</a:t>
            </a:r>
          </a:p>
          <a:p>
            <a:pPr marL="514350" indent="-514350">
              <a:buAutoNum type="alphaLcParenBoth"/>
            </a:pPr>
            <a:r>
              <a:rPr lang="en-US" sz="2400" b="1" dirty="0"/>
              <a:t>Efficient Memory Management</a:t>
            </a:r>
            <a:r>
              <a:rPr lang="en-US" sz="2400" dirty="0"/>
              <a:t>: able to process large #Qubits</a:t>
            </a:r>
          </a:p>
          <a:p>
            <a:pPr marL="514350" indent="-514350">
              <a:buAutoNum type="alphaLcParenBoth"/>
            </a:pPr>
            <a:r>
              <a:rPr lang="en-US" sz="2400" b="1" dirty="0"/>
              <a:t>Flexible Quantum Gate Configuration</a:t>
            </a:r>
            <a:r>
              <a:rPr lang="en-US" sz="2400" dirty="0"/>
              <a:t>: an adaptable gate configuration system is needed </a:t>
            </a:r>
          </a:p>
          <a:p>
            <a:pPr marL="514350" indent="-514350">
              <a:buAutoNum type="alphaLcParenBoth"/>
            </a:pPr>
            <a:r>
              <a:rPr lang="en-US" sz="2400" b="1" dirty="0"/>
              <a:t>Optimized Task Scheduling</a:t>
            </a:r>
            <a:r>
              <a:rPr lang="en-US" sz="2400" dirty="0"/>
              <a:t>: the emulator requires an optimized scheduling mechanism to ensure continuous processing without latency.</a:t>
            </a:r>
          </a:p>
          <a:p>
            <a:pPr marL="514350" indent="-514350">
              <a:buAutoNum type="alphaLcParenBoth"/>
            </a:pPr>
            <a:r>
              <a:rPr lang="en-US" sz="2400" b="1" dirty="0"/>
              <a:t>Multi-Level Precision Support</a:t>
            </a:r>
            <a:r>
              <a:rPr lang="en-US" sz="2400" dirty="0"/>
              <a:t>: supporting various precision levels allows the emulator to balance accuracy with resource usage</a:t>
            </a:r>
          </a:p>
        </p:txBody>
      </p:sp>
      <p:sp>
        <p:nvSpPr>
          <p:cNvPr id="4" name="Slide Number Placeholder 3">
            <a:extLst>
              <a:ext uri="{FF2B5EF4-FFF2-40B4-BE49-F238E27FC236}">
                <a16:creationId xmlns:a16="http://schemas.microsoft.com/office/drawing/2014/main" id="{07D67B9D-E538-2031-4D62-EBF974C82378}"/>
              </a:ext>
            </a:extLst>
          </p:cNvPr>
          <p:cNvSpPr>
            <a:spLocks noGrp="1"/>
          </p:cNvSpPr>
          <p:nvPr>
            <p:ph type="sldNum" sz="quarter" idx="12"/>
          </p:nvPr>
        </p:nvSpPr>
        <p:spPr/>
        <p:txBody>
          <a:bodyPr/>
          <a:lstStyle/>
          <a:p>
            <a:fld id="{3C0C221A-CB66-4297-9A52-937C35126D0C}" type="slidenum">
              <a:rPr lang="en-US" smtClean="0"/>
              <a:t>40</a:t>
            </a:fld>
            <a:endParaRPr lang="en-US"/>
          </a:p>
        </p:txBody>
      </p:sp>
    </p:spTree>
    <p:extLst>
      <p:ext uri="{BB962C8B-B14F-4D97-AF65-F5344CB8AC3E}">
        <p14:creationId xmlns:p14="http://schemas.microsoft.com/office/powerpoint/2010/main" val="213619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A01E33-6C5F-A447-567C-5D7D39FBEC4A}"/>
              </a:ext>
            </a:extLst>
          </p:cNvPr>
          <p:cNvPicPr>
            <a:picLocks noChangeAspect="1"/>
          </p:cNvPicPr>
          <p:nvPr/>
        </p:nvPicPr>
        <p:blipFill>
          <a:blip r:embed="rId3"/>
          <a:srcRect b="37408"/>
          <a:stretch/>
        </p:blipFill>
        <p:spPr>
          <a:xfrm>
            <a:off x="5432435" y="365125"/>
            <a:ext cx="6726855" cy="5063687"/>
          </a:xfrm>
          <a:prstGeom prst="rect">
            <a:avLst/>
          </a:prstGeom>
        </p:spPr>
      </p:pic>
      <p:sp>
        <p:nvSpPr>
          <p:cNvPr id="2" name="Title 1">
            <a:extLst>
              <a:ext uri="{FF2B5EF4-FFF2-40B4-BE49-F238E27FC236}">
                <a16:creationId xmlns:a16="http://schemas.microsoft.com/office/drawing/2014/main" id="{77EFB3F6-5EE3-C5E6-4B2A-9DAC9E26ABDA}"/>
              </a:ext>
            </a:extLst>
          </p:cNvPr>
          <p:cNvSpPr>
            <a:spLocks noGrp="1"/>
          </p:cNvSpPr>
          <p:nvPr>
            <p:ph type="title"/>
          </p:nvPr>
        </p:nvSpPr>
        <p:spPr>
          <a:xfrm>
            <a:off x="247650" y="1"/>
            <a:ext cx="11106150" cy="1324220"/>
          </a:xfrm>
        </p:spPr>
        <p:txBody>
          <a:bodyPr/>
          <a:lstStyle/>
          <a:p>
            <a:r>
              <a:rPr lang="en-US" dirty="0"/>
              <a:t>2.2.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9ABE96-9CF6-D01E-1067-2C430BA8AFE7}"/>
                  </a:ext>
                </a:extLst>
              </p:cNvPr>
              <p:cNvSpPr>
                <a:spLocks noGrp="1"/>
              </p:cNvSpPr>
              <p:nvPr>
                <p:ph idx="1"/>
              </p:nvPr>
            </p:nvSpPr>
            <p:spPr>
              <a:xfrm>
                <a:off x="496002" y="4259021"/>
                <a:ext cx="5009448" cy="601225"/>
              </a:xfrm>
            </p:spPr>
            <p:txBody>
              <a:bodyPr>
                <a:normAutofit fontScale="92500"/>
              </a:bodyPr>
              <a:lstStyle/>
              <a:p>
                <a:pPr marL="0" indent="0">
                  <a:buNone/>
                </a:pPr>
                <a14:m>
                  <m:oMath xmlns:m="http://schemas.openxmlformats.org/officeDocument/2006/math">
                    <m:d>
                      <m:dPr>
                        <m:begChr m:val="|"/>
                        <m:endChr m:val="⟩"/>
                        <m:ctrlPr>
                          <a:rPr lang="pl-PL"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pl-PL" sz="2000" i="1" dirty="0" smtClean="0">
                                <a:latin typeface="Cambria Math" panose="02040503050406030204" pitchFamily="18" charset="0"/>
                              </a:rPr>
                              <m:t>𝜓</m:t>
                            </m:r>
                          </m:e>
                          <m:sup>
                            <m:d>
                              <m:dPr>
                                <m:ctrlPr>
                                  <a:rPr lang="pl-PL" sz="2000" i="1" dirty="0">
                                    <a:latin typeface="Cambria Math" panose="02040503050406030204" pitchFamily="18" charset="0"/>
                                  </a:rPr>
                                </m:ctrlPr>
                              </m:dPr>
                              <m:e>
                                <m:r>
                                  <a:rPr lang="pl-PL" sz="2000" i="1" dirty="0">
                                    <a:latin typeface="Cambria Math" panose="02040503050406030204" pitchFamily="18" charset="0"/>
                                  </a:rPr>
                                  <m:t>𝑚</m:t>
                                </m:r>
                              </m:e>
                            </m:d>
                          </m:sup>
                        </m:sSup>
                      </m:e>
                    </m:d>
                    <m:r>
                      <a:rPr lang="pl-PL" sz="2000" i="1" dirty="0" smtClean="0">
                        <a:latin typeface="Cambria Math" panose="02040503050406030204" pitchFamily="18" charset="0"/>
                      </a:rPr>
                      <m:t>= </m:t>
                    </m:r>
                    <m:r>
                      <a:rPr lang="pl-PL" sz="2000" i="1" dirty="0" smtClean="0">
                        <a:latin typeface="Cambria Math" panose="02040503050406030204" pitchFamily="18" charset="0"/>
                        <a:ea typeface="Cambria Math" panose="02040503050406030204" pitchFamily="18" charset="0"/>
                      </a:rPr>
                      <m:t>𝒲</m:t>
                    </m:r>
                    <m:d>
                      <m:dPr>
                        <m:ctrlPr>
                          <a:rPr lang="pl-PL" sz="2000" i="1" dirty="0" smtClean="0">
                            <a:latin typeface="Cambria Math" panose="02040503050406030204" pitchFamily="18" charset="0"/>
                            <a:ea typeface="Cambria Math" panose="02040503050406030204" pitchFamily="18" charset="0"/>
                          </a:rPr>
                        </m:ctrlPr>
                      </m:dPr>
                      <m:e>
                        <m:sSub>
                          <m:sSubPr>
                            <m:ctrlPr>
                              <a:rPr lang="en-US" sz="2000" b="0" i="1" dirty="0" smtClean="0">
                                <a:latin typeface="Cambria Math" panose="02040503050406030204" pitchFamily="18" charset="0"/>
                              </a:rPr>
                            </m:ctrlPr>
                          </m:sSubPr>
                          <m:e>
                            <m:r>
                              <a:rPr lang="pl-PL" sz="2000" i="1" dirty="0" smtClean="0">
                                <a:latin typeface="Cambria Math" panose="02040503050406030204" pitchFamily="18" charset="0"/>
                              </a:rPr>
                              <m:t>𝑔</m:t>
                            </m:r>
                          </m:e>
                          <m:sub>
                            <m:r>
                              <a:rPr lang="pl-PL" sz="2000" i="1" dirty="0" smtClean="0">
                                <a:latin typeface="Cambria Math" panose="02040503050406030204" pitchFamily="18" charset="0"/>
                              </a:rPr>
                              <m:t>𝑚</m:t>
                            </m:r>
                          </m:sub>
                        </m:sSub>
                      </m:e>
                    </m:d>
                    <m:r>
                      <a:rPr lang="en-US" sz="2000" b="0" i="1" dirty="0" smtClean="0">
                        <a:latin typeface="Cambria Math" panose="02040503050406030204" pitchFamily="18" charset="0"/>
                      </a:rPr>
                      <m:t>…</m:t>
                    </m:r>
                    <m:r>
                      <a:rPr lang="pl-PL" sz="2000" i="1" dirty="0">
                        <a:latin typeface="Cambria Math" panose="02040503050406030204" pitchFamily="18" charset="0"/>
                        <a:ea typeface="Cambria Math" panose="02040503050406030204" pitchFamily="18" charset="0"/>
                      </a:rPr>
                      <m:t>𝒲</m:t>
                    </m:r>
                    <m:r>
                      <a:rPr lang="pl-PL"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pl-PL" sz="2000" i="1" dirty="0" smtClean="0">
                            <a:latin typeface="Cambria Math" panose="02040503050406030204" pitchFamily="18" charset="0"/>
                          </a:rPr>
                          <m:t>𝑔</m:t>
                        </m:r>
                      </m:e>
                      <m:sub>
                        <m:r>
                          <a:rPr lang="pl-PL" sz="2000" i="1" dirty="0" smtClean="0">
                            <a:latin typeface="Cambria Math" panose="02040503050406030204" pitchFamily="18" charset="0"/>
                          </a:rPr>
                          <m:t>2</m:t>
                        </m:r>
                      </m:sub>
                    </m:sSub>
                    <m:r>
                      <a:rPr lang="pl-PL" sz="2000" i="1" dirty="0" smtClean="0">
                        <a:latin typeface="Cambria Math" panose="02040503050406030204" pitchFamily="18" charset="0"/>
                      </a:rPr>
                      <m:t>)</m:t>
                    </m:r>
                    <m:r>
                      <a:rPr lang="pl-PL" sz="2000" i="1" dirty="0">
                        <a:latin typeface="Cambria Math" panose="02040503050406030204" pitchFamily="18" charset="0"/>
                        <a:ea typeface="Cambria Math" panose="02040503050406030204" pitchFamily="18" charset="0"/>
                      </a:rPr>
                      <m:t>𝒲</m:t>
                    </m:r>
                    <m:r>
                      <a:rPr lang="pl-PL"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pl-PL" sz="2000" i="1" dirty="0" smtClean="0">
                            <a:latin typeface="Cambria Math" panose="02040503050406030204" pitchFamily="18" charset="0"/>
                          </a:rPr>
                          <m:t>𝑔</m:t>
                        </m:r>
                      </m:e>
                      <m:sub>
                        <m:r>
                          <a:rPr lang="pl-PL" sz="2000" i="1" dirty="0" smtClean="0">
                            <a:latin typeface="Cambria Math" panose="02040503050406030204" pitchFamily="18" charset="0"/>
                          </a:rPr>
                          <m:t>1</m:t>
                        </m:r>
                      </m:sub>
                    </m:sSub>
                    <m:r>
                      <a:rPr lang="pl-PL"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pl-PL" sz="2000" i="1" dirty="0" smtClean="0">
                            <a:latin typeface="Cambria Math" panose="02040503050406030204" pitchFamily="18" charset="0"/>
                          </a:rPr>
                          <m:t>𝜓</m:t>
                        </m:r>
                      </m:e>
                      <m:sup>
                        <m:r>
                          <a:rPr lang="pl-PL" sz="2000" i="1" dirty="0">
                            <a:latin typeface="Cambria Math" panose="02040503050406030204" pitchFamily="18" charset="0"/>
                          </a:rPr>
                          <m:t>(0)</m:t>
                        </m:r>
                      </m:sup>
                    </m:sSup>
                    <m:r>
                      <a:rPr lang="pl-PL" sz="2000" i="1" dirty="0" smtClean="0">
                        <a:latin typeface="Cambria Math" panose="02040503050406030204" pitchFamily="18" charset="0"/>
                      </a:rPr>
                      <m:t>⟩</m:t>
                    </m:r>
                  </m:oMath>
                </a14:m>
                <a:r>
                  <a:rPr lang="en-US" sz="2000" dirty="0"/>
                  <a:t>  (2.1)</a:t>
                </a:r>
              </a:p>
            </p:txBody>
          </p:sp>
        </mc:Choice>
        <mc:Fallback xmlns="">
          <p:sp>
            <p:nvSpPr>
              <p:cNvPr id="3" name="Content Placeholder 2">
                <a:extLst>
                  <a:ext uri="{FF2B5EF4-FFF2-40B4-BE49-F238E27FC236}">
                    <a16:creationId xmlns:a16="http://schemas.microsoft.com/office/drawing/2014/main" id="{B19ABE96-9CF6-D01E-1067-2C430BA8AFE7}"/>
                  </a:ext>
                </a:extLst>
              </p:cNvPr>
              <p:cNvSpPr>
                <a:spLocks noGrp="1" noRot="1" noChangeAspect="1" noMove="1" noResize="1" noEditPoints="1" noAdjustHandles="1" noChangeArrowheads="1" noChangeShapeType="1" noTextEdit="1"/>
              </p:cNvSpPr>
              <p:nvPr>
                <p:ph idx="1"/>
              </p:nvPr>
            </p:nvSpPr>
            <p:spPr>
              <a:xfrm>
                <a:off x="496002" y="4259021"/>
                <a:ext cx="5009448" cy="601225"/>
              </a:xfrm>
              <a:blipFill>
                <a:blip r:embed="rId4"/>
                <a:stretch>
                  <a:fillRect t="-4167"/>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606B0A32-4BDF-6501-E5E3-EA2E65442EEF}"/>
              </a:ext>
            </a:extLst>
          </p:cNvPr>
          <p:cNvSpPr>
            <a:spLocks noGrp="1"/>
          </p:cNvSpPr>
          <p:nvPr>
            <p:ph type="sldNum" sz="quarter" idx="12"/>
          </p:nvPr>
        </p:nvSpPr>
        <p:spPr/>
        <p:txBody>
          <a:bodyPr/>
          <a:lstStyle/>
          <a:p>
            <a:fld id="{3C0C221A-CB66-4297-9A52-937C35126D0C}" type="slidenum">
              <a:rPr lang="en-US" smtClean="0"/>
              <a:t>41</a:t>
            </a:fld>
            <a:endParaRPr lang="en-US"/>
          </a:p>
        </p:txBody>
      </p:sp>
      <p:sp>
        <p:nvSpPr>
          <p:cNvPr id="7" name="Rectangle 6">
            <a:extLst>
              <a:ext uri="{FF2B5EF4-FFF2-40B4-BE49-F238E27FC236}">
                <a16:creationId xmlns:a16="http://schemas.microsoft.com/office/drawing/2014/main" id="{1D8C7771-DF26-F8C4-8270-6D1C4C3E1EDC}"/>
              </a:ext>
            </a:extLst>
          </p:cNvPr>
          <p:cNvSpPr>
            <a:spLocks/>
          </p:cNvSpPr>
          <p:nvPr/>
        </p:nvSpPr>
        <p:spPr>
          <a:xfrm>
            <a:off x="9080500" y="977901"/>
            <a:ext cx="1028919" cy="933450"/>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FAE1B27-1145-FD91-7129-4BD037634A0D}"/>
              </a:ext>
            </a:extLst>
          </p:cNvPr>
          <p:cNvPicPr>
            <a:picLocks noChangeAspect="1"/>
          </p:cNvPicPr>
          <p:nvPr/>
        </p:nvPicPr>
        <p:blipFill>
          <a:blip r:embed="rId3"/>
          <a:srcRect t="94362" r="65673" b="845"/>
          <a:stretch/>
        </p:blipFill>
        <p:spPr>
          <a:xfrm>
            <a:off x="5505450" y="5456708"/>
            <a:ext cx="2399794" cy="402975"/>
          </a:xfrm>
          <a:prstGeom prst="rect">
            <a:avLst/>
          </a:prstGeom>
        </p:spPr>
      </p:pic>
      <p:pic>
        <p:nvPicPr>
          <p:cNvPr id="13" name="Picture 12">
            <a:extLst>
              <a:ext uri="{FF2B5EF4-FFF2-40B4-BE49-F238E27FC236}">
                <a16:creationId xmlns:a16="http://schemas.microsoft.com/office/drawing/2014/main" id="{E8F12B16-0F11-CBCD-E21D-1A6AAEF91511}"/>
              </a:ext>
            </a:extLst>
          </p:cNvPr>
          <p:cNvPicPr>
            <a:picLocks noChangeAspect="1"/>
          </p:cNvPicPr>
          <p:nvPr/>
        </p:nvPicPr>
        <p:blipFill>
          <a:blip r:embed="rId3"/>
          <a:srcRect l="9422" t="62592" r="52956" b="5845"/>
          <a:stretch/>
        </p:blipFill>
        <p:spPr>
          <a:xfrm>
            <a:off x="8455052" y="3181214"/>
            <a:ext cx="2571530" cy="2594439"/>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11A431F-B5E8-A1A4-A1EB-C3BCFC926D85}"/>
                  </a:ext>
                </a:extLst>
              </p:cNvPr>
              <p:cNvSpPr txBox="1"/>
              <p:nvPr/>
            </p:nvSpPr>
            <p:spPr>
              <a:xfrm>
                <a:off x="247650" y="4754164"/>
                <a:ext cx="5397500" cy="710707"/>
              </a:xfrm>
              <a:prstGeom prst="rect">
                <a:avLst/>
              </a:prstGeom>
              <a:noFill/>
            </p:spPr>
            <p:txBody>
              <a:bodyPr wrap="square">
                <a:spAutoFit/>
              </a:bodyPr>
              <a:lstStyle/>
              <a:p>
                <a:r>
                  <a:rPr lang="en-US" dirty="0"/>
                  <a:t>The transition function </a:t>
                </a:r>
                <a14:m>
                  <m:oMath xmlns:m="http://schemas.openxmlformats.org/officeDocument/2006/math">
                    <m:r>
                      <a:rPr lang="pl-PL" sz="1800" i="1" dirty="0" smtClean="0">
                        <a:latin typeface="Cambria Math" panose="02040503050406030204" pitchFamily="18" charset="0"/>
                        <a:ea typeface="Cambria Math" panose="02040503050406030204" pitchFamily="18" charset="0"/>
                      </a:rPr>
                      <m:t>𝒲</m:t>
                    </m:r>
                    <m:d>
                      <m:dPr>
                        <m:ctrlPr>
                          <a:rPr lang="en-US" sz="1800" b="0" i="1" dirty="0" smtClean="0">
                            <a:latin typeface="Cambria Math" panose="02040503050406030204" pitchFamily="18" charset="0"/>
                            <a:ea typeface="Cambria Math" panose="02040503050406030204" pitchFamily="18" charset="0"/>
                          </a:rPr>
                        </m:ctrlPr>
                      </m:dPr>
                      <m:e>
                        <m:sSub>
                          <m:sSubPr>
                            <m:ctrlPr>
                              <a:rPr lang="en-US" sz="1800" b="0" i="1" dirty="0" smtClean="0">
                                <a:latin typeface="Cambria Math" panose="02040503050406030204" pitchFamily="18" charset="0"/>
                                <a:ea typeface="Cambria Math" panose="02040503050406030204" pitchFamily="18" charset="0"/>
                              </a:rPr>
                            </m:ctrlPr>
                          </m:sSubPr>
                          <m:e>
                            <m:r>
                              <a:rPr lang="en-US" sz="1800" b="0" i="1" dirty="0" smtClean="0">
                                <a:latin typeface="Cambria Math" panose="02040503050406030204" pitchFamily="18" charset="0"/>
                                <a:ea typeface="Cambria Math" panose="02040503050406030204" pitchFamily="18" charset="0"/>
                              </a:rPr>
                              <m:t>𝑔</m:t>
                            </m:r>
                          </m:e>
                          <m:sub>
                            <m:r>
                              <a:rPr lang="en-US" sz="1800" b="0" i="1" dirty="0" smtClean="0">
                                <a:latin typeface="Cambria Math" panose="02040503050406030204" pitchFamily="18" charset="0"/>
                                <a:ea typeface="Cambria Math" panose="02040503050406030204" pitchFamily="18" charset="0"/>
                              </a:rPr>
                              <m:t>𝑗</m:t>
                            </m:r>
                          </m:sub>
                        </m:sSub>
                      </m:e>
                    </m:d>
                  </m:oMath>
                </a14:m>
                <a:r>
                  <a:rPr lang="en-US" dirty="0"/>
                  <a:t> updates amplitudes </a:t>
                </a:r>
                <a14:m>
                  <m:oMath xmlns:m="http://schemas.openxmlformats.org/officeDocument/2006/math">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l-GR" i="1" dirty="0">
                            <a:latin typeface="Cambria Math" panose="02040503050406030204" pitchFamily="18" charset="0"/>
                          </a:rPr>
                          <m:t>𝛼</m:t>
                        </m:r>
                      </m:e>
                      <m:sub>
                        <m:r>
                          <a:rPr lang="en-US" i="1" dirty="0">
                            <a:latin typeface="Cambria Math" panose="02040503050406030204" pitchFamily="18" charset="0"/>
                          </a:rPr>
                          <m:t>𝑗</m:t>
                        </m:r>
                      </m:sub>
                    </m:sSub>
                    <m:r>
                      <a:rPr lang="en-US" i="1" dirty="0">
                        <a:latin typeface="Cambria Math" panose="02040503050406030204" pitchFamily="18" charset="0"/>
                      </a:rPr>
                      <m:t>}</m:t>
                    </m:r>
                  </m:oMath>
                </a14:m>
                <a:r>
                  <a:rPr lang="en-US" dirty="0"/>
                  <a:t> on the </a:t>
                </a:r>
                <a14:m>
                  <m:oMath xmlns:m="http://schemas.openxmlformats.org/officeDocument/2006/math">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smtClean="0">
                                    <a:latin typeface="Cambria Math" panose="02040503050406030204" pitchFamily="18" charset="0"/>
                                  </a:rPr>
                                  <m:t>0</m:t>
                                </m:r>
                              </m:sub>
                            </m:sSub>
                          </m:e>
                        </m:d>
                      </m:e>
                      <m:sup>
                        <m:r>
                          <a:rPr lang="en-US" i="1" dirty="0">
                            <a:latin typeface="Cambria Math" panose="02040503050406030204" pitchFamily="18" charset="0"/>
                          </a:rPr>
                          <m:t>𝑡h</m:t>
                        </m:r>
                      </m:sup>
                    </m:sSup>
                  </m:oMath>
                </a14:m>
                <a:r>
                  <a:rPr lang="en-US" dirty="0"/>
                  <a:t> qubit: </a:t>
                </a:r>
              </a:p>
            </p:txBody>
          </p:sp>
        </mc:Choice>
        <mc:Fallback xmlns="">
          <p:sp>
            <p:nvSpPr>
              <p:cNvPr id="18" name="TextBox 17">
                <a:extLst>
                  <a:ext uri="{FF2B5EF4-FFF2-40B4-BE49-F238E27FC236}">
                    <a16:creationId xmlns:a16="http://schemas.microsoft.com/office/drawing/2014/main" id="{711A431F-B5E8-A1A4-A1EB-C3BCFC926D85}"/>
                  </a:ext>
                </a:extLst>
              </p:cNvPr>
              <p:cNvSpPr txBox="1">
                <a:spLocks noRot="1" noChangeAspect="1" noMove="1" noResize="1" noEditPoints="1" noAdjustHandles="1" noChangeArrowheads="1" noChangeShapeType="1" noTextEdit="1"/>
              </p:cNvSpPr>
              <p:nvPr/>
            </p:nvSpPr>
            <p:spPr>
              <a:xfrm>
                <a:off x="247650" y="4754164"/>
                <a:ext cx="5397500" cy="710707"/>
              </a:xfrm>
              <a:prstGeom prst="rect">
                <a:avLst/>
              </a:prstGeom>
              <a:blipFill>
                <a:blip r:embed="rId5"/>
                <a:stretch>
                  <a:fillRect l="-1017" t="-862" b="-120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3D13F56-8795-3035-B817-56B2302C99D1}"/>
                  </a:ext>
                </a:extLst>
              </p:cNvPr>
              <p:cNvSpPr txBox="1"/>
              <p:nvPr/>
            </p:nvSpPr>
            <p:spPr>
              <a:xfrm>
                <a:off x="419320" y="5560689"/>
                <a:ext cx="4317780" cy="9727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l-PL" sz="1800" i="1" dirty="0" smtClean="0">
                          <a:latin typeface="Cambria Math" panose="02040503050406030204" pitchFamily="18" charset="0"/>
                          <a:ea typeface="Cambria Math" panose="02040503050406030204" pitchFamily="18" charset="0"/>
                        </a:rPr>
                        <m:t>𝒲</m:t>
                      </m:r>
                      <m:d>
                        <m:dPr>
                          <m:ctrlPr>
                            <a:rPr lang="pl-PL" sz="1800" i="1" dirty="0" smtClean="0">
                              <a:latin typeface="Cambria Math" panose="02040503050406030204" pitchFamily="18" charset="0"/>
                              <a:ea typeface="Cambria Math" panose="02040503050406030204" pitchFamily="18" charset="0"/>
                            </a:rPr>
                          </m:ctrlPr>
                        </m:dPr>
                        <m:e>
                          <m:r>
                            <a:rPr lang="en-US" sz="1800" b="0" i="1" dirty="0" smtClean="0">
                              <a:latin typeface="Cambria Math" panose="02040503050406030204" pitchFamily="18" charset="0"/>
                            </a:rPr>
                            <m:t>𝑔</m:t>
                          </m:r>
                        </m:e>
                      </m:d>
                      <m:r>
                        <a:rPr lang="en-US" sz="1800" b="0" i="1" dirty="0" smtClean="0">
                          <a:latin typeface="Cambria Math" panose="02040503050406030204" pitchFamily="18" charset="0"/>
                        </a:rPr>
                        <m:t>:</m:t>
                      </m:r>
                      <m:d>
                        <m:dPr>
                          <m:begChr m:val="["/>
                          <m:endChr m:val="]"/>
                          <m:ctrlPr>
                            <a:rPr lang="en-US" sz="1800" b="0" i="1" dirty="0" smtClean="0">
                              <a:latin typeface="Cambria Math" panose="02040503050406030204" pitchFamily="18" charset="0"/>
                            </a:rPr>
                          </m:ctrlPr>
                        </m:dPr>
                        <m:e>
                          <m:m>
                            <m:mPr>
                              <m:mcs>
                                <m:mc>
                                  <m:mcPr>
                                    <m:count m:val="1"/>
                                    <m:mcJc m:val="center"/>
                                  </m:mcPr>
                                </m:mc>
                              </m:mcs>
                              <m:ctrlPr>
                                <a:rPr lang="en-US" sz="1800" b="0" i="1" dirty="0" smtClean="0">
                                  <a:latin typeface="Cambria Math" panose="02040503050406030204" pitchFamily="18" charset="0"/>
                                </a:rPr>
                              </m:ctrlPr>
                            </m:mPr>
                            <m:mr>
                              <m:e>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𝛼</m:t>
                                    </m:r>
                                  </m:e>
                                  <m:sub>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𝑠</m:t>
                                        </m:r>
                                      </m:e>
                                      <m:sub>
                                        <m:r>
                                          <a:rPr lang="en-US" sz="1800" b="0" i="1" dirty="0" smtClean="0">
                                            <a:latin typeface="Cambria Math" panose="02040503050406030204" pitchFamily="18" charset="0"/>
                                          </a:rPr>
                                          <m:t>𝑖</m:t>
                                        </m:r>
                                      </m:sub>
                                    </m:sSub>
                                  </m:sub>
                                  <m:sup>
                                    <m:d>
                                      <m:dPr>
                                        <m:ctrlPr>
                                          <a:rPr lang="en-US" sz="1800" b="0" i="1" dirty="0" smtClean="0">
                                            <a:latin typeface="Cambria Math" panose="02040503050406030204" pitchFamily="18" charset="0"/>
                                          </a:rPr>
                                        </m:ctrlPr>
                                      </m:dPr>
                                      <m:e>
                                        <m:r>
                                          <a:rPr lang="en-US" sz="1800" b="0" i="1" dirty="0" smtClean="0">
                                            <a:latin typeface="Cambria Math" panose="02040503050406030204" pitchFamily="18" charset="0"/>
                                          </a:rPr>
                                          <m:t>𝑡</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
                        </m:e>
                      </m:d>
                      <m:r>
                        <a:rPr lang="en-US" sz="1800" b="0" i="1" dirty="0" smtClean="0">
                          <a:latin typeface="Cambria Math" panose="02040503050406030204" pitchFamily="18" charset="0"/>
                        </a:rPr>
                        <m:t>→</m:t>
                      </m:r>
                      <m:r>
                        <a:rPr lang="en-US" sz="1800" b="0" i="1" dirty="0" smtClean="0">
                          <a:latin typeface="Cambria Math" panose="02040503050406030204" pitchFamily="18" charset="0"/>
                        </a:rPr>
                        <m:t>𝑔</m:t>
                      </m:r>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sub>
                                  <m:sup>
                                    <m:d>
                                      <m:dPr>
                                        <m:ctrlPr>
                                          <a:rPr lang="en-US" i="1" dirty="0">
                                            <a:latin typeface="Cambria Math" panose="02040503050406030204" pitchFamily="18" charset="0"/>
                                          </a:rPr>
                                        </m:ctrlPr>
                                      </m:dPr>
                                      <m:e>
                                        <m:r>
                                          <a:rPr lang="en-US" i="1" dirty="0">
                                            <a:latin typeface="Cambria Math" panose="02040503050406030204" pitchFamily="18" charset="0"/>
                                          </a:rPr>
                                          <m:t>𝑡</m:t>
                                        </m:r>
                                        <m:r>
                                          <a:rPr lang="en-US" b="0" i="1" dirty="0" smtClean="0">
                                            <a:latin typeface="Cambria Math" panose="02040503050406030204" pitchFamily="18" charset="0"/>
                                          </a:rPr>
                                          <m:t>+1</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r>
                                          <a:rPr lang="en-US" b="0" i="1" dirty="0" smtClean="0">
                                            <a:latin typeface="Cambria Math" panose="02040503050406030204" pitchFamily="18" charset="0"/>
                                          </a:rPr>
                                          <m:t>+1</m:t>
                                        </m:r>
                                      </m:e>
                                    </m:d>
                                  </m:sup>
                                </m:sSubSup>
                              </m:e>
                            </m:mr>
                          </m:m>
                        </m:e>
                      </m:d>
                    </m:oMath>
                  </m:oMathPara>
                </a14:m>
                <a:endParaRPr lang="en-US" dirty="0"/>
              </a:p>
            </p:txBody>
          </p:sp>
        </mc:Choice>
        <mc:Fallback xmlns="">
          <p:sp>
            <p:nvSpPr>
              <p:cNvPr id="22" name="TextBox 21">
                <a:extLst>
                  <a:ext uri="{FF2B5EF4-FFF2-40B4-BE49-F238E27FC236}">
                    <a16:creationId xmlns:a16="http://schemas.microsoft.com/office/drawing/2014/main" id="{33D13F56-8795-3035-B817-56B2302C99D1}"/>
                  </a:ext>
                </a:extLst>
              </p:cNvPr>
              <p:cNvSpPr txBox="1">
                <a:spLocks noRot="1" noChangeAspect="1" noMove="1" noResize="1" noEditPoints="1" noAdjustHandles="1" noChangeArrowheads="1" noChangeShapeType="1" noTextEdit="1"/>
              </p:cNvSpPr>
              <p:nvPr/>
            </p:nvSpPr>
            <p:spPr>
              <a:xfrm>
                <a:off x="419320" y="5560689"/>
                <a:ext cx="4317780" cy="972702"/>
              </a:xfrm>
              <a:prstGeom prst="rect">
                <a:avLst/>
              </a:prstGeom>
              <a:blipFill>
                <a:blip r:embed="rId6"/>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F55D7801-751D-E889-D139-80A11B24E7DD}"/>
              </a:ext>
            </a:extLst>
          </p:cNvPr>
          <p:cNvSpPr txBox="1"/>
          <p:nvPr/>
        </p:nvSpPr>
        <p:spPr>
          <a:xfrm>
            <a:off x="5432435" y="5863800"/>
            <a:ext cx="6505769" cy="646331"/>
          </a:xfrm>
          <a:prstGeom prst="rect">
            <a:avLst/>
          </a:prstGeom>
          <a:noFill/>
        </p:spPr>
        <p:txBody>
          <a:bodyPr wrap="square">
            <a:spAutoFit/>
          </a:bodyPr>
          <a:lstStyle/>
          <a:p>
            <a:r>
              <a:rPr lang="en-US" b="1" dirty="0">
                <a:solidFill>
                  <a:srgbClr val="FF0000"/>
                </a:solidFill>
              </a:rPr>
              <a:t>Algorithm 2.1</a:t>
            </a:r>
            <a:r>
              <a:rPr lang="en-US" dirty="0"/>
              <a:t>. The implementation of single- and multiple-qubit gates is unified into a common framework </a:t>
            </a:r>
          </a:p>
        </p:txBody>
      </p:sp>
      <p:sp>
        <p:nvSpPr>
          <p:cNvPr id="26" name="TextBox 25">
            <a:extLst>
              <a:ext uri="{FF2B5EF4-FFF2-40B4-BE49-F238E27FC236}">
                <a16:creationId xmlns:a16="http://schemas.microsoft.com/office/drawing/2014/main" id="{2B76A0B0-8B9A-C14E-5880-333F4B1D611B}"/>
              </a:ext>
            </a:extLst>
          </p:cNvPr>
          <p:cNvSpPr txBox="1"/>
          <p:nvPr/>
        </p:nvSpPr>
        <p:spPr>
          <a:xfrm>
            <a:off x="4737100" y="5862099"/>
            <a:ext cx="838200" cy="369332"/>
          </a:xfrm>
          <a:prstGeom prst="rect">
            <a:avLst/>
          </a:prstGeom>
          <a:noFill/>
        </p:spPr>
        <p:txBody>
          <a:bodyPr wrap="square">
            <a:spAutoFit/>
          </a:bodyPr>
          <a:lstStyle/>
          <a:p>
            <a:r>
              <a:rPr lang="en-US" sz="1800" dirty="0"/>
              <a:t>(2.2)</a:t>
            </a:r>
            <a:endParaRPr lang="en-US" dirty="0"/>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nvGraphicFramePr>
            <p:xfrm>
              <a:off x="364946" y="1822814"/>
              <a:ext cx="5009448" cy="1883835"/>
            </p:xfrm>
            <a:graphic>
              <a:graphicData uri="http://schemas.openxmlformats.org/drawingml/2006/table">
                <a:tbl>
                  <a:tblPr firstRow="1" bandRow="1">
                    <a:tableStyleId>{5940675A-B579-460E-94D1-54222C63F5DA}</a:tableStyleId>
                  </a:tblPr>
                  <a:tblGrid>
                    <a:gridCol w="1190804">
                      <a:extLst>
                        <a:ext uri="{9D8B030D-6E8A-4147-A177-3AD203B41FA5}">
                          <a16:colId xmlns:a16="http://schemas.microsoft.com/office/drawing/2014/main" val="166312312"/>
                        </a:ext>
                      </a:extLst>
                    </a:gridCol>
                    <a:gridCol w="1873250">
                      <a:extLst>
                        <a:ext uri="{9D8B030D-6E8A-4147-A177-3AD203B41FA5}">
                          <a16:colId xmlns:a16="http://schemas.microsoft.com/office/drawing/2014/main" val="772765458"/>
                        </a:ext>
                      </a:extLst>
                    </a:gridCol>
                    <a:gridCol w="1945394">
                      <a:extLst>
                        <a:ext uri="{9D8B030D-6E8A-4147-A177-3AD203B41FA5}">
                          <a16:colId xmlns:a16="http://schemas.microsoft.com/office/drawing/2014/main" val="1489928785"/>
                        </a:ext>
                      </a:extLst>
                    </a:gridCol>
                  </a:tblGrid>
                  <a:tr h="627945">
                    <a:tc>
                      <a:txBody>
                        <a:bodyPr/>
                        <a:lstStyle/>
                        <a:p>
                          <a:pPr lvl="0" algn="ctr"/>
                          <a:r>
                            <a:rPr lang="en-US" sz="2000" b="1" dirty="0">
                              <a:solidFill>
                                <a:schemeClr val="tx1"/>
                              </a:solidFill>
                            </a:rPr>
                            <a:t>Op</a:t>
                          </a:r>
                        </a:p>
                      </a:txBody>
                      <a:tcPr anchor="ctr"/>
                    </a:tc>
                    <a:tc>
                      <a:txBody>
                        <a:bodyPr/>
                        <a:lstStyle/>
                        <a:p>
                          <a:pPr lvl="0" algn="ctr"/>
                          <a:r>
                            <a:rPr lang="en-US" sz="2000" b="1" dirty="0">
                              <a:solidFill>
                                <a:schemeClr val="tx1"/>
                              </a:solidFill>
                            </a:rPr>
                            <a:t>Wave-function</a:t>
                          </a:r>
                        </a:p>
                      </a:txBody>
                      <a:tcPr anchor="ctr"/>
                    </a:tc>
                    <a:tc>
                      <a:txBody>
                        <a:bodyPr/>
                        <a:lstStyle/>
                        <a:p>
                          <a:pPr lvl="0" algn="ctr"/>
                          <a:r>
                            <a:rPr lang="en-US" sz="2000" b="1" dirty="0">
                              <a:solidFill>
                                <a:schemeClr val="tx1"/>
                              </a:solidFill>
                            </a:rPr>
                            <a:t>Density-matrix</a:t>
                          </a:r>
                        </a:p>
                      </a:txBody>
                      <a:tcPr anchor="ctr"/>
                    </a:tc>
                    <a:extLst>
                      <a:ext uri="{0D108BD9-81ED-4DB2-BD59-A6C34878D82A}">
                        <a16:rowId xmlns:a16="http://schemas.microsoft.com/office/drawing/2014/main" val="4265103887"/>
                      </a:ext>
                    </a:extLst>
                  </a:tr>
                  <a:tr h="627945">
                    <a:tc>
                      <a:txBody>
                        <a:bodyPr/>
                        <a:lstStyle/>
                        <a:p>
                          <a:pPr lvl="0"/>
                          <a:r>
                            <a:rPr lang="en-US" sz="2000" dirty="0">
                              <a:solidFill>
                                <a:schemeClr val="tx1"/>
                              </a:solidFill>
                            </a:rPr>
                            <a:t>Mul/gate</a:t>
                          </a:r>
                        </a:p>
                      </a:txBody>
                      <a:tcPr anchor="ctr"/>
                    </a:tc>
                    <a:tc>
                      <a:txBody>
                        <a:bodyPr/>
                        <a:lstStyle/>
                        <a:p>
                          <a:pPr lvl="0"/>
                          <a14:m>
                            <m:oMath xmlns:m="http://schemas.openxmlformats.org/officeDocument/2006/math">
                              <m:sSup>
                                <m:sSupPr>
                                  <m:ctrlPr>
                                    <a:rPr lang="vi-VN"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𝑛</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acc>
                                        <m:accPr>
                                          <m:chr m:val="̂"/>
                                          <m:ctrlPr>
                                            <a:rPr lang="en-US" sz="2000" b="0" i="1" dirty="0" smtClean="0">
                                              <a:latin typeface="Cambria Math" panose="02040503050406030204" pitchFamily="18" charset="0"/>
                                            </a:rPr>
                                          </m:ctrlPr>
                                        </m:accPr>
                                        <m:e>
                                          <m:r>
                                            <a:rPr lang="en-US" sz="2000" i="1" dirty="0">
                                              <a:latin typeface="Cambria Math" panose="02040503050406030204" pitchFamily="18" charset="0"/>
                                            </a:rPr>
                                            <m:t>𝑛</m:t>
                                          </m:r>
                                        </m:e>
                                      </m:acc>
                                    </m:e>
                                    <m:sub>
                                      <m:r>
                                        <a:rPr lang="en-US" sz="2000" b="0" i="1" dirty="0" smtClean="0">
                                          <a:latin typeface="Cambria Math" panose="02040503050406030204" pitchFamily="18" charset="0"/>
                                        </a:rPr>
                                        <m:t>𝑗</m:t>
                                      </m:r>
                                    </m:sub>
                                  </m:sSub>
                                  <m:r>
                                    <a:rPr lang="en-US" sz="2000" i="1" dirty="0" smtClean="0">
                                      <a:latin typeface="Cambria Math" panose="02040503050406030204" pitchFamily="18" charset="0"/>
                                    </a:rPr>
                                    <m:t>+1</m:t>
                                  </m:r>
                                </m:sup>
                              </m:sSup>
                            </m:oMath>
                          </a14:m>
                          <a:r>
                            <a:rPr lang="en-US" sz="2000" dirty="0">
                              <a:solidFill>
                                <a:schemeClr val="tx1"/>
                              </a:solidFill>
                            </a:rPr>
                            <a:t> (</a:t>
                          </a:r>
                          <a14:m>
                            <m:oMath xmlns:m="http://schemas.openxmlformats.org/officeDocument/2006/math">
                              <m:r>
                                <a:rPr lang="en-US" sz="2000" i="1" dirty="0" smtClean="0">
                                  <a:solidFill>
                                    <a:schemeClr val="tx1"/>
                                  </a:solidFill>
                                  <a:latin typeface="Cambria Math" panose="02040503050406030204" pitchFamily="18" charset="0"/>
                                  <a:ea typeface="Cambria Math" panose="02040503050406030204" pitchFamily="18" charset="0"/>
                                </a:rPr>
                                <m:t>†</m:t>
                              </m:r>
                            </m:oMath>
                          </a14:m>
                          <a:r>
                            <a:rPr lang="en-US" sz="2000" dirty="0">
                              <a:solidFill>
                                <a:schemeClr val="tx1"/>
                              </a:solidFill>
                            </a:rPr>
                            <a:t>)</a:t>
                          </a:r>
                        </a:p>
                      </a:txBody>
                      <a:tcPr anchor="ctr"/>
                    </a:tc>
                    <a:tc>
                      <a:txBody>
                        <a:bodyPr/>
                        <a:lstStyle/>
                        <a:p>
                          <a:pPr lvl="0" algn="l"/>
                          <a14:m>
                            <m:oMath xmlns:m="http://schemas.openxmlformats.org/officeDocument/2006/math">
                              <m:sSup>
                                <m:sSupPr>
                                  <m:ctrlPr>
                                    <a:rPr lang="en-US" sz="200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2</m:t>
                                  </m:r>
                                  <m:r>
                                    <a:rPr lang="en-US" sz="2000" i="1" dirty="0" smtClean="0">
                                      <a:latin typeface="Cambria Math" panose="02040503050406030204" pitchFamily="18" charset="0"/>
                                    </a:rPr>
                                    <m:t>𝑛</m:t>
                                  </m:r>
                                </m:sup>
                              </m:sSup>
                            </m:oMath>
                          </a14:m>
                          <a:r>
                            <a:rPr lang="en-US" sz="2000" dirty="0"/>
                            <a:t> </a:t>
                          </a:r>
                          <a:endParaRPr lang="en-US" sz="2000" dirty="0">
                            <a:solidFill>
                              <a:schemeClr val="tx1"/>
                            </a:solidFill>
                          </a:endParaRPr>
                        </a:p>
                      </a:txBody>
                      <a:tcPr anchor="ctr"/>
                    </a:tc>
                    <a:extLst>
                      <a:ext uri="{0D108BD9-81ED-4DB2-BD59-A6C34878D82A}">
                        <a16:rowId xmlns:a16="http://schemas.microsoft.com/office/drawing/2014/main" val="2208258994"/>
                      </a:ext>
                    </a:extLst>
                  </a:tr>
                  <a:tr h="627945">
                    <a:tc>
                      <a:txBody>
                        <a:bodyPr/>
                        <a:lstStyle/>
                        <a:p>
                          <a:pPr lvl="0"/>
                          <a:r>
                            <a:rPr lang="en-US" sz="2000" dirty="0">
                              <a:solidFill>
                                <a:schemeClr val="tx1"/>
                              </a:solidFill>
                            </a:rPr>
                            <a:t>Add/gate</a:t>
                          </a:r>
                        </a:p>
                      </a:txBody>
                      <a:tcPr anchor="ctr"/>
                    </a:tc>
                    <a:tc>
                      <a:txBody>
                        <a:bodyPr/>
                        <a:lstStyle/>
                        <a:p>
                          <a:pPr lvl="0"/>
                          <a14:m>
                            <m:oMath xmlns:m="http://schemas.openxmlformats.org/officeDocument/2006/math">
                              <m:sSup>
                                <m:sSupPr>
                                  <m:ctrlPr>
                                    <a:rPr lang="vi-VN"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𝑛</m:t>
                                  </m:r>
                                  <m:r>
                                    <a:rPr lang="en-US" sz="2000" i="1" dirty="0" smtClean="0">
                                      <a:latin typeface="Cambria Math" panose="02040503050406030204" pitchFamily="18" charset="0"/>
                                    </a:rPr>
                                    <m:t>+</m:t>
                                  </m:r>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𝑛</m:t>
                                          </m:r>
                                        </m:e>
                                      </m:acc>
                                    </m:e>
                                    <m:sub>
                                      <m:r>
                                        <a:rPr lang="en-US" sz="2000" i="1" dirty="0">
                                          <a:latin typeface="Cambria Math" panose="02040503050406030204" pitchFamily="18" charset="0"/>
                                        </a:rPr>
                                        <m:t>𝑗</m:t>
                                      </m:r>
                                    </m:sub>
                                  </m:sSub>
                                  <m:r>
                                    <a:rPr lang="en-US" sz="2000" i="1" dirty="0">
                                      <a:latin typeface="Cambria Math" panose="02040503050406030204" pitchFamily="18" charset="0"/>
                                    </a:rPr>
                                    <m:t>+1</m:t>
                                  </m:r>
                                </m:sup>
                              </m:sSup>
                            </m:oMath>
                          </a14:m>
                          <a:r>
                            <a:rPr lang="en-US" sz="2000" dirty="0">
                              <a:solidFill>
                                <a:schemeClr val="tx1"/>
                              </a:solidFill>
                            </a:rPr>
                            <a:t> (</a:t>
                          </a:r>
                          <a14:m>
                            <m:oMath xmlns:m="http://schemas.openxmlformats.org/officeDocument/2006/math">
                              <m:r>
                                <a:rPr lang="en-US" sz="2000" i="1" dirty="0" smtClean="0">
                                  <a:solidFill>
                                    <a:schemeClr val="tx1"/>
                                  </a:solidFill>
                                  <a:latin typeface="Cambria Math" panose="02040503050406030204" pitchFamily="18" charset="0"/>
                                  <a:ea typeface="Cambria Math" panose="02040503050406030204" pitchFamily="18" charset="0"/>
                                </a:rPr>
                                <m:t>†</m:t>
                              </m:r>
                            </m:oMath>
                          </a14:m>
                          <a:r>
                            <a:rPr lang="en-US" sz="2000" dirty="0">
                              <a:solidFill>
                                <a:schemeClr val="tx1"/>
                              </a:solidFill>
                            </a:rPr>
                            <a:t>)</a:t>
                          </a:r>
                        </a:p>
                      </a:txBody>
                      <a:tcPr anchor="ctr"/>
                    </a:tc>
                    <a:tc>
                      <a:txBody>
                        <a:bodyPr/>
                        <a:lstStyle/>
                        <a:p>
                          <a:pPr lvl="0" algn="l"/>
                          <a14:m>
                            <m:oMath xmlns:m="http://schemas.openxmlformats.org/officeDocument/2006/math">
                              <m:sSup>
                                <m:sSupPr>
                                  <m:ctrlPr>
                                    <a:rPr lang="en-US"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a:latin typeface="Cambria Math" panose="02040503050406030204" pitchFamily="18" charset="0"/>
                                    </a:rPr>
                                    <m:t>2</m:t>
                                  </m:r>
                                  <m:r>
                                    <a:rPr lang="en-US" sz="2000" i="1" dirty="0">
                                      <a:latin typeface="Cambria Math" panose="02040503050406030204" pitchFamily="18" charset="0"/>
                                    </a:rPr>
                                    <m:t>𝑛</m:t>
                                  </m:r>
                                  <m:r>
                                    <a:rPr lang="en-US" sz="2000" i="1" dirty="0">
                                      <a:latin typeface="Cambria Math" panose="02040503050406030204" pitchFamily="18" charset="0"/>
                                    </a:rPr>
                                    <m:t>−2</m:t>
                                  </m:r>
                                </m:sup>
                              </m:sSup>
                            </m:oMath>
                          </a14:m>
                          <a:r>
                            <a:rPr lang="en-US" sz="2000" dirty="0">
                              <a:solidFill>
                                <a:schemeClr val="tx1"/>
                              </a:solidFill>
                            </a:rPr>
                            <a:t> </a:t>
                          </a:r>
                        </a:p>
                      </a:txBody>
                      <a:tcPr anchor="ctr"/>
                    </a:tc>
                    <a:extLst>
                      <a:ext uri="{0D108BD9-81ED-4DB2-BD59-A6C34878D82A}">
                        <a16:rowId xmlns:a16="http://schemas.microsoft.com/office/drawing/2014/main" val="4198557693"/>
                      </a:ext>
                    </a:extLst>
                  </a:tr>
                </a:tbl>
              </a:graphicData>
            </a:graphic>
          </p:graphicFrame>
        </mc:Choice>
        <mc:Fallback xmlns="">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extLst>
                  <p:ext uri="{D42A27DB-BD31-4B8C-83A1-F6EECF244321}">
                    <p14:modId xmlns:p14="http://schemas.microsoft.com/office/powerpoint/2010/main" val="2624798099"/>
                  </p:ext>
                </p:extLst>
              </p:nvPr>
            </p:nvGraphicFramePr>
            <p:xfrm>
              <a:off x="364946" y="1822814"/>
              <a:ext cx="5009448" cy="1883835"/>
            </p:xfrm>
            <a:graphic>
              <a:graphicData uri="http://schemas.openxmlformats.org/drawingml/2006/table">
                <a:tbl>
                  <a:tblPr firstRow="1" bandRow="1">
                    <a:tableStyleId>{5940675A-B579-460E-94D1-54222C63F5DA}</a:tableStyleId>
                  </a:tblPr>
                  <a:tblGrid>
                    <a:gridCol w="1190804">
                      <a:extLst>
                        <a:ext uri="{9D8B030D-6E8A-4147-A177-3AD203B41FA5}">
                          <a16:colId xmlns:a16="http://schemas.microsoft.com/office/drawing/2014/main" val="166312312"/>
                        </a:ext>
                      </a:extLst>
                    </a:gridCol>
                    <a:gridCol w="1873250">
                      <a:extLst>
                        <a:ext uri="{9D8B030D-6E8A-4147-A177-3AD203B41FA5}">
                          <a16:colId xmlns:a16="http://schemas.microsoft.com/office/drawing/2014/main" val="772765458"/>
                        </a:ext>
                      </a:extLst>
                    </a:gridCol>
                    <a:gridCol w="1945394">
                      <a:extLst>
                        <a:ext uri="{9D8B030D-6E8A-4147-A177-3AD203B41FA5}">
                          <a16:colId xmlns:a16="http://schemas.microsoft.com/office/drawing/2014/main" val="1489928785"/>
                        </a:ext>
                      </a:extLst>
                    </a:gridCol>
                  </a:tblGrid>
                  <a:tr h="627945">
                    <a:tc>
                      <a:txBody>
                        <a:bodyPr/>
                        <a:lstStyle/>
                        <a:p>
                          <a:pPr lvl="0" algn="ctr"/>
                          <a:r>
                            <a:rPr lang="en-US" sz="2000" b="1" dirty="0">
                              <a:solidFill>
                                <a:schemeClr val="tx1"/>
                              </a:solidFill>
                            </a:rPr>
                            <a:t>Op</a:t>
                          </a:r>
                        </a:p>
                      </a:txBody>
                      <a:tcPr anchor="ctr"/>
                    </a:tc>
                    <a:tc>
                      <a:txBody>
                        <a:bodyPr/>
                        <a:lstStyle/>
                        <a:p>
                          <a:pPr lvl="0" algn="ctr"/>
                          <a:r>
                            <a:rPr lang="en-US" sz="2000" b="1" dirty="0">
                              <a:solidFill>
                                <a:schemeClr val="tx1"/>
                              </a:solidFill>
                            </a:rPr>
                            <a:t>Wave-function</a:t>
                          </a:r>
                        </a:p>
                      </a:txBody>
                      <a:tcPr anchor="ctr"/>
                    </a:tc>
                    <a:tc>
                      <a:txBody>
                        <a:bodyPr/>
                        <a:lstStyle/>
                        <a:p>
                          <a:pPr lvl="0" algn="ctr"/>
                          <a:r>
                            <a:rPr lang="en-US" sz="2000" b="1" dirty="0">
                              <a:solidFill>
                                <a:schemeClr val="tx1"/>
                              </a:solidFill>
                            </a:rPr>
                            <a:t>Density-matrix</a:t>
                          </a:r>
                        </a:p>
                      </a:txBody>
                      <a:tcPr anchor="ctr"/>
                    </a:tc>
                    <a:extLst>
                      <a:ext uri="{0D108BD9-81ED-4DB2-BD59-A6C34878D82A}">
                        <a16:rowId xmlns:a16="http://schemas.microsoft.com/office/drawing/2014/main" val="4265103887"/>
                      </a:ext>
                    </a:extLst>
                  </a:tr>
                  <a:tr h="627945">
                    <a:tc>
                      <a:txBody>
                        <a:bodyPr/>
                        <a:lstStyle/>
                        <a:p>
                          <a:pPr lvl="0"/>
                          <a:r>
                            <a:rPr lang="en-US" sz="2000" dirty="0">
                              <a:solidFill>
                                <a:schemeClr val="tx1"/>
                              </a:solidFill>
                            </a:rPr>
                            <a:t>Mul/gate</a:t>
                          </a:r>
                        </a:p>
                      </a:txBody>
                      <a:tcPr anchor="ctr"/>
                    </a:tc>
                    <a:tc>
                      <a:txBody>
                        <a:bodyPr/>
                        <a:lstStyle/>
                        <a:p>
                          <a:endParaRPr lang="en-VN"/>
                        </a:p>
                      </a:txBody>
                      <a:tcPr anchor="ctr">
                        <a:blipFill>
                          <a:blip r:embed="rId7"/>
                          <a:stretch>
                            <a:fillRect l="-64189" t="-104082" r="-104730" b="-106122"/>
                          </a:stretch>
                        </a:blipFill>
                      </a:tcPr>
                    </a:tc>
                    <a:tc>
                      <a:txBody>
                        <a:bodyPr/>
                        <a:lstStyle/>
                        <a:p>
                          <a:endParaRPr lang="en-VN"/>
                        </a:p>
                      </a:txBody>
                      <a:tcPr anchor="ctr">
                        <a:blipFill>
                          <a:blip r:embed="rId7"/>
                          <a:stretch>
                            <a:fillRect l="-157792" t="-104082" r="-649" b="-106122"/>
                          </a:stretch>
                        </a:blipFill>
                      </a:tcPr>
                    </a:tc>
                    <a:extLst>
                      <a:ext uri="{0D108BD9-81ED-4DB2-BD59-A6C34878D82A}">
                        <a16:rowId xmlns:a16="http://schemas.microsoft.com/office/drawing/2014/main" val="2208258994"/>
                      </a:ext>
                    </a:extLst>
                  </a:tr>
                  <a:tr h="627945">
                    <a:tc>
                      <a:txBody>
                        <a:bodyPr/>
                        <a:lstStyle/>
                        <a:p>
                          <a:pPr lvl="0"/>
                          <a:r>
                            <a:rPr lang="en-US" sz="2000" dirty="0">
                              <a:solidFill>
                                <a:schemeClr val="tx1"/>
                              </a:solidFill>
                            </a:rPr>
                            <a:t>Add/gate</a:t>
                          </a:r>
                        </a:p>
                      </a:txBody>
                      <a:tcPr anchor="ctr"/>
                    </a:tc>
                    <a:tc>
                      <a:txBody>
                        <a:bodyPr/>
                        <a:lstStyle/>
                        <a:p>
                          <a:endParaRPr lang="en-VN"/>
                        </a:p>
                      </a:txBody>
                      <a:tcPr anchor="ctr">
                        <a:blipFill>
                          <a:blip r:embed="rId7"/>
                          <a:stretch>
                            <a:fillRect l="-64189" t="-200000" r="-104730" b="-4000"/>
                          </a:stretch>
                        </a:blipFill>
                      </a:tcPr>
                    </a:tc>
                    <a:tc>
                      <a:txBody>
                        <a:bodyPr/>
                        <a:lstStyle/>
                        <a:p>
                          <a:endParaRPr lang="en-VN"/>
                        </a:p>
                      </a:txBody>
                      <a:tcPr anchor="ctr">
                        <a:blipFill>
                          <a:blip r:embed="rId7"/>
                          <a:stretch>
                            <a:fillRect l="-157792" t="-200000" r="-649" b="-4000"/>
                          </a:stretch>
                        </a:blipFill>
                      </a:tcPr>
                    </a:tc>
                    <a:extLst>
                      <a:ext uri="{0D108BD9-81ED-4DB2-BD59-A6C34878D82A}">
                        <a16:rowId xmlns:a16="http://schemas.microsoft.com/office/drawing/2014/main" val="4198557693"/>
                      </a:ext>
                    </a:extLst>
                  </a:tr>
                </a:tbl>
              </a:graphicData>
            </a:graphic>
          </p:graphicFrame>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F83AD84-2466-E459-215F-DCCC93B9B555}"/>
                  </a:ext>
                </a:extLst>
              </p:cNvPr>
              <p:cNvSpPr txBox="1"/>
              <p:nvPr/>
            </p:nvSpPr>
            <p:spPr>
              <a:xfrm>
                <a:off x="247650" y="1054936"/>
                <a:ext cx="4212055" cy="668645"/>
              </a:xfrm>
              <a:prstGeom prst="rect">
                <a:avLst/>
              </a:prstGeom>
              <a:noFill/>
            </p:spPr>
            <p:txBody>
              <a:bodyPr wrap="square">
                <a:spAutoFit/>
              </a:bodyPr>
              <a:lstStyle/>
              <a:p>
                <a:r>
                  <a:rPr lang="en-US" b="1" dirty="0">
                    <a:solidFill>
                      <a:srgbClr val="FF0000"/>
                    </a:solidFill>
                  </a:rPr>
                  <a:t>Table 2.2</a:t>
                </a:r>
                <a:r>
                  <a:rPr lang="en-US" dirty="0"/>
                  <a:t>. Comparison between variants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𝑛</m:t>
                            </m:r>
                          </m:e>
                        </m:acc>
                      </m:e>
                      <m:sub>
                        <m:r>
                          <a:rPr lang="en-US" b="0" i="1" dirty="0" smtClean="0">
                            <a:latin typeface="Cambria Math" panose="02040503050406030204" pitchFamily="18" charset="0"/>
                          </a:rPr>
                          <m:t>𝑗</m:t>
                        </m:r>
                      </m:sub>
                    </m:sSub>
                    <m:r>
                      <a:rPr lang="en-US" i="1" dirty="0" smtClean="0">
                        <a:latin typeface="Cambria Math" panose="02040503050406030204" pitchFamily="18" charset="0"/>
                      </a:rPr>
                      <m:t>∈ </m:t>
                    </m:r>
                    <m:r>
                      <a:rPr lang="en-US" i="1" dirty="0">
                        <a:latin typeface="Cambria Math" panose="02040503050406030204" pitchFamily="18" charset="0"/>
                      </a:rPr>
                      <m:t>[1, 2]</m:t>
                    </m:r>
                  </m:oMath>
                </a14:m>
                <a:r>
                  <a:rPr lang="en-US" dirty="0"/>
                  <a:t> </a:t>
                </a:r>
              </a:p>
            </p:txBody>
          </p:sp>
        </mc:Choice>
        <mc:Fallback xmlns="">
          <p:sp>
            <p:nvSpPr>
              <p:cNvPr id="29" name="TextBox 28">
                <a:extLst>
                  <a:ext uri="{FF2B5EF4-FFF2-40B4-BE49-F238E27FC236}">
                    <a16:creationId xmlns:a16="http://schemas.microsoft.com/office/drawing/2014/main" id="{2F83AD84-2466-E459-215F-DCCC93B9B555}"/>
                  </a:ext>
                </a:extLst>
              </p:cNvPr>
              <p:cNvSpPr txBox="1">
                <a:spLocks noRot="1" noChangeAspect="1" noMove="1" noResize="1" noEditPoints="1" noAdjustHandles="1" noChangeArrowheads="1" noChangeShapeType="1" noTextEdit="1"/>
              </p:cNvSpPr>
              <p:nvPr/>
            </p:nvSpPr>
            <p:spPr>
              <a:xfrm>
                <a:off x="247650" y="1054936"/>
                <a:ext cx="4212055" cy="668645"/>
              </a:xfrm>
              <a:prstGeom prst="rect">
                <a:avLst/>
              </a:prstGeom>
              <a:blipFill>
                <a:blip r:embed="rId8"/>
                <a:stretch>
                  <a:fillRect l="-1201" t="-3774" r="-901" b="-1320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B9E297F-7335-23C9-CF60-99342F0FFBF4}"/>
                  </a:ext>
                </a:extLst>
              </p:cNvPr>
              <p:cNvSpPr txBox="1"/>
              <p:nvPr/>
            </p:nvSpPr>
            <p:spPr>
              <a:xfrm>
                <a:off x="247650" y="3861793"/>
                <a:ext cx="5397500" cy="369332"/>
              </a:xfrm>
              <a:prstGeom prst="rect">
                <a:avLst/>
              </a:prstGeom>
              <a:noFill/>
            </p:spPr>
            <p:txBody>
              <a:bodyPr wrap="square">
                <a:spAutoFit/>
              </a:bodyPr>
              <a:lstStyle/>
              <a:p>
                <a:r>
                  <a:rPr lang="en-US" dirty="0"/>
                  <a:t>The final state is calculated through series of</a:t>
                </a:r>
                <a:r>
                  <a:rPr lang="pl-PL" sz="1800" dirty="0">
                    <a:ea typeface="Cambria Math" panose="02040503050406030204" pitchFamily="18" charset="0"/>
                  </a:rPr>
                  <a:t> </a:t>
                </a:r>
                <a14:m>
                  <m:oMath xmlns:m="http://schemas.openxmlformats.org/officeDocument/2006/math">
                    <m:r>
                      <a:rPr lang="pl-PL" sz="1800" i="1" dirty="0" smtClean="0">
                        <a:latin typeface="Cambria Math" panose="02040503050406030204" pitchFamily="18" charset="0"/>
                        <a:ea typeface="Cambria Math" panose="02040503050406030204" pitchFamily="18" charset="0"/>
                      </a:rPr>
                      <m:t>𝒲</m:t>
                    </m:r>
                  </m:oMath>
                </a14:m>
                <a:r>
                  <a:rPr lang="en-US" dirty="0"/>
                  <a:t>: </a:t>
                </a:r>
              </a:p>
            </p:txBody>
          </p:sp>
        </mc:Choice>
        <mc:Fallback xmlns="">
          <p:sp>
            <p:nvSpPr>
              <p:cNvPr id="30" name="TextBox 29">
                <a:extLst>
                  <a:ext uri="{FF2B5EF4-FFF2-40B4-BE49-F238E27FC236}">
                    <a16:creationId xmlns:a16="http://schemas.microsoft.com/office/drawing/2014/main" id="{CB9E297F-7335-23C9-CF60-99342F0FFBF4}"/>
                  </a:ext>
                </a:extLst>
              </p:cNvPr>
              <p:cNvSpPr txBox="1">
                <a:spLocks noRot="1" noChangeAspect="1" noMove="1" noResize="1" noEditPoints="1" noAdjustHandles="1" noChangeArrowheads="1" noChangeShapeType="1" noTextEdit="1"/>
              </p:cNvSpPr>
              <p:nvPr/>
            </p:nvSpPr>
            <p:spPr>
              <a:xfrm>
                <a:off x="247650" y="3861793"/>
                <a:ext cx="5397500" cy="369332"/>
              </a:xfrm>
              <a:prstGeom prst="rect">
                <a:avLst/>
              </a:prstGeom>
              <a:blipFill>
                <a:blip r:embed="rId9"/>
                <a:stretch>
                  <a:fillRect l="-1017" t="-6557" b="-2623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A33C120-A5CB-69E7-61AC-07BB94682E65}"/>
              </a:ext>
            </a:extLst>
          </p:cNvPr>
          <p:cNvSpPr txBox="1">
            <a:spLocks/>
          </p:cNvSpPr>
          <p:nvPr/>
        </p:nvSpPr>
        <p:spPr>
          <a:xfrm>
            <a:off x="10236419" y="2664958"/>
            <a:ext cx="1765738" cy="369332"/>
          </a:xfrm>
          <a:prstGeom prst="rect">
            <a:avLst/>
          </a:prstGeom>
          <a:noFill/>
          <a:ln>
            <a:noFill/>
          </a:ln>
        </p:spPr>
        <p:txBody>
          <a:bodyPr wrap="square" rtlCol="0">
            <a:spAutoFit/>
          </a:bodyPr>
          <a:lstStyle/>
          <a:p>
            <a:r>
              <a:rPr lang="en-US" dirty="0">
                <a:solidFill>
                  <a:srgbClr val="FF0000"/>
                </a:solidFill>
              </a:rPr>
              <a:t>Depend on type</a:t>
            </a:r>
          </a:p>
        </p:txBody>
      </p:sp>
      <p:cxnSp>
        <p:nvCxnSpPr>
          <p:cNvPr id="10" name="Connector: Elbow 9">
            <a:extLst>
              <a:ext uri="{FF2B5EF4-FFF2-40B4-BE49-F238E27FC236}">
                <a16:creationId xmlns:a16="http://schemas.microsoft.com/office/drawing/2014/main" id="{1AF7815F-2CA1-6A7C-702E-D517C60BF378}"/>
              </a:ext>
            </a:extLst>
          </p:cNvPr>
          <p:cNvCxnSpPr>
            <a:cxnSpLocks/>
            <a:stCxn id="7" idx="2"/>
            <a:endCxn id="8" idx="1"/>
          </p:cNvCxnSpPr>
          <p:nvPr/>
        </p:nvCxnSpPr>
        <p:spPr>
          <a:xfrm rot="16200000" flipH="1">
            <a:off x="9446553" y="2059757"/>
            <a:ext cx="938273" cy="641459"/>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421DE3B1-7ABB-1D77-288C-9D38B9F42EFE}"/>
              </a:ext>
            </a:extLst>
          </p:cNvPr>
          <p:cNvSpPr/>
          <p:nvPr/>
        </p:nvSpPr>
        <p:spPr>
          <a:xfrm>
            <a:off x="3361166" y="1759209"/>
            <a:ext cx="2071270" cy="20067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33F519-5377-6CEE-8BED-C0870A727F32}"/>
              </a:ext>
            </a:extLst>
          </p:cNvPr>
          <p:cNvSpPr txBox="1"/>
          <p:nvPr/>
        </p:nvSpPr>
        <p:spPr>
          <a:xfrm>
            <a:off x="2646948" y="1372063"/>
            <a:ext cx="3841160" cy="369332"/>
          </a:xfrm>
          <a:prstGeom prst="rect">
            <a:avLst/>
          </a:prstGeom>
          <a:noFill/>
        </p:spPr>
        <p:txBody>
          <a:bodyPr wrap="square" rtlCol="0">
            <a:spAutoFit/>
          </a:bodyPr>
          <a:lstStyle/>
          <a:p>
            <a:r>
              <a:rPr lang="en-US" dirty="0">
                <a:solidFill>
                  <a:srgbClr val="FF0000"/>
                </a:solidFill>
              </a:rPr>
              <a:t>Matrix-vector multiplication</a:t>
            </a:r>
          </a:p>
        </p:txBody>
      </p:sp>
    </p:spTree>
    <p:extLst>
      <p:ext uri="{BB962C8B-B14F-4D97-AF65-F5344CB8AC3E}">
        <p14:creationId xmlns:p14="http://schemas.microsoft.com/office/powerpoint/2010/main" val="4042476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CFE6F-76D5-05E1-244C-8FE1AA974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C86F4-4DB5-0A37-F166-BE7CDCC399FD}"/>
              </a:ext>
            </a:extLst>
          </p:cNvPr>
          <p:cNvSpPr>
            <a:spLocks noGrp="1"/>
          </p:cNvSpPr>
          <p:nvPr>
            <p:ph type="title"/>
          </p:nvPr>
        </p:nvSpPr>
        <p:spPr>
          <a:xfrm>
            <a:off x="114941" y="1"/>
            <a:ext cx="11238859" cy="1400653"/>
          </a:xfrm>
        </p:spPr>
        <p:txBody>
          <a:bodyPr/>
          <a:lstStyle/>
          <a:p>
            <a:r>
              <a:rPr lang="en-US" dirty="0"/>
              <a:t>2.3. System overview/Ideals</a:t>
            </a:r>
          </a:p>
        </p:txBody>
      </p:sp>
      <p:sp>
        <p:nvSpPr>
          <p:cNvPr id="4" name="Slide Number Placeholder 3">
            <a:extLst>
              <a:ext uri="{FF2B5EF4-FFF2-40B4-BE49-F238E27FC236}">
                <a16:creationId xmlns:a16="http://schemas.microsoft.com/office/drawing/2014/main" id="{E9D1F2DE-4FF5-6F22-D963-680428AE95AF}"/>
              </a:ext>
            </a:extLst>
          </p:cNvPr>
          <p:cNvSpPr>
            <a:spLocks noGrp="1"/>
          </p:cNvSpPr>
          <p:nvPr>
            <p:ph type="sldNum" sz="quarter" idx="12"/>
          </p:nvPr>
        </p:nvSpPr>
        <p:spPr/>
        <p:txBody>
          <a:bodyPr/>
          <a:lstStyle/>
          <a:p>
            <a:fld id="{3C0C221A-CB66-4297-9A52-937C35126D0C}" type="slidenum">
              <a:rPr lang="en-US" smtClean="0"/>
              <a:t>42</a:t>
            </a:fld>
            <a:endParaRPr lang="en-US"/>
          </a:p>
        </p:txBody>
      </p:sp>
      <p:pic>
        <p:nvPicPr>
          <p:cNvPr id="6" name="Picture 5">
            <a:extLst>
              <a:ext uri="{FF2B5EF4-FFF2-40B4-BE49-F238E27FC236}">
                <a16:creationId xmlns:a16="http://schemas.microsoft.com/office/drawing/2014/main" id="{C4980EB0-DF86-9109-D537-80CF305EC6B8}"/>
              </a:ext>
            </a:extLst>
          </p:cNvPr>
          <p:cNvPicPr>
            <a:picLocks noChangeAspect="1"/>
          </p:cNvPicPr>
          <p:nvPr/>
        </p:nvPicPr>
        <p:blipFill>
          <a:blip r:embed="rId3"/>
          <a:stretch>
            <a:fillRect/>
          </a:stretch>
        </p:blipFill>
        <p:spPr>
          <a:xfrm>
            <a:off x="114941" y="1205929"/>
            <a:ext cx="7398239" cy="4547171"/>
          </a:xfrm>
          <a:prstGeom prst="rect">
            <a:avLst/>
          </a:prstGeom>
        </p:spPr>
      </p:pic>
      <p:sp>
        <p:nvSpPr>
          <p:cNvPr id="7" name="Content Placeholder 6">
            <a:extLst>
              <a:ext uri="{FF2B5EF4-FFF2-40B4-BE49-F238E27FC236}">
                <a16:creationId xmlns:a16="http://schemas.microsoft.com/office/drawing/2014/main" id="{AC461762-3913-8B2A-1157-0F075BB9A7F6}"/>
              </a:ext>
            </a:extLst>
          </p:cNvPr>
          <p:cNvSpPr>
            <a:spLocks noGrp="1"/>
          </p:cNvSpPr>
          <p:nvPr>
            <p:ph idx="1"/>
          </p:nvPr>
        </p:nvSpPr>
        <p:spPr>
          <a:xfrm>
            <a:off x="114942" y="5848348"/>
            <a:ext cx="4040956" cy="1145065"/>
          </a:xfrm>
        </p:spPr>
        <p:txBody>
          <a:bodyPr>
            <a:normAutofit/>
          </a:bodyPr>
          <a:lstStyle/>
          <a:p>
            <a:pPr marL="0" indent="0">
              <a:buNone/>
            </a:pPr>
            <a:r>
              <a:rPr lang="en-US" sz="2000" b="1" dirty="0">
                <a:solidFill>
                  <a:srgbClr val="FF0000"/>
                </a:solidFill>
              </a:rPr>
              <a:t>Figure 2.1</a:t>
            </a:r>
            <a:r>
              <a:rPr lang="en-US" sz="2000" dirty="0"/>
              <a:t>. Overview architecture of our </a:t>
            </a:r>
            <a:r>
              <a:rPr lang="en-US" sz="2000" dirty="0" err="1"/>
              <a:t>FQsun</a:t>
            </a:r>
            <a:r>
              <a:rPr lang="en-US" sz="2000" dirty="0"/>
              <a:t> at the system-on-chip (Soc) level on FPGA. </a:t>
            </a:r>
          </a:p>
        </p:txBody>
      </p:sp>
      <p:pic>
        <p:nvPicPr>
          <p:cNvPr id="9" name="Picture 8">
            <a:extLst>
              <a:ext uri="{FF2B5EF4-FFF2-40B4-BE49-F238E27FC236}">
                <a16:creationId xmlns:a16="http://schemas.microsoft.com/office/drawing/2014/main" id="{815991BC-8C63-AD20-A944-01C284CFE1FE}"/>
              </a:ext>
            </a:extLst>
          </p:cNvPr>
          <p:cNvPicPr>
            <a:picLocks noChangeAspect="1"/>
          </p:cNvPicPr>
          <p:nvPr/>
        </p:nvPicPr>
        <p:blipFill>
          <a:blip r:embed="rId4"/>
          <a:stretch>
            <a:fillRect/>
          </a:stretch>
        </p:blipFill>
        <p:spPr>
          <a:xfrm>
            <a:off x="7513181" y="1193229"/>
            <a:ext cx="4467600" cy="4576808"/>
          </a:xfrm>
          <a:prstGeom prst="rect">
            <a:avLst/>
          </a:prstGeom>
        </p:spPr>
      </p:pic>
      <p:sp>
        <p:nvSpPr>
          <p:cNvPr id="10" name="Content Placeholder 6">
            <a:extLst>
              <a:ext uri="{FF2B5EF4-FFF2-40B4-BE49-F238E27FC236}">
                <a16:creationId xmlns:a16="http://schemas.microsoft.com/office/drawing/2014/main" id="{9B6FF730-A232-DFE2-7AE2-B4978E91016A}"/>
              </a:ext>
            </a:extLst>
          </p:cNvPr>
          <p:cNvSpPr txBox="1">
            <a:spLocks/>
          </p:cNvSpPr>
          <p:nvPr/>
        </p:nvSpPr>
        <p:spPr>
          <a:xfrm>
            <a:off x="7513179" y="5848349"/>
            <a:ext cx="4467600" cy="8731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FF0000"/>
                </a:solidFill>
              </a:rPr>
              <a:t>Figure 2.2</a:t>
            </a:r>
            <a:r>
              <a:rPr lang="en-US" sz="2000" dirty="0"/>
              <a:t>. Memory organization of the proposed </a:t>
            </a:r>
            <a:r>
              <a:rPr lang="en-US" sz="2000" dirty="0" err="1"/>
              <a:t>FQsun</a:t>
            </a:r>
            <a:r>
              <a:rPr lang="en-US" sz="2000" dirty="0"/>
              <a:t>.</a:t>
            </a:r>
          </a:p>
        </p:txBody>
      </p:sp>
      <p:sp>
        <p:nvSpPr>
          <p:cNvPr id="11" name="Rectangle 10">
            <a:extLst>
              <a:ext uri="{FF2B5EF4-FFF2-40B4-BE49-F238E27FC236}">
                <a16:creationId xmlns:a16="http://schemas.microsoft.com/office/drawing/2014/main" id="{6764B876-98E8-1BFA-0B15-556B90C52E03}"/>
              </a:ext>
            </a:extLst>
          </p:cNvPr>
          <p:cNvSpPr/>
          <p:nvPr/>
        </p:nvSpPr>
        <p:spPr>
          <a:xfrm>
            <a:off x="3308707" y="2844168"/>
            <a:ext cx="1034693" cy="27057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76B48C-BE05-C863-46A5-3344CDE02FE6}"/>
              </a:ext>
            </a:extLst>
          </p:cNvPr>
          <p:cNvSpPr/>
          <p:nvPr/>
        </p:nvSpPr>
        <p:spPr>
          <a:xfrm>
            <a:off x="5027037" y="2498628"/>
            <a:ext cx="2358014" cy="30512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6">
            <a:extLst>
              <a:ext uri="{FF2B5EF4-FFF2-40B4-BE49-F238E27FC236}">
                <a16:creationId xmlns:a16="http://schemas.microsoft.com/office/drawing/2014/main" id="{88FEF3CB-3D6A-D87C-F518-E0B78F5EA9B8}"/>
              </a:ext>
            </a:extLst>
          </p:cNvPr>
          <p:cNvSpPr txBox="1">
            <a:spLocks/>
          </p:cNvSpPr>
          <p:nvPr/>
        </p:nvSpPr>
        <p:spPr>
          <a:xfrm>
            <a:off x="4202889" y="5848348"/>
            <a:ext cx="1631649" cy="7355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rgbClr val="FF0000"/>
                </a:solidFill>
              </a:rPr>
              <a:t>Ping-Pong memory</a:t>
            </a:r>
            <a:endParaRPr lang="en-US" sz="2000" dirty="0"/>
          </a:p>
        </p:txBody>
      </p:sp>
      <p:sp>
        <p:nvSpPr>
          <p:cNvPr id="5" name="Content Placeholder 6">
            <a:extLst>
              <a:ext uri="{FF2B5EF4-FFF2-40B4-BE49-F238E27FC236}">
                <a16:creationId xmlns:a16="http://schemas.microsoft.com/office/drawing/2014/main" id="{2D4E494F-ECE3-4741-D255-A4BB86720CAA}"/>
              </a:ext>
            </a:extLst>
          </p:cNvPr>
          <p:cNvSpPr txBox="1">
            <a:spLocks/>
          </p:cNvSpPr>
          <p:nvPr/>
        </p:nvSpPr>
        <p:spPr>
          <a:xfrm>
            <a:off x="5691456" y="5851014"/>
            <a:ext cx="1042828" cy="36512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rgbClr val="FF0000"/>
                </a:solidFill>
              </a:rPr>
              <a:t>QGU</a:t>
            </a:r>
            <a:endParaRPr lang="en-US" sz="2000" dirty="0"/>
          </a:p>
        </p:txBody>
      </p:sp>
      <p:cxnSp>
        <p:nvCxnSpPr>
          <p:cNvPr id="14" name="Straight Arrow Connector 13">
            <a:extLst>
              <a:ext uri="{FF2B5EF4-FFF2-40B4-BE49-F238E27FC236}">
                <a16:creationId xmlns:a16="http://schemas.microsoft.com/office/drawing/2014/main" id="{ACFC9CA5-B723-25E9-BBAF-2EC1EE89BEAD}"/>
              </a:ext>
            </a:extLst>
          </p:cNvPr>
          <p:cNvCxnSpPr>
            <a:cxnSpLocks/>
            <a:stCxn id="12" idx="2"/>
            <a:endCxn id="5" idx="0"/>
          </p:cNvCxnSpPr>
          <p:nvPr/>
        </p:nvCxnSpPr>
        <p:spPr>
          <a:xfrm>
            <a:off x="6206044" y="5549900"/>
            <a:ext cx="6826" cy="301114"/>
          </a:xfrm>
          <a:prstGeom prst="straightConnector1">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Elbow 26">
            <a:extLst>
              <a:ext uri="{FF2B5EF4-FFF2-40B4-BE49-F238E27FC236}">
                <a16:creationId xmlns:a16="http://schemas.microsoft.com/office/drawing/2014/main" id="{5E47AE9D-2FFD-ED63-285A-7C51BC950DEF}"/>
              </a:ext>
            </a:extLst>
          </p:cNvPr>
          <p:cNvCxnSpPr>
            <a:stCxn id="11" idx="2"/>
            <a:endCxn id="3" idx="0"/>
          </p:cNvCxnSpPr>
          <p:nvPr/>
        </p:nvCxnSpPr>
        <p:spPr>
          <a:xfrm rot="16200000" flipH="1">
            <a:off x="4273160" y="5102794"/>
            <a:ext cx="298448" cy="1192660"/>
          </a:xfrm>
          <a:prstGeom prst="bentConnector3">
            <a:avLst>
              <a:gd name="adj1" fmla="val 34509"/>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3508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562AA-8216-2C9C-FF3D-8EFB6BFD6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E2777-3938-A384-E1DE-83ADA27AC5BA}"/>
              </a:ext>
            </a:extLst>
          </p:cNvPr>
          <p:cNvSpPr>
            <a:spLocks noGrp="1"/>
          </p:cNvSpPr>
          <p:nvPr>
            <p:ph type="title"/>
          </p:nvPr>
        </p:nvSpPr>
        <p:spPr>
          <a:xfrm>
            <a:off x="114943" y="1"/>
            <a:ext cx="5036026" cy="1400653"/>
          </a:xfrm>
        </p:spPr>
        <p:txBody>
          <a:bodyPr>
            <a:normAutofit/>
          </a:bodyPr>
          <a:lstStyle/>
          <a:p>
            <a:r>
              <a:rPr lang="en-US" sz="3200" dirty="0"/>
              <a:t>2.3.1-2. </a:t>
            </a:r>
            <a:r>
              <a:rPr lang="en-US" sz="3200" b="1" dirty="0"/>
              <a:t>Idea #1</a:t>
            </a:r>
            <a:r>
              <a:rPr lang="en-US" sz="3200" dirty="0"/>
              <a:t>: efficient memory organization</a:t>
            </a:r>
          </a:p>
        </p:txBody>
      </p:sp>
      <p:sp>
        <p:nvSpPr>
          <p:cNvPr id="4" name="Slide Number Placeholder 3">
            <a:extLst>
              <a:ext uri="{FF2B5EF4-FFF2-40B4-BE49-F238E27FC236}">
                <a16:creationId xmlns:a16="http://schemas.microsoft.com/office/drawing/2014/main" id="{473CD266-FD26-5E3E-4468-2BEAAD1318F1}"/>
              </a:ext>
            </a:extLst>
          </p:cNvPr>
          <p:cNvSpPr>
            <a:spLocks noGrp="1"/>
          </p:cNvSpPr>
          <p:nvPr>
            <p:ph type="sldNum" sz="quarter" idx="12"/>
          </p:nvPr>
        </p:nvSpPr>
        <p:spPr/>
        <p:txBody>
          <a:bodyPr/>
          <a:lstStyle/>
          <a:p>
            <a:fld id="{3C0C221A-CB66-4297-9A52-937C35126D0C}" type="slidenum">
              <a:rPr lang="en-US" smtClean="0"/>
              <a:t>43</a:t>
            </a:fld>
            <a:endParaRPr lang="en-US"/>
          </a:p>
        </p:txBody>
      </p:sp>
      <p:pic>
        <p:nvPicPr>
          <p:cNvPr id="9" name="Picture 8">
            <a:extLst>
              <a:ext uri="{FF2B5EF4-FFF2-40B4-BE49-F238E27FC236}">
                <a16:creationId xmlns:a16="http://schemas.microsoft.com/office/drawing/2014/main" id="{EF43E29A-A84F-E10E-B7BB-A00D04C4FBDE}"/>
              </a:ext>
            </a:extLst>
          </p:cNvPr>
          <p:cNvPicPr>
            <a:picLocks noChangeAspect="1"/>
          </p:cNvPicPr>
          <p:nvPr/>
        </p:nvPicPr>
        <p:blipFill>
          <a:blip r:embed="rId3"/>
          <a:stretch>
            <a:fillRect/>
          </a:stretch>
        </p:blipFill>
        <p:spPr>
          <a:xfrm>
            <a:off x="20180" y="1704630"/>
            <a:ext cx="4452093" cy="4560922"/>
          </a:xfrm>
          <a:prstGeom prst="rect">
            <a:avLst/>
          </a:prstGeom>
        </p:spPr>
      </p:pic>
      <p:sp>
        <p:nvSpPr>
          <p:cNvPr id="10" name="Content Placeholder 6">
            <a:extLst>
              <a:ext uri="{FF2B5EF4-FFF2-40B4-BE49-F238E27FC236}">
                <a16:creationId xmlns:a16="http://schemas.microsoft.com/office/drawing/2014/main" id="{AB85D88D-95E9-DCCA-F7FB-44E2E3D79804}"/>
              </a:ext>
            </a:extLst>
          </p:cNvPr>
          <p:cNvSpPr txBox="1">
            <a:spLocks/>
          </p:cNvSpPr>
          <p:nvPr/>
        </p:nvSpPr>
        <p:spPr>
          <a:xfrm>
            <a:off x="20179" y="6351572"/>
            <a:ext cx="4488974" cy="437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FF0000"/>
                </a:solidFill>
              </a:rPr>
              <a:t>Figure 2.3</a:t>
            </a:r>
            <a:r>
              <a:rPr lang="en-US" sz="2000" dirty="0"/>
              <a:t>. Memory organization detail</a:t>
            </a:r>
          </a:p>
        </p:txBody>
      </p:sp>
      <p:sp>
        <p:nvSpPr>
          <p:cNvPr id="8" name="Rectangle 7">
            <a:extLst>
              <a:ext uri="{FF2B5EF4-FFF2-40B4-BE49-F238E27FC236}">
                <a16:creationId xmlns:a16="http://schemas.microsoft.com/office/drawing/2014/main" id="{855F101A-5663-3ECA-ED19-4912D0066F36}"/>
              </a:ext>
            </a:extLst>
          </p:cNvPr>
          <p:cNvSpPr/>
          <p:nvPr/>
        </p:nvSpPr>
        <p:spPr>
          <a:xfrm>
            <a:off x="5043828" y="1614951"/>
            <a:ext cx="239555"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80A95F9-B950-2B3B-476B-63E8E809E09A}"/>
              </a:ext>
            </a:extLst>
          </p:cNvPr>
          <p:cNvSpPr txBox="1"/>
          <p:nvPr/>
        </p:nvSpPr>
        <p:spPr>
          <a:xfrm>
            <a:off x="5043827" y="6336732"/>
            <a:ext cx="649803" cy="369332"/>
          </a:xfrm>
          <a:prstGeom prst="rect">
            <a:avLst/>
          </a:prstGeom>
          <a:noFill/>
        </p:spPr>
        <p:txBody>
          <a:bodyPr wrap="square" rtlCol="0">
            <a:spAutoFit/>
          </a:bodyPr>
          <a:lstStyle/>
          <a:p>
            <a:r>
              <a:rPr lang="en-US" dirty="0"/>
              <a:t>Ping</a:t>
            </a:r>
          </a:p>
        </p:txBody>
      </p:sp>
      <p:sp>
        <p:nvSpPr>
          <p:cNvPr id="14" name="Rectangle 13">
            <a:extLst>
              <a:ext uri="{FF2B5EF4-FFF2-40B4-BE49-F238E27FC236}">
                <a16:creationId xmlns:a16="http://schemas.microsoft.com/office/drawing/2014/main" id="{C1A38C8C-D077-2F69-2265-A2EE603B3BB1}"/>
              </a:ext>
            </a:extLst>
          </p:cNvPr>
          <p:cNvSpPr/>
          <p:nvPr/>
        </p:nvSpPr>
        <p:spPr>
          <a:xfrm>
            <a:off x="5385564" y="1614951"/>
            <a:ext cx="247802"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A4DDF5D-9194-030F-0DC6-552818766615}"/>
              </a:ext>
            </a:extLst>
          </p:cNvPr>
          <p:cNvSpPr txBox="1"/>
          <p:nvPr/>
        </p:nvSpPr>
        <p:spPr>
          <a:xfrm rot="5400000">
            <a:off x="2846724" y="3756990"/>
            <a:ext cx="4654550" cy="369332"/>
          </a:xfrm>
          <a:prstGeom prst="rect">
            <a:avLst/>
          </a:prstGeom>
          <a:noFill/>
        </p:spPr>
        <p:txBody>
          <a:bodyPr wrap="square" rtlCol="0">
            <a:spAutoFit/>
          </a:bodyPr>
          <a:lstStyle/>
          <a:p>
            <a:pPr algn="ctr"/>
            <a:r>
              <a:rPr lang="en-US" dirty="0"/>
              <a:t>Real values</a:t>
            </a:r>
          </a:p>
        </p:txBody>
      </p:sp>
      <p:sp>
        <p:nvSpPr>
          <p:cNvPr id="16" name="TextBox 15">
            <a:extLst>
              <a:ext uri="{FF2B5EF4-FFF2-40B4-BE49-F238E27FC236}">
                <a16:creationId xmlns:a16="http://schemas.microsoft.com/office/drawing/2014/main" id="{5A40620C-7227-AB22-B217-906FDE140391}"/>
              </a:ext>
            </a:extLst>
          </p:cNvPr>
          <p:cNvSpPr txBox="1"/>
          <p:nvPr/>
        </p:nvSpPr>
        <p:spPr>
          <a:xfrm rot="5400000">
            <a:off x="3181688" y="3756992"/>
            <a:ext cx="4654552" cy="369332"/>
          </a:xfrm>
          <a:prstGeom prst="rect">
            <a:avLst/>
          </a:prstGeom>
          <a:noFill/>
        </p:spPr>
        <p:txBody>
          <a:bodyPr wrap="square" rtlCol="0">
            <a:spAutoFit/>
          </a:bodyPr>
          <a:lstStyle/>
          <a:p>
            <a:pPr algn="ctr"/>
            <a:r>
              <a:rPr lang="en-US" dirty="0"/>
              <a:t>Imaginary values</a:t>
            </a:r>
          </a:p>
        </p:txBody>
      </p:sp>
      <p:sp>
        <p:nvSpPr>
          <p:cNvPr id="18" name="TextBox 17">
            <a:extLst>
              <a:ext uri="{FF2B5EF4-FFF2-40B4-BE49-F238E27FC236}">
                <a16:creationId xmlns:a16="http://schemas.microsoft.com/office/drawing/2014/main" id="{FE972D93-ADB7-85BD-5D8F-52CB1A4A8147}"/>
              </a:ext>
            </a:extLst>
          </p:cNvPr>
          <p:cNvSpPr txBox="1"/>
          <p:nvPr/>
        </p:nvSpPr>
        <p:spPr>
          <a:xfrm>
            <a:off x="5856686" y="6336162"/>
            <a:ext cx="673651" cy="369332"/>
          </a:xfrm>
          <a:prstGeom prst="rect">
            <a:avLst/>
          </a:prstGeom>
          <a:noFill/>
        </p:spPr>
        <p:txBody>
          <a:bodyPr wrap="square" rtlCol="0">
            <a:spAutoFit/>
          </a:bodyPr>
          <a:lstStyle/>
          <a:p>
            <a:r>
              <a:rPr lang="en-US" dirty="0"/>
              <a:t>Pong</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741EF6E-2ED2-4439-CBE7-0CC299F31123}"/>
                  </a:ext>
                </a:extLst>
              </p:cNvPr>
              <p:cNvSpPr txBox="1"/>
              <p:nvPr/>
            </p:nvSpPr>
            <p:spPr>
              <a:xfrm>
                <a:off x="4986286" y="1200861"/>
                <a:ext cx="707344"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𝜓</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p>
                      <m:r>
                        <a:rPr lang="en-US" b="0" i="1" smtClean="0">
                          <a:latin typeface="Cambria Math" panose="02040503050406030204" pitchFamily="18" charset="0"/>
                        </a:rPr>
                        <m:t>⟩</m:t>
                      </m:r>
                    </m:oMath>
                  </m:oMathPara>
                </a14:m>
                <a:endParaRPr lang="en-US" dirty="0"/>
              </a:p>
            </p:txBody>
          </p:sp>
        </mc:Choice>
        <mc:Fallback xmlns="">
          <p:sp>
            <p:nvSpPr>
              <p:cNvPr id="22" name="TextBox 21">
                <a:extLst>
                  <a:ext uri="{FF2B5EF4-FFF2-40B4-BE49-F238E27FC236}">
                    <a16:creationId xmlns:a16="http://schemas.microsoft.com/office/drawing/2014/main" id="{4741EF6E-2ED2-4439-CBE7-0CC299F31123}"/>
                  </a:ext>
                </a:extLst>
              </p:cNvPr>
              <p:cNvSpPr txBox="1">
                <a:spLocks noRot="1" noChangeAspect="1" noMove="1" noResize="1" noEditPoints="1" noAdjustHandles="1" noChangeArrowheads="1" noChangeShapeType="1" noTextEdit="1"/>
              </p:cNvSpPr>
              <p:nvPr/>
            </p:nvSpPr>
            <p:spPr>
              <a:xfrm>
                <a:off x="4986286" y="1200861"/>
                <a:ext cx="707344" cy="392993"/>
              </a:xfrm>
              <a:prstGeom prst="rect">
                <a:avLst/>
              </a:prstGeom>
              <a:blipFill>
                <a:blip r:embed="rId4"/>
                <a:stretch>
                  <a:fillRect l="-2586" r="-6897" b="-10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4299378-F8C5-303D-4B7A-D85F886525A9}"/>
                  </a:ext>
                </a:extLst>
              </p:cNvPr>
              <p:cNvSpPr txBox="1"/>
              <p:nvPr/>
            </p:nvSpPr>
            <p:spPr>
              <a:xfrm>
                <a:off x="5698638" y="1187202"/>
                <a:ext cx="924811"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𝜓</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sup>
                      </m:sSup>
                      <m:r>
                        <a:rPr lang="en-US" b="0" i="1" smtClean="0">
                          <a:latin typeface="Cambria Math" panose="02040503050406030204" pitchFamily="18" charset="0"/>
                        </a:rPr>
                        <m:t>⟩</m:t>
                      </m:r>
                    </m:oMath>
                  </m:oMathPara>
                </a14:m>
                <a:endParaRPr lang="en-US" dirty="0"/>
              </a:p>
            </p:txBody>
          </p:sp>
        </mc:Choice>
        <mc:Fallback xmlns="">
          <p:sp>
            <p:nvSpPr>
              <p:cNvPr id="23" name="TextBox 22">
                <a:extLst>
                  <a:ext uri="{FF2B5EF4-FFF2-40B4-BE49-F238E27FC236}">
                    <a16:creationId xmlns:a16="http://schemas.microsoft.com/office/drawing/2014/main" id="{A4299378-F8C5-303D-4B7A-D85F886525A9}"/>
                  </a:ext>
                </a:extLst>
              </p:cNvPr>
              <p:cNvSpPr txBox="1">
                <a:spLocks noRot="1" noChangeAspect="1" noMove="1" noResize="1" noEditPoints="1" noAdjustHandles="1" noChangeArrowheads="1" noChangeShapeType="1" noTextEdit="1"/>
              </p:cNvSpPr>
              <p:nvPr/>
            </p:nvSpPr>
            <p:spPr>
              <a:xfrm>
                <a:off x="5698638" y="1187202"/>
                <a:ext cx="924811" cy="392993"/>
              </a:xfrm>
              <a:prstGeom prst="rect">
                <a:avLst/>
              </a:prstGeom>
              <a:blipFill>
                <a:blip r:embed="rId5"/>
                <a:stretch>
                  <a:fillRect l="-1974" r="-5263" b="-10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1E060BE-9606-ECFD-9A30-D94C8880542C}"/>
                  </a:ext>
                </a:extLst>
              </p:cNvPr>
              <p:cNvSpPr txBox="1"/>
              <p:nvPr/>
            </p:nvSpPr>
            <p:spPr>
              <a:xfrm>
                <a:off x="4670626" y="1636864"/>
                <a:ext cx="29168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0</m:t>
                          </m:r>
                        </m:sub>
                      </m:sSub>
                    </m:oMath>
                  </m:oMathPara>
                </a14:m>
                <a:endParaRPr lang="en-US" dirty="0"/>
              </a:p>
            </p:txBody>
          </p:sp>
        </mc:Choice>
        <mc:Fallback xmlns="">
          <p:sp>
            <p:nvSpPr>
              <p:cNvPr id="24" name="TextBox 23">
                <a:extLst>
                  <a:ext uri="{FF2B5EF4-FFF2-40B4-BE49-F238E27FC236}">
                    <a16:creationId xmlns:a16="http://schemas.microsoft.com/office/drawing/2014/main" id="{B1E060BE-9606-ECFD-9A30-D94C8880542C}"/>
                  </a:ext>
                </a:extLst>
              </p:cNvPr>
              <p:cNvSpPr txBox="1">
                <a:spLocks noRot="1" noChangeAspect="1" noMove="1" noResize="1" noEditPoints="1" noAdjustHandles="1" noChangeArrowheads="1" noChangeShapeType="1" noTextEdit="1"/>
              </p:cNvSpPr>
              <p:nvPr/>
            </p:nvSpPr>
            <p:spPr>
              <a:xfrm>
                <a:off x="4670626" y="1636864"/>
                <a:ext cx="291682" cy="276999"/>
              </a:xfrm>
              <a:prstGeom prst="rect">
                <a:avLst/>
              </a:prstGeom>
              <a:blipFill>
                <a:blip r:embed="rId6"/>
                <a:stretch>
                  <a:fillRect l="-12500" r="-10417"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291632A-D049-07CF-4A3F-E8F73401595D}"/>
                  </a:ext>
                </a:extLst>
              </p:cNvPr>
              <p:cNvSpPr txBox="1"/>
              <p:nvPr/>
            </p:nvSpPr>
            <p:spPr>
              <a:xfrm>
                <a:off x="4672766" y="1999883"/>
                <a:ext cx="2863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oMath>
                  </m:oMathPara>
                </a14:m>
                <a:endParaRPr lang="en-US" dirty="0"/>
              </a:p>
            </p:txBody>
          </p:sp>
        </mc:Choice>
        <mc:Fallback xmlns="">
          <p:sp>
            <p:nvSpPr>
              <p:cNvPr id="25" name="TextBox 24">
                <a:extLst>
                  <a:ext uri="{FF2B5EF4-FFF2-40B4-BE49-F238E27FC236}">
                    <a16:creationId xmlns:a16="http://schemas.microsoft.com/office/drawing/2014/main" id="{D291632A-D049-07CF-4A3F-E8F73401595D}"/>
                  </a:ext>
                </a:extLst>
              </p:cNvPr>
              <p:cNvSpPr txBox="1">
                <a:spLocks noRot="1" noChangeAspect="1" noMove="1" noResize="1" noEditPoints="1" noAdjustHandles="1" noChangeArrowheads="1" noChangeShapeType="1" noTextEdit="1"/>
              </p:cNvSpPr>
              <p:nvPr/>
            </p:nvSpPr>
            <p:spPr>
              <a:xfrm>
                <a:off x="4672766" y="1999883"/>
                <a:ext cx="286360" cy="276999"/>
              </a:xfrm>
              <a:prstGeom prst="rect">
                <a:avLst/>
              </a:prstGeom>
              <a:blipFill>
                <a:blip r:embed="rId7"/>
                <a:stretch>
                  <a:fillRect l="-12766" r="-8511"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6E2B37B-B794-7484-B633-95DB1C9CCF3A}"/>
                  </a:ext>
                </a:extLst>
              </p:cNvPr>
              <p:cNvSpPr txBox="1"/>
              <p:nvPr/>
            </p:nvSpPr>
            <p:spPr>
              <a:xfrm>
                <a:off x="4577194" y="5933625"/>
                <a:ext cx="544060"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𝑁</m:t>
                          </m:r>
                          <m:r>
                            <a:rPr lang="en-US" b="0" i="1" smtClean="0">
                              <a:latin typeface="Cambria Math" panose="02040503050406030204" pitchFamily="18" charset="0"/>
                            </a:rPr>
                            <m:t>−1</m:t>
                          </m:r>
                        </m:sub>
                      </m:sSub>
                    </m:oMath>
                  </m:oMathPara>
                </a14:m>
                <a:endParaRPr lang="en-US" dirty="0"/>
              </a:p>
            </p:txBody>
          </p:sp>
        </mc:Choice>
        <mc:Fallback xmlns="">
          <p:sp>
            <p:nvSpPr>
              <p:cNvPr id="26" name="TextBox 25">
                <a:extLst>
                  <a:ext uri="{FF2B5EF4-FFF2-40B4-BE49-F238E27FC236}">
                    <a16:creationId xmlns:a16="http://schemas.microsoft.com/office/drawing/2014/main" id="{26E2B37B-B794-7484-B633-95DB1C9CCF3A}"/>
                  </a:ext>
                </a:extLst>
              </p:cNvPr>
              <p:cNvSpPr txBox="1">
                <a:spLocks noRot="1" noChangeAspect="1" noMove="1" noResize="1" noEditPoints="1" noAdjustHandles="1" noChangeArrowheads="1" noChangeShapeType="1" noTextEdit="1"/>
              </p:cNvSpPr>
              <p:nvPr/>
            </p:nvSpPr>
            <p:spPr>
              <a:xfrm>
                <a:off x="4577194" y="5933625"/>
                <a:ext cx="544060" cy="276999"/>
              </a:xfrm>
              <a:prstGeom prst="rect">
                <a:avLst/>
              </a:prstGeom>
              <a:blipFill>
                <a:blip r:embed="rId8"/>
                <a:stretch>
                  <a:fillRect l="-6742" r="-4494" b="-15217"/>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1480204C-6C44-EE4F-9043-AB709AAD6ECC}"/>
              </a:ext>
            </a:extLst>
          </p:cNvPr>
          <p:cNvCxnSpPr>
            <a:cxnSpLocks/>
          </p:cNvCxnSpPr>
          <p:nvPr/>
        </p:nvCxnSpPr>
        <p:spPr>
          <a:xfrm>
            <a:off x="5043828" y="1956873"/>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8C8CAB35-676B-4683-17E1-F4A43E9F0F42}"/>
              </a:ext>
            </a:extLst>
          </p:cNvPr>
          <p:cNvCxnSpPr>
            <a:cxnSpLocks/>
          </p:cNvCxnSpPr>
          <p:nvPr/>
        </p:nvCxnSpPr>
        <p:spPr>
          <a:xfrm>
            <a:off x="5043828" y="2350969"/>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A9F94481-6FEB-59B3-13EA-8C94161C9B1F}"/>
              </a:ext>
            </a:extLst>
          </p:cNvPr>
          <p:cNvCxnSpPr>
            <a:cxnSpLocks/>
          </p:cNvCxnSpPr>
          <p:nvPr/>
        </p:nvCxnSpPr>
        <p:spPr>
          <a:xfrm>
            <a:off x="5043828" y="5908682"/>
            <a:ext cx="589538"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B2AE55D-9751-44B8-7B0B-8CDA6B2B72E9}"/>
                  </a:ext>
                </a:extLst>
              </p:cNvPr>
              <p:cNvSpPr txBox="1"/>
              <p:nvPr/>
            </p:nvSpPr>
            <p:spPr>
              <a:xfrm>
                <a:off x="5115837" y="2418201"/>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8B2AE55D-9751-44B8-7B0B-8CDA6B2B72E9}"/>
                  </a:ext>
                </a:extLst>
              </p:cNvPr>
              <p:cNvSpPr txBox="1">
                <a:spLocks noRot="1" noChangeAspect="1" noMove="1" noResize="1" noEditPoints="1" noAdjustHandles="1" noChangeArrowheads="1" noChangeShapeType="1" noTextEdit="1"/>
              </p:cNvSpPr>
              <p:nvPr/>
            </p:nvSpPr>
            <p:spPr>
              <a:xfrm>
                <a:off x="5115837" y="2418201"/>
                <a:ext cx="118622" cy="276999"/>
              </a:xfrm>
              <a:prstGeom prst="rect">
                <a:avLst/>
              </a:prstGeom>
              <a:blipFill>
                <a:blip r:embed="rId9"/>
                <a:stretch>
                  <a:fillRect l="-45000" r="-45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73DDD5C-6087-863A-0752-9FB57156698E}"/>
                  </a:ext>
                </a:extLst>
              </p:cNvPr>
              <p:cNvSpPr txBox="1"/>
              <p:nvPr/>
            </p:nvSpPr>
            <p:spPr>
              <a:xfrm>
                <a:off x="5459164" y="2418200"/>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id="{473DDD5C-6087-863A-0752-9FB57156698E}"/>
                  </a:ext>
                </a:extLst>
              </p:cNvPr>
              <p:cNvSpPr txBox="1">
                <a:spLocks noRot="1" noChangeAspect="1" noMove="1" noResize="1" noEditPoints="1" noAdjustHandles="1" noChangeArrowheads="1" noChangeShapeType="1" noTextEdit="1"/>
              </p:cNvSpPr>
              <p:nvPr/>
            </p:nvSpPr>
            <p:spPr>
              <a:xfrm>
                <a:off x="5459164" y="2418200"/>
                <a:ext cx="118622" cy="276999"/>
              </a:xfrm>
              <a:prstGeom prst="rect">
                <a:avLst/>
              </a:prstGeom>
              <a:blipFill>
                <a:blip r:embed="rId10"/>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F60B39E-1F1C-0689-3C2E-51F46797EE3E}"/>
                  </a:ext>
                </a:extLst>
              </p:cNvPr>
              <p:cNvSpPr txBox="1"/>
              <p:nvPr/>
            </p:nvSpPr>
            <p:spPr>
              <a:xfrm>
                <a:off x="5106315" y="5942066"/>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9" name="TextBox 48">
                <a:extLst>
                  <a:ext uri="{FF2B5EF4-FFF2-40B4-BE49-F238E27FC236}">
                    <a16:creationId xmlns:a16="http://schemas.microsoft.com/office/drawing/2014/main" id="{1F60B39E-1F1C-0689-3C2E-51F46797EE3E}"/>
                  </a:ext>
                </a:extLst>
              </p:cNvPr>
              <p:cNvSpPr txBox="1">
                <a:spLocks noRot="1" noChangeAspect="1" noMove="1" noResize="1" noEditPoints="1" noAdjustHandles="1" noChangeArrowheads="1" noChangeShapeType="1" noTextEdit="1"/>
              </p:cNvSpPr>
              <p:nvPr/>
            </p:nvSpPr>
            <p:spPr>
              <a:xfrm>
                <a:off x="5106315" y="5942066"/>
                <a:ext cx="118622" cy="276999"/>
              </a:xfrm>
              <a:prstGeom prst="rect">
                <a:avLst/>
              </a:prstGeom>
              <a:blipFill>
                <a:blip r:embed="rId11"/>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E497EA6-0874-C149-46AE-D5B75026AD29}"/>
                  </a:ext>
                </a:extLst>
              </p:cNvPr>
              <p:cNvSpPr txBox="1"/>
              <p:nvPr/>
            </p:nvSpPr>
            <p:spPr>
              <a:xfrm>
                <a:off x="5459169" y="5942065"/>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0" name="TextBox 49">
                <a:extLst>
                  <a:ext uri="{FF2B5EF4-FFF2-40B4-BE49-F238E27FC236}">
                    <a16:creationId xmlns:a16="http://schemas.microsoft.com/office/drawing/2014/main" id="{DE497EA6-0874-C149-46AE-D5B75026AD29}"/>
                  </a:ext>
                </a:extLst>
              </p:cNvPr>
              <p:cNvSpPr txBox="1">
                <a:spLocks noRot="1" noChangeAspect="1" noMove="1" noResize="1" noEditPoints="1" noAdjustHandles="1" noChangeArrowheads="1" noChangeShapeType="1" noTextEdit="1"/>
              </p:cNvSpPr>
              <p:nvPr/>
            </p:nvSpPr>
            <p:spPr>
              <a:xfrm>
                <a:off x="5459169" y="5942065"/>
                <a:ext cx="118622" cy="276999"/>
              </a:xfrm>
              <a:prstGeom prst="rect">
                <a:avLst/>
              </a:prstGeom>
              <a:blipFill>
                <a:blip r:embed="rId12"/>
                <a:stretch>
                  <a:fillRect l="-47368" r="-52632" b="-6667"/>
                </a:stretch>
              </a:blipFill>
            </p:spPr>
            <p:txBody>
              <a:bodyPr/>
              <a:lstStyle/>
              <a:p>
                <a:r>
                  <a:rPr lang="en-US">
                    <a:noFill/>
                  </a:rPr>
                  <a:t> </a:t>
                </a:r>
              </a:p>
            </p:txBody>
          </p:sp>
        </mc:Fallback>
      </mc:AlternateContent>
      <p:cxnSp>
        <p:nvCxnSpPr>
          <p:cNvPr id="54" name="Straight Arrow Connector 53">
            <a:extLst>
              <a:ext uri="{FF2B5EF4-FFF2-40B4-BE49-F238E27FC236}">
                <a16:creationId xmlns:a16="http://schemas.microsoft.com/office/drawing/2014/main" id="{6CB23E5D-D42E-72C2-3BE7-D36BCBE04E7E}"/>
              </a:ext>
            </a:extLst>
          </p:cNvPr>
          <p:cNvCxnSpPr>
            <a:cxnSpLocks/>
          </p:cNvCxnSpPr>
          <p:nvPr/>
        </p:nvCxnSpPr>
        <p:spPr>
          <a:xfrm>
            <a:off x="5620966" y="3759967"/>
            <a:ext cx="227013" cy="0"/>
          </a:xfrm>
          <a:prstGeom prst="straightConnector1">
            <a:avLst/>
          </a:prstGeom>
          <a:ln w="3175">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959E261B-FB14-7CD0-3150-D875730502AE}"/>
              </a:ext>
            </a:extLst>
          </p:cNvPr>
          <p:cNvCxnSpPr>
            <a:cxnSpLocks/>
            <a:endCxn id="14" idx="3"/>
          </p:cNvCxnSpPr>
          <p:nvPr/>
        </p:nvCxnSpPr>
        <p:spPr>
          <a:xfrm flipH="1">
            <a:off x="5633366" y="3942226"/>
            <a:ext cx="214613" cy="0"/>
          </a:xfrm>
          <a:prstGeom prst="straightConnector1">
            <a:avLst/>
          </a:prstGeom>
          <a:ln w="3175">
            <a:tailEnd type="triangle"/>
          </a:ln>
        </p:spPr>
        <p:style>
          <a:lnRef idx="1">
            <a:schemeClr val="dk1"/>
          </a:lnRef>
          <a:fillRef idx="0">
            <a:schemeClr val="dk1"/>
          </a:fillRef>
          <a:effectRef idx="0">
            <a:schemeClr val="dk1"/>
          </a:effectRef>
          <a:fontRef idx="minor">
            <a:schemeClr val="tx1"/>
          </a:fontRef>
        </p:style>
      </p:cxnSp>
      <p:pic>
        <p:nvPicPr>
          <p:cNvPr id="56" name="Picture 55">
            <a:extLst>
              <a:ext uri="{FF2B5EF4-FFF2-40B4-BE49-F238E27FC236}">
                <a16:creationId xmlns:a16="http://schemas.microsoft.com/office/drawing/2014/main" id="{5F352353-0F17-687B-DB15-E78E74BD1315}"/>
              </a:ext>
            </a:extLst>
          </p:cNvPr>
          <p:cNvPicPr>
            <a:picLocks noChangeAspect="1"/>
          </p:cNvPicPr>
          <p:nvPr/>
        </p:nvPicPr>
        <p:blipFill>
          <a:blip r:embed="rId13"/>
          <a:stretch>
            <a:fillRect/>
          </a:stretch>
        </p:blipFill>
        <p:spPr>
          <a:xfrm>
            <a:off x="7063816" y="3505150"/>
            <a:ext cx="5075634" cy="2549533"/>
          </a:xfrm>
          <a:prstGeom prst="rect">
            <a:avLst/>
          </a:prstGeom>
        </p:spPr>
      </p:pic>
      <p:sp>
        <p:nvSpPr>
          <p:cNvPr id="57" name="TextBox 56">
            <a:extLst>
              <a:ext uri="{FF2B5EF4-FFF2-40B4-BE49-F238E27FC236}">
                <a16:creationId xmlns:a16="http://schemas.microsoft.com/office/drawing/2014/main" id="{4A07EDDF-E0DE-1E69-4D2F-2335B920C01F}"/>
              </a:ext>
            </a:extLst>
          </p:cNvPr>
          <p:cNvSpPr txBox="1"/>
          <p:nvPr/>
        </p:nvSpPr>
        <p:spPr>
          <a:xfrm>
            <a:off x="6975194" y="6088298"/>
            <a:ext cx="5002789" cy="646331"/>
          </a:xfrm>
          <a:prstGeom prst="rect">
            <a:avLst/>
          </a:prstGeom>
          <a:noFill/>
        </p:spPr>
        <p:txBody>
          <a:bodyPr wrap="square">
            <a:spAutoFit/>
          </a:bodyPr>
          <a:lstStyle/>
          <a:p>
            <a:r>
              <a:rPr lang="en-US" b="1" dirty="0">
                <a:solidFill>
                  <a:srgbClr val="FF0000"/>
                </a:solidFill>
              </a:rPr>
              <a:t>Figure 2.4</a:t>
            </a:r>
            <a:r>
              <a:rPr lang="en-US" dirty="0"/>
              <a:t>. Timing chart of </a:t>
            </a:r>
            <a:r>
              <a:rPr lang="en-US" dirty="0" err="1"/>
              <a:t>FQsun</a:t>
            </a:r>
            <a:r>
              <a:rPr lang="en-US" dirty="0"/>
              <a:t> operation using Ping/Pong Amplitude Memories. </a:t>
            </a:r>
          </a:p>
        </p:txBody>
      </p:sp>
      <p:sp>
        <p:nvSpPr>
          <p:cNvPr id="70" name="Rectangle 69">
            <a:extLst>
              <a:ext uri="{FF2B5EF4-FFF2-40B4-BE49-F238E27FC236}">
                <a16:creationId xmlns:a16="http://schemas.microsoft.com/office/drawing/2014/main" id="{01A262A8-6473-9B55-5192-FCE98FC9AB27}"/>
              </a:ext>
            </a:extLst>
          </p:cNvPr>
          <p:cNvSpPr/>
          <p:nvPr/>
        </p:nvSpPr>
        <p:spPr>
          <a:xfrm>
            <a:off x="5880535" y="1614951"/>
            <a:ext cx="239555"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53B295FC-0EB4-3601-B59B-35E35BF30E9A}"/>
              </a:ext>
            </a:extLst>
          </p:cNvPr>
          <p:cNvSpPr/>
          <p:nvPr/>
        </p:nvSpPr>
        <p:spPr>
          <a:xfrm>
            <a:off x="6222271" y="1614951"/>
            <a:ext cx="247802"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14430AE0-0A39-20D9-5E6F-CAB5129EB3DB}"/>
              </a:ext>
            </a:extLst>
          </p:cNvPr>
          <p:cNvSpPr txBox="1"/>
          <p:nvPr/>
        </p:nvSpPr>
        <p:spPr>
          <a:xfrm rot="5400000">
            <a:off x="3683431" y="3756990"/>
            <a:ext cx="4654550" cy="369332"/>
          </a:xfrm>
          <a:prstGeom prst="rect">
            <a:avLst/>
          </a:prstGeom>
          <a:noFill/>
        </p:spPr>
        <p:txBody>
          <a:bodyPr wrap="square" rtlCol="0">
            <a:spAutoFit/>
          </a:bodyPr>
          <a:lstStyle/>
          <a:p>
            <a:pPr algn="ctr"/>
            <a:r>
              <a:rPr lang="en-US" dirty="0"/>
              <a:t>Real values</a:t>
            </a:r>
          </a:p>
        </p:txBody>
      </p:sp>
      <p:sp>
        <p:nvSpPr>
          <p:cNvPr id="73" name="TextBox 72">
            <a:extLst>
              <a:ext uri="{FF2B5EF4-FFF2-40B4-BE49-F238E27FC236}">
                <a16:creationId xmlns:a16="http://schemas.microsoft.com/office/drawing/2014/main" id="{38F72F8A-52AC-B848-1817-67520EA32BE4}"/>
              </a:ext>
            </a:extLst>
          </p:cNvPr>
          <p:cNvSpPr txBox="1"/>
          <p:nvPr/>
        </p:nvSpPr>
        <p:spPr>
          <a:xfrm rot="5400000">
            <a:off x="4018395" y="3756992"/>
            <a:ext cx="4654552" cy="369332"/>
          </a:xfrm>
          <a:prstGeom prst="rect">
            <a:avLst/>
          </a:prstGeom>
          <a:noFill/>
        </p:spPr>
        <p:txBody>
          <a:bodyPr wrap="square" rtlCol="0">
            <a:spAutoFit/>
          </a:bodyPr>
          <a:lstStyle/>
          <a:p>
            <a:pPr algn="ctr"/>
            <a:r>
              <a:rPr lang="en-US" dirty="0"/>
              <a:t>Imaginary values</a:t>
            </a:r>
          </a:p>
        </p:txBody>
      </p:sp>
      <p:cxnSp>
        <p:nvCxnSpPr>
          <p:cNvPr id="74" name="Straight Connector 73">
            <a:extLst>
              <a:ext uri="{FF2B5EF4-FFF2-40B4-BE49-F238E27FC236}">
                <a16:creationId xmlns:a16="http://schemas.microsoft.com/office/drawing/2014/main" id="{404689CE-4B07-766C-B03E-48D7B51F1839}"/>
              </a:ext>
            </a:extLst>
          </p:cNvPr>
          <p:cNvCxnSpPr>
            <a:cxnSpLocks/>
          </p:cNvCxnSpPr>
          <p:nvPr/>
        </p:nvCxnSpPr>
        <p:spPr>
          <a:xfrm>
            <a:off x="5880535" y="1956873"/>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Connector 74">
            <a:extLst>
              <a:ext uri="{FF2B5EF4-FFF2-40B4-BE49-F238E27FC236}">
                <a16:creationId xmlns:a16="http://schemas.microsoft.com/office/drawing/2014/main" id="{1EE7D6F7-2337-9CB7-78A0-3C30726E9B98}"/>
              </a:ext>
            </a:extLst>
          </p:cNvPr>
          <p:cNvCxnSpPr>
            <a:cxnSpLocks/>
          </p:cNvCxnSpPr>
          <p:nvPr/>
        </p:nvCxnSpPr>
        <p:spPr>
          <a:xfrm>
            <a:off x="5880535" y="2350969"/>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76" name="Straight Connector 75">
            <a:extLst>
              <a:ext uri="{FF2B5EF4-FFF2-40B4-BE49-F238E27FC236}">
                <a16:creationId xmlns:a16="http://schemas.microsoft.com/office/drawing/2014/main" id="{6F4BE1FC-9B51-9E81-BF48-EFF8EFD805F0}"/>
              </a:ext>
            </a:extLst>
          </p:cNvPr>
          <p:cNvCxnSpPr>
            <a:cxnSpLocks/>
          </p:cNvCxnSpPr>
          <p:nvPr/>
        </p:nvCxnSpPr>
        <p:spPr>
          <a:xfrm>
            <a:off x="5880535" y="5908682"/>
            <a:ext cx="589538"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985CA73-B37B-899C-8D95-D44616DC8001}"/>
                  </a:ext>
                </a:extLst>
              </p:cNvPr>
              <p:cNvSpPr txBox="1"/>
              <p:nvPr/>
            </p:nvSpPr>
            <p:spPr>
              <a:xfrm>
                <a:off x="5952544" y="2418201"/>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D985CA73-B37B-899C-8D95-D44616DC8001}"/>
                  </a:ext>
                </a:extLst>
              </p:cNvPr>
              <p:cNvSpPr txBox="1">
                <a:spLocks noRot="1" noChangeAspect="1" noMove="1" noResize="1" noEditPoints="1" noAdjustHandles="1" noChangeArrowheads="1" noChangeShapeType="1" noTextEdit="1"/>
              </p:cNvSpPr>
              <p:nvPr/>
            </p:nvSpPr>
            <p:spPr>
              <a:xfrm>
                <a:off x="5952544" y="2418201"/>
                <a:ext cx="118622" cy="276999"/>
              </a:xfrm>
              <a:prstGeom prst="rect">
                <a:avLst/>
              </a:prstGeom>
              <a:blipFill>
                <a:blip r:embed="rId14"/>
                <a:stretch>
                  <a:fillRect l="-45000" r="-45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D06B617C-57E3-D787-30B0-7D7C357D6E0C}"/>
                  </a:ext>
                </a:extLst>
              </p:cNvPr>
              <p:cNvSpPr txBox="1"/>
              <p:nvPr/>
            </p:nvSpPr>
            <p:spPr>
              <a:xfrm>
                <a:off x="6295871" y="2418200"/>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8" name="TextBox 77">
                <a:extLst>
                  <a:ext uri="{FF2B5EF4-FFF2-40B4-BE49-F238E27FC236}">
                    <a16:creationId xmlns:a16="http://schemas.microsoft.com/office/drawing/2014/main" id="{D06B617C-57E3-D787-30B0-7D7C357D6E0C}"/>
                  </a:ext>
                </a:extLst>
              </p:cNvPr>
              <p:cNvSpPr txBox="1">
                <a:spLocks noRot="1" noChangeAspect="1" noMove="1" noResize="1" noEditPoints="1" noAdjustHandles="1" noChangeArrowheads="1" noChangeShapeType="1" noTextEdit="1"/>
              </p:cNvSpPr>
              <p:nvPr/>
            </p:nvSpPr>
            <p:spPr>
              <a:xfrm>
                <a:off x="6295871" y="2418200"/>
                <a:ext cx="118622" cy="276999"/>
              </a:xfrm>
              <a:prstGeom prst="rect">
                <a:avLst/>
              </a:prstGeom>
              <a:blipFill>
                <a:blip r:embed="rId15"/>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3E892FB-95A6-C3A4-8B05-53C1C36A33F6}"/>
                  </a:ext>
                </a:extLst>
              </p:cNvPr>
              <p:cNvSpPr txBox="1"/>
              <p:nvPr/>
            </p:nvSpPr>
            <p:spPr>
              <a:xfrm>
                <a:off x="5943022" y="5942066"/>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9" name="TextBox 78">
                <a:extLst>
                  <a:ext uri="{FF2B5EF4-FFF2-40B4-BE49-F238E27FC236}">
                    <a16:creationId xmlns:a16="http://schemas.microsoft.com/office/drawing/2014/main" id="{23E892FB-95A6-C3A4-8B05-53C1C36A33F6}"/>
                  </a:ext>
                </a:extLst>
              </p:cNvPr>
              <p:cNvSpPr txBox="1">
                <a:spLocks noRot="1" noChangeAspect="1" noMove="1" noResize="1" noEditPoints="1" noAdjustHandles="1" noChangeArrowheads="1" noChangeShapeType="1" noTextEdit="1"/>
              </p:cNvSpPr>
              <p:nvPr/>
            </p:nvSpPr>
            <p:spPr>
              <a:xfrm>
                <a:off x="5943022" y="5942066"/>
                <a:ext cx="118622" cy="276999"/>
              </a:xfrm>
              <a:prstGeom prst="rect">
                <a:avLst/>
              </a:prstGeom>
              <a:blipFill>
                <a:blip r:embed="rId16"/>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46B9D32-BA29-AC46-830A-2FA56E5DC600}"/>
                  </a:ext>
                </a:extLst>
              </p:cNvPr>
              <p:cNvSpPr txBox="1"/>
              <p:nvPr/>
            </p:nvSpPr>
            <p:spPr>
              <a:xfrm>
                <a:off x="6295876" y="5942065"/>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80" name="TextBox 79">
                <a:extLst>
                  <a:ext uri="{FF2B5EF4-FFF2-40B4-BE49-F238E27FC236}">
                    <a16:creationId xmlns:a16="http://schemas.microsoft.com/office/drawing/2014/main" id="{146B9D32-BA29-AC46-830A-2FA56E5DC600}"/>
                  </a:ext>
                </a:extLst>
              </p:cNvPr>
              <p:cNvSpPr txBox="1">
                <a:spLocks noRot="1" noChangeAspect="1" noMove="1" noResize="1" noEditPoints="1" noAdjustHandles="1" noChangeArrowheads="1" noChangeShapeType="1" noTextEdit="1"/>
              </p:cNvSpPr>
              <p:nvPr/>
            </p:nvSpPr>
            <p:spPr>
              <a:xfrm>
                <a:off x="6295876" y="5942065"/>
                <a:ext cx="118622" cy="276999"/>
              </a:xfrm>
              <a:prstGeom prst="rect">
                <a:avLst/>
              </a:prstGeom>
              <a:blipFill>
                <a:blip r:embed="rId17"/>
                <a:stretch>
                  <a:fillRect l="-47368" r="-52632" b="-6667"/>
                </a:stretch>
              </a:blipFill>
            </p:spPr>
            <p:txBody>
              <a:bodyPr/>
              <a:lstStyle/>
              <a:p>
                <a:r>
                  <a:rPr lang="en-US">
                    <a:noFill/>
                  </a:rPr>
                  <a:t> </a:t>
                </a:r>
              </a:p>
            </p:txBody>
          </p:sp>
        </mc:Fallback>
      </mc:AlternateContent>
      <p:sp>
        <p:nvSpPr>
          <p:cNvPr id="85" name="Rectangle 84">
            <a:extLst>
              <a:ext uri="{FF2B5EF4-FFF2-40B4-BE49-F238E27FC236}">
                <a16:creationId xmlns:a16="http://schemas.microsoft.com/office/drawing/2014/main" id="{369EF9C3-5474-0DB9-29CA-AD6A217759D8}"/>
              </a:ext>
            </a:extLst>
          </p:cNvPr>
          <p:cNvSpPr/>
          <p:nvPr/>
        </p:nvSpPr>
        <p:spPr>
          <a:xfrm>
            <a:off x="8686800" y="3138488"/>
            <a:ext cx="557212" cy="27206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CA7CD838-5D4E-5096-18D8-BECD1A7649A4}"/>
                  </a:ext>
                </a:extLst>
              </p:cNvPr>
              <p:cNvSpPr txBox="1"/>
              <p:nvPr/>
            </p:nvSpPr>
            <p:spPr>
              <a:xfrm>
                <a:off x="8473807" y="1202613"/>
                <a:ext cx="904881" cy="1833707"/>
              </a:xfrm>
              <a:prstGeom prst="rect">
                <a:avLst/>
              </a:prstGeom>
              <a:noFill/>
            </p:spPr>
            <p:txBody>
              <a:bodyPr wrap="square" rtlCol="0">
                <a:spAutoFit/>
              </a:bodyPr>
              <a:lstStyle/>
              <a:p>
                <a:r>
                  <a:rPr lang="en-US" sz="1400" b="1" dirty="0"/>
                  <a:t>Ping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(0)</m:t>
                        </m:r>
                      </m:sup>
                    </m:sSup>
                    <m:r>
                      <a:rPr lang="en-US" sz="1400" b="0" i="1" smtClean="0">
                        <a:latin typeface="Cambria Math" panose="02040503050406030204" pitchFamily="18" charset="0"/>
                      </a:rPr>
                      <m:t>⟩</m:t>
                    </m:r>
                  </m:oMath>
                </a14:m>
                <a:endParaRPr lang="en-US" sz="1400" dirty="0"/>
              </a:p>
              <a:p>
                <a:r>
                  <a:rPr lang="en-US" sz="1400" b="1" dirty="0"/>
                  <a:t>Pong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(1)</m:t>
                        </m:r>
                      </m:sup>
                    </m:sSup>
                    <m:r>
                      <a:rPr lang="en-US" sz="1400" b="0" i="1" smtClean="0">
                        <a:latin typeface="Cambria Math" panose="02040503050406030204" pitchFamily="18" charset="0"/>
                      </a:rPr>
                      <m:t>⟩</m:t>
                    </m:r>
                  </m:oMath>
                </a14:m>
                <a:endParaRPr lang="en-US" sz="1400" dirty="0"/>
              </a:p>
            </p:txBody>
          </p:sp>
        </mc:Choice>
        <mc:Fallback xmlns="">
          <p:sp>
            <p:nvSpPr>
              <p:cNvPr id="86" name="TextBox 85">
                <a:extLst>
                  <a:ext uri="{FF2B5EF4-FFF2-40B4-BE49-F238E27FC236}">
                    <a16:creationId xmlns:a16="http://schemas.microsoft.com/office/drawing/2014/main" id="{CA7CD838-5D4E-5096-18D8-BECD1A7649A4}"/>
                  </a:ext>
                </a:extLst>
              </p:cNvPr>
              <p:cNvSpPr txBox="1">
                <a:spLocks noRot="1" noChangeAspect="1" noMove="1" noResize="1" noEditPoints="1" noAdjustHandles="1" noChangeArrowheads="1" noChangeShapeType="1" noTextEdit="1"/>
              </p:cNvSpPr>
              <p:nvPr/>
            </p:nvSpPr>
            <p:spPr>
              <a:xfrm>
                <a:off x="8473807" y="1202613"/>
                <a:ext cx="904881" cy="1833707"/>
              </a:xfrm>
              <a:prstGeom prst="rect">
                <a:avLst/>
              </a:prstGeom>
              <a:blipFill>
                <a:blip r:embed="rId18"/>
                <a:stretch>
                  <a:fillRect l="-2027" t="-332" r="-676" b="-332"/>
                </a:stretch>
              </a:blipFill>
            </p:spPr>
            <p:txBody>
              <a:bodyPr/>
              <a:lstStyle/>
              <a:p>
                <a:r>
                  <a:rPr lang="en-US">
                    <a:noFill/>
                  </a:rPr>
                  <a:t> </a:t>
                </a:r>
              </a:p>
            </p:txBody>
          </p:sp>
        </mc:Fallback>
      </mc:AlternateContent>
      <p:sp>
        <p:nvSpPr>
          <p:cNvPr id="87" name="Rectangle 86">
            <a:extLst>
              <a:ext uri="{FF2B5EF4-FFF2-40B4-BE49-F238E27FC236}">
                <a16:creationId xmlns:a16="http://schemas.microsoft.com/office/drawing/2014/main" id="{ADE11B17-D0E8-168C-CE8D-D4E5CC569563}"/>
              </a:ext>
            </a:extLst>
          </p:cNvPr>
          <p:cNvSpPr/>
          <p:nvPr/>
        </p:nvSpPr>
        <p:spPr>
          <a:xfrm>
            <a:off x="9241093" y="3138488"/>
            <a:ext cx="557212" cy="27206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69F94F4F-4F0C-4111-ACE7-4A521D107D8F}"/>
                  </a:ext>
                </a:extLst>
              </p:cNvPr>
              <p:cNvSpPr txBox="1"/>
              <p:nvPr/>
            </p:nvSpPr>
            <p:spPr>
              <a:xfrm>
                <a:off x="9250249" y="1216272"/>
                <a:ext cx="904881" cy="1833707"/>
              </a:xfrm>
              <a:prstGeom prst="rect">
                <a:avLst/>
              </a:prstGeom>
              <a:noFill/>
            </p:spPr>
            <p:txBody>
              <a:bodyPr wrap="square" rtlCol="0">
                <a:spAutoFit/>
              </a:bodyPr>
              <a:lstStyle/>
              <a:p>
                <a:r>
                  <a:rPr lang="en-US" sz="1400" b="1" dirty="0"/>
                  <a:t>Ping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(1)</m:t>
                        </m:r>
                      </m:sup>
                    </m:sSup>
                    <m:r>
                      <a:rPr lang="en-US" sz="1400" b="0" i="1" smtClean="0">
                        <a:latin typeface="Cambria Math" panose="02040503050406030204" pitchFamily="18" charset="0"/>
                      </a:rPr>
                      <m:t>⟩</m:t>
                    </m:r>
                  </m:oMath>
                </a14:m>
                <a:endParaRPr lang="en-US" sz="1400" dirty="0"/>
              </a:p>
              <a:p>
                <a:r>
                  <a:rPr lang="en-US" sz="1400" b="1" dirty="0"/>
                  <a:t>Pong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(2)</m:t>
                        </m:r>
                      </m:sup>
                    </m:sSup>
                    <m:r>
                      <a:rPr lang="en-US" sz="1400" b="0" i="1" smtClean="0">
                        <a:latin typeface="Cambria Math" panose="02040503050406030204" pitchFamily="18" charset="0"/>
                      </a:rPr>
                      <m:t>⟩</m:t>
                    </m:r>
                  </m:oMath>
                </a14:m>
                <a:endParaRPr lang="en-US" sz="1400" dirty="0"/>
              </a:p>
            </p:txBody>
          </p:sp>
        </mc:Choice>
        <mc:Fallback xmlns="">
          <p:sp>
            <p:nvSpPr>
              <p:cNvPr id="88" name="TextBox 87">
                <a:extLst>
                  <a:ext uri="{FF2B5EF4-FFF2-40B4-BE49-F238E27FC236}">
                    <a16:creationId xmlns:a16="http://schemas.microsoft.com/office/drawing/2014/main" id="{69F94F4F-4F0C-4111-ACE7-4A521D107D8F}"/>
                  </a:ext>
                </a:extLst>
              </p:cNvPr>
              <p:cNvSpPr txBox="1">
                <a:spLocks noRot="1" noChangeAspect="1" noMove="1" noResize="1" noEditPoints="1" noAdjustHandles="1" noChangeArrowheads="1" noChangeShapeType="1" noTextEdit="1"/>
              </p:cNvSpPr>
              <p:nvPr/>
            </p:nvSpPr>
            <p:spPr>
              <a:xfrm>
                <a:off x="9250249" y="1216272"/>
                <a:ext cx="904881" cy="1833707"/>
              </a:xfrm>
              <a:prstGeom prst="rect">
                <a:avLst/>
              </a:prstGeom>
              <a:blipFill>
                <a:blip r:embed="rId19"/>
                <a:stretch>
                  <a:fillRect l="-2013" t="-667" b="-667"/>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199E3115-C97C-6D62-4FED-C2ADA923277D}"/>
              </a:ext>
            </a:extLst>
          </p:cNvPr>
          <p:cNvSpPr/>
          <p:nvPr/>
        </p:nvSpPr>
        <p:spPr>
          <a:xfrm>
            <a:off x="4545113" y="1187202"/>
            <a:ext cx="2138226" cy="56015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Connector: Curved 5">
            <a:extLst>
              <a:ext uri="{FF2B5EF4-FFF2-40B4-BE49-F238E27FC236}">
                <a16:creationId xmlns:a16="http://schemas.microsoft.com/office/drawing/2014/main" id="{AA18FD85-82FB-3A50-9958-874CB0055AD8}"/>
              </a:ext>
            </a:extLst>
          </p:cNvPr>
          <p:cNvCxnSpPr/>
          <p:nvPr/>
        </p:nvCxnSpPr>
        <p:spPr>
          <a:xfrm>
            <a:off x="6719299" y="2573676"/>
            <a:ext cx="1443519" cy="785973"/>
          </a:xfrm>
          <a:prstGeom prst="curvedConnector3">
            <a:avLst>
              <a:gd name="adj1" fmla="val 44662"/>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A7C0CF9-3F6C-9EC0-1FB2-83F0DB94916C}"/>
              </a:ext>
            </a:extLst>
          </p:cNvPr>
          <p:cNvSpPr txBox="1"/>
          <p:nvPr/>
        </p:nvSpPr>
        <p:spPr>
          <a:xfrm rot="1996565">
            <a:off x="6606995" y="2581526"/>
            <a:ext cx="1853272" cy="369332"/>
          </a:xfrm>
          <a:prstGeom prst="rect">
            <a:avLst/>
          </a:prstGeom>
          <a:noFill/>
        </p:spPr>
        <p:txBody>
          <a:bodyPr wrap="square">
            <a:spAutoFit/>
          </a:bodyPr>
          <a:lstStyle/>
          <a:p>
            <a:r>
              <a:rPr lang="en-US" b="1" dirty="0">
                <a:solidFill>
                  <a:srgbClr val="FF0000"/>
                </a:solidFill>
              </a:rPr>
              <a:t>is controlled by</a:t>
            </a:r>
            <a:endParaRPr lang="en-US" dirty="0"/>
          </a:p>
        </p:txBody>
      </p:sp>
      <p:sp>
        <p:nvSpPr>
          <p:cNvPr id="7" name="TextBox 6">
            <a:extLst>
              <a:ext uri="{FF2B5EF4-FFF2-40B4-BE49-F238E27FC236}">
                <a16:creationId xmlns:a16="http://schemas.microsoft.com/office/drawing/2014/main" id="{453889F2-3B33-DDF9-623C-23283E5A723C}"/>
              </a:ext>
            </a:extLst>
          </p:cNvPr>
          <p:cNvSpPr txBox="1"/>
          <p:nvPr/>
        </p:nvSpPr>
        <p:spPr>
          <a:xfrm>
            <a:off x="7041033" y="580413"/>
            <a:ext cx="6121400" cy="584775"/>
          </a:xfrm>
          <a:prstGeom prst="rect">
            <a:avLst/>
          </a:prstGeom>
          <a:noFill/>
        </p:spPr>
        <p:txBody>
          <a:bodyPr wrap="square">
            <a:spAutoFit/>
          </a:bodyPr>
          <a:lstStyle/>
          <a:p>
            <a:r>
              <a:rPr lang="en-US" sz="3200" b="1" dirty="0">
                <a:latin typeface="+mj-lt"/>
              </a:rPr>
              <a:t>Idea #2</a:t>
            </a:r>
            <a:r>
              <a:rPr lang="en-US" sz="3200" dirty="0">
                <a:latin typeface="+mj-lt"/>
              </a:rPr>
              <a:t>: optimized scheduling</a:t>
            </a:r>
            <a:endParaRPr lang="en-VN" sz="3200">
              <a:latin typeface="+mj-lt"/>
            </a:endParaRPr>
          </a:p>
        </p:txBody>
      </p:sp>
      <p:sp>
        <p:nvSpPr>
          <p:cNvPr id="12" name="Rectangle 11">
            <a:extLst>
              <a:ext uri="{FF2B5EF4-FFF2-40B4-BE49-F238E27FC236}">
                <a16:creationId xmlns:a16="http://schemas.microsoft.com/office/drawing/2014/main" id="{535F2501-36D7-0366-D7C9-A338E5355F7C}"/>
              </a:ext>
            </a:extLst>
          </p:cNvPr>
          <p:cNvSpPr/>
          <p:nvPr/>
        </p:nvSpPr>
        <p:spPr>
          <a:xfrm>
            <a:off x="54045" y="3925293"/>
            <a:ext cx="4449652" cy="23636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DF484D81-4A33-692B-7BAF-BE7E895F2025}"/>
              </a:ext>
            </a:extLst>
          </p:cNvPr>
          <p:cNvCxnSpPr>
            <a:cxnSpLocks/>
          </p:cNvCxnSpPr>
          <p:nvPr/>
        </p:nvCxnSpPr>
        <p:spPr>
          <a:xfrm flipV="1">
            <a:off x="4168518" y="1165188"/>
            <a:ext cx="381498" cy="2736688"/>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7D7BE96B-292B-2095-0AC1-7EC79F6B9E52}"/>
              </a:ext>
            </a:extLst>
          </p:cNvPr>
          <p:cNvCxnSpPr>
            <a:cxnSpLocks/>
          </p:cNvCxnSpPr>
          <p:nvPr/>
        </p:nvCxnSpPr>
        <p:spPr>
          <a:xfrm>
            <a:off x="4251911" y="6285363"/>
            <a:ext cx="285651" cy="449266"/>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0452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F466-1C26-EA4E-501C-1D42B529652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349CB2A-F595-E601-4773-D13A59FCA6A5}"/>
              </a:ext>
            </a:extLst>
          </p:cNvPr>
          <p:cNvPicPr>
            <a:picLocks noChangeAspect="1"/>
          </p:cNvPicPr>
          <p:nvPr/>
        </p:nvPicPr>
        <p:blipFill>
          <a:blip r:embed="rId3"/>
          <a:stretch>
            <a:fillRect/>
          </a:stretch>
        </p:blipFill>
        <p:spPr>
          <a:xfrm>
            <a:off x="476942" y="1406731"/>
            <a:ext cx="6174152" cy="3794812"/>
          </a:xfrm>
          <a:prstGeom prst="rect">
            <a:avLst/>
          </a:prstGeom>
        </p:spPr>
      </p:pic>
      <p:pic>
        <p:nvPicPr>
          <p:cNvPr id="30" name="Picture 29">
            <a:extLst>
              <a:ext uri="{FF2B5EF4-FFF2-40B4-BE49-F238E27FC236}">
                <a16:creationId xmlns:a16="http://schemas.microsoft.com/office/drawing/2014/main" id="{3529F13B-D534-C858-387C-511F7839695D}"/>
              </a:ext>
            </a:extLst>
          </p:cNvPr>
          <p:cNvPicPr>
            <a:picLocks noChangeAspect="1"/>
          </p:cNvPicPr>
          <p:nvPr/>
        </p:nvPicPr>
        <p:blipFill>
          <a:blip r:embed="rId4"/>
          <a:stretch>
            <a:fillRect/>
          </a:stretch>
        </p:blipFill>
        <p:spPr>
          <a:xfrm>
            <a:off x="7529798" y="56837"/>
            <a:ext cx="3428725" cy="6693424"/>
          </a:xfrm>
          <a:prstGeom prst="rect">
            <a:avLst/>
          </a:prstGeom>
        </p:spPr>
      </p:pic>
      <p:sp>
        <p:nvSpPr>
          <p:cNvPr id="2" name="Title 1">
            <a:extLst>
              <a:ext uri="{FF2B5EF4-FFF2-40B4-BE49-F238E27FC236}">
                <a16:creationId xmlns:a16="http://schemas.microsoft.com/office/drawing/2014/main" id="{44B4B757-908A-61EF-05E7-D8E4E2D86E5D}"/>
              </a:ext>
            </a:extLst>
          </p:cNvPr>
          <p:cNvSpPr>
            <a:spLocks noGrp="1"/>
          </p:cNvSpPr>
          <p:nvPr>
            <p:ph type="title"/>
          </p:nvPr>
        </p:nvSpPr>
        <p:spPr>
          <a:xfrm>
            <a:off x="400051" y="302018"/>
            <a:ext cx="6251042" cy="1030922"/>
          </a:xfrm>
        </p:spPr>
        <p:txBody>
          <a:bodyPr>
            <a:normAutofit fontScale="90000"/>
          </a:bodyPr>
          <a:lstStyle/>
          <a:p>
            <a:r>
              <a:rPr lang="en-US" dirty="0"/>
              <a:t>2.3.3. </a:t>
            </a:r>
            <a:r>
              <a:rPr lang="en-US" b="1" dirty="0"/>
              <a:t>Idea #3</a:t>
            </a:r>
            <a:r>
              <a:rPr lang="en-US" dirty="0"/>
              <a:t>: configurable Quantum Gate Unit (QGU)</a:t>
            </a:r>
          </a:p>
        </p:txBody>
      </p:sp>
      <p:sp>
        <p:nvSpPr>
          <p:cNvPr id="4" name="Slide Number Placeholder 3">
            <a:extLst>
              <a:ext uri="{FF2B5EF4-FFF2-40B4-BE49-F238E27FC236}">
                <a16:creationId xmlns:a16="http://schemas.microsoft.com/office/drawing/2014/main" id="{1D465B7E-4AF7-755D-CA55-7B0742F897A4}"/>
              </a:ext>
            </a:extLst>
          </p:cNvPr>
          <p:cNvSpPr>
            <a:spLocks noGrp="1"/>
          </p:cNvSpPr>
          <p:nvPr>
            <p:ph type="sldNum" sz="quarter" idx="12"/>
          </p:nvPr>
        </p:nvSpPr>
        <p:spPr/>
        <p:txBody>
          <a:bodyPr/>
          <a:lstStyle/>
          <a:p>
            <a:fld id="{3C0C221A-CB66-4297-9A52-937C35126D0C}" type="slidenum">
              <a:rPr lang="en-US" smtClean="0"/>
              <a:t>44</a:t>
            </a:fld>
            <a:endParaRPr lang="en-US"/>
          </a:p>
        </p:txBody>
      </p:sp>
      <p:sp>
        <p:nvSpPr>
          <p:cNvPr id="9" name="Rectangle 8">
            <a:extLst>
              <a:ext uri="{FF2B5EF4-FFF2-40B4-BE49-F238E27FC236}">
                <a16:creationId xmlns:a16="http://schemas.microsoft.com/office/drawing/2014/main" id="{3C39802C-685F-F689-74E8-1EAC022B7741}"/>
              </a:ext>
            </a:extLst>
          </p:cNvPr>
          <p:cNvSpPr/>
          <p:nvPr/>
        </p:nvSpPr>
        <p:spPr>
          <a:xfrm>
            <a:off x="4535016" y="2624654"/>
            <a:ext cx="2116078" cy="24817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5990CCF-9F94-50B2-23DA-0E8F95D669B3}"/>
              </a:ext>
            </a:extLst>
          </p:cNvPr>
          <p:cNvPicPr>
            <a:picLocks noChangeAspect="1"/>
          </p:cNvPicPr>
          <p:nvPr/>
        </p:nvPicPr>
        <p:blipFill>
          <a:blip r:embed="rId5"/>
          <a:srcRect l="4863" t="95191" r="-3235" b="-169"/>
          <a:stretch/>
        </p:blipFill>
        <p:spPr>
          <a:xfrm rot="16200000">
            <a:off x="8470869" y="2984017"/>
            <a:ext cx="5926188" cy="562189"/>
          </a:xfrm>
          <a:prstGeom prst="rect">
            <a:avLst/>
          </a:prstGeom>
        </p:spPr>
      </p:pic>
      <p:sp>
        <p:nvSpPr>
          <p:cNvPr id="26" name="TextBox 25">
            <a:extLst>
              <a:ext uri="{FF2B5EF4-FFF2-40B4-BE49-F238E27FC236}">
                <a16:creationId xmlns:a16="http://schemas.microsoft.com/office/drawing/2014/main" id="{6B266215-BEE3-05C6-2F37-0F94765DC543}"/>
              </a:ext>
            </a:extLst>
          </p:cNvPr>
          <p:cNvSpPr txBox="1"/>
          <p:nvPr/>
        </p:nvSpPr>
        <p:spPr>
          <a:xfrm>
            <a:off x="476941" y="5275334"/>
            <a:ext cx="6108225" cy="369332"/>
          </a:xfrm>
          <a:prstGeom prst="rect">
            <a:avLst/>
          </a:prstGeom>
          <a:solidFill>
            <a:schemeClr val="bg1"/>
          </a:solidFill>
        </p:spPr>
        <p:txBody>
          <a:bodyPr wrap="square">
            <a:spAutoFit/>
          </a:bodyPr>
          <a:lstStyle/>
          <a:p>
            <a:r>
              <a:rPr lang="en-US" b="1" dirty="0">
                <a:solidFill>
                  <a:srgbClr val="FF0000"/>
                </a:solidFill>
              </a:rPr>
              <a:t>Figure 2.5</a:t>
            </a:r>
            <a:r>
              <a:rPr lang="en-US" dirty="0"/>
              <a:t>. Micro-architecture of Quantum Gate Unit (QGU). </a:t>
            </a:r>
          </a:p>
        </p:txBody>
      </p:sp>
      <p:sp>
        <p:nvSpPr>
          <p:cNvPr id="32" name="Rectangle 31">
            <a:extLst>
              <a:ext uri="{FF2B5EF4-FFF2-40B4-BE49-F238E27FC236}">
                <a16:creationId xmlns:a16="http://schemas.microsoft.com/office/drawing/2014/main" id="{D4C68A97-3E3F-0AC2-DD49-8C69FFFD2792}"/>
              </a:ext>
            </a:extLst>
          </p:cNvPr>
          <p:cNvSpPr/>
          <p:nvPr/>
        </p:nvSpPr>
        <p:spPr>
          <a:xfrm>
            <a:off x="8598248" y="390418"/>
            <a:ext cx="1422911" cy="28131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DAAD31A-0DB5-57C1-7ED0-7AA3D6ECBBF6}"/>
              </a:ext>
            </a:extLst>
          </p:cNvPr>
          <p:cNvSpPr/>
          <p:nvPr/>
        </p:nvSpPr>
        <p:spPr>
          <a:xfrm>
            <a:off x="8598248" y="3260402"/>
            <a:ext cx="1415644" cy="33201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839F5AF-2F48-7DB3-492F-E72B2A300079}"/>
              </a:ext>
            </a:extLst>
          </p:cNvPr>
          <p:cNvSpPr txBox="1"/>
          <p:nvPr/>
        </p:nvSpPr>
        <p:spPr>
          <a:xfrm>
            <a:off x="4092066" y="5718457"/>
            <a:ext cx="2406884" cy="369332"/>
          </a:xfrm>
          <a:prstGeom prst="rect">
            <a:avLst/>
          </a:prstGeom>
          <a:noFill/>
        </p:spPr>
        <p:txBody>
          <a:bodyPr wrap="square">
            <a:spAutoFit/>
          </a:bodyPr>
          <a:lstStyle/>
          <a:p>
            <a:r>
              <a:rPr lang="en-US" dirty="0"/>
              <a:t>Clifford gates: H, S, CX</a:t>
            </a:r>
          </a:p>
        </p:txBody>
      </p:sp>
      <p:cxnSp>
        <p:nvCxnSpPr>
          <p:cNvPr id="36" name="Connector: Elbow 35">
            <a:extLst>
              <a:ext uri="{FF2B5EF4-FFF2-40B4-BE49-F238E27FC236}">
                <a16:creationId xmlns:a16="http://schemas.microsoft.com/office/drawing/2014/main" id="{20CAE0C1-C632-FEF4-40DA-FFAC564BEE32}"/>
              </a:ext>
            </a:extLst>
          </p:cNvPr>
          <p:cNvCxnSpPr>
            <a:cxnSpLocks/>
            <a:stCxn id="32" idx="1"/>
            <a:endCxn id="34" idx="3"/>
          </p:cNvCxnSpPr>
          <p:nvPr/>
        </p:nvCxnSpPr>
        <p:spPr>
          <a:xfrm rot="10800000" flipV="1">
            <a:off x="6498950" y="1796991"/>
            <a:ext cx="2099298" cy="4106131"/>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A40F904-B46E-FF29-87B3-9518B83B4746}"/>
                  </a:ext>
                </a:extLst>
              </p:cNvPr>
              <p:cNvSpPr txBox="1"/>
              <p:nvPr/>
            </p:nvSpPr>
            <p:spPr>
              <a:xfrm>
                <a:off x="4092064" y="6072040"/>
                <a:ext cx="3042457" cy="391261"/>
              </a:xfrm>
              <a:prstGeom prst="rect">
                <a:avLst/>
              </a:prstGeom>
              <a:noFill/>
            </p:spPr>
            <p:txBody>
              <a:bodyPr wrap="square">
                <a:spAutoFit/>
              </a:bodyPr>
              <a:lstStyle/>
              <a:p>
                <a:r>
                  <a:rPr lang="en-US" dirty="0"/>
                  <a:t>Non-Clifford gates: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𝑦</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𝑧</m:t>
                        </m:r>
                      </m:sub>
                    </m:sSub>
                  </m:oMath>
                </a14:m>
                <a:endParaRPr lang="en-US" dirty="0"/>
              </a:p>
            </p:txBody>
          </p:sp>
        </mc:Choice>
        <mc:Fallback xmlns="">
          <p:sp>
            <p:nvSpPr>
              <p:cNvPr id="41" name="TextBox 40">
                <a:extLst>
                  <a:ext uri="{FF2B5EF4-FFF2-40B4-BE49-F238E27FC236}">
                    <a16:creationId xmlns:a16="http://schemas.microsoft.com/office/drawing/2014/main" id="{3A40F904-B46E-FF29-87B3-9518B83B4746}"/>
                  </a:ext>
                </a:extLst>
              </p:cNvPr>
              <p:cNvSpPr txBox="1">
                <a:spLocks noRot="1" noChangeAspect="1" noMove="1" noResize="1" noEditPoints="1" noAdjustHandles="1" noChangeArrowheads="1" noChangeShapeType="1" noTextEdit="1"/>
              </p:cNvSpPr>
              <p:nvPr/>
            </p:nvSpPr>
            <p:spPr>
              <a:xfrm>
                <a:off x="4092064" y="6072040"/>
                <a:ext cx="3042457" cy="391261"/>
              </a:xfrm>
              <a:prstGeom prst="rect">
                <a:avLst/>
              </a:prstGeom>
              <a:blipFill>
                <a:blip r:embed="rId6"/>
                <a:stretch>
                  <a:fillRect l="-1667" t="-6452" b="-22581"/>
                </a:stretch>
              </a:blipFill>
            </p:spPr>
            <p:txBody>
              <a:bodyPr/>
              <a:lstStyle/>
              <a:p>
                <a:r>
                  <a:rPr lang="en-VN">
                    <a:noFill/>
                  </a:rPr>
                  <a:t> </a:t>
                </a:r>
              </a:p>
            </p:txBody>
          </p:sp>
        </mc:Fallback>
      </mc:AlternateContent>
      <p:cxnSp>
        <p:nvCxnSpPr>
          <p:cNvPr id="42" name="Connector: Elbow 41">
            <a:extLst>
              <a:ext uri="{FF2B5EF4-FFF2-40B4-BE49-F238E27FC236}">
                <a16:creationId xmlns:a16="http://schemas.microsoft.com/office/drawing/2014/main" id="{1758AB6E-1493-E09D-CF4B-157CA63AACC2}"/>
              </a:ext>
            </a:extLst>
          </p:cNvPr>
          <p:cNvCxnSpPr>
            <a:cxnSpLocks/>
            <a:stCxn id="33" idx="1"/>
            <a:endCxn id="41" idx="3"/>
          </p:cNvCxnSpPr>
          <p:nvPr/>
        </p:nvCxnSpPr>
        <p:spPr>
          <a:xfrm rot="10800000" flipV="1">
            <a:off x="7134522" y="4920499"/>
            <a:ext cx="1463727" cy="1347171"/>
          </a:xfrm>
          <a:prstGeom prst="bentConnector3">
            <a:avLst>
              <a:gd name="adj1" fmla="val 6171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04A2700-D40F-710B-DD7B-BFE5CA6EBF91}"/>
              </a:ext>
            </a:extLst>
          </p:cNvPr>
          <p:cNvCxnSpPr/>
          <p:nvPr/>
        </p:nvCxnSpPr>
        <p:spPr>
          <a:xfrm flipV="1">
            <a:off x="6651094" y="942975"/>
            <a:ext cx="878704" cy="1681679"/>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0AC7B79-F95D-12F6-1205-7F1CE7959271}"/>
              </a:ext>
            </a:extLst>
          </p:cNvPr>
          <p:cNvCxnSpPr>
            <a:cxnSpLocks/>
          </p:cNvCxnSpPr>
          <p:nvPr/>
        </p:nvCxnSpPr>
        <p:spPr>
          <a:xfrm>
            <a:off x="6651093" y="5106416"/>
            <a:ext cx="1199292" cy="1525803"/>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99475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F5C-2AAE-A5D4-6BD3-E3314A73DC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7CCC65-B8B9-0A0D-2429-89916BC2582E}"/>
              </a:ext>
            </a:extLst>
          </p:cNvPr>
          <p:cNvSpPr>
            <a:spLocks noGrp="1"/>
          </p:cNvSpPr>
          <p:nvPr>
            <p:ph type="sldNum" sz="quarter" idx="12"/>
          </p:nvPr>
        </p:nvSpPr>
        <p:spPr/>
        <p:txBody>
          <a:bodyPr/>
          <a:lstStyle/>
          <a:p>
            <a:fld id="{3C0C221A-CB66-4297-9A52-937C35126D0C}" type="slidenum">
              <a:rPr lang="en-US" smtClean="0"/>
              <a:t>45</a:t>
            </a:fld>
            <a:endParaRPr lang="en-US" dirty="0"/>
          </a:p>
        </p:txBody>
      </p:sp>
      <p:pic>
        <p:nvPicPr>
          <p:cNvPr id="12" name="Picture 11">
            <a:extLst>
              <a:ext uri="{FF2B5EF4-FFF2-40B4-BE49-F238E27FC236}">
                <a16:creationId xmlns:a16="http://schemas.microsoft.com/office/drawing/2014/main" id="{BB67F91B-B67A-FBC8-72F1-9979C66EB963}"/>
              </a:ext>
            </a:extLst>
          </p:cNvPr>
          <p:cNvPicPr>
            <a:picLocks noChangeAspect="1"/>
          </p:cNvPicPr>
          <p:nvPr/>
        </p:nvPicPr>
        <p:blipFill>
          <a:blip r:embed="rId3"/>
          <a:stretch>
            <a:fillRect/>
          </a:stretch>
        </p:blipFill>
        <p:spPr>
          <a:xfrm>
            <a:off x="269902" y="1016283"/>
            <a:ext cx="4316826" cy="5465852"/>
          </a:xfrm>
          <a:prstGeom prst="rect">
            <a:avLst/>
          </a:prstGeom>
        </p:spPr>
      </p:pic>
      <p:pic>
        <p:nvPicPr>
          <p:cNvPr id="14" name="Picture 13">
            <a:extLst>
              <a:ext uri="{FF2B5EF4-FFF2-40B4-BE49-F238E27FC236}">
                <a16:creationId xmlns:a16="http://schemas.microsoft.com/office/drawing/2014/main" id="{8A32BA25-4FC6-6DE6-5F38-F2D3298DEFFE}"/>
              </a:ext>
            </a:extLst>
          </p:cNvPr>
          <p:cNvPicPr>
            <a:picLocks noChangeAspect="1"/>
          </p:cNvPicPr>
          <p:nvPr/>
        </p:nvPicPr>
        <p:blipFill>
          <a:blip r:embed="rId4"/>
          <a:stretch>
            <a:fillRect/>
          </a:stretch>
        </p:blipFill>
        <p:spPr>
          <a:xfrm>
            <a:off x="312027" y="6440979"/>
            <a:ext cx="4306619" cy="399131"/>
          </a:xfrm>
          <a:prstGeom prst="rect">
            <a:avLst/>
          </a:prstGeom>
        </p:spPr>
      </p:pic>
      <p:sp>
        <p:nvSpPr>
          <p:cNvPr id="15" name="TextBox 14">
            <a:extLst>
              <a:ext uri="{FF2B5EF4-FFF2-40B4-BE49-F238E27FC236}">
                <a16:creationId xmlns:a16="http://schemas.microsoft.com/office/drawing/2014/main" id="{C2076B29-73E4-DD15-7F08-864A3DAB0090}"/>
              </a:ext>
            </a:extLst>
          </p:cNvPr>
          <p:cNvSpPr txBox="1"/>
          <p:nvPr/>
        </p:nvSpPr>
        <p:spPr>
          <a:xfrm>
            <a:off x="233943" y="693117"/>
            <a:ext cx="5473350" cy="369332"/>
          </a:xfrm>
          <a:prstGeom prst="rect">
            <a:avLst/>
          </a:prstGeom>
          <a:noFill/>
        </p:spPr>
        <p:txBody>
          <a:bodyPr wrap="square">
            <a:spAutoFit/>
          </a:bodyPr>
          <a:lstStyle/>
          <a:p>
            <a:r>
              <a:rPr lang="en-US" b="1" dirty="0">
                <a:solidFill>
                  <a:srgbClr val="FF0000"/>
                </a:solidFill>
              </a:rPr>
              <a:t>Table 2.3</a:t>
            </a:r>
            <a:r>
              <a:rPr lang="en-US" b="1" dirty="0"/>
              <a:t>.</a:t>
            </a:r>
            <a:r>
              <a:rPr lang="en-US" dirty="0"/>
              <a:t> Utilization of </a:t>
            </a:r>
            <a:r>
              <a:rPr lang="en-US" dirty="0" err="1"/>
              <a:t>FQSun</a:t>
            </a:r>
            <a:r>
              <a:rPr lang="en-US" dirty="0"/>
              <a:t> on ZCU102 FPGA</a:t>
            </a:r>
          </a:p>
        </p:txBody>
      </p:sp>
      <p:pic>
        <p:nvPicPr>
          <p:cNvPr id="17" name="Picture 16">
            <a:extLst>
              <a:ext uri="{FF2B5EF4-FFF2-40B4-BE49-F238E27FC236}">
                <a16:creationId xmlns:a16="http://schemas.microsoft.com/office/drawing/2014/main" id="{D8BC61CD-4CB6-BD8A-F343-FA00EBD91835}"/>
              </a:ext>
            </a:extLst>
          </p:cNvPr>
          <p:cNvPicPr>
            <a:picLocks noChangeAspect="1"/>
          </p:cNvPicPr>
          <p:nvPr/>
        </p:nvPicPr>
        <p:blipFill>
          <a:blip r:embed="rId5"/>
          <a:stretch>
            <a:fillRect/>
          </a:stretch>
        </p:blipFill>
        <p:spPr>
          <a:xfrm>
            <a:off x="4930825" y="3439376"/>
            <a:ext cx="5006626" cy="3069304"/>
          </a:xfrm>
          <a:prstGeom prst="rect">
            <a:avLst/>
          </a:prstGeom>
        </p:spPr>
      </p:pic>
      <p:sp>
        <p:nvSpPr>
          <p:cNvPr id="21" name="TextBox 20">
            <a:extLst>
              <a:ext uri="{FF2B5EF4-FFF2-40B4-BE49-F238E27FC236}">
                <a16:creationId xmlns:a16="http://schemas.microsoft.com/office/drawing/2014/main" id="{50063C31-1BB1-B3FC-25F6-EACB881C7B83}"/>
              </a:ext>
            </a:extLst>
          </p:cNvPr>
          <p:cNvSpPr txBox="1"/>
          <p:nvPr/>
        </p:nvSpPr>
        <p:spPr>
          <a:xfrm>
            <a:off x="5262198" y="6404118"/>
            <a:ext cx="5089009" cy="369332"/>
          </a:xfrm>
          <a:prstGeom prst="rect">
            <a:avLst/>
          </a:prstGeom>
          <a:noFill/>
        </p:spPr>
        <p:txBody>
          <a:bodyPr wrap="square">
            <a:spAutoFit/>
          </a:bodyPr>
          <a:lstStyle/>
          <a:p>
            <a:r>
              <a:rPr lang="en-US" b="1" dirty="0">
                <a:solidFill>
                  <a:srgbClr val="FF0000"/>
                </a:solidFill>
              </a:rPr>
              <a:t>Figure 2.6</a:t>
            </a:r>
            <a:r>
              <a:rPr lang="en-US" dirty="0"/>
              <a:t>. Power measurement of </a:t>
            </a:r>
            <a:r>
              <a:rPr lang="en-US" dirty="0" err="1"/>
              <a:t>FQsun</a:t>
            </a:r>
            <a:r>
              <a:rPr lang="en-US" dirty="0"/>
              <a:t> (FX32).</a:t>
            </a:r>
          </a:p>
        </p:txBody>
      </p:sp>
      <p:pic>
        <p:nvPicPr>
          <p:cNvPr id="23" name="Picture 22">
            <a:extLst>
              <a:ext uri="{FF2B5EF4-FFF2-40B4-BE49-F238E27FC236}">
                <a16:creationId xmlns:a16="http://schemas.microsoft.com/office/drawing/2014/main" id="{A0411A59-A709-ABF6-00FE-AF019824615F}"/>
              </a:ext>
            </a:extLst>
          </p:cNvPr>
          <p:cNvPicPr>
            <a:picLocks noChangeAspect="1"/>
          </p:cNvPicPr>
          <p:nvPr/>
        </p:nvPicPr>
        <p:blipFill>
          <a:blip r:embed="rId6"/>
          <a:srcRect t="1320"/>
          <a:stretch/>
        </p:blipFill>
        <p:spPr>
          <a:xfrm>
            <a:off x="5238476" y="1091025"/>
            <a:ext cx="4499020" cy="2414527"/>
          </a:xfrm>
          <a:prstGeom prst="rect">
            <a:avLst/>
          </a:prstGeom>
        </p:spPr>
      </p:pic>
      <p:sp>
        <p:nvSpPr>
          <p:cNvPr id="25" name="TextBox 24">
            <a:extLst>
              <a:ext uri="{FF2B5EF4-FFF2-40B4-BE49-F238E27FC236}">
                <a16:creationId xmlns:a16="http://schemas.microsoft.com/office/drawing/2014/main" id="{537A32DD-B57A-2C79-6827-358631C60F4D}"/>
              </a:ext>
            </a:extLst>
          </p:cNvPr>
          <p:cNvSpPr txBox="1"/>
          <p:nvPr/>
        </p:nvSpPr>
        <p:spPr>
          <a:xfrm>
            <a:off x="5170665" y="697439"/>
            <a:ext cx="6377485" cy="369332"/>
          </a:xfrm>
          <a:prstGeom prst="rect">
            <a:avLst/>
          </a:prstGeom>
          <a:noFill/>
        </p:spPr>
        <p:txBody>
          <a:bodyPr wrap="square">
            <a:spAutoFit/>
          </a:bodyPr>
          <a:lstStyle/>
          <a:p>
            <a:r>
              <a:rPr lang="en-US" b="1" dirty="0">
                <a:solidFill>
                  <a:srgbClr val="FF0000"/>
                </a:solidFill>
              </a:rPr>
              <a:t>Table 2.4.</a:t>
            </a:r>
            <a:r>
              <a:rPr lang="en-US" dirty="0"/>
              <a:t> Basic gate’s period and #Cycles per gate on </a:t>
            </a:r>
            <a:r>
              <a:rPr lang="en-US" dirty="0" err="1"/>
              <a:t>FQsun</a:t>
            </a:r>
            <a:endParaRPr lang="en-US" dirty="0"/>
          </a:p>
        </p:txBody>
      </p:sp>
      <p:sp>
        <p:nvSpPr>
          <p:cNvPr id="26" name="Title 1">
            <a:extLst>
              <a:ext uri="{FF2B5EF4-FFF2-40B4-BE49-F238E27FC236}">
                <a16:creationId xmlns:a16="http://schemas.microsoft.com/office/drawing/2014/main" id="{2534384E-45F6-6B3B-3D28-ACF605F268E0}"/>
              </a:ext>
            </a:extLst>
          </p:cNvPr>
          <p:cNvSpPr>
            <a:spLocks noGrp="1"/>
          </p:cNvSpPr>
          <p:nvPr>
            <p:ph type="title"/>
          </p:nvPr>
        </p:nvSpPr>
        <p:spPr>
          <a:xfrm>
            <a:off x="163054" y="-44674"/>
            <a:ext cx="8708681" cy="819086"/>
          </a:xfrm>
        </p:spPr>
        <p:txBody>
          <a:bodyPr>
            <a:normAutofit/>
          </a:bodyPr>
          <a:lstStyle/>
          <a:p>
            <a:r>
              <a:rPr lang="en-US" dirty="0"/>
              <a:t>2.3.4. </a:t>
            </a:r>
            <a:r>
              <a:rPr lang="en-US" b="1" dirty="0"/>
              <a:t>#Idea 4</a:t>
            </a:r>
            <a:r>
              <a:rPr lang="en-US" dirty="0"/>
              <a:t>: multiple precisions</a:t>
            </a:r>
          </a:p>
        </p:txBody>
      </p:sp>
    </p:spTree>
    <p:extLst>
      <p:ext uri="{BB962C8B-B14F-4D97-AF65-F5344CB8AC3E}">
        <p14:creationId xmlns:p14="http://schemas.microsoft.com/office/powerpoint/2010/main" val="31383143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AA52F-3D7B-6E91-30F1-9783806293F7}"/>
              </a:ext>
            </a:extLst>
          </p:cNvPr>
          <p:cNvSpPr>
            <a:spLocks noGrp="1"/>
          </p:cNvSpPr>
          <p:nvPr>
            <p:ph type="title"/>
          </p:nvPr>
        </p:nvSpPr>
        <p:spPr>
          <a:xfrm>
            <a:off x="838200" y="1"/>
            <a:ext cx="10515600" cy="1151684"/>
          </a:xfrm>
        </p:spPr>
        <p:txBody>
          <a:bodyPr/>
          <a:lstStyle/>
          <a:p>
            <a:r>
              <a:rPr lang="en-US" dirty="0"/>
              <a:t>2.4. Benchmarking tasks</a:t>
            </a:r>
          </a:p>
        </p:txBody>
      </p:sp>
      <p:pic>
        <p:nvPicPr>
          <p:cNvPr id="6" name="Content Placeholder 5">
            <a:extLst>
              <a:ext uri="{FF2B5EF4-FFF2-40B4-BE49-F238E27FC236}">
                <a16:creationId xmlns:a16="http://schemas.microsoft.com/office/drawing/2014/main" id="{4A2D7A04-27EE-4A85-EC54-DC39BEFE6C93}"/>
              </a:ext>
            </a:extLst>
          </p:cNvPr>
          <p:cNvPicPr>
            <a:picLocks noGrp="1" noChangeAspect="1"/>
          </p:cNvPicPr>
          <p:nvPr>
            <p:ph idx="1"/>
          </p:nvPr>
        </p:nvPicPr>
        <p:blipFill>
          <a:blip r:embed="rId3"/>
          <a:stretch>
            <a:fillRect/>
          </a:stretch>
        </p:blipFill>
        <p:spPr>
          <a:xfrm>
            <a:off x="838200" y="967090"/>
            <a:ext cx="5459697" cy="4351338"/>
          </a:xfrm>
        </p:spPr>
      </p:pic>
      <p:sp>
        <p:nvSpPr>
          <p:cNvPr id="4" name="Slide Number Placeholder 3">
            <a:extLst>
              <a:ext uri="{FF2B5EF4-FFF2-40B4-BE49-F238E27FC236}">
                <a16:creationId xmlns:a16="http://schemas.microsoft.com/office/drawing/2014/main" id="{8470AA3D-37AE-FB42-92E1-A2E4A7E9BD8D}"/>
              </a:ext>
            </a:extLst>
          </p:cNvPr>
          <p:cNvSpPr>
            <a:spLocks noGrp="1"/>
          </p:cNvSpPr>
          <p:nvPr>
            <p:ph type="sldNum" sz="quarter" idx="12"/>
          </p:nvPr>
        </p:nvSpPr>
        <p:spPr/>
        <p:txBody>
          <a:bodyPr/>
          <a:lstStyle/>
          <a:p>
            <a:fld id="{3C0C221A-CB66-4297-9A52-937C35126D0C}" type="slidenum">
              <a:rPr lang="en-US" smtClean="0"/>
              <a:t>46</a:t>
            </a:fld>
            <a:endParaRPr lang="en-US"/>
          </a:p>
        </p:txBody>
      </p:sp>
      <p:sp>
        <p:nvSpPr>
          <p:cNvPr id="8" name="TextBox 7">
            <a:extLst>
              <a:ext uri="{FF2B5EF4-FFF2-40B4-BE49-F238E27FC236}">
                <a16:creationId xmlns:a16="http://schemas.microsoft.com/office/drawing/2014/main" id="{03C27934-4B27-347D-6F23-8FF5EB411EA6}"/>
              </a:ext>
            </a:extLst>
          </p:cNvPr>
          <p:cNvSpPr txBox="1"/>
          <p:nvPr/>
        </p:nvSpPr>
        <p:spPr>
          <a:xfrm>
            <a:off x="838200" y="5390990"/>
            <a:ext cx="5459696" cy="1200329"/>
          </a:xfrm>
          <a:prstGeom prst="rect">
            <a:avLst/>
          </a:prstGeom>
          <a:noFill/>
        </p:spPr>
        <p:txBody>
          <a:bodyPr wrap="square">
            <a:spAutoFit/>
          </a:bodyPr>
          <a:lstStyle/>
          <a:p>
            <a:r>
              <a:rPr lang="en-US" b="1" dirty="0">
                <a:solidFill>
                  <a:srgbClr val="FF0000"/>
                </a:solidFill>
              </a:rPr>
              <a:t>Figure 2.7</a:t>
            </a:r>
            <a:r>
              <a:rPr lang="en-US" dirty="0"/>
              <a:t>. Gate distribution for </a:t>
            </a:r>
          </a:p>
          <a:p>
            <a:pPr marL="342900" indent="-342900">
              <a:buAutoNum type="alphaLcParenBoth"/>
            </a:pPr>
            <a:r>
              <a:rPr lang="en-US" dirty="0"/>
              <a:t>Random quantum circuit (RQC) </a:t>
            </a:r>
          </a:p>
          <a:p>
            <a:pPr marL="342900" indent="-342900">
              <a:buAutoNum type="alphaLcParenBoth"/>
            </a:pPr>
            <a:r>
              <a:rPr lang="en-US" dirty="0"/>
              <a:t>Quantum Fourier Transform (QFT) and </a:t>
            </a:r>
          </a:p>
          <a:p>
            <a:pPr marL="342900" indent="-342900">
              <a:buAutoNum type="alphaLcParenBoth"/>
            </a:pPr>
            <a:r>
              <a:rPr lang="en-US" dirty="0"/>
              <a:t>ZXZ with parameter-shift rule (PSR).</a:t>
            </a:r>
          </a:p>
        </p:txBody>
      </p:sp>
      <p:pic>
        <p:nvPicPr>
          <p:cNvPr id="10" name="Picture 9" descr="A black background with white rectangular objects&#10;&#10;AI-generated content may be incorrect.">
            <a:extLst>
              <a:ext uri="{FF2B5EF4-FFF2-40B4-BE49-F238E27FC236}">
                <a16:creationId xmlns:a16="http://schemas.microsoft.com/office/drawing/2014/main" id="{D986AFA1-999A-F7BD-B270-84DF564CED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7896" y="2549879"/>
            <a:ext cx="5467749" cy="1343687"/>
          </a:xfrm>
          <a:prstGeom prst="rect">
            <a:avLst/>
          </a:prstGeom>
        </p:spPr>
      </p:pic>
      <p:pic>
        <p:nvPicPr>
          <p:cNvPr id="12" name="Picture 11" descr="A group of white rectangular objects with black text&#10;&#10;AI-generated content may be incorrect.">
            <a:extLst>
              <a:ext uri="{FF2B5EF4-FFF2-40B4-BE49-F238E27FC236}">
                <a16:creationId xmlns:a16="http://schemas.microsoft.com/office/drawing/2014/main" id="{E52262A0-A7E1-A567-C840-503F68AD54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9429" y="4013860"/>
            <a:ext cx="2700108" cy="1044414"/>
          </a:xfrm>
          <a:prstGeom prst="rect">
            <a:avLst/>
          </a:prstGeom>
        </p:spPr>
      </p:pic>
      <p:sp>
        <p:nvSpPr>
          <p:cNvPr id="13" name="TextBox 12">
            <a:extLst>
              <a:ext uri="{FF2B5EF4-FFF2-40B4-BE49-F238E27FC236}">
                <a16:creationId xmlns:a16="http://schemas.microsoft.com/office/drawing/2014/main" id="{E7F728C2-B22E-97DF-E569-6E103A59A5D6}"/>
              </a:ext>
            </a:extLst>
          </p:cNvPr>
          <p:cNvSpPr txBox="1"/>
          <p:nvPr/>
        </p:nvSpPr>
        <p:spPr>
          <a:xfrm>
            <a:off x="6305949" y="1574924"/>
            <a:ext cx="5459696" cy="646331"/>
          </a:xfrm>
          <a:prstGeom prst="rect">
            <a:avLst/>
          </a:prstGeom>
          <a:noFill/>
        </p:spPr>
        <p:txBody>
          <a:bodyPr wrap="square">
            <a:spAutoFit/>
          </a:bodyPr>
          <a:lstStyle/>
          <a:p>
            <a:r>
              <a:rPr lang="en-US" dirty="0">
                <a:solidFill>
                  <a:srgbClr val="FF0000"/>
                </a:solidFill>
              </a:rPr>
              <a:t>Randomize quantum circuit (RQC) with ~uniform gate’s distribution</a:t>
            </a:r>
            <a:endParaRPr lang="en-US" dirty="0"/>
          </a:p>
        </p:txBody>
      </p:sp>
      <p:sp>
        <p:nvSpPr>
          <p:cNvPr id="14" name="TextBox 13">
            <a:extLst>
              <a:ext uri="{FF2B5EF4-FFF2-40B4-BE49-F238E27FC236}">
                <a16:creationId xmlns:a16="http://schemas.microsoft.com/office/drawing/2014/main" id="{FEB3BC46-C424-0A86-75AE-2DF0721694C6}"/>
              </a:ext>
            </a:extLst>
          </p:cNvPr>
          <p:cNvSpPr txBox="1"/>
          <p:nvPr/>
        </p:nvSpPr>
        <p:spPr>
          <a:xfrm>
            <a:off x="6231955" y="5390989"/>
            <a:ext cx="5599630" cy="1200329"/>
          </a:xfrm>
          <a:prstGeom prst="rect">
            <a:avLst/>
          </a:prstGeom>
          <a:noFill/>
        </p:spPr>
        <p:txBody>
          <a:bodyPr wrap="square">
            <a:spAutoFit/>
          </a:bodyPr>
          <a:lstStyle/>
          <a:p>
            <a:r>
              <a:rPr lang="en-US" b="1" dirty="0">
                <a:solidFill>
                  <a:srgbClr val="FF0000"/>
                </a:solidFill>
              </a:rPr>
              <a:t>Figure 2.8</a:t>
            </a:r>
            <a:r>
              <a:rPr lang="en-US" dirty="0"/>
              <a:t>. Circuit representation for </a:t>
            </a:r>
          </a:p>
          <a:p>
            <a:endParaRPr lang="en-US" dirty="0"/>
          </a:p>
          <a:p>
            <a:r>
              <a:rPr lang="en-US" dirty="0"/>
              <a:t>(b) QFT and </a:t>
            </a:r>
          </a:p>
          <a:p>
            <a:r>
              <a:rPr lang="en-US" dirty="0"/>
              <a:t>(c) PSR.</a:t>
            </a:r>
          </a:p>
        </p:txBody>
      </p:sp>
    </p:spTree>
    <p:extLst>
      <p:ext uri="{BB962C8B-B14F-4D97-AF65-F5344CB8AC3E}">
        <p14:creationId xmlns:p14="http://schemas.microsoft.com/office/powerpoint/2010/main" val="28597278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1DE72-58DE-E0C0-6608-21012BCA3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13A4D-3349-4F89-B4CC-22E339C3CE3F}"/>
              </a:ext>
            </a:extLst>
          </p:cNvPr>
          <p:cNvSpPr>
            <a:spLocks noGrp="1"/>
          </p:cNvSpPr>
          <p:nvPr>
            <p:ph type="title"/>
          </p:nvPr>
        </p:nvSpPr>
        <p:spPr>
          <a:xfrm>
            <a:off x="663574" y="223838"/>
            <a:ext cx="10515600" cy="780835"/>
          </a:xfrm>
        </p:spPr>
        <p:txBody>
          <a:bodyPr/>
          <a:lstStyle/>
          <a:p>
            <a:r>
              <a:rPr lang="en-US" dirty="0"/>
              <a:t>2.4.1. </a:t>
            </a:r>
            <a:r>
              <a:rPr lang="en-US" b="1" dirty="0"/>
              <a:t>Result #1</a:t>
            </a:r>
            <a:r>
              <a:rPr lang="en-US" dirty="0"/>
              <a:t>: accuracy metrics </a:t>
            </a:r>
          </a:p>
        </p:txBody>
      </p:sp>
      <p:sp>
        <p:nvSpPr>
          <p:cNvPr id="4" name="Slide Number Placeholder 3">
            <a:extLst>
              <a:ext uri="{FF2B5EF4-FFF2-40B4-BE49-F238E27FC236}">
                <a16:creationId xmlns:a16="http://schemas.microsoft.com/office/drawing/2014/main" id="{C4C001D6-66D1-9122-C58D-4C926AAF63DB}"/>
              </a:ext>
            </a:extLst>
          </p:cNvPr>
          <p:cNvSpPr>
            <a:spLocks noGrp="1"/>
          </p:cNvSpPr>
          <p:nvPr>
            <p:ph type="sldNum" sz="quarter" idx="12"/>
          </p:nvPr>
        </p:nvSpPr>
        <p:spPr/>
        <p:txBody>
          <a:bodyPr/>
          <a:lstStyle/>
          <a:p>
            <a:fld id="{3C0C221A-CB66-4297-9A52-937C35126D0C}" type="slidenum">
              <a:rPr lang="en-US" smtClean="0"/>
              <a:t>47</a:t>
            </a:fld>
            <a:endParaRPr lang="en-US"/>
          </a:p>
        </p:txBody>
      </p:sp>
      <p:pic>
        <p:nvPicPr>
          <p:cNvPr id="9" name="Content Placeholder 8">
            <a:extLst>
              <a:ext uri="{FF2B5EF4-FFF2-40B4-BE49-F238E27FC236}">
                <a16:creationId xmlns:a16="http://schemas.microsoft.com/office/drawing/2014/main" id="{5709A0B6-E8D6-50BF-9B6D-4F4781A3E438}"/>
              </a:ext>
            </a:extLst>
          </p:cNvPr>
          <p:cNvPicPr>
            <a:picLocks noGrp="1" noChangeAspect="1"/>
          </p:cNvPicPr>
          <p:nvPr>
            <p:ph idx="1"/>
          </p:nvPr>
        </p:nvPicPr>
        <p:blipFill>
          <a:blip r:embed="rId3"/>
          <a:srcRect t="1" b="-1136"/>
          <a:stretch/>
        </p:blipFill>
        <p:spPr>
          <a:xfrm>
            <a:off x="766188" y="942975"/>
            <a:ext cx="9997062" cy="4897438"/>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746FBB0-4D9B-66D4-999B-9A358DA8A72B}"/>
                  </a:ext>
                </a:extLst>
              </p:cNvPr>
              <p:cNvSpPr txBox="1"/>
              <p:nvPr/>
            </p:nvSpPr>
            <p:spPr>
              <a:xfrm>
                <a:off x="588674" y="6179929"/>
                <a:ext cx="10352089" cy="678071"/>
              </a:xfrm>
              <a:prstGeom prst="rect">
                <a:avLst/>
              </a:prstGeom>
              <a:noFill/>
            </p:spPr>
            <p:txBody>
              <a:bodyPr wrap="square">
                <a:spAutoFit/>
              </a:bodyPr>
              <a:lstStyle/>
              <a:p>
                <a:r>
                  <a:rPr lang="en-US" b="1" dirty="0">
                    <a:solidFill>
                      <a:srgbClr val="FF0000"/>
                    </a:solidFill>
                  </a:rPr>
                  <a:t>Figure 2.9</a:t>
                </a:r>
                <a:r>
                  <a:rPr lang="en-US" dirty="0"/>
                  <a:t>. MSE/Fidelity between </a:t>
                </a:r>
                <a:r>
                  <a:rPr lang="en-US" dirty="0" err="1"/>
                  <a:t>FQsun</a:t>
                </a:r>
                <a:r>
                  <a:rPr lang="en-US" dirty="0"/>
                  <a:t> version. In all cases, FP32 and FX32 are overlapped. For QFT, the FP16 version performs the wrong results since it can not present any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𝛼</m:t>
                        </m:r>
                      </m:e>
                      <m:sub>
                        <m:r>
                          <a:rPr lang="en-US" i="1" dirty="0" smtClean="0">
                            <a:latin typeface="Cambria Math" panose="02040503050406030204" pitchFamily="18" charset="0"/>
                          </a:rPr>
                          <m:t>𝑗</m:t>
                        </m:r>
                      </m:sub>
                    </m:sSub>
                    <m:r>
                      <a:rPr lang="en-US" i="1" dirty="0" smtClean="0">
                        <a:latin typeface="Cambria Math" panose="02040503050406030204" pitchFamily="18" charset="0"/>
                      </a:rPr>
                      <m:t> ≤ 1/</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i="1" dirty="0" smtClean="0">
                            <a:latin typeface="Cambria Math" panose="02040503050406030204" pitchFamily="18" charset="0"/>
                          </a:rPr>
                          <m:t>16</m:t>
                        </m:r>
                      </m:sup>
                    </m:sSup>
                    <m:r>
                      <a:rPr lang="en-US" i="1" dirty="0" smtClean="0">
                        <a:latin typeface="Cambria Math" panose="02040503050406030204" pitchFamily="18" charset="0"/>
                      </a:rPr>
                      <m:t> ≈ </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10</m:t>
                        </m:r>
                      </m:e>
                      <m:sup>
                        <m:r>
                          <a:rPr lang="en-US" i="1" dirty="0">
                            <a:latin typeface="Cambria Math" panose="02040503050406030204" pitchFamily="18" charset="0"/>
                          </a:rPr>
                          <m:t>−5</m:t>
                        </m:r>
                      </m:sup>
                    </m:sSup>
                  </m:oMath>
                </a14:m>
                <a:r>
                  <a:rPr lang="en-US" dirty="0"/>
                  <a:t>.</a:t>
                </a:r>
              </a:p>
            </p:txBody>
          </p:sp>
        </mc:Choice>
        <mc:Fallback xmlns="">
          <p:sp>
            <p:nvSpPr>
              <p:cNvPr id="11" name="TextBox 10">
                <a:extLst>
                  <a:ext uri="{FF2B5EF4-FFF2-40B4-BE49-F238E27FC236}">
                    <a16:creationId xmlns:a16="http://schemas.microsoft.com/office/drawing/2014/main" id="{0746FBB0-4D9B-66D4-999B-9A358DA8A72B}"/>
                  </a:ext>
                </a:extLst>
              </p:cNvPr>
              <p:cNvSpPr txBox="1">
                <a:spLocks noRot="1" noChangeAspect="1" noMove="1" noResize="1" noEditPoints="1" noAdjustHandles="1" noChangeArrowheads="1" noChangeShapeType="1" noTextEdit="1"/>
              </p:cNvSpPr>
              <p:nvPr/>
            </p:nvSpPr>
            <p:spPr>
              <a:xfrm>
                <a:off x="588674" y="6179929"/>
                <a:ext cx="10352089" cy="678071"/>
              </a:xfrm>
              <a:prstGeom prst="rect">
                <a:avLst/>
              </a:prstGeom>
              <a:blipFill>
                <a:blip r:embed="rId4"/>
                <a:stretch>
                  <a:fillRect l="-490" t="-3704" b="-11111"/>
                </a:stretch>
              </a:blipFill>
            </p:spPr>
            <p:txBody>
              <a:bodyPr/>
              <a:lstStyle/>
              <a:p>
                <a:r>
                  <a:rPr lang="en-VN">
                    <a:noFill/>
                  </a:rPr>
                  <a:t> </a:t>
                </a:r>
              </a:p>
            </p:txBody>
          </p:sp>
        </mc:Fallback>
      </mc:AlternateContent>
      <p:sp>
        <p:nvSpPr>
          <p:cNvPr id="5" name="TextBox 4">
            <a:extLst>
              <a:ext uri="{FF2B5EF4-FFF2-40B4-BE49-F238E27FC236}">
                <a16:creationId xmlns:a16="http://schemas.microsoft.com/office/drawing/2014/main" id="{F5781EE2-E09F-402A-B707-DC8F962A8F68}"/>
              </a:ext>
            </a:extLst>
          </p:cNvPr>
          <p:cNvSpPr txBox="1"/>
          <p:nvPr/>
        </p:nvSpPr>
        <p:spPr>
          <a:xfrm>
            <a:off x="2927350" y="5832168"/>
            <a:ext cx="704850" cy="369332"/>
          </a:xfrm>
          <a:prstGeom prst="rect">
            <a:avLst/>
          </a:prstGeom>
          <a:noFill/>
        </p:spPr>
        <p:txBody>
          <a:bodyPr wrap="square">
            <a:spAutoFit/>
          </a:bodyPr>
          <a:lstStyle/>
          <a:p>
            <a:r>
              <a:rPr lang="en-US" b="1" dirty="0">
                <a:solidFill>
                  <a:srgbClr val="FF0000"/>
                </a:solidFill>
              </a:rPr>
              <a:t>RQC</a:t>
            </a:r>
            <a:endParaRPr lang="en-US" dirty="0"/>
          </a:p>
        </p:txBody>
      </p:sp>
      <p:sp>
        <p:nvSpPr>
          <p:cNvPr id="6" name="TextBox 5">
            <a:extLst>
              <a:ext uri="{FF2B5EF4-FFF2-40B4-BE49-F238E27FC236}">
                <a16:creationId xmlns:a16="http://schemas.microsoft.com/office/drawing/2014/main" id="{6B55036C-95BB-E109-9556-0EDDA3E9A9FB}"/>
              </a:ext>
            </a:extLst>
          </p:cNvPr>
          <p:cNvSpPr txBox="1"/>
          <p:nvPr/>
        </p:nvSpPr>
        <p:spPr>
          <a:xfrm>
            <a:off x="5867400" y="5832168"/>
            <a:ext cx="630812" cy="369332"/>
          </a:xfrm>
          <a:prstGeom prst="rect">
            <a:avLst/>
          </a:prstGeom>
          <a:noFill/>
        </p:spPr>
        <p:txBody>
          <a:bodyPr wrap="square">
            <a:spAutoFit/>
          </a:bodyPr>
          <a:lstStyle/>
          <a:p>
            <a:r>
              <a:rPr lang="en-US" b="1" dirty="0">
                <a:solidFill>
                  <a:srgbClr val="FF0000"/>
                </a:solidFill>
              </a:rPr>
              <a:t>QFT</a:t>
            </a:r>
            <a:endParaRPr lang="en-US" dirty="0"/>
          </a:p>
        </p:txBody>
      </p:sp>
      <p:sp>
        <p:nvSpPr>
          <p:cNvPr id="7" name="TextBox 6">
            <a:extLst>
              <a:ext uri="{FF2B5EF4-FFF2-40B4-BE49-F238E27FC236}">
                <a16:creationId xmlns:a16="http://schemas.microsoft.com/office/drawing/2014/main" id="{15139BAE-F840-7A62-7376-60BB5E819941}"/>
              </a:ext>
            </a:extLst>
          </p:cNvPr>
          <p:cNvSpPr txBox="1"/>
          <p:nvPr/>
        </p:nvSpPr>
        <p:spPr>
          <a:xfrm>
            <a:off x="8949244" y="5832168"/>
            <a:ext cx="630812" cy="369332"/>
          </a:xfrm>
          <a:prstGeom prst="rect">
            <a:avLst/>
          </a:prstGeom>
          <a:noFill/>
        </p:spPr>
        <p:txBody>
          <a:bodyPr wrap="square">
            <a:spAutoFit/>
          </a:bodyPr>
          <a:lstStyle/>
          <a:p>
            <a:r>
              <a:rPr lang="en-US" b="1" dirty="0">
                <a:solidFill>
                  <a:srgbClr val="FF0000"/>
                </a:solidFill>
              </a:rPr>
              <a:t>PSR</a:t>
            </a:r>
            <a:endParaRPr lang="en-US" dirty="0"/>
          </a:p>
        </p:txBody>
      </p:sp>
      <p:sp>
        <p:nvSpPr>
          <p:cNvPr id="3" name="TextBox 2">
            <a:extLst>
              <a:ext uri="{FF2B5EF4-FFF2-40B4-BE49-F238E27FC236}">
                <a16:creationId xmlns:a16="http://schemas.microsoft.com/office/drawing/2014/main" id="{6CA5129D-773C-DFDF-181B-BA61F8FE96EB}"/>
              </a:ext>
            </a:extLst>
          </p:cNvPr>
          <p:cNvSpPr txBox="1"/>
          <p:nvPr/>
        </p:nvSpPr>
        <p:spPr>
          <a:xfrm>
            <a:off x="10720961" y="3979304"/>
            <a:ext cx="1246449" cy="369332"/>
          </a:xfrm>
          <a:prstGeom prst="rect">
            <a:avLst/>
          </a:prstGeom>
          <a:noFill/>
        </p:spPr>
        <p:txBody>
          <a:bodyPr wrap="square">
            <a:spAutoFit/>
          </a:bodyPr>
          <a:lstStyle/>
          <a:p>
            <a:r>
              <a:rPr lang="en-US" b="1" dirty="0">
                <a:solidFill>
                  <a:srgbClr val="FF0000"/>
                </a:solidFill>
              </a:rPr>
              <a:t>~1 is good</a:t>
            </a:r>
            <a:endParaRPr lang="en-US" dirty="0"/>
          </a:p>
        </p:txBody>
      </p:sp>
      <p:sp>
        <p:nvSpPr>
          <p:cNvPr id="8" name="TextBox 7">
            <a:extLst>
              <a:ext uri="{FF2B5EF4-FFF2-40B4-BE49-F238E27FC236}">
                <a16:creationId xmlns:a16="http://schemas.microsoft.com/office/drawing/2014/main" id="{6DBD5CD8-1956-71B2-981A-04FC9903E293}"/>
              </a:ext>
            </a:extLst>
          </p:cNvPr>
          <p:cNvSpPr txBox="1"/>
          <p:nvPr/>
        </p:nvSpPr>
        <p:spPr>
          <a:xfrm>
            <a:off x="10720960" y="1971590"/>
            <a:ext cx="1246449" cy="369332"/>
          </a:xfrm>
          <a:prstGeom prst="rect">
            <a:avLst/>
          </a:prstGeom>
          <a:noFill/>
        </p:spPr>
        <p:txBody>
          <a:bodyPr wrap="square">
            <a:spAutoFit/>
          </a:bodyPr>
          <a:lstStyle/>
          <a:p>
            <a:r>
              <a:rPr lang="en-US" b="1" dirty="0">
                <a:solidFill>
                  <a:srgbClr val="FF0000"/>
                </a:solidFill>
              </a:rPr>
              <a:t>~0 is good</a:t>
            </a:r>
            <a:endParaRPr lang="en-US" dirty="0"/>
          </a:p>
        </p:txBody>
      </p:sp>
    </p:spTree>
    <p:extLst>
      <p:ext uri="{BB962C8B-B14F-4D97-AF65-F5344CB8AC3E}">
        <p14:creationId xmlns:p14="http://schemas.microsoft.com/office/powerpoint/2010/main" val="2973153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5156533-F162-252F-6AEB-61DE7EAD1D08}"/>
              </a:ext>
            </a:extLst>
          </p:cNvPr>
          <p:cNvPicPr>
            <a:picLocks noGrp="1" noChangeAspect="1"/>
          </p:cNvPicPr>
          <p:nvPr>
            <p:ph idx="1"/>
          </p:nvPr>
        </p:nvPicPr>
        <p:blipFill>
          <a:blip r:embed="rId3"/>
          <a:stretch>
            <a:fillRect/>
          </a:stretch>
        </p:blipFill>
        <p:spPr>
          <a:xfrm>
            <a:off x="44074" y="1298575"/>
            <a:ext cx="8420476" cy="4486276"/>
          </a:xfrm>
        </p:spPr>
      </p:pic>
      <p:sp>
        <p:nvSpPr>
          <p:cNvPr id="4" name="Slide Number Placeholder 3">
            <a:extLst>
              <a:ext uri="{FF2B5EF4-FFF2-40B4-BE49-F238E27FC236}">
                <a16:creationId xmlns:a16="http://schemas.microsoft.com/office/drawing/2014/main" id="{69272F75-8ED3-3D1E-6411-41A4B6E5C1EE}"/>
              </a:ext>
            </a:extLst>
          </p:cNvPr>
          <p:cNvSpPr>
            <a:spLocks noGrp="1"/>
          </p:cNvSpPr>
          <p:nvPr>
            <p:ph type="sldNum" sz="quarter" idx="12"/>
          </p:nvPr>
        </p:nvSpPr>
        <p:spPr/>
        <p:txBody>
          <a:bodyPr/>
          <a:lstStyle/>
          <a:p>
            <a:fld id="{3C0C221A-CB66-4297-9A52-937C35126D0C}" type="slidenum">
              <a:rPr lang="en-US" smtClean="0"/>
              <a:t>48</a:t>
            </a:fld>
            <a:endParaRPr lang="en-US"/>
          </a:p>
        </p:txBody>
      </p:sp>
      <p:sp>
        <p:nvSpPr>
          <p:cNvPr id="8" name="TextBox 7">
            <a:extLst>
              <a:ext uri="{FF2B5EF4-FFF2-40B4-BE49-F238E27FC236}">
                <a16:creationId xmlns:a16="http://schemas.microsoft.com/office/drawing/2014/main" id="{512BEC26-8FCD-612F-6523-B9A2E6B79DBD}"/>
              </a:ext>
            </a:extLst>
          </p:cNvPr>
          <p:cNvSpPr txBox="1"/>
          <p:nvPr/>
        </p:nvSpPr>
        <p:spPr>
          <a:xfrm>
            <a:off x="44074" y="5784851"/>
            <a:ext cx="8331576" cy="923330"/>
          </a:xfrm>
          <a:prstGeom prst="rect">
            <a:avLst/>
          </a:prstGeom>
          <a:noFill/>
        </p:spPr>
        <p:txBody>
          <a:bodyPr wrap="square">
            <a:spAutoFit/>
          </a:bodyPr>
          <a:lstStyle/>
          <a:p>
            <a:r>
              <a:rPr lang="en-US" b="1" dirty="0">
                <a:solidFill>
                  <a:srgbClr val="FF0000"/>
                </a:solidFill>
              </a:rPr>
              <a:t>Figure 2.10.</a:t>
            </a:r>
            <a:r>
              <a:rPr lang="en-US" dirty="0"/>
              <a:t> The execution time on (a-c) RQC (d) QFT execution time comparison between Software + </a:t>
            </a:r>
            <a:r>
              <a:rPr lang="en-US" dirty="0" err="1"/>
              <a:t>FQsun</a:t>
            </a:r>
            <a:r>
              <a:rPr lang="en-US" dirty="0"/>
              <a:t>. (e) We compare GPU A100 and </a:t>
            </a:r>
            <a:r>
              <a:rPr lang="en-US" dirty="0" err="1"/>
              <a:t>FQsun</a:t>
            </a:r>
            <a:r>
              <a:rPr lang="en-US" dirty="0"/>
              <a:t>. (f) PSR execution time comparison between Software + </a:t>
            </a:r>
            <a:r>
              <a:rPr lang="en-US" dirty="0" err="1"/>
              <a:t>FQsun</a:t>
            </a:r>
            <a:r>
              <a:rPr lang="en-US" dirty="0"/>
              <a:t>. </a:t>
            </a:r>
          </a:p>
        </p:txBody>
      </p:sp>
      <p:sp>
        <p:nvSpPr>
          <p:cNvPr id="9" name="Title 1">
            <a:extLst>
              <a:ext uri="{FF2B5EF4-FFF2-40B4-BE49-F238E27FC236}">
                <a16:creationId xmlns:a16="http://schemas.microsoft.com/office/drawing/2014/main" id="{D066FACD-BD54-546A-1CC2-3754959B9399}"/>
              </a:ext>
            </a:extLst>
          </p:cNvPr>
          <p:cNvSpPr txBox="1">
            <a:spLocks/>
          </p:cNvSpPr>
          <p:nvPr/>
        </p:nvSpPr>
        <p:spPr>
          <a:xfrm>
            <a:off x="190124" y="14288"/>
            <a:ext cx="10989050" cy="12842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2.4.2. </a:t>
            </a:r>
            <a:r>
              <a:rPr lang="en-US" sz="3200" b="1" dirty="0"/>
              <a:t>Results #2</a:t>
            </a:r>
            <a:r>
              <a:rPr lang="en-US" sz="3200" dirty="0"/>
              <a:t>: execution time &amp; PDP</a:t>
            </a:r>
          </a:p>
        </p:txBody>
      </p:sp>
      <p:pic>
        <p:nvPicPr>
          <p:cNvPr id="10" name="Content Placeholder 5">
            <a:extLst>
              <a:ext uri="{FF2B5EF4-FFF2-40B4-BE49-F238E27FC236}">
                <a16:creationId xmlns:a16="http://schemas.microsoft.com/office/drawing/2014/main" id="{2116F6F1-B186-5426-93F9-BF31F3F5EF58}"/>
              </a:ext>
            </a:extLst>
          </p:cNvPr>
          <p:cNvPicPr>
            <a:picLocks noChangeAspect="1"/>
          </p:cNvPicPr>
          <p:nvPr/>
        </p:nvPicPr>
        <p:blipFill>
          <a:blip r:embed="rId4"/>
          <a:srcRect r="2248"/>
          <a:stretch/>
        </p:blipFill>
        <p:spPr>
          <a:xfrm>
            <a:off x="8464549" y="426818"/>
            <a:ext cx="3706197" cy="5338243"/>
          </a:xfrm>
          <a:prstGeom prst="rect">
            <a:avLst/>
          </a:prstGeom>
        </p:spPr>
      </p:pic>
      <p:sp>
        <p:nvSpPr>
          <p:cNvPr id="11" name="TextBox 10">
            <a:extLst>
              <a:ext uri="{FF2B5EF4-FFF2-40B4-BE49-F238E27FC236}">
                <a16:creationId xmlns:a16="http://schemas.microsoft.com/office/drawing/2014/main" id="{C1FD1881-6C91-AA55-77E5-657F76418AE1}"/>
              </a:ext>
            </a:extLst>
          </p:cNvPr>
          <p:cNvSpPr txBox="1"/>
          <p:nvPr/>
        </p:nvSpPr>
        <p:spPr>
          <a:xfrm>
            <a:off x="8464550" y="5784851"/>
            <a:ext cx="3441700" cy="646331"/>
          </a:xfrm>
          <a:prstGeom prst="rect">
            <a:avLst/>
          </a:prstGeom>
          <a:noFill/>
        </p:spPr>
        <p:txBody>
          <a:bodyPr wrap="square">
            <a:spAutoFit/>
          </a:bodyPr>
          <a:lstStyle/>
          <a:p>
            <a:r>
              <a:rPr lang="en-US" b="1" dirty="0">
                <a:solidFill>
                  <a:srgbClr val="FF0000"/>
                </a:solidFill>
              </a:rPr>
              <a:t>Figure 2.11.</a:t>
            </a:r>
            <a:r>
              <a:rPr lang="en-US" dirty="0"/>
              <a:t> PDP through (a) RQC (b) QFT and (c) PSR. </a:t>
            </a:r>
          </a:p>
        </p:txBody>
      </p:sp>
      <p:sp>
        <p:nvSpPr>
          <p:cNvPr id="2" name="Rectangle 1">
            <a:extLst>
              <a:ext uri="{FF2B5EF4-FFF2-40B4-BE49-F238E27FC236}">
                <a16:creationId xmlns:a16="http://schemas.microsoft.com/office/drawing/2014/main" id="{940AA6CD-061E-1A20-1EAA-D8CBCBA691B5}"/>
              </a:ext>
            </a:extLst>
          </p:cNvPr>
          <p:cNvSpPr/>
          <p:nvPr/>
        </p:nvSpPr>
        <p:spPr>
          <a:xfrm>
            <a:off x="4216400" y="1773416"/>
            <a:ext cx="4248149" cy="1098925"/>
          </a:xfrm>
          <a:prstGeom prst="rect">
            <a:avLst/>
          </a:prstGeom>
          <a:noFill/>
          <a:ln>
            <a:solidFill>
              <a:srgbClr val="ED18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E2A5B0B-07D1-FB3F-30B9-289ACFDEC4FB}"/>
              </a:ext>
            </a:extLst>
          </p:cNvPr>
          <p:cNvSpPr txBox="1"/>
          <p:nvPr/>
        </p:nvSpPr>
        <p:spPr>
          <a:xfrm>
            <a:off x="7414596" y="310032"/>
            <a:ext cx="1335704" cy="1169551"/>
          </a:xfrm>
          <a:prstGeom prst="rect">
            <a:avLst/>
          </a:prstGeom>
          <a:noFill/>
        </p:spPr>
        <p:txBody>
          <a:bodyPr wrap="square">
            <a:spAutoFit/>
          </a:bodyPr>
          <a:lstStyle/>
          <a:p>
            <a:r>
              <a:rPr lang="en-US" sz="1400" b="1" dirty="0">
                <a:solidFill>
                  <a:srgbClr val="FF0000"/>
                </a:solidFill>
              </a:rPr>
              <a:t>In this case, Software seems better due to the stabilizer rank</a:t>
            </a:r>
            <a:endParaRPr lang="en-US" sz="1400" dirty="0"/>
          </a:p>
        </p:txBody>
      </p:sp>
      <p:cxnSp>
        <p:nvCxnSpPr>
          <p:cNvPr id="7" name="Straight Arrow Connector 6">
            <a:extLst>
              <a:ext uri="{FF2B5EF4-FFF2-40B4-BE49-F238E27FC236}">
                <a16:creationId xmlns:a16="http://schemas.microsoft.com/office/drawing/2014/main" id="{7A876BDA-5CC9-16A8-9F89-B07979E137D5}"/>
              </a:ext>
            </a:extLst>
          </p:cNvPr>
          <p:cNvCxnSpPr>
            <a:cxnSpLocks/>
          </p:cNvCxnSpPr>
          <p:nvPr/>
        </p:nvCxnSpPr>
        <p:spPr>
          <a:xfrm flipV="1">
            <a:off x="8047920" y="1481195"/>
            <a:ext cx="0" cy="2922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8481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CEFAF78-65C8-371E-4A0D-1B616E7969BB}"/>
              </a:ext>
            </a:extLst>
          </p:cNvPr>
          <p:cNvPicPr>
            <a:picLocks noGrp="1" noChangeAspect="1"/>
          </p:cNvPicPr>
          <p:nvPr>
            <p:ph idx="1"/>
          </p:nvPr>
        </p:nvPicPr>
        <p:blipFill>
          <a:blip r:embed="rId3"/>
          <a:stretch>
            <a:fillRect/>
          </a:stretch>
        </p:blipFill>
        <p:spPr>
          <a:xfrm>
            <a:off x="260849" y="1197231"/>
            <a:ext cx="11857714" cy="4591857"/>
          </a:xfrm>
        </p:spPr>
      </p:pic>
      <p:sp>
        <p:nvSpPr>
          <p:cNvPr id="4" name="Slide Number Placeholder 3">
            <a:extLst>
              <a:ext uri="{FF2B5EF4-FFF2-40B4-BE49-F238E27FC236}">
                <a16:creationId xmlns:a16="http://schemas.microsoft.com/office/drawing/2014/main" id="{52372DCE-42A6-61B9-7A83-CEAECC8ED1FF}"/>
              </a:ext>
            </a:extLst>
          </p:cNvPr>
          <p:cNvSpPr>
            <a:spLocks noGrp="1"/>
          </p:cNvSpPr>
          <p:nvPr>
            <p:ph type="sldNum" sz="quarter" idx="12"/>
          </p:nvPr>
        </p:nvSpPr>
        <p:spPr/>
        <p:txBody>
          <a:bodyPr/>
          <a:lstStyle/>
          <a:p>
            <a:fld id="{3C0C221A-CB66-4297-9A52-937C35126D0C}" type="slidenum">
              <a:rPr lang="en-US" smtClean="0"/>
              <a:t>49</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AFF7EFB-D79A-C390-7F46-C6B3C70433E2}"/>
                  </a:ext>
                </a:extLst>
              </p:cNvPr>
              <p:cNvSpPr txBox="1"/>
              <p:nvPr/>
            </p:nvSpPr>
            <p:spPr>
              <a:xfrm>
                <a:off x="215757" y="5826036"/>
                <a:ext cx="10854647" cy="1067215"/>
              </a:xfrm>
              <a:prstGeom prst="rect">
                <a:avLst/>
              </a:prstGeom>
              <a:noFill/>
            </p:spPr>
            <p:txBody>
              <a:bodyPr wrap="square">
                <a:spAutoFit/>
              </a:bodyPr>
              <a:lstStyle/>
              <a:p>
                <a:r>
                  <a:rPr lang="en-US" sz="2000" dirty="0"/>
                  <a:t>(†) The #Gate in this work is higher than other work due to the no-use of control-rotation gates. </a:t>
                </a:r>
              </a:p>
              <a:p>
                <a:r>
                  <a:rPr lang="en-US" sz="2000" dirty="0"/>
                  <a:t>(††) The Normalized Gate Speed (NGS) (s / (gate </a:t>
                </a:r>
                <a14:m>
                  <m:oMath xmlns:m="http://schemas.openxmlformats.org/officeDocument/2006/math">
                    <m:r>
                      <a:rPr lang="en-US" sz="2000" b="0" i="1" smtClean="0">
                        <a:latin typeface="Cambria Math" panose="02040503050406030204" pitchFamily="18" charset="0"/>
                      </a:rPr>
                      <m:t>×</m:t>
                    </m:r>
                  </m:oMath>
                </a14:m>
                <a:r>
                  <a:rPr lang="en-US" sz="2000" dirty="0"/>
                  <a:t> amplitude)) = Execution time / (#Gates </a:t>
                </a:r>
                <a14:m>
                  <m:oMath xmlns:m="http://schemas.openxmlformats.org/officeDocument/2006/math">
                    <m:r>
                      <a:rPr lang="en-US" sz="2000" i="1">
                        <a:latin typeface="Cambria Math" panose="02040503050406030204" pitchFamily="18" charset="0"/>
                      </a:rPr>
                      <m:t>×</m:t>
                    </m:r>
                  </m:oMath>
                </a14:m>
                <a:r>
                  <a:rPr lang="en-US" sz="2000" dirty="0"/>
                  <a:t> </a:t>
                </a:r>
                <a14:m>
                  <m:oMath xmlns:m="http://schemas.openxmlformats.org/officeDocument/2006/math">
                    <m:sSup>
                      <m:sSupPr>
                        <m:ctrlPr>
                          <a:rPr lang="en-US" sz="2000" i="1" dirty="0" smtClean="0">
                            <a:latin typeface="Cambria Math" panose="02040503050406030204" pitchFamily="18" charset="0"/>
                          </a:rPr>
                        </m:ctrlPr>
                      </m:sSupPr>
                      <m:e>
                        <m:r>
                          <a:rPr lang="en-US" sz="2000" i="1" dirty="0" smtClean="0">
                            <a:latin typeface="Cambria Math" panose="02040503050406030204" pitchFamily="18" charset="0"/>
                          </a:rPr>
                          <m:t>2</m:t>
                        </m:r>
                      </m:e>
                      <m:sup>
                        <m:r>
                          <m:rPr>
                            <m:nor/>
                          </m:rPr>
                          <a:rPr lang="en-US" sz="2000" dirty="0"/>
                          <m:t>#</m:t>
                        </m:r>
                        <m:r>
                          <m:rPr>
                            <m:nor/>
                          </m:rPr>
                          <a:rPr lang="en-US" sz="2000" dirty="0"/>
                          <m:t>Qubits</m:t>
                        </m:r>
                      </m:sup>
                    </m:sSup>
                  </m:oMath>
                </a14:m>
                <a:r>
                  <a:rPr lang="en-US" sz="2000" dirty="0"/>
                  <a:t>), smaller is better.</a:t>
                </a:r>
              </a:p>
            </p:txBody>
          </p:sp>
        </mc:Choice>
        <mc:Fallback xmlns="">
          <p:sp>
            <p:nvSpPr>
              <p:cNvPr id="8" name="TextBox 7">
                <a:extLst>
                  <a:ext uri="{FF2B5EF4-FFF2-40B4-BE49-F238E27FC236}">
                    <a16:creationId xmlns:a16="http://schemas.microsoft.com/office/drawing/2014/main" id="{CAFF7EFB-D79A-C390-7F46-C6B3C70433E2}"/>
                  </a:ext>
                </a:extLst>
              </p:cNvPr>
              <p:cNvSpPr txBox="1">
                <a:spLocks noRot="1" noChangeAspect="1" noMove="1" noResize="1" noEditPoints="1" noAdjustHandles="1" noChangeArrowheads="1" noChangeShapeType="1" noTextEdit="1"/>
              </p:cNvSpPr>
              <p:nvPr/>
            </p:nvSpPr>
            <p:spPr>
              <a:xfrm>
                <a:off x="215757" y="5826036"/>
                <a:ext cx="10854647" cy="1067215"/>
              </a:xfrm>
              <a:prstGeom prst="rect">
                <a:avLst/>
              </a:prstGeom>
              <a:blipFill>
                <a:blip r:embed="rId4"/>
                <a:stretch>
                  <a:fillRect l="-467" t="-2353" b="-10588"/>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A764F7A1-456C-9B09-021A-D006C1553C3A}"/>
              </a:ext>
            </a:extLst>
          </p:cNvPr>
          <p:cNvSpPr txBox="1"/>
          <p:nvPr/>
        </p:nvSpPr>
        <p:spPr>
          <a:xfrm>
            <a:off x="215757" y="828592"/>
            <a:ext cx="11459966" cy="400110"/>
          </a:xfrm>
          <a:prstGeom prst="rect">
            <a:avLst/>
          </a:prstGeom>
          <a:noFill/>
        </p:spPr>
        <p:txBody>
          <a:bodyPr wrap="square">
            <a:spAutoFit/>
          </a:bodyPr>
          <a:lstStyle/>
          <a:p>
            <a:r>
              <a:rPr lang="en-US" sz="2000" b="1" dirty="0">
                <a:solidFill>
                  <a:srgbClr val="FF0000"/>
                </a:solidFill>
              </a:rPr>
              <a:t>Table 2.5</a:t>
            </a:r>
            <a:r>
              <a:rPr lang="en-US" sz="2000" dirty="0"/>
              <a:t>. Comparative analysis of </a:t>
            </a:r>
            <a:r>
              <a:rPr lang="en-US" sz="2000" dirty="0" err="1"/>
              <a:t>FQsun</a:t>
            </a:r>
            <a:r>
              <a:rPr lang="en-US" sz="2000" dirty="0"/>
              <a:t> and existing FPGA-based emulators on QFT’s performance.</a:t>
            </a:r>
          </a:p>
        </p:txBody>
      </p:sp>
      <p:sp>
        <p:nvSpPr>
          <p:cNvPr id="11" name="Title 1">
            <a:extLst>
              <a:ext uri="{FF2B5EF4-FFF2-40B4-BE49-F238E27FC236}">
                <a16:creationId xmlns:a16="http://schemas.microsoft.com/office/drawing/2014/main" id="{BABB5D43-84BB-B155-C85C-1EEB5B943118}"/>
              </a:ext>
            </a:extLst>
          </p:cNvPr>
          <p:cNvSpPr>
            <a:spLocks noGrp="1"/>
          </p:cNvSpPr>
          <p:nvPr>
            <p:ph type="title"/>
          </p:nvPr>
        </p:nvSpPr>
        <p:spPr>
          <a:xfrm>
            <a:off x="215757" y="1"/>
            <a:ext cx="11825555" cy="929810"/>
          </a:xfrm>
        </p:spPr>
        <p:txBody>
          <a:bodyPr>
            <a:normAutofit fontScale="90000"/>
          </a:bodyPr>
          <a:lstStyle/>
          <a:p>
            <a:r>
              <a:rPr lang="en-US" dirty="0"/>
              <a:t>2.4.4. </a:t>
            </a:r>
            <a:r>
              <a:rPr lang="en-US" b="1" dirty="0"/>
              <a:t>Result #4</a:t>
            </a:r>
            <a:r>
              <a:rPr lang="en-US" dirty="0"/>
              <a:t>: comparison between related works</a:t>
            </a:r>
          </a:p>
        </p:txBody>
      </p:sp>
      <p:sp>
        <p:nvSpPr>
          <p:cNvPr id="12" name="Rectangle 11">
            <a:extLst>
              <a:ext uri="{FF2B5EF4-FFF2-40B4-BE49-F238E27FC236}">
                <a16:creationId xmlns:a16="http://schemas.microsoft.com/office/drawing/2014/main" id="{B38EB626-1657-DE36-B5C2-9C1AC42D7075}"/>
              </a:ext>
            </a:extLst>
          </p:cNvPr>
          <p:cNvSpPr/>
          <p:nvPr/>
        </p:nvSpPr>
        <p:spPr>
          <a:xfrm>
            <a:off x="260848" y="3482939"/>
            <a:ext cx="11857713" cy="690938"/>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A27603-C980-223A-4508-CF6F0A226803}"/>
              </a:ext>
            </a:extLst>
          </p:cNvPr>
          <p:cNvSpPr/>
          <p:nvPr/>
        </p:nvSpPr>
        <p:spPr>
          <a:xfrm>
            <a:off x="261040" y="2475573"/>
            <a:ext cx="11857713" cy="440104"/>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8FABE24-1C05-F086-22B0-1C8532DF033A}"/>
              </a:ext>
            </a:extLst>
          </p:cNvPr>
          <p:cNvSpPr txBox="1"/>
          <p:nvPr/>
        </p:nvSpPr>
        <p:spPr>
          <a:xfrm>
            <a:off x="11070404" y="3464757"/>
            <a:ext cx="1287124" cy="276999"/>
          </a:xfrm>
          <a:prstGeom prst="rect">
            <a:avLst/>
          </a:prstGeom>
          <a:noFill/>
        </p:spPr>
        <p:txBody>
          <a:bodyPr wrap="square" rtlCol="0">
            <a:spAutoFit/>
          </a:bodyPr>
          <a:lstStyle/>
          <a:p>
            <a:r>
              <a:rPr lang="en-US" sz="1200" dirty="0">
                <a:solidFill>
                  <a:srgbClr val="FF0000"/>
                </a:solidFill>
              </a:rPr>
              <a:t>No flexibility</a:t>
            </a:r>
          </a:p>
        </p:txBody>
      </p:sp>
      <p:sp>
        <p:nvSpPr>
          <p:cNvPr id="15" name="TextBox 14">
            <a:extLst>
              <a:ext uri="{FF2B5EF4-FFF2-40B4-BE49-F238E27FC236}">
                <a16:creationId xmlns:a16="http://schemas.microsoft.com/office/drawing/2014/main" id="{B8FFF7D6-58BC-D0C8-E0C4-52A2E1225CC4}"/>
              </a:ext>
            </a:extLst>
          </p:cNvPr>
          <p:cNvSpPr txBox="1"/>
          <p:nvPr/>
        </p:nvSpPr>
        <p:spPr>
          <a:xfrm>
            <a:off x="11070404" y="2241361"/>
            <a:ext cx="1287124" cy="276999"/>
          </a:xfrm>
          <a:prstGeom prst="rect">
            <a:avLst/>
          </a:prstGeom>
          <a:noFill/>
        </p:spPr>
        <p:txBody>
          <a:bodyPr wrap="square" rtlCol="0">
            <a:spAutoFit/>
          </a:bodyPr>
          <a:lstStyle/>
          <a:p>
            <a:r>
              <a:rPr lang="en-US" sz="1200" dirty="0">
                <a:solidFill>
                  <a:srgbClr val="FF0000"/>
                </a:solidFill>
              </a:rPr>
              <a:t>No flexibility</a:t>
            </a:r>
          </a:p>
        </p:txBody>
      </p:sp>
    </p:spTree>
    <p:extLst>
      <p:ext uri="{BB962C8B-B14F-4D97-AF65-F5344CB8AC3E}">
        <p14:creationId xmlns:p14="http://schemas.microsoft.com/office/powerpoint/2010/main" val="849899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781</TotalTime>
  <Words>6836</Words>
  <Application>Microsoft Macintosh PowerPoint</Application>
  <PresentationFormat>Widescreen</PresentationFormat>
  <Paragraphs>877</Paragraphs>
  <Slides>49</Slides>
  <Notes>28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49</vt:i4>
      </vt:variant>
    </vt:vector>
  </HeadingPairs>
  <TitlesOfParts>
    <vt:vector size="62" baseType="lpstr">
      <vt:lpstr>__Roboto_22ceb1</vt:lpstr>
      <vt:lpstr>Aptos</vt:lpstr>
      <vt:lpstr>Aptos Display</vt:lpstr>
      <vt:lpstr>Arial</vt:lpstr>
      <vt:lpstr>Calibri</vt:lpstr>
      <vt:lpstr>Calibri (Body)</vt:lpstr>
      <vt:lpstr>Cambria Math</vt:lpstr>
      <vt:lpstr>CMBX12</vt:lpstr>
      <vt:lpstr>CMMI12</vt:lpstr>
      <vt:lpstr>CMR12</vt:lpstr>
      <vt:lpstr>CMSY10</vt:lpstr>
      <vt:lpstr>Times New Roman</vt:lpstr>
      <vt:lpstr>Office Theme</vt:lpstr>
      <vt:lpstr>Researcher trends in quantum computing</vt:lpstr>
      <vt:lpstr>Outline</vt:lpstr>
      <vt:lpstr>0. Quantum foundation</vt:lpstr>
      <vt:lpstr>1. Quantum optimization</vt:lpstr>
      <vt:lpstr>1.1. Parameterized quantum circuit (PQC)</vt:lpstr>
      <vt:lpstr>1.2. Circuit ansatz Existing ansatzes</vt:lpstr>
      <vt:lpstr>1.4. Gradient and optimizer</vt:lpstr>
      <vt:lpstr>1.4. Gradient</vt:lpstr>
      <vt:lpstr>1.4. Gradient Parameter-shift rule</vt:lpstr>
      <vt:lpstr>1.6. Quantum optimization</vt:lpstr>
      <vt:lpstr>1.6.1. Quantum optimization Variational Quantum Eigensolver (VQE)</vt:lpstr>
      <vt:lpstr>1.6.1. Quantum optimization VQE → AdaptVQE</vt:lpstr>
      <vt:lpstr>1.6.2. Quantum optimization Quantum Approximate Optimization Algorithm (QAOA)</vt:lpstr>
      <vt:lpstr>1.6.2. Quantum optimization QAOA → FALQON</vt:lpstr>
      <vt:lpstr>1.6.3. Quantum Optimization Quantum compiling</vt:lpstr>
      <vt:lpstr>1.6.3. Quantum Optimization Quantum compiling</vt:lpstr>
      <vt:lpstr>1.7. Additional informations Can we apply classical techniques into quantum optimization?</vt:lpstr>
      <vt:lpstr>1.7. Additional informations Can we apply classical techniques into quantum optimization?</vt:lpstr>
      <vt:lpstr>2. Quantum machine learning (QML)</vt:lpstr>
      <vt:lpstr>2.1. Overview</vt:lpstr>
      <vt:lpstr>2.1. Overview What QML models can do? Based on quantum advantage [2.2]</vt:lpstr>
      <vt:lpstr>2.1. Overview Type of QML model</vt:lpstr>
      <vt:lpstr>2.1. Overview Pioneers in QML</vt:lpstr>
      <vt:lpstr>2.2. QML algorithms QkNN</vt:lpstr>
      <vt:lpstr>2.2. QML algorithms k-means</vt:lpstr>
      <vt:lpstr>2.2. QML algorithms Quantum SVM</vt:lpstr>
      <vt:lpstr>2.3. Quantum deep learning</vt:lpstr>
      <vt:lpstr>PowerPoint Presentation</vt:lpstr>
      <vt:lpstr>2.3. Quantum deep learning Variational classifier for simple classification problem</vt:lpstr>
      <vt:lpstr>2.3.1. Quantum deep learning Quanvolutional NN (QuNN)</vt:lpstr>
      <vt:lpstr>2.3.2. Quantum deep learning Quantum Convolution NN (QCNN)</vt:lpstr>
      <vt:lpstr>2.4. Additional information Power of QML</vt:lpstr>
      <vt:lpstr>2.4. Additional information Challenge in QML field</vt:lpstr>
      <vt:lpstr>Accelerators for quantum computer: interdisciplinary research direction between “Vi mạch” &amp; Quantum </vt:lpstr>
      <vt:lpstr>PowerPoint Presentation</vt:lpstr>
      <vt:lpstr>PowerPoint Presentation</vt:lpstr>
      <vt:lpstr>PowerPoint Presentation</vt:lpstr>
      <vt:lpstr>1.1. Quantum simulation approach</vt:lpstr>
      <vt:lpstr>1.3. Representation of state &amp; gate</vt:lpstr>
      <vt:lpstr>2. A wave-function based emulator (FQsun)</vt:lpstr>
      <vt:lpstr>2.2. Algorithm</vt:lpstr>
      <vt:lpstr>2.3. System overview/Ideals</vt:lpstr>
      <vt:lpstr>2.3.1-2. Idea #1: efficient memory organization</vt:lpstr>
      <vt:lpstr>2.3.3. Idea #3: configurable Quantum Gate Unit (QGU)</vt:lpstr>
      <vt:lpstr>2.3.4. #Idea 4: multiple precisions</vt:lpstr>
      <vt:lpstr>2.4. Benchmarking tasks</vt:lpstr>
      <vt:lpstr>2.4.1. Result #1: accuracy metrics </vt:lpstr>
      <vt:lpstr>PowerPoint Presentation</vt:lpstr>
      <vt:lpstr>2.4.4. Result #4: comparison between related 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Tuan Hai Vu</dc:creator>
  <cp:lastModifiedBy>Tuan Hai Vu</cp:lastModifiedBy>
  <cp:revision>3</cp:revision>
  <dcterms:created xsi:type="dcterms:W3CDTF">2025-12-15T02:08:14Z</dcterms:created>
  <dcterms:modified xsi:type="dcterms:W3CDTF">2025-12-18T14:13:47Z</dcterms:modified>
</cp:coreProperties>
</file>