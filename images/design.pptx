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0" autoAdjust="0"/>
    <p:restoredTop sz="94627"/>
  </p:normalViewPr>
  <p:slideViewPr>
    <p:cSldViewPr snapToGrid="0">
      <p:cViewPr>
        <p:scale>
          <a:sx n="53" d="100"/>
          <a:sy n="53" d="100"/>
        </p:scale>
        <p:origin x="2648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0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7">
            <a:extLst>
              <a:ext uri="{FF2B5EF4-FFF2-40B4-BE49-F238E27FC236}">
                <a16:creationId xmlns:a16="http://schemas.microsoft.com/office/drawing/2014/main" id="{E7D69FF8-3445-E923-C0B3-80C854FEF365}"/>
              </a:ext>
            </a:extLst>
          </p:cNvPr>
          <p:cNvSpPr/>
          <p:nvPr/>
        </p:nvSpPr>
        <p:spPr>
          <a:xfrm>
            <a:off x="5657103" y="633708"/>
            <a:ext cx="2884554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19">
            <a:extLst>
              <a:ext uri="{FF2B5EF4-FFF2-40B4-BE49-F238E27FC236}">
                <a16:creationId xmlns:a16="http://schemas.microsoft.com/office/drawing/2014/main" id="{A74BECE9-AD52-BF0A-1EE5-11B4151FBE00}"/>
              </a:ext>
            </a:extLst>
          </p:cNvPr>
          <p:cNvSpPr/>
          <p:nvPr/>
        </p:nvSpPr>
        <p:spPr>
          <a:xfrm>
            <a:off x="10375435" y="2766196"/>
            <a:ext cx="2276009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64BDF933-FEDF-FE3D-5B6A-187CDDFE793C}"/>
              </a:ext>
            </a:extLst>
          </p:cNvPr>
          <p:cNvSpPr/>
          <p:nvPr/>
        </p:nvSpPr>
        <p:spPr>
          <a:xfrm>
            <a:off x="5666458" y="2758029"/>
            <a:ext cx="2890802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A15D58BA-E347-BDD1-76D8-65D3C10A5210}"/>
              </a:ext>
            </a:extLst>
          </p:cNvPr>
          <p:cNvSpPr/>
          <p:nvPr/>
        </p:nvSpPr>
        <p:spPr>
          <a:xfrm>
            <a:off x="1713890" y="2748457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9FC13-801D-B378-CB31-5362A33A88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" r="9625" b="1390"/>
          <a:stretch/>
        </p:blipFill>
        <p:spPr>
          <a:xfrm rot="16200000">
            <a:off x="10831290" y="2324330"/>
            <a:ext cx="1364302" cy="2276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E52E97-AD1B-C265-158D-2939EA9299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7019" r="-67" b="31993"/>
          <a:stretch>
            <a:fillRect/>
          </a:stretch>
        </p:blipFill>
        <p:spPr>
          <a:xfrm>
            <a:off x="5658473" y="2731104"/>
            <a:ext cx="2898787" cy="1338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6E1724-52F2-EF5D-4BAC-14D059BEE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0" y="2727393"/>
            <a:ext cx="2298163" cy="1364302"/>
          </a:xfrm>
          <a:prstGeom prst="rect">
            <a:avLst/>
          </a:prstGeom>
        </p:spPr>
      </p:pic>
      <p:pic>
        <p:nvPicPr>
          <p:cNvPr id="11" name="Picture 2" descr="Không có mô tả ảnh.">
            <a:extLst>
              <a:ext uri="{FF2B5EF4-FFF2-40B4-BE49-F238E27FC236}">
                <a16:creationId xmlns:a16="http://schemas.microsoft.com/office/drawing/2014/main" id="{5F1148C0-94C7-6D36-BD9D-4265DE28F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5655" y="-153375"/>
            <a:ext cx="1313191" cy="28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A2E03A-2062-04E9-ED94-56DEEFAD827C}"/>
              </a:ext>
            </a:extLst>
          </p:cNvPr>
          <p:cNvCxnSpPr>
            <a:cxnSpLocks/>
          </p:cNvCxnSpPr>
          <p:nvPr/>
        </p:nvCxnSpPr>
        <p:spPr>
          <a:xfrm>
            <a:off x="-809626" y="2608118"/>
            <a:ext cx="13441680" cy="1453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74EAB1-6567-2EB9-BB40-4D04EC2E294F}"/>
              </a:ext>
            </a:extLst>
          </p:cNvPr>
          <p:cNvSpPr txBox="1"/>
          <p:nvPr/>
        </p:nvSpPr>
        <p:spPr>
          <a:xfrm>
            <a:off x="1673428" y="4106307"/>
            <a:ext cx="23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RTL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4E0C2F-86FB-CD48-45EB-5B9E15F84707}"/>
              </a:ext>
            </a:extLst>
          </p:cNvPr>
          <p:cNvSpPr txBox="1"/>
          <p:nvPr/>
        </p:nvSpPr>
        <p:spPr>
          <a:xfrm>
            <a:off x="5658473" y="4098318"/>
            <a:ext cx="290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FPGA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1F60B-53F9-3ECD-ADF0-DEA600B9AC13}"/>
              </a:ext>
            </a:extLst>
          </p:cNvPr>
          <p:cNvSpPr txBox="1"/>
          <p:nvPr/>
        </p:nvSpPr>
        <p:spPr>
          <a:xfrm>
            <a:off x="-807773" y="3373773"/>
            <a:ext cx="26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20746-37A6-121F-769B-15AE7A97FBAD}"/>
              </a:ext>
            </a:extLst>
          </p:cNvPr>
          <p:cNvSpPr txBox="1"/>
          <p:nvPr/>
        </p:nvSpPr>
        <p:spPr>
          <a:xfrm>
            <a:off x="-807773" y="1267189"/>
            <a:ext cx="261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4BF66C-862B-C805-CBBB-4C62FCBE6E3B}"/>
              </a:ext>
            </a:extLst>
          </p:cNvPr>
          <p:cNvSpPr txBox="1"/>
          <p:nvPr/>
        </p:nvSpPr>
        <p:spPr>
          <a:xfrm>
            <a:off x="-807773" y="538159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Quantum Computing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9017D6-0AB8-8E83-73D9-E33613CB6308}"/>
              </a:ext>
            </a:extLst>
          </p:cNvPr>
          <p:cNvCxnSpPr>
            <a:cxnSpLocks/>
          </p:cNvCxnSpPr>
          <p:nvPr/>
        </p:nvCxnSpPr>
        <p:spPr>
          <a:xfrm>
            <a:off x="-852487" y="4701546"/>
            <a:ext cx="13533120" cy="145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43B250-0CEF-488C-11E4-F4C2123E17B7}"/>
              </a:ext>
            </a:extLst>
          </p:cNvPr>
          <p:cNvSpPr txBox="1"/>
          <p:nvPr/>
        </p:nvSpPr>
        <p:spPr>
          <a:xfrm>
            <a:off x="10375434" y="4111070"/>
            <a:ext cx="227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Fabricate chip</a:t>
            </a:r>
          </a:p>
        </p:txBody>
      </p:sp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32A82298-3DF5-E751-6B3A-678A25ED0058}"/>
              </a:ext>
            </a:extLst>
          </p:cNvPr>
          <p:cNvSpPr/>
          <p:nvPr/>
        </p:nvSpPr>
        <p:spPr>
          <a:xfrm>
            <a:off x="1673427" y="646362"/>
            <a:ext cx="2362820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DA449C-02DB-AF4E-2778-0FDEDAB6A1F3}"/>
              </a:ext>
            </a:extLst>
          </p:cNvPr>
          <p:cNvSpPr txBox="1"/>
          <p:nvPr/>
        </p:nvSpPr>
        <p:spPr>
          <a:xfrm>
            <a:off x="1911657" y="1982664"/>
            <a:ext cx="19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Propose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F91999-FDBA-A13E-7392-1662B420CD22}"/>
              </a:ext>
            </a:extLst>
          </p:cNvPr>
          <p:cNvSpPr txBox="1"/>
          <p:nvPr/>
        </p:nvSpPr>
        <p:spPr>
          <a:xfrm>
            <a:off x="5656914" y="1953327"/>
            <a:ext cx="290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Training on GPU</a:t>
            </a:r>
          </a:p>
        </p:txBody>
      </p:sp>
      <p:sp>
        <p:nvSpPr>
          <p:cNvPr id="23" name="Rounded Rectangle 29">
            <a:extLst>
              <a:ext uri="{FF2B5EF4-FFF2-40B4-BE49-F238E27FC236}">
                <a16:creationId xmlns:a16="http://schemas.microsoft.com/office/drawing/2014/main" id="{2873F891-2EF7-F8F6-CB70-40C7B6F3BC98}"/>
              </a:ext>
            </a:extLst>
          </p:cNvPr>
          <p:cNvSpPr/>
          <p:nvPr/>
        </p:nvSpPr>
        <p:spPr>
          <a:xfrm>
            <a:off x="10366203" y="639769"/>
            <a:ext cx="2236983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D276B-C862-6414-17D4-E68E4D5DC0FD}"/>
              </a:ext>
            </a:extLst>
          </p:cNvPr>
          <p:cNvSpPr txBox="1"/>
          <p:nvPr/>
        </p:nvSpPr>
        <p:spPr>
          <a:xfrm>
            <a:off x="10366203" y="1962191"/>
            <a:ext cx="223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Inference model</a:t>
            </a:r>
          </a:p>
        </p:txBody>
      </p:sp>
      <p:sp>
        <p:nvSpPr>
          <p:cNvPr id="25" name="Rounded Rectangle 34">
            <a:extLst>
              <a:ext uri="{FF2B5EF4-FFF2-40B4-BE49-F238E27FC236}">
                <a16:creationId xmlns:a16="http://schemas.microsoft.com/office/drawing/2014/main" id="{0C064383-A165-9F3E-57A9-C5EEE1B0879F}"/>
              </a:ext>
            </a:extLst>
          </p:cNvPr>
          <p:cNvSpPr/>
          <p:nvPr/>
        </p:nvSpPr>
        <p:spPr>
          <a:xfrm>
            <a:off x="1701190" y="4860765"/>
            <a:ext cx="2297830" cy="1687992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110F9F95-378A-9D48-C4AA-012845F19983}"/>
              </a:ext>
            </a:extLst>
          </p:cNvPr>
          <p:cNvSpPr/>
          <p:nvPr/>
        </p:nvSpPr>
        <p:spPr>
          <a:xfrm>
            <a:off x="5704368" y="4860765"/>
            <a:ext cx="2852892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ounded Rectangle 36">
            <a:extLst>
              <a:ext uri="{FF2B5EF4-FFF2-40B4-BE49-F238E27FC236}">
                <a16:creationId xmlns:a16="http://schemas.microsoft.com/office/drawing/2014/main" id="{30A921C2-DF31-24AC-6D42-FF54A55199C6}"/>
              </a:ext>
            </a:extLst>
          </p:cNvPr>
          <p:cNvSpPr/>
          <p:nvPr/>
        </p:nvSpPr>
        <p:spPr>
          <a:xfrm>
            <a:off x="10370504" y="4872449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" descr="Không có mô tả ảnh.">
            <a:extLst>
              <a:ext uri="{FF2B5EF4-FFF2-40B4-BE49-F238E27FC236}">
                <a16:creationId xmlns:a16="http://schemas.microsoft.com/office/drawing/2014/main" id="{CFE8BC93-45F9-1C5F-1174-5E45E5729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90798" y="4074331"/>
            <a:ext cx="1280023" cy="285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First quantum computer to pack 100 qubits enters crowded race">
            <a:extLst>
              <a:ext uri="{FF2B5EF4-FFF2-40B4-BE49-F238E27FC236}">
                <a16:creationId xmlns:a16="http://schemas.microsoft.com/office/drawing/2014/main" id="{19BE9CC6-DC34-0959-E47E-E9D5E04E1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58" b="3469"/>
          <a:stretch>
            <a:fillRect/>
          </a:stretch>
        </p:blipFill>
        <p:spPr bwMode="auto">
          <a:xfrm>
            <a:off x="10366203" y="4875922"/>
            <a:ext cx="2332290" cy="106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8F7DC5-6DA5-663B-B085-C4DDC93B0B96}"/>
              </a:ext>
            </a:extLst>
          </p:cNvPr>
          <p:cNvSpPr txBox="1"/>
          <p:nvPr/>
        </p:nvSpPr>
        <p:spPr>
          <a:xfrm>
            <a:off x="5645150" y="6198477"/>
            <a:ext cx="302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CPU/GPU/…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9531-F67E-2F0A-D42C-7521E5D3AC6E}"/>
              </a:ext>
            </a:extLst>
          </p:cNvPr>
          <p:cNvSpPr txBox="1"/>
          <p:nvPr/>
        </p:nvSpPr>
        <p:spPr>
          <a:xfrm>
            <a:off x="1603509" y="616162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Quantum algorithms</a:t>
            </a:r>
          </a:p>
        </p:txBody>
      </p:sp>
      <p:pic>
        <p:nvPicPr>
          <p:cNvPr id="32" name="Picture 4" descr="Fractional Gates • Quantum Zeitgeist">
            <a:extLst>
              <a:ext uri="{FF2B5EF4-FFF2-40B4-BE49-F238E27FC236}">
                <a16:creationId xmlns:a16="http://schemas.microsoft.com/office/drawing/2014/main" id="{48C87B8E-8B25-4642-7032-1403033A2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0"/>
          <a:stretch>
            <a:fillRect/>
          </a:stretch>
        </p:blipFill>
        <p:spPr bwMode="auto">
          <a:xfrm>
            <a:off x="1696784" y="4854926"/>
            <a:ext cx="2302570" cy="12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AFFA14D-03C6-C25B-B98D-B117B24D829C}"/>
              </a:ext>
            </a:extLst>
          </p:cNvPr>
          <p:cNvSpPr txBox="1"/>
          <p:nvPr/>
        </p:nvSpPr>
        <p:spPr>
          <a:xfrm>
            <a:off x="10392800" y="5932517"/>
            <a:ext cx="228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Deploy on real quantum computer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759E11-3728-AD09-1B66-1CC6A76237B0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999020" y="5704761"/>
            <a:ext cx="170534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6C19C6-1B38-40A7-01E1-BB152DFFD7D3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8557260" y="5717174"/>
            <a:ext cx="1813244" cy="11684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83C2E66-AA85-164D-4FB0-A61ABBC0A768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 rot="5400000">
            <a:off x="6986431" y="-1770871"/>
            <a:ext cx="374806" cy="8621723"/>
          </a:xfrm>
          <a:prstGeom prst="bentConnector3">
            <a:avLst>
              <a:gd name="adj1" fmla="val 19504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diagram of a network&#10;&#10;AI-generated content may be incorrect.">
            <a:extLst>
              <a:ext uri="{FF2B5EF4-FFF2-40B4-BE49-F238E27FC236}">
                <a16:creationId xmlns:a16="http://schemas.microsoft.com/office/drawing/2014/main" id="{969C7A31-8D78-BB35-0ABE-0608BFBA5B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28" y="646362"/>
            <a:ext cx="2362820" cy="1324739"/>
          </a:xfrm>
          <a:prstGeom prst="rect">
            <a:avLst/>
          </a:prstGeom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2B54290-BE06-B25F-6EC4-D4E4AEF773F1}"/>
              </a:ext>
            </a:extLst>
          </p:cNvPr>
          <p:cNvGrpSpPr/>
          <p:nvPr/>
        </p:nvGrpSpPr>
        <p:grpSpPr>
          <a:xfrm>
            <a:off x="10366203" y="621518"/>
            <a:ext cx="2285239" cy="1319139"/>
            <a:chOff x="-2930466" y="3133562"/>
            <a:chExt cx="1866473" cy="122350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584A1D3-C1D5-4EFB-196F-51098F2088A3}"/>
                </a:ext>
              </a:extLst>
            </p:cNvPr>
            <p:cNvSpPr/>
            <p:nvPr/>
          </p:nvSpPr>
          <p:spPr>
            <a:xfrm>
              <a:off x="-2930466" y="3133562"/>
              <a:ext cx="1827209" cy="1212944"/>
            </a:xfrm>
            <a:prstGeom prst="roundRect">
              <a:avLst>
                <a:gd name="adj" fmla="val 4102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40" name="Picture 39" descr="Document Vector Art, Icons, and Graphics for Free Download">
              <a:extLst>
                <a:ext uri="{FF2B5EF4-FFF2-40B4-BE49-F238E27FC236}">
                  <a16:creationId xmlns:a16="http://schemas.microsoft.com/office/drawing/2014/main" id="{47A82B17-D57E-1CAE-4942-7470BEEC91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4" t="15064" r="23774" b="27683"/>
            <a:stretch>
              <a:fillRect/>
            </a:stretch>
          </p:blipFill>
          <p:spPr bwMode="auto">
            <a:xfrm>
              <a:off x="-2804134" y="3171801"/>
              <a:ext cx="345885" cy="38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2">
              <a:extLst>
                <a:ext uri="{FF2B5EF4-FFF2-40B4-BE49-F238E27FC236}">
                  <a16:creationId xmlns:a16="http://schemas.microsoft.com/office/drawing/2014/main" id="{9B563163-9708-57EA-DD42-5818231D4ABA}"/>
                </a:ext>
              </a:extLst>
            </p:cNvPr>
            <p:cNvSpPr/>
            <p:nvPr/>
          </p:nvSpPr>
          <p:spPr>
            <a:xfrm>
              <a:off x="-2383519" y="3655408"/>
              <a:ext cx="235403" cy="202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pic>
          <p:nvPicPr>
            <p:cNvPr id="42" name="Picture 41" descr="5+ điều cần biết về chụp cộng hưởng từ có tiêm thuốc tương phản">
              <a:extLst>
                <a:ext uri="{FF2B5EF4-FFF2-40B4-BE49-F238E27FC236}">
                  <a16:creationId xmlns:a16="http://schemas.microsoft.com/office/drawing/2014/main" id="{993F408A-6079-35DA-5D90-CED09677D8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98142" y="3620068"/>
              <a:ext cx="339893" cy="38875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42" descr="ECG signals (744 fragments) | IEEE DataPort">
              <a:extLst>
                <a:ext uri="{FF2B5EF4-FFF2-40B4-BE49-F238E27FC236}">
                  <a16:creationId xmlns:a16="http://schemas.microsoft.com/office/drawing/2014/main" id="{76AF0D7B-CF4B-0304-677E-4C3C84FF0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4267" y="4025581"/>
              <a:ext cx="400515" cy="30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9857267-60F8-E59E-3717-65DE1652B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6938" y="3144126"/>
              <a:ext cx="1212945" cy="1212945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4DF691-0853-1EBF-2D24-8BC2B3EE9CCE}"/>
              </a:ext>
            </a:extLst>
          </p:cNvPr>
          <p:cNvCxnSpPr>
            <a:cxnSpLocks/>
          </p:cNvCxnSpPr>
          <p:nvPr/>
        </p:nvCxnSpPr>
        <p:spPr>
          <a:xfrm>
            <a:off x="4391848" y="3494004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2153D91-6E22-9CA8-0FBF-0940C47175CC}"/>
              </a:ext>
            </a:extLst>
          </p:cNvPr>
          <p:cNvCxnSpPr>
            <a:cxnSpLocks/>
          </p:cNvCxnSpPr>
          <p:nvPr/>
        </p:nvCxnSpPr>
        <p:spPr>
          <a:xfrm>
            <a:off x="8172756" y="3514692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E80813-038A-FE47-00BF-7100AE366B57}"/>
              </a:ext>
            </a:extLst>
          </p:cNvPr>
          <p:cNvCxnSpPr>
            <a:cxnSpLocks/>
          </p:cNvCxnSpPr>
          <p:nvPr/>
        </p:nvCxnSpPr>
        <p:spPr>
          <a:xfrm>
            <a:off x="4431035" y="1359049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A5241E-0703-2023-05FC-2B614FE5B5C9}"/>
              </a:ext>
            </a:extLst>
          </p:cNvPr>
          <p:cNvCxnSpPr>
            <a:cxnSpLocks/>
          </p:cNvCxnSpPr>
          <p:nvPr/>
        </p:nvCxnSpPr>
        <p:spPr>
          <a:xfrm>
            <a:off x="8211943" y="1379737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4FDFAB-BCC7-B829-CCF7-F2310C1F6B3C}"/>
              </a:ext>
            </a:extLst>
          </p:cNvPr>
          <p:cNvCxnSpPr>
            <a:cxnSpLocks/>
            <a:stCxn id="25" idx="0"/>
            <a:endCxn id="13" idx="2"/>
          </p:cNvCxnSpPr>
          <p:nvPr/>
        </p:nvCxnSpPr>
        <p:spPr>
          <a:xfrm flipH="1" flipV="1">
            <a:off x="2842741" y="4475639"/>
            <a:ext cx="7364" cy="385126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517DD5E-BF04-C1D3-B1F3-A808309A08E1}"/>
              </a:ext>
            </a:extLst>
          </p:cNvPr>
          <p:cNvCxnSpPr>
            <a:cxnSpLocks/>
            <a:stCxn id="14" idx="2"/>
            <a:endCxn id="29" idx="0"/>
          </p:cNvCxnSpPr>
          <p:nvPr/>
        </p:nvCxnSpPr>
        <p:spPr>
          <a:xfrm rot="16200000" flipH="1">
            <a:off x="9117967" y="2461541"/>
            <a:ext cx="408272" cy="4420489"/>
          </a:xfrm>
          <a:prstGeom prst="bentConnector3">
            <a:avLst>
              <a:gd name="adj1" fmla="val 2978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73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6E830DA2-D141-0080-A10A-18F2803EEF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5706" y="-533400"/>
            <a:ext cx="12790393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FA0AD19-2E2F-4A50-4961-529E2C1BDCC1}"/>
              </a:ext>
            </a:extLst>
          </p:cNvPr>
          <p:cNvSpPr/>
          <p:nvPr/>
        </p:nvSpPr>
        <p:spPr>
          <a:xfrm>
            <a:off x="6420532" y="517002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027736-622C-7588-A664-D2552D396E81}"/>
              </a:ext>
            </a:extLst>
          </p:cNvPr>
          <p:cNvCxnSpPr>
            <a:cxnSpLocks/>
          </p:cNvCxnSpPr>
          <p:nvPr/>
        </p:nvCxnSpPr>
        <p:spPr>
          <a:xfrm>
            <a:off x="576488" y="2419432"/>
            <a:ext cx="12524755" cy="135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9420BF-5155-0B76-96E2-4E01FD9A4176}"/>
              </a:ext>
            </a:extLst>
          </p:cNvPr>
          <p:cNvSpPr txBox="1"/>
          <p:nvPr/>
        </p:nvSpPr>
        <p:spPr>
          <a:xfrm>
            <a:off x="608745" y="2981975"/>
            <a:ext cx="134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cs typeface="Times New Roman" panose="02020603050405020304" pitchFamily="18" charset="0"/>
              </a:rPr>
              <a:t>R&amp;D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1463F-234D-8526-28A4-E833F44C1E25}"/>
              </a:ext>
            </a:extLst>
          </p:cNvPr>
          <p:cNvSpPr txBox="1"/>
          <p:nvPr/>
        </p:nvSpPr>
        <p:spPr>
          <a:xfrm>
            <a:off x="608745" y="1286648"/>
            <a:ext cx="1400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Academy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BC46A-7770-4085-667C-0FD21E0B021C}"/>
              </a:ext>
            </a:extLst>
          </p:cNvPr>
          <p:cNvSpPr txBox="1"/>
          <p:nvPr/>
        </p:nvSpPr>
        <p:spPr>
          <a:xfrm>
            <a:off x="578340" y="4300271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Startup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915B31-43A5-4C0B-2D61-3084F6EA5194}"/>
              </a:ext>
            </a:extLst>
          </p:cNvPr>
          <p:cNvCxnSpPr>
            <a:cxnSpLocks/>
          </p:cNvCxnSpPr>
          <p:nvPr/>
        </p:nvCxnSpPr>
        <p:spPr>
          <a:xfrm>
            <a:off x="533627" y="3846109"/>
            <a:ext cx="12567616" cy="1351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0FA5A9C-18E7-6EEE-15A1-8042AFC24EFB}"/>
              </a:ext>
            </a:extLst>
          </p:cNvPr>
          <p:cNvCxnSpPr>
            <a:cxnSpLocks/>
          </p:cNvCxnSpPr>
          <p:nvPr/>
        </p:nvCxnSpPr>
        <p:spPr>
          <a:xfrm>
            <a:off x="1923146" y="500743"/>
            <a:ext cx="0" cy="46570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68B5793-D12D-F5DF-E339-A600EE2EDF3E}"/>
              </a:ext>
            </a:extLst>
          </p:cNvPr>
          <p:cNvSpPr/>
          <p:nvPr/>
        </p:nvSpPr>
        <p:spPr>
          <a:xfrm>
            <a:off x="2039258" y="675396"/>
            <a:ext cx="2521566" cy="47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High school student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6A0E8F-C178-A5C1-C7BD-3FAF3668010A}"/>
              </a:ext>
            </a:extLst>
          </p:cNvPr>
          <p:cNvCxnSpPr>
            <a:cxnSpLocks/>
          </p:cNvCxnSpPr>
          <p:nvPr/>
        </p:nvCxnSpPr>
        <p:spPr>
          <a:xfrm>
            <a:off x="4717143" y="500743"/>
            <a:ext cx="0" cy="46570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7586DB8-BA51-8305-B0C3-EF321CF93C3C}"/>
              </a:ext>
            </a:extLst>
          </p:cNvPr>
          <p:cNvCxnSpPr>
            <a:cxnSpLocks/>
          </p:cNvCxnSpPr>
          <p:nvPr/>
        </p:nvCxnSpPr>
        <p:spPr>
          <a:xfrm>
            <a:off x="6313714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BEF14A7-7591-1620-7E04-B21A2D132CB0}"/>
              </a:ext>
            </a:extLst>
          </p:cNvPr>
          <p:cNvSpPr/>
          <p:nvPr/>
        </p:nvSpPr>
        <p:spPr>
          <a:xfrm>
            <a:off x="2039258" y="1267740"/>
            <a:ext cx="2521566" cy="4712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Undergraduate student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82E67F-EBCF-5744-0BAE-63577B48D0A7}"/>
              </a:ext>
            </a:extLst>
          </p:cNvPr>
          <p:cNvCxnSpPr>
            <a:cxnSpLocks/>
          </p:cNvCxnSpPr>
          <p:nvPr/>
        </p:nvCxnSpPr>
        <p:spPr>
          <a:xfrm>
            <a:off x="7932057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31E00A0-2DD3-3A54-AC0C-A12A7A4D820C}"/>
              </a:ext>
            </a:extLst>
          </p:cNvPr>
          <p:cNvCxnSpPr>
            <a:cxnSpLocks/>
          </p:cNvCxnSpPr>
          <p:nvPr/>
        </p:nvCxnSpPr>
        <p:spPr>
          <a:xfrm>
            <a:off x="9561285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8FD8CA1-C9F5-446A-4ACD-CA54BF93A317}"/>
              </a:ext>
            </a:extLst>
          </p:cNvPr>
          <p:cNvCxnSpPr>
            <a:cxnSpLocks/>
          </p:cNvCxnSpPr>
          <p:nvPr/>
        </p:nvCxnSpPr>
        <p:spPr>
          <a:xfrm>
            <a:off x="11362871" y="506183"/>
            <a:ext cx="0" cy="465160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111B6D9-92DB-FE5B-94BF-2C2DB2A3DD93}"/>
              </a:ext>
            </a:extLst>
          </p:cNvPr>
          <p:cNvSpPr/>
          <p:nvPr/>
        </p:nvSpPr>
        <p:spPr>
          <a:xfrm>
            <a:off x="2039258" y="1850616"/>
            <a:ext cx="2521566" cy="4712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MS/PhD student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9C1EE7-EAE4-83F5-64EA-B85787AEC916}"/>
              </a:ext>
            </a:extLst>
          </p:cNvPr>
          <p:cNvSpPr txBox="1"/>
          <p:nvPr/>
        </p:nvSpPr>
        <p:spPr>
          <a:xfrm>
            <a:off x="4932818" y="-187035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5D1669-4868-CD1A-B00A-C616D2BA0FD3}"/>
              </a:ext>
            </a:extLst>
          </p:cNvPr>
          <p:cNvSpPr/>
          <p:nvPr/>
        </p:nvSpPr>
        <p:spPr>
          <a:xfrm>
            <a:off x="4820554" y="525205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9F1BEA-FF54-7654-E9FE-7DB6AB9D34C8}"/>
              </a:ext>
            </a:extLst>
          </p:cNvPr>
          <p:cNvSpPr txBox="1"/>
          <p:nvPr/>
        </p:nvSpPr>
        <p:spPr>
          <a:xfrm>
            <a:off x="576488" y="5284456"/>
            <a:ext cx="2659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*Free, **Paid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D31F03-4FE4-9AA9-52F2-FD4B7A524C89}"/>
              </a:ext>
            </a:extLst>
          </p:cNvPr>
          <p:cNvSpPr/>
          <p:nvPr/>
        </p:nvSpPr>
        <p:spPr>
          <a:xfrm>
            <a:off x="2039259" y="675396"/>
            <a:ext cx="2518229" cy="46939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9F0E64-993E-E3ED-6A50-CDDDC8ED6DF7}"/>
              </a:ext>
            </a:extLst>
          </p:cNvPr>
          <p:cNvSpPr txBox="1"/>
          <p:nvPr/>
        </p:nvSpPr>
        <p:spPr>
          <a:xfrm>
            <a:off x="4660900" y="209225"/>
            <a:ext cx="1769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 </a:t>
            </a:r>
            <a:r>
              <a:rPr lang="en-US" sz="1400" dirty="0"/>
              <a:t>k</a:t>
            </a:r>
            <a:r>
              <a:rPr lang="en-US" sz="1400" dirty="0">
                <a:solidFill>
                  <a:schemeClr val="tx1"/>
                </a:solidFill>
              </a:rPr>
              <a:t>nowledge*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E9F0840-33B5-384F-CF28-5EC54E0EA3F9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4557488" y="910092"/>
            <a:ext cx="1538512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E9A793E-F49F-B7F2-BC3B-D943296A6625}"/>
              </a:ext>
            </a:extLst>
          </p:cNvPr>
          <p:cNvSpPr/>
          <p:nvPr/>
        </p:nvSpPr>
        <p:spPr>
          <a:xfrm>
            <a:off x="9674230" y="517002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A285132-890B-39F6-B1DA-B0B44EE2CEA0}"/>
              </a:ext>
            </a:extLst>
          </p:cNvPr>
          <p:cNvSpPr/>
          <p:nvPr/>
        </p:nvSpPr>
        <p:spPr>
          <a:xfrm>
            <a:off x="8055202" y="518855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098B79-3AB0-77D4-DED3-581A965F7675}"/>
              </a:ext>
            </a:extLst>
          </p:cNvPr>
          <p:cNvSpPr txBox="1"/>
          <p:nvPr/>
        </p:nvSpPr>
        <p:spPr>
          <a:xfrm>
            <a:off x="6431711" y="189826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1**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A0767F-364D-439D-16C3-43503FD334E8}"/>
              </a:ext>
            </a:extLst>
          </p:cNvPr>
          <p:cNvSpPr txBox="1"/>
          <p:nvPr/>
        </p:nvSpPr>
        <p:spPr>
          <a:xfrm>
            <a:off x="8060938" y="196687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2**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E255BB-8A68-032F-1759-6B52F14554AF}"/>
              </a:ext>
            </a:extLst>
          </p:cNvPr>
          <p:cNvSpPr txBox="1"/>
          <p:nvPr/>
        </p:nvSpPr>
        <p:spPr>
          <a:xfrm>
            <a:off x="9690165" y="189826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3**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0AB2DBF-C4D0-8EE3-F8BA-8F0F17FE13BA}"/>
              </a:ext>
            </a:extLst>
          </p:cNvPr>
          <p:cNvCxnSpPr>
            <a:cxnSpLocks/>
          </p:cNvCxnSpPr>
          <p:nvPr/>
        </p:nvCxnSpPr>
        <p:spPr>
          <a:xfrm>
            <a:off x="4557488" y="1487005"/>
            <a:ext cx="638356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CF426B1-FA81-90DF-4E7A-BAA1046582E1}"/>
              </a:ext>
            </a:extLst>
          </p:cNvPr>
          <p:cNvSpPr/>
          <p:nvPr/>
        </p:nvSpPr>
        <p:spPr>
          <a:xfrm>
            <a:off x="6096000" y="1390037"/>
            <a:ext cx="397575" cy="16794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Test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B5F7580-4917-A0F5-38DC-62C46C269223}"/>
              </a:ext>
            </a:extLst>
          </p:cNvPr>
          <p:cNvCxnSpPr>
            <a:cxnSpLocks/>
          </p:cNvCxnSpPr>
          <p:nvPr/>
        </p:nvCxnSpPr>
        <p:spPr>
          <a:xfrm>
            <a:off x="6430804" y="2083905"/>
            <a:ext cx="451024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B8AACC-882B-EECA-8B0F-3E132B487856}"/>
              </a:ext>
            </a:extLst>
          </p:cNvPr>
          <p:cNvSpPr/>
          <p:nvPr/>
        </p:nvSpPr>
        <p:spPr>
          <a:xfrm>
            <a:off x="10928658" y="1309902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724698-BD4A-C941-7172-ADF4869AEE18}"/>
              </a:ext>
            </a:extLst>
          </p:cNvPr>
          <p:cNvSpPr txBox="1"/>
          <p:nvPr/>
        </p:nvSpPr>
        <p:spPr>
          <a:xfrm>
            <a:off x="10894402" y="1371753"/>
            <a:ext cx="4267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FC68994-A4CE-6793-E57A-959D2D782358}"/>
              </a:ext>
            </a:extLst>
          </p:cNvPr>
          <p:cNvSpPr/>
          <p:nvPr/>
        </p:nvSpPr>
        <p:spPr>
          <a:xfrm>
            <a:off x="10941050" y="1894160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2964F-58C8-40FE-23E8-60FB730CB105}"/>
              </a:ext>
            </a:extLst>
          </p:cNvPr>
          <p:cNvSpPr txBox="1"/>
          <p:nvPr/>
        </p:nvSpPr>
        <p:spPr>
          <a:xfrm>
            <a:off x="10932850" y="1962048"/>
            <a:ext cx="365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AEE174A-0344-5225-D69D-2278A5238E90}"/>
              </a:ext>
            </a:extLst>
          </p:cNvPr>
          <p:cNvSpPr/>
          <p:nvPr/>
        </p:nvSpPr>
        <p:spPr>
          <a:xfrm>
            <a:off x="6100159" y="723851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A815A7-E04A-62F8-BEB1-CBAFDCF204E1}"/>
              </a:ext>
            </a:extLst>
          </p:cNvPr>
          <p:cNvSpPr txBox="1"/>
          <p:nvPr/>
        </p:nvSpPr>
        <p:spPr>
          <a:xfrm>
            <a:off x="5954451" y="791739"/>
            <a:ext cx="636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D259E1-9540-88BF-68EA-367D2C25AFC4}"/>
              </a:ext>
            </a:extLst>
          </p:cNvPr>
          <p:cNvSpPr/>
          <p:nvPr/>
        </p:nvSpPr>
        <p:spPr>
          <a:xfrm>
            <a:off x="11517994" y="510201"/>
            <a:ext cx="1583249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371D708-787D-5FB5-B3C7-AEB0D24FAF8C}"/>
              </a:ext>
            </a:extLst>
          </p:cNvPr>
          <p:cNvSpPr/>
          <p:nvPr/>
        </p:nvSpPr>
        <p:spPr>
          <a:xfrm>
            <a:off x="11443462" y="1687134"/>
            <a:ext cx="462926" cy="15939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Test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C52992F3-C38B-A410-4EA8-AC7FF64E5F40}"/>
              </a:ext>
            </a:extLst>
          </p:cNvPr>
          <p:cNvCxnSpPr>
            <a:cxnSpLocks/>
            <a:stCxn id="86" idx="6"/>
            <a:endCxn id="95" idx="0"/>
          </p:cNvCxnSpPr>
          <p:nvPr/>
        </p:nvCxnSpPr>
        <p:spPr>
          <a:xfrm>
            <a:off x="11266079" y="1478613"/>
            <a:ext cx="408846" cy="208521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E5CF676-FE6B-3C20-4DB7-2C358D11B3C1}"/>
              </a:ext>
            </a:extLst>
          </p:cNvPr>
          <p:cNvCxnSpPr>
            <a:cxnSpLocks/>
            <a:stCxn id="89" idx="6"/>
            <a:endCxn id="95" idx="2"/>
          </p:cNvCxnSpPr>
          <p:nvPr/>
        </p:nvCxnSpPr>
        <p:spPr>
          <a:xfrm flipV="1">
            <a:off x="11278471" y="1846526"/>
            <a:ext cx="396454" cy="216345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819CD17-70E0-E0B5-1103-F20E61EFFF86}"/>
              </a:ext>
            </a:extLst>
          </p:cNvPr>
          <p:cNvSpPr txBox="1"/>
          <p:nvPr/>
        </p:nvSpPr>
        <p:spPr>
          <a:xfrm>
            <a:off x="11566201" y="182297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Project*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5FBAD78-0AB5-B282-ECC8-A9EBBB2FD1F2}"/>
              </a:ext>
            </a:extLst>
          </p:cNvPr>
          <p:cNvSpPr/>
          <p:nvPr/>
        </p:nvSpPr>
        <p:spPr>
          <a:xfrm>
            <a:off x="2035922" y="2704964"/>
            <a:ext cx="2521566" cy="47123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Staff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547843-F385-CE39-8B61-4F0934A340A5}"/>
              </a:ext>
            </a:extLst>
          </p:cNvPr>
          <p:cNvSpPr/>
          <p:nvPr/>
        </p:nvSpPr>
        <p:spPr>
          <a:xfrm>
            <a:off x="2039258" y="3267853"/>
            <a:ext cx="2521566" cy="47123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35DFECE-B982-6B30-CF20-61A324E29B08}"/>
              </a:ext>
            </a:extLst>
          </p:cNvPr>
          <p:cNvSpPr/>
          <p:nvPr/>
        </p:nvSpPr>
        <p:spPr>
          <a:xfrm>
            <a:off x="2048547" y="3971186"/>
            <a:ext cx="2521566" cy="4712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Mentor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5C03046-A34E-E551-9FCB-490B55E92513}"/>
              </a:ext>
            </a:extLst>
          </p:cNvPr>
          <p:cNvSpPr/>
          <p:nvPr/>
        </p:nvSpPr>
        <p:spPr>
          <a:xfrm>
            <a:off x="2051883" y="4534075"/>
            <a:ext cx="2521566" cy="47123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Advisor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A1C7FA-2777-3BF5-C68C-25388E74F2D2}"/>
              </a:ext>
            </a:extLst>
          </p:cNvPr>
          <p:cNvSpPr txBox="1"/>
          <p:nvPr/>
        </p:nvSpPr>
        <p:spPr>
          <a:xfrm>
            <a:off x="6493575" y="-187035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FA9783D-384C-8ADE-D244-E07854C01A43}"/>
              </a:ext>
            </a:extLst>
          </p:cNvPr>
          <p:cNvSpPr txBox="1"/>
          <p:nvPr/>
        </p:nvSpPr>
        <p:spPr>
          <a:xfrm>
            <a:off x="8120394" y="-179929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607732E-03D6-F0B4-7BC4-882B2709F5BA}"/>
              </a:ext>
            </a:extLst>
          </p:cNvPr>
          <p:cNvSpPr txBox="1"/>
          <p:nvPr/>
        </p:nvSpPr>
        <p:spPr>
          <a:xfrm>
            <a:off x="9681151" y="-179929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C167DAEC-5242-224E-B770-135A0E27D3B7}"/>
              </a:ext>
            </a:extLst>
          </p:cNvPr>
          <p:cNvCxnSpPr>
            <a:cxnSpLocks/>
            <a:stCxn id="63" idx="0"/>
            <a:endCxn id="120" idx="0"/>
          </p:cNvCxnSpPr>
          <p:nvPr/>
        </p:nvCxnSpPr>
        <p:spPr>
          <a:xfrm rot="5400000" flipH="1" flipV="1">
            <a:off x="6284338" y="-967413"/>
            <a:ext cx="12700" cy="156075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1DE53310-E78C-20D3-3F13-6F79ED9E0B73}"/>
              </a:ext>
            </a:extLst>
          </p:cNvPr>
          <p:cNvCxnSpPr>
            <a:cxnSpLocks/>
            <a:stCxn id="120" idx="0"/>
            <a:endCxn id="121" idx="0"/>
          </p:cNvCxnSpPr>
          <p:nvPr/>
        </p:nvCxnSpPr>
        <p:spPr>
          <a:xfrm rot="16200000" flipH="1">
            <a:off x="7874573" y="-996891"/>
            <a:ext cx="7106" cy="1626819"/>
          </a:xfrm>
          <a:prstGeom prst="curvedConnector3">
            <a:avLst>
              <a:gd name="adj1" fmla="val -3217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Connector: Curved 129">
            <a:extLst>
              <a:ext uri="{FF2B5EF4-FFF2-40B4-BE49-F238E27FC236}">
                <a16:creationId xmlns:a16="http://schemas.microsoft.com/office/drawing/2014/main" id="{1270A273-260B-7C4D-A08C-34EFF3413A5E}"/>
              </a:ext>
            </a:extLst>
          </p:cNvPr>
          <p:cNvCxnSpPr>
            <a:cxnSpLocks/>
            <a:stCxn id="121" idx="0"/>
            <a:endCxn id="122" idx="0"/>
          </p:cNvCxnSpPr>
          <p:nvPr/>
        </p:nvCxnSpPr>
        <p:spPr>
          <a:xfrm rot="5400000" flipH="1" flipV="1">
            <a:off x="9471914" y="-960307"/>
            <a:ext cx="12700" cy="156075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74E1A4C-9060-3B14-48D6-F3C21F82C374}"/>
              </a:ext>
            </a:extLst>
          </p:cNvPr>
          <p:cNvSpPr txBox="1"/>
          <p:nvPr/>
        </p:nvSpPr>
        <p:spPr>
          <a:xfrm>
            <a:off x="11566201" y="576417"/>
            <a:ext cx="179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1,2</a:t>
            </a:r>
          </a:p>
          <a:p>
            <a:r>
              <a:rPr lang="en-US" dirty="0"/>
              <a:t>Thesis</a:t>
            </a:r>
          </a:p>
        </p:txBody>
      </p:sp>
      <p:pic>
        <p:nvPicPr>
          <p:cNvPr id="138" name="Picture 137" descr="A black and white logo with a brain">
            <a:extLst>
              <a:ext uri="{FF2B5EF4-FFF2-40B4-BE49-F238E27FC236}">
                <a16:creationId xmlns:a16="http://schemas.microsoft.com/office/drawing/2014/main" id="{02EB5EC5-5A9D-6630-F7CB-F85C0501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7" y="-316884"/>
            <a:ext cx="808112" cy="1012574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3E893622-3B8D-A7B1-1F45-735412E9DE75}"/>
              </a:ext>
            </a:extLst>
          </p:cNvPr>
          <p:cNvSpPr/>
          <p:nvPr/>
        </p:nvSpPr>
        <p:spPr>
          <a:xfrm>
            <a:off x="4827934" y="2718173"/>
            <a:ext cx="911209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31D182-90F0-A7E7-8C27-838F32530F96}"/>
              </a:ext>
            </a:extLst>
          </p:cNvPr>
          <p:cNvSpPr txBox="1"/>
          <p:nvPr/>
        </p:nvSpPr>
        <p:spPr>
          <a:xfrm>
            <a:off x="4864174" y="3070110"/>
            <a:ext cx="8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F782BBF-D5DF-46EF-68B7-C85DBD206B77}"/>
              </a:ext>
            </a:extLst>
          </p:cNvPr>
          <p:cNvSpPr/>
          <p:nvPr/>
        </p:nvSpPr>
        <p:spPr>
          <a:xfrm>
            <a:off x="7004010" y="2725282"/>
            <a:ext cx="1315268" cy="1023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40B48CA-9F5E-E0C0-A46E-7A53E0295709}"/>
              </a:ext>
            </a:extLst>
          </p:cNvPr>
          <p:cNvSpPr txBox="1"/>
          <p:nvPr/>
        </p:nvSpPr>
        <p:spPr>
          <a:xfrm>
            <a:off x="7030117" y="3048882"/>
            <a:ext cx="127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Simulation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B531F86-CFC3-0485-4C57-04461ACD623A}"/>
              </a:ext>
            </a:extLst>
          </p:cNvPr>
          <p:cNvSpPr/>
          <p:nvPr/>
        </p:nvSpPr>
        <p:spPr>
          <a:xfrm>
            <a:off x="9549042" y="2702044"/>
            <a:ext cx="624564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399058-74D1-A08A-2FDA-AF9D890A9266}"/>
              </a:ext>
            </a:extLst>
          </p:cNvPr>
          <p:cNvSpPr txBox="1"/>
          <p:nvPr/>
        </p:nvSpPr>
        <p:spPr>
          <a:xfrm>
            <a:off x="9561284" y="3053981"/>
            <a:ext cx="60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444B47-D22A-977C-3C49-7E9907FA7A4D}"/>
              </a:ext>
            </a:extLst>
          </p:cNvPr>
          <p:cNvSpPr/>
          <p:nvPr/>
        </p:nvSpPr>
        <p:spPr>
          <a:xfrm>
            <a:off x="11517994" y="2693135"/>
            <a:ext cx="1580844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675F8C1-4734-D23E-AB82-C7FE6B5A972C}"/>
              </a:ext>
            </a:extLst>
          </p:cNvPr>
          <p:cNvSpPr txBox="1"/>
          <p:nvPr/>
        </p:nvSpPr>
        <p:spPr>
          <a:xfrm>
            <a:off x="11554234" y="2879972"/>
            <a:ext cx="112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Fabricate chip</a:t>
            </a:r>
          </a:p>
        </p:txBody>
      </p:sp>
      <p:pic>
        <p:nvPicPr>
          <p:cNvPr id="1026" name="Picture 2" descr="May be an image of text">
            <a:extLst>
              <a:ext uri="{FF2B5EF4-FFF2-40B4-BE49-F238E27FC236}">
                <a16:creationId xmlns:a16="http://schemas.microsoft.com/office/drawing/2014/main" id="{CAB84BA2-72C1-C7E5-EBCC-D9CE0EB4B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5" t="18693" r="2145" b="22945"/>
          <a:stretch>
            <a:fillRect/>
          </a:stretch>
        </p:blipFill>
        <p:spPr bwMode="auto">
          <a:xfrm rot="16200000">
            <a:off x="10213323" y="2752512"/>
            <a:ext cx="1049672" cy="91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n image of text">
            <a:extLst>
              <a:ext uri="{FF2B5EF4-FFF2-40B4-BE49-F238E27FC236}">
                <a16:creationId xmlns:a16="http://schemas.microsoft.com/office/drawing/2014/main" id="{7B5CDA45-8060-D4BA-A52E-DA5723B8A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t="6307" r="12617" b="13272"/>
          <a:stretch>
            <a:fillRect/>
          </a:stretch>
        </p:blipFill>
        <p:spPr bwMode="auto">
          <a:xfrm>
            <a:off x="8402845" y="2716344"/>
            <a:ext cx="843408" cy="104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69769FA-8426-EFDC-2559-793F9058D5A8}"/>
              </a:ext>
            </a:extLst>
          </p:cNvPr>
          <p:cNvCxnSpPr>
            <a:cxnSpLocks/>
            <a:stCxn id="1028" idx="3"/>
            <a:endCxn id="144" idx="1"/>
          </p:cNvCxnSpPr>
          <p:nvPr/>
        </p:nvCxnSpPr>
        <p:spPr>
          <a:xfrm flipV="1">
            <a:off x="9246253" y="3238647"/>
            <a:ext cx="315031" cy="8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5FD0E53C-BFB3-D059-8E66-8DF3FDFC4F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" r="54320"/>
          <a:stretch>
            <a:fillRect/>
          </a:stretch>
        </p:blipFill>
        <p:spPr>
          <a:xfrm>
            <a:off x="5821607" y="2706480"/>
            <a:ext cx="802203" cy="104967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18883CC-4160-7A2A-77DB-47494A7F71CB}"/>
              </a:ext>
            </a:extLst>
          </p:cNvPr>
          <p:cNvCxnSpPr>
            <a:cxnSpLocks/>
            <a:stCxn id="150" idx="3"/>
            <a:endCxn id="142" idx="1"/>
          </p:cNvCxnSpPr>
          <p:nvPr/>
        </p:nvCxnSpPr>
        <p:spPr>
          <a:xfrm>
            <a:off x="6623810" y="3231316"/>
            <a:ext cx="406307" cy="22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094D7AB-65D9-F0A3-754F-1D0BC839031D}"/>
              </a:ext>
            </a:extLst>
          </p:cNvPr>
          <p:cNvCxnSpPr>
            <a:cxnSpLocks/>
          </p:cNvCxnSpPr>
          <p:nvPr/>
        </p:nvCxnSpPr>
        <p:spPr>
          <a:xfrm>
            <a:off x="11212632" y="3231316"/>
            <a:ext cx="31503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54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0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ô Hình Brid - Goddess Of Victory: Nikke - Noodle Stopper ...">
            <a:extLst>
              <a:ext uri="{FF2B5EF4-FFF2-40B4-BE49-F238E27FC236}">
                <a16:creationId xmlns:a16="http://schemas.microsoft.com/office/drawing/2014/main" id="{6D3B75A9-9C93-444D-B1CB-970DE5E99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3" b="27426"/>
          <a:stretch>
            <a:fillRect/>
          </a:stretch>
        </p:blipFill>
        <p:spPr bwMode="auto">
          <a:xfrm>
            <a:off x="2667000" y="451412"/>
            <a:ext cx="6858000" cy="452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AECF8-B9B3-2B76-2764-05A808312F8F}"/>
              </a:ext>
            </a:extLst>
          </p:cNvPr>
          <p:cNvSpPr/>
          <p:nvPr/>
        </p:nvSpPr>
        <p:spPr>
          <a:xfrm>
            <a:off x="5416954" y="1925647"/>
            <a:ext cx="2939970" cy="12847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390F1-B552-27F0-E308-801CACD385C1}"/>
              </a:ext>
            </a:extLst>
          </p:cNvPr>
          <p:cNvSpPr txBox="1"/>
          <p:nvPr/>
        </p:nvSpPr>
        <p:spPr>
          <a:xfrm>
            <a:off x="5567423" y="1967877"/>
            <a:ext cx="293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600">
                <a:latin typeface="Andale Mono" panose="020B0509000000000004" pitchFamily="49" charset="0"/>
              </a:rPr>
              <a:t>GIVE AWAY THÁNG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77472-FD84-1ADE-3EC9-DE451D0F6B1A}"/>
              </a:ext>
            </a:extLst>
          </p:cNvPr>
          <p:cNvSpPr txBox="1"/>
          <p:nvPr/>
        </p:nvSpPr>
        <p:spPr>
          <a:xfrm>
            <a:off x="3034495" y="3647499"/>
            <a:ext cx="64905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520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chocib Script Latin Pro" panose="020F0502020204030204" pitchFamily="34" charset="0"/>
                <a:ea typeface="Brush Script MT" panose="03060802040406070304" pitchFamily="66" charset="-122"/>
                <a:cs typeface="Cochocib Script Latin Pro" panose="020F0502020204030204" pitchFamily="34" charset="0"/>
              </a:rPr>
              <a:t>NIKKE  Noodle Stopper Brid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23EFDC87-63B1-DF7F-7362-6456A9179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244" y="592221"/>
            <a:ext cx="795759" cy="1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eam Workshop::[Nikke] Brid">
            <a:extLst>
              <a:ext uri="{FF2B5EF4-FFF2-40B4-BE49-F238E27FC236}">
                <a16:creationId xmlns:a16="http://schemas.microsoft.com/office/drawing/2014/main" id="{01A9FF36-078C-8107-3121-A82352CD9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61"/>
          <a:stretch>
            <a:fillRect/>
          </a:stretch>
        </p:blipFill>
        <p:spPr bwMode="auto">
          <a:xfrm>
            <a:off x="2844800" y="177800"/>
            <a:ext cx="6502400" cy="442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868966-7E61-3463-621A-BAF7FC9883A9}"/>
              </a:ext>
            </a:extLst>
          </p:cNvPr>
          <p:cNvSpPr/>
          <p:nvPr/>
        </p:nvSpPr>
        <p:spPr>
          <a:xfrm>
            <a:off x="4195179" y="2222340"/>
            <a:ext cx="5041418" cy="13026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1F055-3C1E-F298-1605-C4A8974ECA69}"/>
              </a:ext>
            </a:extLst>
          </p:cNvPr>
          <p:cNvSpPr txBox="1"/>
          <p:nvPr/>
        </p:nvSpPr>
        <p:spPr>
          <a:xfrm>
            <a:off x="4305782" y="2266807"/>
            <a:ext cx="4930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3600">
                <a:latin typeface="Andale Mono" panose="020B0509000000000004" pitchFamily="49" charset="0"/>
              </a:rPr>
              <a:t>KẾT QUẢ GIVE AWAY </a:t>
            </a:r>
          </a:p>
          <a:p>
            <a:pPr algn="ctr"/>
            <a:r>
              <a:rPr lang="en-VN" sz="3600">
                <a:latin typeface="Andale Mono" panose="020B0509000000000004" pitchFamily="49" charset="0"/>
              </a:rPr>
              <a:t>THÁNG 9 (BRID)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2590F628-8390-6264-4F3C-317926804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0" y="279704"/>
            <a:ext cx="795759" cy="1032000"/>
          </a:xfrm>
          <a:prstGeom prst="rect">
            <a:avLst/>
          </a:prstGeom>
        </p:spPr>
      </p:pic>
      <p:pic>
        <p:nvPicPr>
          <p:cNvPr id="8" name="Picture 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1AEBAAF-8492-0AB4-BC55-0D1F17922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284" y="3656953"/>
            <a:ext cx="4390663" cy="813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B97CA1-3DF4-B1AC-0867-A825492AD823}"/>
              </a:ext>
            </a:extLst>
          </p:cNvPr>
          <p:cNvSpPr txBox="1"/>
          <p:nvPr/>
        </p:nvSpPr>
        <p:spPr>
          <a:xfrm>
            <a:off x="7292051" y="3740330"/>
            <a:ext cx="2055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Số may mắn: 40</a:t>
            </a:r>
          </a:p>
          <a:p>
            <a:r>
              <a:rPr lang="en-VN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Đáp án đúng: B B</a:t>
            </a:r>
          </a:p>
        </p:txBody>
      </p:sp>
    </p:spTree>
    <p:extLst>
      <p:ext uri="{BB962C8B-B14F-4D97-AF65-F5344CB8AC3E}">
        <p14:creationId xmlns:p14="http://schemas.microsoft.com/office/powerpoint/2010/main" val="304480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8FF64E-6604-A711-E0CF-9994C4181DD7}"/>
              </a:ext>
            </a:extLst>
          </p:cNvPr>
          <p:cNvSpPr/>
          <p:nvPr/>
        </p:nvSpPr>
        <p:spPr>
          <a:xfrm>
            <a:off x="1979271" y="1203767"/>
            <a:ext cx="7789762" cy="423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F5399F21-A852-E29B-DEE1-CEF4CED48256}"/>
              </a:ext>
            </a:extLst>
          </p:cNvPr>
          <p:cNvSpPr/>
          <p:nvPr/>
        </p:nvSpPr>
        <p:spPr>
          <a:xfrm rot="5400000">
            <a:off x="5400788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7C2762B0-8B0E-6366-8005-8C9EDBBD58A4}"/>
              </a:ext>
            </a:extLst>
          </p:cNvPr>
          <p:cNvSpPr/>
          <p:nvPr/>
        </p:nvSpPr>
        <p:spPr>
          <a:xfrm rot="5400000">
            <a:off x="5004684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ABA2B01B-B0BA-3575-D9BC-E9CB2C940ADE}"/>
              </a:ext>
            </a:extLst>
          </p:cNvPr>
          <p:cNvSpPr/>
          <p:nvPr/>
        </p:nvSpPr>
        <p:spPr>
          <a:xfrm rot="5400000">
            <a:off x="4608579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359F5A-63E5-7D2D-01A7-D2C203ABB054}"/>
              </a:ext>
            </a:extLst>
          </p:cNvPr>
          <p:cNvSpPr/>
          <p:nvPr/>
        </p:nvSpPr>
        <p:spPr>
          <a:xfrm>
            <a:off x="5011522" y="258613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368274AD-4558-9AE6-9BD2-F56FFEBD3DEC}"/>
              </a:ext>
            </a:extLst>
          </p:cNvPr>
          <p:cNvSpPr/>
          <p:nvPr/>
        </p:nvSpPr>
        <p:spPr>
          <a:xfrm>
            <a:off x="5011522" y="225500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006FA7CA-E256-8AEC-3B60-0BC2EC132DAA}"/>
              </a:ext>
            </a:extLst>
          </p:cNvPr>
          <p:cNvSpPr/>
          <p:nvPr/>
        </p:nvSpPr>
        <p:spPr>
          <a:xfrm>
            <a:off x="5011522" y="192388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0B58668E-C89E-2D44-5AC2-2419A6AA4596}"/>
              </a:ext>
            </a:extLst>
          </p:cNvPr>
          <p:cNvSpPr/>
          <p:nvPr/>
        </p:nvSpPr>
        <p:spPr>
          <a:xfrm>
            <a:off x="5187564" y="1597755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296F55F3-156B-5BA8-93AB-C6A1F6BEF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07" y="2156142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9F881A6-1879-009B-F717-84341003F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40" y="1684654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D9E839-DCFC-84D4-F23E-246DC3CFCB96}"/>
              </a:ext>
            </a:extLst>
          </p:cNvPr>
          <p:cNvSpPr txBox="1"/>
          <p:nvPr/>
        </p:nvSpPr>
        <p:spPr>
          <a:xfrm>
            <a:off x="5107521" y="3159658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72DE8-9C7B-9652-8407-7037BF69BCE9}"/>
              </a:ext>
            </a:extLst>
          </p:cNvPr>
          <p:cNvSpPr txBox="1"/>
          <p:nvPr/>
        </p:nvSpPr>
        <p:spPr>
          <a:xfrm>
            <a:off x="1979271" y="4118573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TUYỂN SINH VIÊN THAM GIA NGHIÊN CỨU (SOFTWARE)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FA242A-1016-A0C1-15EA-92A3F98CAB35}"/>
              </a:ext>
            </a:extLst>
          </p:cNvPr>
          <p:cNvCxnSpPr/>
          <p:nvPr/>
        </p:nvCxnSpPr>
        <p:spPr>
          <a:xfrm>
            <a:off x="3992036" y="4618299"/>
            <a:ext cx="383122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1E00E4-4F07-EBCC-2174-9B39E57998F0}"/>
              </a:ext>
            </a:extLst>
          </p:cNvPr>
          <p:cNvSpPr txBox="1"/>
          <p:nvPr/>
        </p:nvSpPr>
        <p:spPr>
          <a:xfrm>
            <a:off x="2012765" y="4780471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Thời hạn: 11/10 – 20/10</a:t>
            </a:r>
          </a:p>
        </p:txBody>
      </p:sp>
    </p:spTree>
    <p:extLst>
      <p:ext uri="{BB962C8B-B14F-4D97-AF65-F5344CB8AC3E}">
        <p14:creationId xmlns:p14="http://schemas.microsoft.com/office/powerpoint/2010/main" val="1077780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6D30-BC28-C537-840A-76EFF5A2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08BBA-D8A3-E724-1333-2BE7EF557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980" y="-14514"/>
            <a:ext cx="364515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C2A09-37BC-D842-C1D8-4C7559E92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80" y="-133821"/>
            <a:ext cx="7772400" cy="4663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AA5BFB-F835-18EC-98EA-DBC34D9EB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42" y="4563551"/>
            <a:ext cx="3881738" cy="27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0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12522</TotalTime>
  <Words>141</Words>
  <Application>Microsoft Macintosh PowerPoint</Application>
  <PresentationFormat>Widescreen</PresentationFormat>
  <Paragraphs>59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Andale Mono</vt:lpstr>
      <vt:lpstr>Aptos</vt:lpstr>
      <vt:lpstr>Aptos Display</vt:lpstr>
      <vt:lpstr>Arial</vt:lpstr>
      <vt:lpstr>Bahnschrift SemiLight Condensed</vt:lpstr>
      <vt:lpstr>Cochocib Script Latin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Nguyen Thi Le  Thuy - Y19</cp:lastModifiedBy>
  <cp:revision>11</cp:revision>
  <dcterms:created xsi:type="dcterms:W3CDTF">2025-08-09T01:51:01Z</dcterms:created>
  <dcterms:modified xsi:type="dcterms:W3CDTF">2025-10-12T07:22:28Z</dcterms:modified>
</cp:coreProperties>
</file>