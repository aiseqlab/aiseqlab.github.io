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6" r:id="rId2"/>
    <p:sldId id="265" r:id="rId3"/>
    <p:sldId id="275" r:id="rId4"/>
    <p:sldId id="279" r:id="rId5"/>
    <p:sldId id="280" r:id="rId6"/>
    <p:sldId id="286" r:id="rId7"/>
    <p:sldId id="283" r:id="rId8"/>
    <p:sldId id="285" r:id="rId9"/>
    <p:sldId id="282" r:id="rId10"/>
    <p:sldId id="284" r:id="rId11"/>
    <p:sldId id="287" r:id="rId1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05"/>
    <p:restoredTop sz="94660"/>
  </p:normalViewPr>
  <p:slideViewPr>
    <p:cSldViewPr snapToGrid="0">
      <p:cViewPr varScale="1">
        <p:scale>
          <a:sx n="116" d="100"/>
          <a:sy n="116" d="100"/>
        </p:scale>
        <p:origin x="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91084E-795F-47FF-83F0-D841C2E57933}" type="datetimeFigureOut">
              <a:rPr lang="vi-VN" smtClean="0"/>
              <a:t>13/5/26</a:t>
            </a:fld>
            <a:endParaRPr lang="vi-VN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933745-F2A1-44EF-888B-11DA8E4566A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40671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79928F3-0DCA-4388-9BA7-AF4A41483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E44796EF-1F04-4AC3-8F51-E73A52D2EF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478CA1F-ADDA-4801-B9A5-49B691C99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3218-0DF7-4F94-8A7C-FF02C56324C7}" type="datetime1">
              <a:rPr lang="vi-VN" smtClean="0"/>
              <a:t>13/5/26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0D75D26-A890-4431-8443-87BEDD800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42781CF-B543-48BB-B136-983EDD269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FB6D-289F-493D-B429-BB6C39253D8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71555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5FF5070-38A6-482B-8182-654C7FE76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966741CC-3CD6-4D95-AA0B-E90AE26AB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1D745E9D-790F-4ACF-9013-C4AE74545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6F2FE-7DDA-4CC2-8B19-6C163EA0FB59}" type="datetime1">
              <a:rPr lang="vi-VN" smtClean="0"/>
              <a:t>13/5/26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0B7DA203-0A2E-405B-B2C2-B6653AEDB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323F7590-D27A-46B4-965B-B00D6638A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FB6D-289F-493D-B429-BB6C39253D8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22341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F05BC5B-86D4-42C2-9C7A-6019833BF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18382EFA-E550-468C-9B02-51E538701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BE90071-94E0-4791-94CF-84478DA99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BA978-731B-4F2E-AA3A-2BB764E111B8}" type="datetime1">
              <a:rPr lang="vi-VN" smtClean="0"/>
              <a:t>13/5/26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4CAC533B-8AA9-4256-9115-9C1C78D0F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817FD00-5977-490E-A264-72CAD3DA6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FB6D-289F-493D-B429-BB6C39253D8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31568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8FB8F2E-CFFD-4155-948C-1F255C696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1618815-62A1-4D41-ADB4-947D4B44A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2DB7A840-DA15-4FED-8DB0-8C8BE3DF9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BED8B9AD-446B-4FC4-AA56-E5FA5821B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917-EDF8-45BB-8125-D502F66F2477}" type="datetime1">
              <a:rPr lang="vi-VN" smtClean="0"/>
              <a:t>13/5/26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8B62D0BA-4BCF-467D-9A0C-13F82F2E0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9CC5D80C-A0C0-4A45-A0C1-D557AAD19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FB6D-289F-493D-B429-BB6C39253D8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5362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F262587-5F1C-4596-9FDD-91654C3CC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2D7AE537-4AD6-4604-B682-0C3ECDDC7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174CD087-C982-4C7F-AA39-FE2524412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6E426E1D-1877-40A9-8E13-747AFCEE40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9D55B67D-1CCE-4BE8-A6C5-F687F5A9E6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75137438-E8C2-4776-A032-80621DA0E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EB70E-550C-49E7-9133-9B30B2AC0232}" type="datetime1">
              <a:rPr lang="vi-VN" smtClean="0"/>
              <a:t>13/5/26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5ACC0978-B43E-4D47-86FA-A68701482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062037BF-55C9-46FF-9683-439342135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FB6D-289F-493D-B429-BB6C39253D8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26752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76E0F3D-FB69-410B-AB5D-77D68F6BF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4E73F3AF-3AF4-43BF-9DAC-BDC131F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2B735-CBDF-45F6-82E6-FE5BC94C75AA}" type="datetime1">
              <a:rPr lang="vi-VN" smtClean="0"/>
              <a:t>13/5/26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80213AFD-83DA-4433-ADAC-B3453D6E6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D5A51CE-C938-48AC-BAC5-8694D9BCC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FB6D-289F-493D-B429-BB6C39253D8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81531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E6EDFCC5-1255-42EE-B47E-8A13545B1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F1B4-08A7-407A-8506-E3D4A4F9FDBE}" type="datetime1">
              <a:rPr lang="vi-VN" smtClean="0"/>
              <a:t>13/5/26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177BA3AD-A557-40D0-87EE-5DE133C17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1FED691B-7ECF-49E6-B450-06B1780B9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FB6D-289F-493D-B429-BB6C39253D8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144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FE9D19D-A63F-4D96-8508-8CD55A426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D258687-6DC1-4AAB-88FD-DE9E01CCB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A6408E5-D29A-453F-8850-88D53D19C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6E2A4A98-361F-4CCE-AEDB-5F419BBF8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7DA55-73DE-4601-A128-75DCD866C671}" type="datetime1">
              <a:rPr lang="vi-VN" smtClean="0"/>
              <a:t>13/5/26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CA9395BE-E856-453C-B479-60677863D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5523AD49-2BAF-4990-9537-BBC121902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FB6D-289F-493D-B429-BB6C39253D8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37925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A7CD618-2038-4E0D-B148-E8D64069D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BA1E3364-AF8F-4760-98AD-37C9BCE909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E6325719-9193-4C4D-9E0D-7BEEA3952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ECD3AFB8-5C16-439F-9C1A-C809511D7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29C0-C975-4E4A-AE5A-74F936E8F8E3}" type="datetime1">
              <a:rPr lang="vi-VN" smtClean="0"/>
              <a:t>13/5/26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F89F5123-9689-4396-8999-58F21AC12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B105D673-34F1-4149-A9B5-2C18CF564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FB6D-289F-493D-B429-BB6C39253D8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42750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C06FF4A-D437-421B-A533-6CA560B22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195A3E87-077A-41FD-BA86-1D63DB35B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EADBEE75-4866-4B05-BB7B-FCB77D858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A4E45-6A0E-45B7-B173-32CF994E7277}" type="datetime1">
              <a:rPr lang="vi-VN" smtClean="0"/>
              <a:t>13/5/26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DBBB99E-D789-49A7-B085-2FC6C09B2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6291AAD4-3A39-4873-A595-0411CFD50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FB6D-289F-493D-B429-BB6C39253D8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9679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859B217D-9B54-4785-9CD8-3A99881CCE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A1DF2EF7-4D06-4452-8437-E4F2D5189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1B41416E-27C2-4E77-BD17-BE15F5084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1F26E-83AE-4875-9471-7BE993A8DCA5}" type="datetime1">
              <a:rPr lang="vi-VN" smtClean="0"/>
              <a:t>13/5/26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F10EBFAC-CF78-4F22-B089-9EE1C2B8E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4DEA6C6D-4E8A-4F15-9875-96EF1FC13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FB6D-289F-493D-B429-BB6C39253D8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95181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689FB170-2389-46C9-88CB-01EAF39B0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F63DA40-E8A6-4F06-A4AF-DB6FAF33F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B91D48A-B58F-4315-914C-5CED597711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0EBE5-6E38-4468-9044-2C150FEFC308}" type="datetime1">
              <a:rPr lang="vi-VN" smtClean="0"/>
              <a:t>13/5/26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7AB0570C-A139-4F83-AA06-24FD8D4BA5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43FCB8A-F1B7-4FFD-AEBC-97C0F0146E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28FB6D-289F-493D-B429-BB6C39253D8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48763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hyperlink" Target="mailto:haivt@uit.edu.v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ACCF8-2D42-4360-AA30-17E7B60E0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20F0BF05-A4C0-1D63-833A-B55A2903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FB6D-289F-493D-B429-BB6C39253D80}" type="slidenum">
              <a:rPr lang="vi-VN" smtClean="0"/>
              <a:t>1</a:t>
            </a:fld>
            <a:endParaRPr lang="vi-VN"/>
          </a:p>
        </p:txBody>
      </p:sp>
      <p:sp>
        <p:nvSpPr>
          <p:cNvPr id="8" name="Tiêu đề 1">
            <a:extLst>
              <a:ext uri="{FF2B5EF4-FFF2-40B4-BE49-F238E27FC236}">
                <a16:creationId xmlns:a16="http://schemas.microsoft.com/office/drawing/2014/main" id="{4C1488B4-6EC1-644C-5899-9E92406EA1F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Aff</a:t>
            </a:r>
            <a:endParaRPr lang="vi-VN"/>
          </a:p>
        </p:txBody>
      </p:sp>
      <p:sp>
        <p:nvSpPr>
          <p:cNvPr id="9" name="Chỗ dành sẵn cho Nội dung 2">
            <a:extLst>
              <a:ext uri="{FF2B5EF4-FFF2-40B4-BE49-F238E27FC236}">
                <a16:creationId xmlns:a16="http://schemas.microsoft.com/office/drawing/2014/main" id="{27757FC8-02CA-F9AA-9C6E-07D789588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3933"/>
            <a:ext cx="10383982" cy="4982417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Lecturer at SE-UIT-VNUHCM</a:t>
            </a:r>
          </a:p>
          <a:p>
            <a:pPr marL="0" indent="0">
              <a:buNone/>
            </a:pPr>
            <a:r>
              <a:rPr lang="en-US"/>
              <a:t>Adjunct Researcher at FRIS, Tohoku University, Japan</a:t>
            </a:r>
          </a:p>
          <a:p>
            <a:pPr marL="0" indent="0">
              <a:buNone/>
            </a:pPr>
            <a:r>
              <a:rPr lang="en-US"/>
              <a:t>Co-Investigator at AISeQ lab</a:t>
            </a:r>
          </a:p>
          <a:p>
            <a:pPr marL="0" indent="0">
              <a:buNone/>
            </a:pPr>
            <a:r>
              <a:rPr lang="en-US"/>
              <a:t>Join our lab: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E809444-9731-BA40-38CA-B7BD203F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300" y="1194546"/>
            <a:ext cx="4038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Graduate | Tohoku University Global Site">
            <a:extLst>
              <a:ext uri="{FF2B5EF4-FFF2-40B4-BE49-F238E27FC236}">
                <a16:creationId xmlns:a16="http://schemas.microsoft.com/office/drawing/2014/main" id="{45BD3A19-AE9E-88DE-73B5-08BC967A0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4669" y="1358801"/>
            <a:ext cx="1066271" cy="1439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>
            <a:extLst>
              <a:ext uri="{FF2B5EF4-FFF2-40B4-BE49-F238E27FC236}">
                <a16:creationId xmlns:a16="http://schemas.microsoft.com/office/drawing/2014/main" id="{C19D0281-4B7D-2CD8-E7B4-C66BEB104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188" y="2340073"/>
            <a:ext cx="704850" cy="916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B8270F2-FF07-534A-E42F-0E605E1F2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18" y="3470275"/>
            <a:ext cx="3251200" cy="325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8778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4D06002-DF90-86EC-0238-A1416ED3B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Info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BE79ED1-3BE4-5637-7131-B7966EF5C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32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Email: </a:t>
            </a:r>
            <a:r>
              <a:rPr lang="en-US">
                <a:hlinkClick r:id="rId2"/>
              </a:rPr>
              <a:t>haivt@uit.edu.vn</a:t>
            </a:r>
            <a:r>
              <a:rPr lang="en-US"/>
              <a:t> / </a:t>
            </a:r>
            <a:r>
              <a:rPr lang="en-US" u="sng"/>
              <a:t>tuan.hai.vu.b7@tohoku.ac.jp</a:t>
            </a:r>
          </a:p>
          <a:p>
            <a:pPr marL="0" indent="0">
              <a:buNone/>
            </a:pPr>
            <a:r>
              <a:rPr lang="en-US"/>
              <a:t>Phone: 0814822188 / (+81) 07084962244</a:t>
            </a:r>
          </a:p>
          <a:p>
            <a:pPr marL="0" indent="0">
              <a:buNone/>
            </a:pPr>
            <a:endParaRPr lang="vi-V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C1C1AF05-E112-6B29-07EC-5563FAA9F0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165" y="2613573"/>
            <a:ext cx="919436" cy="919436"/>
          </a:xfrm>
          <a:prstGeom prst="rect">
            <a:avLst/>
          </a:prstGeo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EF9F9B5C-1B1A-8D99-EF92-CE016C044C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165" y="3683758"/>
            <a:ext cx="919436" cy="919436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4AA7CC77-6734-7699-635A-54BBA47E3C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783" y="3683758"/>
            <a:ext cx="919436" cy="919436"/>
          </a:xfrm>
          <a:prstGeom prst="rect">
            <a:avLst/>
          </a:prstGeom>
        </p:spPr>
      </p:pic>
      <p:pic>
        <p:nvPicPr>
          <p:cNvPr id="11" name="Hình ảnh 10">
            <a:extLst>
              <a:ext uri="{FF2B5EF4-FFF2-40B4-BE49-F238E27FC236}">
                <a16:creationId xmlns:a16="http://schemas.microsoft.com/office/drawing/2014/main" id="{2955A377-6707-AF4A-FA3E-3F84980A1B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783" y="2613573"/>
            <a:ext cx="919436" cy="919436"/>
          </a:xfrm>
          <a:prstGeom prst="rect">
            <a:avLst/>
          </a:prstGeom>
        </p:spPr>
      </p:pic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B09588A6-6E91-F6B8-4017-C47BEE3C52B8}"/>
              </a:ext>
            </a:extLst>
          </p:cNvPr>
          <p:cNvSpPr txBox="1"/>
          <p:nvPr/>
        </p:nvSpPr>
        <p:spPr>
          <a:xfrm>
            <a:off x="3366654" y="3329815"/>
            <a:ext cx="3976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/vutuanhai237</a:t>
            </a:r>
            <a:endParaRPr lang="vi-VN" sz="4000"/>
          </a:p>
        </p:txBody>
      </p:sp>
      <p:sp>
        <p:nvSpPr>
          <p:cNvPr id="15" name="Chỗ dành sẵn cho Số hiệu Bản chiếu 14">
            <a:extLst>
              <a:ext uri="{FF2B5EF4-FFF2-40B4-BE49-F238E27FC236}">
                <a16:creationId xmlns:a16="http://schemas.microsoft.com/office/drawing/2014/main" id="{274EFB6F-16DA-9C5E-1451-6A41DAEEB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FB6D-289F-493D-B429-BB6C39253D80}" type="slidenum">
              <a:rPr lang="vi-VN" smtClean="0"/>
              <a:t>2</a:t>
            </a:fld>
            <a:endParaRPr lang="vi-V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2C1A8DA-5C7F-69EF-91FB-69377476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938022"/>
            <a:ext cx="1476790" cy="1476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721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21C3D-B445-7C71-270A-AC9C4D8D1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07702-72CD-0259-2E14-0D04F6C35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Quantum computing for machine learning</a:t>
            </a:r>
          </a:p>
          <a:p>
            <a:r>
              <a:rPr lang="en-US"/>
              <a:t>Machine learning for quantum computing</a:t>
            </a:r>
          </a:p>
          <a:p>
            <a:r>
              <a:rPr lang="en-US"/>
              <a:t>Hardware accelerator</a:t>
            </a:r>
          </a:p>
          <a:p>
            <a:r>
              <a:rPr lang="en-US"/>
              <a:t>Functional programming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Paper: journal [14], conference [28], book [2] (September 2025)</a:t>
            </a:r>
          </a:p>
          <a:p>
            <a:pPr marL="0" indent="0">
              <a:buNone/>
            </a:pPr>
            <a:r>
              <a:rPr lang="en-US"/>
              <a:t>Fund: NAIST Granite, Unitary Fund, …</a:t>
            </a:r>
          </a:p>
          <a:p>
            <a:pPr marL="0" indent="0">
              <a:buNone/>
            </a:pPr>
            <a:r>
              <a:rPr lang="en-US"/>
              <a:t>Reviewer: SOICT, SoftwareX, Quantum Information Processing, …</a:t>
            </a:r>
          </a:p>
          <a:p>
            <a:pPr marL="0" indent="0">
              <a:buNone/>
            </a:pPr>
            <a:r>
              <a:rPr lang="en-US" b="1"/>
              <a:t>See more</a:t>
            </a:r>
            <a:r>
              <a:rPr lang="en-US"/>
              <a:t>: https://aiseqlab.github.io/demo/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819DA-4551-6BC1-1168-5EBA8E291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FB6D-289F-493D-B429-BB6C39253D80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54547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61538B-7E10-2088-C28B-DC3E58B898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70" y="136525"/>
            <a:ext cx="9085954" cy="43513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85C8B-9667-C4DF-54C5-661859443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FB6D-289F-493D-B429-BB6C39253D80}" type="slidenum">
              <a:rPr lang="vi-VN" smtClean="0"/>
              <a:t>4</a:t>
            </a:fld>
            <a:endParaRPr lang="vi-V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7973AD-7DFC-9E1C-62AB-453217B85E6E}"/>
              </a:ext>
            </a:extLst>
          </p:cNvPr>
          <p:cNvCxnSpPr/>
          <p:nvPr/>
        </p:nvCxnSpPr>
        <p:spPr>
          <a:xfrm>
            <a:off x="375138" y="5451231"/>
            <a:ext cx="10872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9E8216E-897E-6935-C1A4-345F44D0A2E7}"/>
              </a:ext>
            </a:extLst>
          </p:cNvPr>
          <p:cNvSpPr>
            <a:spLocks noChangeAspect="1"/>
          </p:cNvSpPr>
          <p:nvPr/>
        </p:nvSpPr>
        <p:spPr>
          <a:xfrm>
            <a:off x="656495" y="5263660"/>
            <a:ext cx="360000" cy="36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E1D054-CAA7-B0D8-D3D4-AB2195F17D33}"/>
              </a:ext>
            </a:extLst>
          </p:cNvPr>
          <p:cNvSpPr txBox="1"/>
          <p:nvPr/>
        </p:nvSpPr>
        <p:spPr>
          <a:xfrm>
            <a:off x="357557" y="4909471"/>
            <a:ext cx="1010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1/2019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581823-A51A-0AB6-E722-A73D2206E887}"/>
              </a:ext>
            </a:extLst>
          </p:cNvPr>
          <p:cNvSpPr txBox="1"/>
          <p:nvPr/>
        </p:nvSpPr>
        <p:spPr>
          <a:xfrm>
            <a:off x="357557" y="5733015"/>
            <a:ext cx="1365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Join ICIP lab as newbie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57D4D7F-FFA6-6B5C-430E-5FE27247E147}"/>
              </a:ext>
            </a:extLst>
          </p:cNvPr>
          <p:cNvSpPr>
            <a:spLocks noChangeAspect="1"/>
          </p:cNvSpPr>
          <p:nvPr/>
        </p:nvSpPr>
        <p:spPr>
          <a:xfrm>
            <a:off x="1966064" y="5263660"/>
            <a:ext cx="360000" cy="36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A812CB-B4D9-D5A9-C32A-564F35F32F42}"/>
              </a:ext>
            </a:extLst>
          </p:cNvPr>
          <p:cNvSpPr txBox="1"/>
          <p:nvPr/>
        </p:nvSpPr>
        <p:spPr>
          <a:xfrm>
            <a:off x="1667126" y="4909471"/>
            <a:ext cx="1010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5/2021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79A37-467F-BA49-4E76-D519AC2A5690}"/>
              </a:ext>
            </a:extLst>
          </p:cNvPr>
          <p:cNvSpPr txBox="1"/>
          <p:nvPr/>
        </p:nvSpPr>
        <p:spPr>
          <a:xfrm>
            <a:off x="1667125" y="5733015"/>
            <a:ext cx="17325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b="1"/>
              <a:t>Graduated</a:t>
            </a:r>
          </a:p>
          <a:p>
            <a:r>
              <a:rPr lang="en-VN"/>
              <a:t>1st journal paper published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88AA94D-5C61-B450-8E14-5E50B61F07F7}"/>
              </a:ext>
            </a:extLst>
          </p:cNvPr>
          <p:cNvSpPr>
            <a:spLocks noChangeAspect="1"/>
          </p:cNvSpPr>
          <p:nvPr/>
        </p:nvSpPr>
        <p:spPr>
          <a:xfrm>
            <a:off x="3710612" y="5263660"/>
            <a:ext cx="360000" cy="36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7CCA8D-3C71-2042-2B07-CB832E4CDF7A}"/>
              </a:ext>
            </a:extLst>
          </p:cNvPr>
          <p:cNvSpPr txBox="1"/>
          <p:nvPr/>
        </p:nvSpPr>
        <p:spPr>
          <a:xfrm>
            <a:off x="3411674" y="4909471"/>
            <a:ext cx="1010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2/2022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D964B0-392A-FACA-B723-C50F1820C80F}"/>
              </a:ext>
            </a:extLst>
          </p:cNvPr>
          <p:cNvSpPr txBox="1"/>
          <p:nvPr/>
        </p:nvSpPr>
        <p:spPr>
          <a:xfrm>
            <a:off x="3411673" y="5733015"/>
            <a:ext cx="2203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TA at SE, UIT</a:t>
            </a:r>
          </a:p>
          <a:p>
            <a:r>
              <a:rPr lang="en-VN"/>
              <a:t>Master student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DC5F58C-4EA7-2159-09B0-8B30BFBDEB0C}"/>
              </a:ext>
            </a:extLst>
          </p:cNvPr>
          <p:cNvSpPr>
            <a:spLocks noChangeAspect="1"/>
          </p:cNvSpPr>
          <p:nvPr/>
        </p:nvSpPr>
        <p:spPr>
          <a:xfrm>
            <a:off x="5546371" y="5263660"/>
            <a:ext cx="360000" cy="36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CDD3E3-6297-BD18-1563-704A6914AB64}"/>
              </a:ext>
            </a:extLst>
          </p:cNvPr>
          <p:cNvSpPr txBox="1"/>
          <p:nvPr/>
        </p:nvSpPr>
        <p:spPr>
          <a:xfrm>
            <a:off x="5247433" y="4909471"/>
            <a:ext cx="1010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6/2023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BD7B17-9B2D-F496-82B2-DED4FEE7B4F9}"/>
              </a:ext>
            </a:extLst>
          </p:cNvPr>
          <p:cNvSpPr txBox="1"/>
          <p:nvPr/>
        </p:nvSpPr>
        <p:spPr>
          <a:xfrm>
            <a:off x="5247432" y="5733015"/>
            <a:ext cx="18802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b="1"/>
              <a:t>Graduated</a:t>
            </a:r>
          </a:p>
          <a:p>
            <a:r>
              <a:rPr lang="en-VN"/>
              <a:t>3rd journal paper published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8891E37-720F-9869-9164-84F5BAA70D45}"/>
              </a:ext>
            </a:extLst>
          </p:cNvPr>
          <p:cNvSpPr>
            <a:spLocks noChangeAspect="1"/>
          </p:cNvSpPr>
          <p:nvPr/>
        </p:nvSpPr>
        <p:spPr>
          <a:xfrm>
            <a:off x="7505473" y="5263660"/>
            <a:ext cx="360000" cy="36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D8D1D1-ABA1-7DC8-6521-869C73CDE45C}"/>
              </a:ext>
            </a:extLst>
          </p:cNvPr>
          <p:cNvSpPr txBox="1"/>
          <p:nvPr/>
        </p:nvSpPr>
        <p:spPr>
          <a:xfrm>
            <a:off x="7206535" y="4909471"/>
            <a:ext cx="1010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11/2023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51BA90-1D06-03BB-898C-197F28707491}"/>
              </a:ext>
            </a:extLst>
          </p:cNvPr>
          <p:cNvSpPr txBox="1"/>
          <p:nvPr/>
        </p:nvSpPr>
        <p:spPr>
          <a:xfrm>
            <a:off x="7206534" y="5733015"/>
            <a:ext cx="18802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Got PhD scholarship at NAIST, Japan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616FC48-A6B3-67C5-222A-D5BFACF5C797}"/>
              </a:ext>
            </a:extLst>
          </p:cNvPr>
          <p:cNvSpPr>
            <a:spLocks noChangeAspect="1"/>
          </p:cNvSpPr>
          <p:nvPr/>
        </p:nvSpPr>
        <p:spPr>
          <a:xfrm>
            <a:off x="10231087" y="5263660"/>
            <a:ext cx="360000" cy="36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239D67-7F69-728D-1F10-BDA15822D6AD}"/>
              </a:ext>
            </a:extLst>
          </p:cNvPr>
          <p:cNvSpPr txBox="1"/>
          <p:nvPr/>
        </p:nvSpPr>
        <p:spPr>
          <a:xfrm>
            <a:off x="9932149" y="4909471"/>
            <a:ext cx="1010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10/2025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A74385-4634-60E0-8550-FD7DEB994757}"/>
              </a:ext>
            </a:extLst>
          </p:cNvPr>
          <p:cNvSpPr txBox="1"/>
          <p:nvPr/>
        </p:nvSpPr>
        <p:spPr>
          <a:xfrm>
            <a:off x="9932148" y="5733015"/>
            <a:ext cx="1880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b="1"/>
              <a:t>Graduated</a:t>
            </a:r>
          </a:p>
          <a:p>
            <a:r>
              <a:rPr lang="en-VN"/>
              <a:t>Back to UIT</a:t>
            </a: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884E4055-B565-CD3B-100D-C26A5D988C6B}"/>
              </a:ext>
            </a:extLst>
          </p:cNvPr>
          <p:cNvSpPr/>
          <p:nvPr/>
        </p:nvSpPr>
        <p:spPr>
          <a:xfrm>
            <a:off x="8152974" y="5021475"/>
            <a:ext cx="1714983" cy="859512"/>
          </a:xfrm>
          <a:prstGeom prst="arc">
            <a:avLst>
              <a:gd name="adj1" fmla="val 11635640"/>
              <a:gd name="adj2" fmla="val 21109706"/>
            </a:avLst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07F51D-F5A1-1EB2-786B-3DF0DCCDEB33}"/>
              </a:ext>
            </a:extLst>
          </p:cNvPr>
          <p:cNvSpPr txBox="1"/>
          <p:nvPr/>
        </p:nvSpPr>
        <p:spPr>
          <a:xfrm>
            <a:off x="8400969" y="4340843"/>
            <a:ext cx="1714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Many works were published!</a:t>
            </a:r>
          </a:p>
        </p:txBody>
      </p:sp>
    </p:spTree>
    <p:extLst>
      <p:ext uri="{BB962C8B-B14F-4D97-AF65-F5344CB8AC3E}">
        <p14:creationId xmlns:p14="http://schemas.microsoft.com/office/powerpoint/2010/main" val="3334989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2E866-4B83-84EA-03E7-89E4E4E4D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584"/>
            <a:ext cx="12019401" cy="967922"/>
          </a:xfrm>
        </p:spPr>
        <p:txBody>
          <a:bodyPr>
            <a:normAutofit/>
          </a:bodyPr>
          <a:lstStyle/>
          <a:p>
            <a:r>
              <a:rPr lang="en-VN"/>
              <a:t>Why research? (1/3)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A1C82-F0F0-CB2F-4B86-56CD4A227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7298" y="863643"/>
            <a:ext cx="3388673" cy="12719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VN"/>
              <a:t>Job market is changing now</a:t>
            </a:r>
          </a:p>
          <a:p>
            <a:pPr marL="0" indent="0">
              <a:buNone/>
            </a:pPr>
            <a:r>
              <a:rPr lang="en-VN"/>
              <a:t>”SE job declining”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49973-57A9-729E-C3C4-7155C52D5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FB6D-289F-493D-B429-BB6C39253D80}" type="slidenum">
              <a:rPr lang="vi-VN" smtClean="0"/>
              <a:t>5</a:t>
            </a:fld>
            <a:endParaRPr lang="vi-V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87B735D-C3C2-393F-D23D-77FA3FB93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43"/>
            <a:ext cx="7520354" cy="3047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Nghị quyết số 57-NQ/TW">
            <a:extLst>
              <a:ext uri="{FF2B5EF4-FFF2-40B4-BE49-F238E27FC236}">
                <a16:creationId xmlns:a16="http://schemas.microsoft.com/office/drawing/2014/main" id="{4F515CB5-B903-4C40-3AC1-202DCEE29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298" y="2236424"/>
            <a:ext cx="3267197" cy="4263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63869D-9C0A-C1D6-60CA-FC52C479C000}"/>
              </a:ext>
            </a:extLst>
          </p:cNvPr>
          <p:cNvSpPr txBox="1"/>
          <p:nvPr/>
        </p:nvSpPr>
        <p:spPr>
          <a:xfrm>
            <a:off x="3557528" y="4078725"/>
            <a:ext cx="16635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VN"/>
              <a:t>Company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65E179-80D8-1D7E-0E4E-AE82EDB45F8F}"/>
              </a:ext>
            </a:extLst>
          </p:cNvPr>
          <p:cNvSpPr txBox="1"/>
          <p:nvPr/>
        </p:nvSpPr>
        <p:spPr>
          <a:xfrm>
            <a:off x="1065880" y="4078725"/>
            <a:ext cx="16635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VN"/>
              <a:t>Customer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AB4999-10A0-4C5E-1906-D87D258473EE}"/>
              </a:ext>
            </a:extLst>
          </p:cNvPr>
          <p:cNvSpPr txBox="1"/>
          <p:nvPr/>
        </p:nvSpPr>
        <p:spPr>
          <a:xfrm>
            <a:off x="5856807" y="4078725"/>
            <a:ext cx="16635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VN"/>
              <a:t>Employee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6CB8A6-4DB6-1F7F-9536-F0F606EE4BE9}"/>
              </a:ext>
            </a:extLst>
          </p:cNvPr>
          <p:cNvCxnSpPr>
            <a:stCxn id="6" idx="3"/>
            <a:endCxn id="5" idx="1"/>
          </p:cNvCxnSpPr>
          <p:nvPr/>
        </p:nvCxnSpPr>
        <p:spPr>
          <a:xfrm>
            <a:off x="2729427" y="4263391"/>
            <a:ext cx="82810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2E1198-CA19-D00E-ACC3-C895823DBF86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5221075" y="4263391"/>
            <a:ext cx="63573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805D572D-A76E-0F21-B5A7-21D3DCFD1237}"/>
              </a:ext>
            </a:extLst>
          </p:cNvPr>
          <p:cNvCxnSpPr>
            <a:stCxn id="7" idx="2"/>
            <a:endCxn id="5" idx="2"/>
          </p:cNvCxnSpPr>
          <p:nvPr/>
        </p:nvCxnSpPr>
        <p:spPr>
          <a:xfrm rot="5400000">
            <a:off x="5538942" y="3298418"/>
            <a:ext cx="12700" cy="2299279"/>
          </a:xfrm>
          <a:prstGeom prst="curvedConnector3">
            <a:avLst>
              <a:gd name="adj1" fmla="val 180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C569672C-51E0-5313-A223-109681ED1085}"/>
              </a:ext>
            </a:extLst>
          </p:cNvPr>
          <p:cNvCxnSpPr>
            <a:cxnSpLocks/>
            <a:stCxn id="5" idx="2"/>
            <a:endCxn id="6" idx="2"/>
          </p:cNvCxnSpPr>
          <p:nvPr/>
        </p:nvCxnSpPr>
        <p:spPr>
          <a:xfrm rot="5400000">
            <a:off x="3143478" y="3202233"/>
            <a:ext cx="12700" cy="2491648"/>
          </a:xfrm>
          <a:prstGeom prst="curvedConnector3">
            <a:avLst>
              <a:gd name="adj1" fmla="val 180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5085459-6C5D-8FB5-E510-E9FDB430B5AC}"/>
              </a:ext>
            </a:extLst>
          </p:cNvPr>
          <p:cNvSpPr txBox="1"/>
          <p:nvPr/>
        </p:nvSpPr>
        <p:spPr>
          <a:xfrm>
            <a:off x="3557528" y="5761893"/>
            <a:ext cx="16635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VN"/>
              <a:t>Company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637B5E-AE6D-6B7E-A6AB-6A3164D51AFA}"/>
              </a:ext>
            </a:extLst>
          </p:cNvPr>
          <p:cNvSpPr txBox="1"/>
          <p:nvPr/>
        </p:nvSpPr>
        <p:spPr>
          <a:xfrm>
            <a:off x="1065880" y="5761893"/>
            <a:ext cx="16635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VN"/>
              <a:t>Customer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B5A62B-A59F-C30F-260F-BA8264163F5A}"/>
              </a:ext>
            </a:extLst>
          </p:cNvPr>
          <p:cNvSpPr txBox="1"/>
          <p:nvPr/>
        </p:nvSpPr>
        <p:spPr>
          <a:xfrm>
            <a:off x="5856807" y="5761893"/>
            <a:ext cx="16635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VN"/>
              <a:t>Employee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4A1AF5B-1789-D2FB-3CC4-00DD991A5A0E}"/>
              </a:ext>
            </a:extLst>
          </p:cNvPr>
          <p:cNvCxnSpPr>
            <a:cxnSpLocks/>
            <a:stCxn id="22" idx="1"/>
            <a:endCxn id="23" idx="3"/>
          </p:cNvCxnSpPr>
          <p:nvPr/>
        </p:nvCxnSpPr>
        <p:spPr>
          <a:xfrm flipH="1">
            <a:off x="2729427" y="5946559"/>
            <a:ext cx="82810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E8B84B29-BACA-B8F7-BEAD-BE79316612E3}"/>
              </a:ext>
            </a:extLst>
          </p:cNvPr>
          <p:cNvCxnSpPr>
            <a:stCxn id="24" idx="2"/>
            <a:endCxn id="22" idx="2"/>
          </p:cNvCxnSpPr>
          <p:nvPr/>
        </p:nvCxnSpPr>
        <p:spPr>
          <a:xfrm rot="5400000">
            <a:off x="5538942" y="4981586"/>
            <a:ext cx="12700" cy="2299279"/>
          </a:xfrm>
          <a:prstGeom prst="curvedConnector3">
            <a:avLst>
              <a:gd name="adj1" fmla="val 180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354DA6CE-0F88-0E19-019E-E8A62B2DC6EA}"/>
              </a:ext>
            </a:extLst>
          </p:cNvPr>
          <p:cNvCxnSpPr>
            <a:cxnSpLocks/>
            <a:stCxn id="22" idx="0"/>
            <a:endCxn id="24" idx="0"/>
          </p:cNvCxnSpPr>
          <p:nvPr/>
        </p:nvCxnSpPr>
        <p:spPr>
          <a:xfrm rot="5400000" flipH="1" flipV="1">
            <a:off x="5538941" y="4612254"/>
            <a:ext cx="12700" cy="2299279"/>
          </a:xfrm>
          <a:prstGeom prst="curvedConnector3">
            <a:avLst>
              <a:gd name="adj1" fmla="val 180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8AFF3979-6153-C692-9506-CE089B4676E1}"/>
              </a:ext>
            </a:extLst>
          </p:cNvPr>
          <p:cNvSpPr/>
          <p:nvPr/>
        </p:nvSpPr>
        <p:spPr>
          <a:xfrm>
            <a:off x="1065880" y="3955052"/>
            <a:ext cx="6454474" cy="9915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D03183F-BBC1-850E-E508-6D3BE19BB8DB}"/>
              </a:ext>
            </a:extLst>
          </p:cNvPr>
          <p:cNvSpPr/>
          <p:nvPr/>
        </p:nvSpPr>
        <p:spPr>
          <a:xfrm>
            <a:off x="1065880" y="5367259"/>
            <a:ext cx="6454474" cy="11323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EEF5AF-C917-7D96-D2FC-0B123F29FE46}"/>
              </a:ext>
            </a:extLst>
          </p:cNvPr>
          <p:cNvSpPr txBox="1"/>
          <p:nvPr/>
        </p:nvSpPr>
        <p:spPr>
          <a:xfrm rot="16200000">
            <a:off x="183182" y="4269741"/>
            <a:ext cx="116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Outsource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EF61B7-85A5-D5E0-A4D9-15BE5F506CBB}"/>
              </a:ext>
            </a:extLst>
          </p:cNvPr>
          <p:cNvSpPr txBox="1"/>
          <p:nvPr/>
        </p:nvSpPr>
        <p:spPr>
          <a:xfrm rot="16200000">
            <a:off x="183182" y="5696513"/>
            <a:ext cx="116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/>
              <a:t>R&amp;D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FF9861-5C6C-A083-7F12-9571A601591F}"/>
              </a:ext>
            </a:extLst>
          </p:cNvPr>
          <p:cNvSpPr txBox="1"/>
          <p:nvPr/>
        </p:nvSpPr>
        <p:spPr>
          <a:xfrm>
            <a:off x="1065880" y="4973391"/>
            <a:ext cx="2996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Low risk, low return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973410-EF4C-5F10-67D2-899A196379D9}"/>
              </a:ext>
            </a:extLst>
          </p:cNvPr>
          <p:cNvSpPr txBox="1"/>
          <p:nvPr/>
        </p:nvSpPr>
        <p:spPr>
          <a:xfrm>
            <a:off x="1053867" y="6536809"/>
            <a:ext cx="2996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High risk, high return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60ED07-4588-85EE-05AF-858FAFF2D015}"/>
              </a:ext>
            </a:extLst>
          </p:cNvPr>
          <p:cNvSpPr txBox="1"/>
          <p:nvPr/>
        </p:nvSpPr>
        <p:spPr>
          <a:xfrm>
            <a:off x="2721835" y="1646899"/>
            <a:ext cx="1038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FOMO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E1C635F-C620-D6D9-9F9C-B647EBB95844}"/>
              </a:ext>
            </a:extLst>
          </p:cNvPr>
          <p:cNvSpPr txBox="1"/>
          <p:nvPr/>
        </p:nvSpPr>
        <p:spPr>
          <a:xfrm>
            <a:off x="4641771" y="2291951"/>
            <a:ext cx="1158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AI era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682213-BCB4-9A72-E39D-8085D9F8FB30}"/>
              </a:ext>
            </a:extLst>
          </p:cNvPr>
          <p:cNvSpPr txBox="1"/>
          <p:nvPr/>
        </p:nvSpPr>
        <p:spPr>
          <a:xfrm>
            <a:off x="781614" y="1737953"/>
            <a:ext cx="11586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</a:t>
            </a:r>
            <a:r>
              <a:rPr lang="en-VN"/>
              <a:t>z get job after 3-6 months learn code</a:t>
            </a:r>
          </a:p>
        </p:txBody>
      </p:sp>
    </p:spTree>
    <p:extLst>
      <p:ext uri="{BB962C8B-B14F-4D97-AF65-F5344CB8AC3E}">
        <p14:creationId xmlns:p14="http://schemas.microsoft.com/office/powerpoint/2010/main" val="4147650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DB2C9-3A8E-C684-5F1D-F1818B375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7672-ACBC-05F6-72EE-3F54ACB09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584"/>
            <a:ext cx="12019401" cy="967922"/>
          </a:xfrm>
        </p:spPr>
        <p:txBody>
          <a:bodyPr>
            <a:normAutofit/>
          </a:bodyPr>
          <a:lstStyle/>
          <a:p>
            <a:r>
              <a:rPr lang="en-VN"/>
              <a:t>Why research? (1/3)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E0E2D-839E-C81A-2096-AA982C2D3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FB6D-289F-493D-B429-BB6C39253D80}" type="slidenum">
              <a:rPr lang="vi-VN" smtClean="0"/>
              <a:t>6</a:t>
            </a:fld>
            <a:endParaRPr lang="vi-VN"/>
          </a:p>
        </p:txBody>
      </p:sp>
      <p:pic>
        <p:nvPicPr>
          <p:cNvPr id="11" name="Picture 10" descr="A screenshot of a phone&#10;&#10;AI-generated content may be incorrect.">
            <a:extLst>
              <a:ext uri="{FF2B5EF4-FFF2-40B4-BE49-F238E27FC236}">
                <a16:creationId xmlns:a16="http://schemas.microsoft.com/office/drawing/2014/main" id="{626E5924-266A-A5E8-9D11-9D1E3EB90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9920"/>
            <a:ext cx="7772400" cy="2738508"/>
          </a:xfrm>
          <a:prstGeom prst="rect">
            <a:avLst/>
          </a:prstGeom>
        </p:spPr>
      </p:pic>
      <p:pic>
        <p:nvPicPr>
          <p:cNvPr id="6146" name="Picture 2" descr="May be a graphic of text that says 'FPT. T QuantumAI&amp; Al &amp; Cyber Security Institute QUANTUM AI &amp; CYBER SECURITY INSTITUTE'">
            <a:extLst>
              <a:ext uri="{FF2B5EF4-FFF2-40B4-BE49-F238E27FC236}">
                <a16:creationId xmlns:a16="http://schemas.microsoft.com/office/drawing/2014/main" id="{0C4F7AC0-8253-18A6-F8AC-09ED8C5C7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980506"/>
            <a:ext cx="4419600" cy="248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0D0D49-F382-C678-0BBF-9265AC361C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34" y="3719014"/>
            <a:ext cx="7157279" cy="308224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878E808-5E1D-6573-FB11-AC862AFA864B}"/>
              </a:ext>
            </a:extLst>
          </p:cNvPr>
          <p:cNvSpPr/>
          <p:nvPr/>
        </p:nvSpPr>
        <p:spPr>
          <a:xfrm>
            <a:off x="3003614" y="4810539"/>
            <a:ext cx="1245705" cy="490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20" name="Picture 19" descr="A screenshot of a web page&#10;&#10;AI-generated content may be incorrect.">
            <a:extLst>
              <a:ext uri="{FF2B5EF4-FFF2-40B4-BE49-F238E27FC236}">
                <a16:creationId xmlns:a16="http://schemas.microsoft.com/office/drawing/2014/main" id="{3B9BDB19-0206-3DF9-5753-FF157353B9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30" y="3707963"/>
            <a:ext cx="6229732" cy="268280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2F6A835-C514-6452-7646-45FF989A0A46}"/>
              </a:ext>
            </a:extLst>
          </p:cNvPr>
          <p:cNvSpPr/>
          <p:nvPr/>
        </p:nvSpPr>
        <p:spPr>
          <a:xfrm>
            <a:off x="8945485" y="4500555"/>
            <a:ext cx="1694188" cy="490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77541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6EBD4-51EE-7B59-BC9F-1679A4930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3B4D02-05E9-E47B-9337-058E2629E51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1" y="431225"/>
                <a:ext cx="10515600" cy="967922"/>
              </a:xfrm>
            </p:spPr>
            <p:txBody>
              <a:bodyPr>
                <a:normAutofit/>
              </a:bodyPr>
              <a:lstStyle/>
              <a:p>
                <a:r>
                  <a:rPr lang="en-VN"/>
                  <a:t>Why research? (2/3): Research </a:t>
                </a:r>
                <a14:m>
                  <m:oMath xmlns:m="http://schemas.openxmlformats.org/officeDocument/2006/math">
                    <m:r>
                      <a:rPr lang="vi-VN" b="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VN"/>
                  <a:t> Many skills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3B4D02-05E9-E47B-9337-058E2629E5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1" y="431225"/>
                <a:ext cx="10515600" cy="967922"/>
              </a:xfrm>
              <a:blipFill>
                <a:blip r:embed="rId2"/>
                <a:stretch>
                  <a:fillRect l="-2413" t="-6494" b="-15584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6F6F6-FCF8-87D4-8299-E677B4B32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FB6D-289F-493D-B429-BB6C39253D80}" type="slidenum">
              <a:rPr lang="vi-VN" smtClean="0"/>
              <a:t>7</a:t>
            </a:fld>
            <a:endParaRPr lang="vi-VN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27FEC594-F24D-FC2E-D28B-C04AFF0E52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7983090"/>
              </p:ext>
            </p:extLst>
          </p:nvPr>
        </p:nvGraphicFramePr>
        <p:xfrm>
          <a:off x="838200" y="1509313"/>
          <a:ext cx="10515600" cy="52764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0422">
                  <a:extLst>
                    <a:ext uri="{9D8B030D-6E8A-4147-A177-3AD203B41FA5}">
                      <a16:colId xmlns:a16="http://schemas.microsoft.com/office/drawing/2014/main" val="1701655601"/>
                    </a:ext>
                  </a:extLst>
                </a:gridCol>
                <a:gridCol w="3800819">
                  <a:extLst>
                    <a:ext uri="{9D8B030D-6E8A-4147-A177-3AD203B41FA5}">
                      <a16:colId xmlns:a16="http://schemas.microsoft.com/office/drawing/2014/main" val="2899190673"/>
                    </a:ext>
                  </a:extLst>
                </a:gridCol>
                <a:gridCol w="4534359">
                  <a:extLst>
                    <a:ext uri="{9D8B030D-6E8A-4147-A177-3AD203B41FA5}">
                      <a16:colId xmlns:a16="http://schemas.microsoft.com/office/drawing/2014/main" val="2005015525"/>
                    </a:ext>
                  </a:extLst>
                </a:gridCol>
              </a:tblGrid>
              <a:tr h="465261">
                <a:tc>
                  <a:txBody>
                    <a:bodyPr/>
                    <a:lstStyle/>
                    <a:p>
                      <a:endParaRPr lang="en-VN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/>
                        <a:t>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/>
                        <a:t>Coding + Research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061029"/>
                  </a:ext>
                </a:extLst>
              </a:tr>
              <a:tr h="465261">
                <a:tc>
                  <a:txBody>
                    <a:bodyPr/>
                    <a:lstStyle/>
                    <a:p>
                      <a:r>
                        <a:rPr lang="en-VN" sz="2800"/>
                        <a:t>Ez?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>
                          <a:solidFill>
                            <a:srgbClr val="00B050"/>
                          </a:solidFill>
                        </a:rPr>
                        <a:t>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>
                          <a:solidFill>
                            <a:srgbClr val="FF0000"/>
                          </a:solidFill>
                        </a:rPr>
                        <a:t>Hard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328340"/>
                  </a:ext>
                </a:extLst>
              </a:tr>
              <a:tr h="848417">
                <a:tc>
                  <a:txBody>
                    <a:bodyPr/>
                    <a:lstStyle/>
                    <a:p>
                      <a:r>
                        <a:rPr lang="en-VN" sz="2800"/>
                        <a:t>Self-learning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>
                          <a:solidFill>
                            <a:srgbClr val="00B050"/>
                          </a:solidFill>
                        </a:rPr>
                        <a:t>Possible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>
                          <a:solidFill>
                            <a:srgbClr val="FF0000"/>
                          </a:solidFill>
                        </a:rPr>
                        <a:t>Need supervisor + lab equipment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595491"/>
                  </a:ext>
                </a:extLst>
              </a:tr>
              <a:tr h="1997885">
                <a:tc>
                  <a:txBody>
                    <a:bodyPr/>
                    <a:lstStyle/>
                    <a:p>
                      <a:r>
                        <a:rPr lang="en-VN" sz="2800"/>
                        <a:t>Required skills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>
                          <a:solidFill>
                            <a:srgbClr val="00B050"/>
                          </a:solidFill>
                        </a:rPr>
                        <a:t>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>
                          <a:solidFill>
                            <a:srgbClr val="FF0000"/>
                          </a:solidFill>
                        </a:rPr>
                        <a:t>Problem solving</a:t>
                      </a:r>
                    </a:p>
                    <a:p>
                      <a:r>
                        <a:rPr lang="en-VN" sz="2800">
                          <a:solidFill>
                            <a:srgbClr val="FF0000"/>
                          </a:solidFill>
                        </a:rPr>
                        <a:t>Visualization</a:t>
                      </a:r>
                    </a:p>
                    <a:p>
                      <a:r>
                        <a:rPr lang="en-VN" sz="2800">
                          <a:solidFill>
                            <a:srgbClr val="FF0000"/>
                          </a:solidFill>
                        </a:rPr>
                        <a:t>Presenting skill</a:t>
                      </a:r>
                    </a:p>
                    <a:p>
                      <a:r>
                        <a:rPr lang="en-VN" sz="2800">
                          <a:solidFill>
                            <a:srgbClr val="FF0000"/>
                          </a:solidFill>
                        </a:rPr>
                        <a:t>Teamwork</a:t>
                      </a:r>
                    </a:p>
                    <a:p>
                      <a:r>
                        <a:rPr lang="en-VN" sz="2800">
                          <a:solidFill>
                            <a:srgbClr val="FF0000"/>
                          </a:solidFill>
                        </a:rPr>
                        <a:t>Coding 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176293"/>
                  </a:ext>
                </a:extLst>
              </a:tr>
              <a:tr h="10702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VN" sz="2800"/>
                        <a:t>Spending time +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>
                          <a:solidFill>
                            <a:srgbClr val="00B050"/>
                          </a:solidFill>
                        </a:rPr>
                        <a:t>Short, only take 3-6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>
                          <a:solidFill>
                            <a:srgbClr val="FF0000"/>
                          </a:solidFill>
                        </a:rPr>
                        <a:t>Long, few years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594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0175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398BA-E130-9A98-A72A-050EE73E4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9A6A6-8856-DC37-A3A3-2A56D0BFC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31225"/>
            <a:ext cx="10806628" cy="967922"/>
          </a:xfrm>
        </p:spPr>
        <p:txBody>
          <a:bodyPr>
            <a:normAutofit/>
          </a:bodyPr>
          <a:lstStyle/>
          <a:p>
            <a:r>
              <a:rPr lang="en-VN"/>
              <a:t>Why research? (3/3): Job market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DBCCF-CCB5-8EA2-10ED-4F27E1866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FB6D-289F-493D-B429-BB6C39253D80}" type="slidenum">
              <a:rPr lang="vi-VN" smtClean="0"/>
              <a:t>8</a:t>
            </a:fld>
            <a:endParaRPr lang="vi-VN"/>
          </a:p>
        </p:txBody>
      </p:sp>
      <p:graphicFrame>
        <p:nvGraphicFramePr>
          <p:cNvPr id="6" name="Content Placeholder 9">
            <a:extLst>
              <a:ext uri="{FF2B5EF4-FFF2-40B4-BE49-F238E27FC236}">
                <a16:creationId xmlns:a16="http://schemas.microsoft.com/office/drawing/2014/main" id="{A78DC0D3-F49E-F583-F594-76D9C45C6D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3129597"/>
              </p:ext>
            </p:extLst>
          </p:nvPr>
        </p:nvGraphicFramePr>
        <p:xfrm>
          <a:off x="838200" y="1509312"/>
          <a:ext cx="10515600" cy="3352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0422">
                  <a:extLst>
                    <a:ext uri="{9D8B030D-6E8A-4147-A177-3AD203B41FA5}">
                      <a16:colId xmlns:a16="http://schemas.microsoft.com/office/drawing/2014/main" val="1701655601"/>
                    </a:ext>
                  </a:extLst>
                </a:gridCol>
                <a:gridCol w="3800819">
                  <a:extLst>
                    <a:ext uri="{9D8B030D-6E8A-4147-A177-3AD203B41FA5}">
                      <a16:colId xmlns:a16="http://schemas.microsoft.com/office/drawing/2014/main" val="2899190673"/>
                    </a:ext>
                  </a:extLst>
                </a:gridCol>
                <a:gridCol w="4534359">
                  <a:extLst>
                    <a:ext uri="{9D8B030D-6E8A-4147-A177-3AD203B41FA5}">
                      <a16:colId xmlns:a16="http://schemas.microsoft.com/office/drawing/2014/main" val="2005015525"/>
                    </a:ext>
                  </a:extLst>
                </a:gridCol>
              </a:tblGrid>
              <a:tr h="473938">
                <a:tc>
                  <a:txBody>
                    <a:bodyPr/>
                    <a:lstStyle/>
                    <a:p>
                      <a:endParaRPr lang="en-VN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/>
                        <a:t>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/>
                        <a:t>Researcher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061029"/>
                  </a:ext>
                </a:extLst>
              </a:tr>
              <a:tr h="864239">
                <a:tc>
                  <a:txBody>
                    <a:bodyPr/>
                    <a:lstStyle/>
                    <a:p>
                      <a:r>
                        <a:rPr lang="en-VN" sz="2800"/>
                        <a:t>Money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>
                          <a:solidFill>
                            <a:srgbClr val="FF0000"/>
                          </a:solidFill>
                        </a:rPr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>
                          <a:solidFill>
                            <a:srgbClr val="00B050"/>
                          </a:solidFill>
                        </a:rPr>
                        <a:t>Much better (R&amp;D, lecturer, …)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328340"/>
                  </a:ext>
                </a:extLst>
              </a:tr>
              <a:tr h="864239">
                <a:tc>
                  <a:txBody>
                    <a:bodyPr/>
                    <a:lstStyle/>
                    <a:p>
                      <a:r>
                        <a:rPr lang="en-VN" sz="2800"/>
                        <a:t>Credits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>
                          <a:solidFill>
                            <a:srgbClr val="FF0000"/>
                          </a:solidFill>
                        </a:rPr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>
                          <a:solidFill>
                            <a:srgbClr val="00B050"/>
                          </a:solidFill>
                        </a:rPr>
                        <a:t>Project + Paper + Patent + Relationship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176293"/>
                  </a:ext>
                </a:extLst>
              </a:tr>
              <a:tr h="925404">
                <a:tc>
                  <a:txBody>
                    <a:bodyPr/>
                    <a:lstStyle/>
                    <a:p>
                      <a:r>
                        <a:rPr lang="en-VN" sz="2800"/>
                        <a:t>Number of positions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>
                          <a:solidFill>
                            <a:srgbClr val="FF0000"/>
                          </a:solidFill>
                        </a:rPr>
                        <a:t>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>
                          <a:solidFill>
                            <a:srgbClr val="00B050"/>
                          </a:solidFill>
                        </a:rPr>
                        <a:t>Increase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450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0728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83BA1-9B4B-1268-04CB-DF5322611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Paths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08265-1654-D832-71A5-7FC634E93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FB6D-289F-493D-B429-BB6C39253D80}" type="slidenum">
              <a:rPr lang="vi-VN" smtClean="0"/>
              <a:t>9</a:t>
            </a:fld>
            <a:endParaRPr lang="vi-V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311DB2-EA56-3136-98CB-4F6304E05662}"/>
              </a:ext>
            </a:extLst>
          </p:cNvPr>
          <p:cNvSpPr/>
          <p:nvPr/>
        </p:nvSpPr>
        <p:spPr>
          <a:xfrm>
            <a:off x="4065224" y="776288"/>
            <a:ext cx="1553379" cy="5237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400">
                <a:solidFill>
                  <a:schemeClr val="tx1"/>
                </a:solidFill>
              </a:rPr>
              <a:t>Bachelor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CA114F-7C0E-7D8B-25BA-42BB1E14E9D8}"/>
              </a:ext>
            </a:extLst>
          </p:cNvPr>
          <p:cNvSpPr/>
          <p:nvPr/>
        </p:nvSpPr>
        <p:spPr>
          <a:xfrm>
            <a:off x="2511846" y="1982042"/>
            <a:ext cx="1553379" cy="750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400">
                <a:solidFill>
                  <a:schemeClr val="tx1"/>
                </a:solidFill>
              </a:rPr>
              <a:t>Teaching assistant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326C6C-64B5-3DC6-BE4B-E36E793DAB9E}"/>
              </a:ext>
            </a:extLst>
          </p:cNvPr>
          <p:cNvSpPr/>
          <p:nvPr/>
        </p:nvSpPr>
        <p:spPr>
          <a:xfrm>
            <a:off x="5638800" y="1982042"/>
            <a:ext cx="1553379" cy="750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400">
                <a:solidFill>
                  <a:schemeClr val="tx1"/>
                </a:solidFill>
              </a:rPr>
              <a:t>R&amp;D engineer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64D92A-B2D7-6F2D-A451-223C59E12EE8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3288536" y="1299990"/>
            <a:ext cx="1553378" cy="6820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3B1BBBF-8F97-FF1F-7AA0-B1429850D179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4841914" y="1299990"/>
            <a:ext cx="1573576" cy="6820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2186EB16-8548-B545-397C-CA97CC2B01D3}"/>
              </a:ext>
            </a:extLst>
          </p:cNvPr>
          <p:cNvSpPr/>
          <p:nvPr/>
        </p:nvSpPr>
        <p:spPr>
          <a:xfrm>
            <a:off x="2511845" y="3291213"/>
            <a:ext cx="1553379" cy="750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400">
                <a:solidFill>
                  <a:schemeClr val="tx1"/>
                </a:solidFill>
              </a:rPr>
              <a:t>Lecturer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2D1A83-37A8-8A81-6FF5-C98D1673C3AB}"/>
              </a:ext>
            </a:extLst>
          </p:cNvPr>
          <p:cNvSpPr/>
          <p:nvPr/>
        </p:nvSpPr>
        <p:spPr>
          <a:xfrm>
            <a:off x="5638799" y="3291213"/>
            <a:ext cx="1553379" cy="750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400">
                <a:solidFill>
                  <a:schemeClr val="tx1"/>
                </a:solidFill>
              </a:rPr>
              <a:t>R&amp;D lead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B3F783D-F3C8-E6CA-0579-DB5B4C78926B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 flipH="1">
            <a:off x="3288535" y="2732182"/>
            <a:ext cx="1" cy="5590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BC21408-7A2A-01C5-B7E2-42025C94AB79}"/>
              </a:ext>
            </a:extLst>
          </p:cNvPr>
          <p:cNvCxnSpPr>
            <a:cxnSpLocks/>
            <a:stCxn id="7" idx="2"/>
            <a:endCxn id="15" idx="0"/>
          </p:cNvCxnSpPr>
          <p:nvPr/>
        </p:nvCxnSpPr>
        <p:spPr>
          <a:xfrm flipH="1">
            <a:off x="6415489" y="2732182"/>
            <a:ext cx="1" cy="5590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F54267E-813A-9766-79C3-DDE10DBFBE6B}"/>
              </a:ext>
            </a:extLst>
          </p:cNvPr>
          <p:cNvCxnSpPr>
            <a:cxnSpLocks/>
          </p:cNvCxnSpPr>
          <p:nvPr/>
        </p:nvCxnSpPr>
        <p:spPr>
          <a:xfrm>
            <a:off x="4847422" y="1982042"/>
            <a:ext cx="0" cy="4606045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DB90D99-A6EE-68F0-64C9-5AFF43FE2363}"/>
              </a:ext>
            </a:extLst>
          </p:cNvPr>
          <p:cNvSpPr txBox="1"/>
          <p:nvPr/>
        </p:nvSpPr>
        <p:spPr>
          <a:xfrm>
            <a:off x="838200" y="2776273"/>
            <a:ext cx="13054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2400" i="1">
                <a:solidFill>
                  <a:schemeClr val="tx1"/>
                </a:solidFill>
              </a:rPr>
              <a:t>Master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209085-179A-DDDF-B326-5B2797339312}"/>
              </a:ext>
            </a:extLst>
          </p:cNvPr>
          <p:cNvSpPr txBox="1"/>
          <p:nvPr/>
        </p:nvSpPr>
        <p:spPr>
          <a:xfrm>
            <a:off x="838200" y="4085444"/>
            <a:ext cx="13054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2400" i="1">
                <a:solidFill>
                  <a:schemeClr val="tx1"/>
                </a:solidFill>
              </a:rPr>
              <a:t>PhD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11245CA-25CE-4448-EF89-335F4F12CD44}"/>
              </a:ext>
            </a:extLst>
          </p:cNvPr>
          <p:cNvSpPr/>
          <p:nvPr/>
        </p:nvSpPr>
        <p:spPr>
          <a:xfrm>
            <a:off x="2511845" y="4600384"/>
            <a:ext cx="1553379" cy="750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400">
                <a:solidFill>
                  <a:schemeClr val="tx1"/>
                </a:solidFill>
              </a:rPr>
              <a:t>Senior Lecturer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E8B2AA-3DE1-94A5-3739-DC08D62B3470}"/>
              </a:ext>
            </a:extLst>
          </p:cNvPr>
          <p:cNvSpPr/>
          <p:nvPr/>
        </p:nvSpPr>
        <p:spPr>
          <a:xfrm>
            <a:off x="5638799" y="4600384"/>
            <a:ext cx="1553379" cy="750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400">
                <a:solidFill>
                  <a:schemeClr val="tx1"/>
                </a:solidFill>
              </a:rPr>
              <a:t>R&amp;D lead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A532E31-F09E-D6EA-C4E3-C893FE0E9ABD}"/>
              </a:ext>
            </a:extLst>
          </p:cNvPr>
          <p:cNvCxnSpPr>
            <a:cxnSpLocks/>
            <a:endCxn id="30" idx="0"/>
          </p:cNvCxnSpPr>
          <p:nvPr/>
        </p:nvCxnSpPr>
        <p:spPr>
          <a:xfrm flipH="1">
            <a:off x="3288535" y="4041353"/>
            <a:ext cx="1" cy="5590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0AF3311-FC15-0B3D-5434-B9EC68D771EF}"/>
              </a:ext>
            </a:extLst>
          </p:cNvPr>
          <p:cNvCxnSpPr>
            <a:cxnSpLocks/>
            <a:endCxn id="31" idx="0"/>
          </p:cNvCxnSpPr>
          <p:nvPr/>
        </p:nvCxnSpPr>
        <p:spPr>
          <a:xfrm flipH="1">
            <a:off x="6415489" y="4041353"/>
            <a:ext cx="1" cy="5590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F89966E-842D-842D-4533-C6C95D879FB7}"/>
              </a:ext>
            </a:extLst>
          </p:cNvPr>
          <p:cNvSpPr txBox="1"/>
          <p:nvPr/>
        </p:nvSpPr>
        <p:spPr>
          <a:xfrm>
            <a:off x="2511845" y="6126422"/>
            <a:ext cx="17223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2400" i="1">
                <a:solidFill>
                  <a:schemeClr val="tx1"/>
                </a:solidFill>
              </a:rPr>
              <a:t>Academic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63997B-5067-B209-4F44-56695F2F3E52}"/>
              </a:ext>
            </a:extLst>
          </p:cNvPr>
          <p:cNvSpPr txBox="1"/>
          <p:nvPr/>
        </p:nvSpPr>
        <p:spPr>
          <a:xfrm>
            <a:off x="5638799" y="6125517"/>
            <a:ext cx="17223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sz="2400" i="1">
                <a:solidFill>
                  <a:schemeClr val="tx1"/>
                </a:solidFill>
              </a:rPr>
              <a:t>Industry</a:t>
            </a:r>
          </a:p>
        </p:txBody>
      </p:sp>
    </p:spTree>
    <p:extLst>
      <p:ext uri="{BB962C8B-B14F-4D97-AF65-F5344CB8AC3E}">
        <p14:creationId xmlns:p14="http://schemas.microsoft.com/office/powerpoint/2010/main" val="4215804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A39D7-EA09-DEA2-4BF6-723EADC18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VN" sz="6600"/>
              <a:t>Simple guideline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D17BC-2559-11E4-1AF6-9ED102AEE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VN" sz="4400"/>
              <a:t>Choose your interested research aspects</a:t>
            </a:r>
          </a:p>
          <a:p>
            <a:pPr marL="514350" indent="-514350">
              <a:buAutoNum type="arabicPeriod"/>
            </a:pPr>
            <a:r>
              <a:rPr lang="en-VN" sz="4400"/>
              <a:t>Find a suitable supervisor</a:t>
            </a:r>
          </a:p>
          <a:p>
            <a:pPr marL="514350" indent="-514350">
              <a:buAutoNum type="arabicPeriod"/>
            </a:pPr>
            <a:r>
              <a:rPr lang="en-VN" sz="4400"/>
              <a:t>Keep going on!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2C87C-2088-6FBA-8770-C674A26DD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FB6D-289F-493D-B429-BB6C39253D80}" type="slidenum">
              <a:rPr lang="vi-VN" smtClean="0"/>
              <a:t>10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67799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501F-4F0B-AB66-A270-1AB48C958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Detail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FB1EC-777E-4943-BC09-7CA022FF9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VN"/>
              <a:t>3. Keep going on</a:t>
            </a:r>
          </a:p>
          <a:p>
            <a:pPr marL="514350" indent="-514350">
              <a:buAutoNum type="alphaLcParenBoth"/>
            </a:pPr>
            <a:r>
              <a:rPr lang="en-VN"/>
              <a:t>Balancing between researching and studying</a:t>
            </a:r>
          </a:p>
          <a:p>
            <a:pPr marL="514350" indent="-514350">
              <a:buAutoNum type="alphaLcParenBoth"/>
            </a:pPr>
            <a:r>
              <a:rPr lang="en-VN"/>
              <a:t>Group or solo?</a:t>
            </a:r>
          </a:p>
          <a:p>
            <a:pPr marL="514350" indent="-514350">
              <a:buAutoNum type="alphaLcParenBoth"/>
            </a:pPr>
            <a:r>
              <a:rPr lang="en-VN"/>
              <a:t>Research method</a:t>
            </a:r>
          </a:p>
          <a:p>
            <a:pPr marL="514350" indent="-514350">
              <a:buAutoNum type="alphaLcParenBoth"/>
            </a:pPr>
            <a:r>
              <a:rPr lang="en-VN"/>
              <a:t>Research tool</a:t>
            </a:r>
          </a:p>
          <a:p>
            <a:pPr marL="514350" indent="-514350">
              <a:buAutoNum type="alphaLcParenBoth"/>
            </a:pPr>
            <a:r>
              <a:rPr lang="en-VN"/>
              <a:t>Research outcome</a:t>
            </a:r>
          </a:p>
          <a:p>
            <a:pPr marL="514350" indent="-514350">
              <a:buAutoNum type="alphaLcParenBoth"/>
            </a:pPr>
            <a:r>
              <a:rPr lang="en-VN"/>
              <a:t>Use the outcome for: scholarship, job,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A16BC-7EE1-C72E-9F67-8C101E3B8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FB6D-289F-493D-B429-BB6C39253D80}" type="slidenum">
              <a:rPr lang="vi-VN" smtClean="0"/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45325926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12174</TotalTime>
  <Words>386</Words>
  <Application>Microsoft Macintosh PowerPoint</Application>
  <PresentationFormat>Widescreen</PresentationFormat>
  <Paragraphs>121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Cambria Math</vt:lpstr>
      <vt:lpstr>Times New Roman</vt:lpstr>
      <vt:lpstr>Chủ đề Office</vt:lpstr>
      <vt:lpstr>PowerPoint Presentation</vt:lpstr>
      <vt:lpstr>Info</vt:lpstr>
      <vt:lpstr>Research</vt:lpstr>
      <vt:lpstr>PowerPoint Presentation</vt:lpstr>
      <vt:lpstr>Why research? (1/3)</vt:lpstr>
      <vt:lpstr>Why research? (1/3)</vt:lpstr>
      <vt:lpstr>Why research? (2/3): Research → Many skills</vt:lpstr>
      <vt:lpstr>Why research? (3/3): Job market</vt:lpstr>
      <vt:lpstr>Paths</vt:lpstr>
      <vt:lpstr>Simple guideline</vt:lpstr>
      <vt:lpstr>Detail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Bản thân</dc:title>
  <dc:creator>Tuan Hai</dc:creator>
  <cp:lastModifiedBy>Tuan Hai Vu</cp:lastModifiedBy>
  <cp:revision>29</cp:revision>
  <dcterms:created xsi:type="dcterms:W3CDTF">2021-09-16T00:42:46Z</dcterms:created>
  <dcterms:modified xsi:type="dcterms:W3CDTF">2026-05-14T02:50:48Z</dcterms:modified>
</cp:coreProperties>
</file>