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1" r:id="rId3"/>
    <p:sldId id="263" r:id="rId4"/>
    <p:sldId id="264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2" autoAdjust="0"/>
    <p:restoredTop sz="94627"/>
  </p:normalViewPr>
  <p:slideViewPr>
    <p:cSldViewPr snapToGrid="0">
      <p:cViewPr>
        <p:scale>
          <a:sx n="112" d="100"/>
          <a:sy n="112" d="100"/>
        </p:scale>
        <p:origin x="28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 with a brain&#10;&#10;AI-generated content may be incorrect.">
            <a:extLst>
              <a:ext uri="{FF2B5EF4-FFF2-40B4-BE49-F238E27FC236}">
                <a16:creationId xmlns:a16="http://schemas.microsoft.com/office/drawing/2014/main" id="{DADC3F72-6115-EC5F-15E5-786680622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63" y="920750"/>
            <a:ext cx="3852672" cy="501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1B1551-F244-B02B-FE60-1D441586456F}"/>
              </a:ext>
            </a:extLst>
          </p:cNvPr>
          <p:cNvSpPr txBox="1"/>
          <p:nvPr/>
        </p:nvSpPr>
        <p:spPr>
          <a:xfrm>
            <a:off x="3675529" y="5416316"/>
            <a:ext cx="4840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000"/>
              <a:t>Intro</a:t>
            </a: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F03F-80EE-6BBC-D6B4-2BE402ED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Quyền lợi: </a:t>
            </a:r>
            <a:r>
              <a:rPr lang="en-VN" b="1"/>
              <a:t>Học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93CA8-CEAD-E2AC-7300-0B995A87D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Hướng dẫn đồ án 1 / 2 / chuyên ngành &amp; khoá luận / luận văn</a:t>
            </a:r>
          </a:p>
          <a:p>
            <a:pPr>
              <a:buFontTx/>
              <a:buChar char="-"/>
            </a:pPr>
            <a:r>
              <a:rPr lang="en-VN"/>
              <a:t>Đứng tên người hướng dẫn: AISeQ member (học vị Tiến sĩ).</a:t>
            </a:r>
          </a:p>
          <a:p>
            <a:pPr>
              <a:buFontTx/>
              <a:buChar char="-"/>
            </a:pPr>
            <a:r>
              <a:rPr lang="en-US"/>
              <a:t>K</a:t>
            </a:r>
            <a:r>
              <a:rPr lang="en-VN"/>
              <a:t>ý và xác nhận các giấy tờ liên quan đến thủ tục đăng ký / bảo vệ.</a:t>
            </a:r>
          </a:p>
          <a:p>
            <a:pPr>
              <a:buFontTx/>
              <a:buChar char="-"/>
            </a:pPr>
            <a:r>
              <a:rPr lang="en-VN"/>
              <a:t>Nên sử dụng project đã thực hiện với AISeQ lab như kết quả của môn học / khoá luận / luận văn.</a:t>
            </a:r>
          </a:p>
          <a:p>
            <a:pPr>
              <a:buFontTx/>
              <a:buChar char="-"/>
            </a:pPr>
            <a:r>
              <a:rPr lang="en-VN"/>
              <a:t>AISeQ member có thể đứng tên đồng hướng dẫn với các thầy cô khác (trong hoặc ngoài UIT) tuy nhiên cần thông báo trước.</a:t>
            </a:r>
          </a:p>
        </p:txBody>
      </p:sp>
    </p:spTree>
    <p:extLst>
      <p:ext uri="{BB962C8B-B14F-4D97-AF65-F5344CB8AC3E}">
        <p14:creationId xmlns:p14="http://schemas.microsoft.com/office/powerpoint/2010/main" val="424849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363E-3D45-55BF-44CC-27C45DC4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384C-9C0C-9A0E-7CEF-EF1A4765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Quyền lợi: </a:t>
            </a:r>
            <a:r>
              <a:rPr lang="en-VN" b="1"/>
              <a:t>Tài nguyên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6FFC9-95DB-57AD-AC84-911059881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Có các thiết bị để benchmark &amp; test (server cpu/gpu, các board, mac mini, ...) phục vụ cho các bài toán AI, vi mạch, …</a:t>
            </a:r>
          </a:p>
          <a:p>
            <a:pPr>
              <a:buFontTx/>
              <a:buChar char="-"/>
            </a:pPr>
            <a:r>
              <a:rPr lang="vi-VN"/>
              <a:t>Truy cập tab Devices ở GGSheet được chia sẻ.</a:t>
            </a:r>
          </a:p>
          <a:p>
            <a:pPr>
              <a:buFontTx/>
              <a:buChar char="-"/>
            </a:pPr>
            <a:r>
              <a:rPr lang="vi-VN"/>
              <a:t>Phản hồi sớm nhất có thể về sự cố khi sử dụng thiết bị.</a:t>
            </a:r>
          </a:p>
          <a:p>
            <a:pPr>
              <a:buFontTx/>
              <a:buChar char="-"/>
            </a:pPr>
            <a:r>
              <a:rPr lang="vi-VN" b="1"/>
              <a:t>LƯU Ý</a:t>
            </a:r>
            <a:r>
              <a:rPr lang="vi-VN"/>
              <a:t>: không được chia sẻ thông tin &amp; các thiết bị của lab cho việc khác ngoài NCKH (mining, host server, …)</a:t>
            </a:r>
          </a:p>
        </p:txBody>
      </p:sp>
    </p:spTree>
    <p:extLst>
      <p:ext uri="{BB962C8B-B14F-4D97-AF65-F5344CB8AC3E}">
        <p14:creationId xmlns:p14="http://schemas.microsoft.com/office/powerpoint/2010/main" val="250055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6576-CC80-A95E-6D93-F28481DE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8F58-77C5-9C9D-B6EE-2138F61A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Quyền lợi: </a:t>
            </a:r>
            <a:r>
              <a:rPr lang="en-VN" b="1"/>
              <a:t>Thực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76468-668F-D5E2-5BE8-5F367371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Có cơ hội thực tập tại Nhật:</a:t>
            </a:r>
          </a:p>
          <a:p>
            <a:pPr>
              <a:buFontTx/>
              <a:buChar char="-"/>
            </a:pPr>
            <a:r>
              <a:rPr lang="vi-VN"/>
              <a:t>Nara Institute of Science and Technology (NAIST) hoặc Tohoku University (TU).</a:t>
            </a:r>
          </a:p>
          <a:p>
            <a:pPr>
              <a:buFontTx/>
              <a:buChar char="-"/>
            </a:pPr>
            <a:r>
              <a:rPr lang="vi-VN"/>
              <a:t>Được cover toàn bộ chi phí (đi lại, ăn ở)</a:t>
            </a:r>
          </a:p>
          <a:p>
            <a:pPr>
              <a:buFontTx/>
              <a:buChar char="-"/>
            </a:pPr>
            <a:r>
              <a:rPr lang="vi-VN"/>
              <a:t>Thời gian: khoảng 1 – 3 tháng</a:t>
            </a:r>
          </a:p>
          <a:p>
            <a:pPr>
              <a:buFontTx/>
              <a:buChar char="-"/>
            </a:pPr>
            <a:endParaRPr lang="vi-VN"/>
          </a:p>
          <a:p>
            <a:pPr marL="0" indent="0">
              <a:buNone/>
            </a:pPr>
            <a:r>
              <a:rPr lang="vi-VN"/>
              <a:t>Nếu nhận được thông tin về thực tập tại các nước khác, member sẽ chia sẻ thông tin và viết thư giới thiệu nếu cần.</a:t>
            </a:r>
          </a:p>
          <a:p>
            <a:pPr marL="0" indent="0">
              <a:buNone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335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EEB6-5481-3DA6-E3D3-55C20A5A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82BF-FA43-1D71-1AD8-7A8593CF6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Quyền lợi: </a:t>
            </a:r>
            <a:r>
              <a:rPr lang="en-VN" b="1"/>
              <a:t>Đầu 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7E5C-C159-CC0E-3DED-2C7ECDF0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- Bài báo khoa học (ưu tiên tạp chí hoặc hội nghị): sinh viên/học viên sẽ là </a:t>
            </a:r>
            <a:r>
              <a:rPr lang="vi-VN" b="1">
                <a:solidFill>
                  <a:srgbClr val="FF0000"/>
                </a:solidFill>
              </a:rPr>
              <a:t>FIRST AUTHOR</a:t>
            </a:r>
            <a:r>
              <a:rPr lang="vi-VN"/>
              <a:t>, AISeQ member sẽ đứng sau (corresponding author)</a:t>
            </a:r>
          </a:p>
          <a:p>
            <a:pPr marL="0" indent="0">
              <a:buNone/>
            </a:pPr>
            <a:r>
              <a:rPr lang="vi-VN"/>
              <a:t>      + Chi phí: AISeQ member sẽ chi trả phí nộp tạp chí/hội nghị</a:t>
            </a:r>
          </a:p>
          <a:p>
            <a:pPr>
              <a:buFontTx/>
              <a:buChar char="-"/>
            </a:pPr>
            <a:r>
              <a:rPr lang="vi-VN"/>
              <a:t>Tiền lương: AISeQ member đang xin tài trợ trong và ngoài nước, nếu được duyệt thì sinh viên/học viên thực hiện project liên quan sẽ được hưởng lương/thưởng.</a:t>
            </a:r>
          </a:p>
          <a:p>
            <a:pPr>
              <a:buFontTx/>
              <a:buChar char="-"/>
            </a:pPr>
            <a:r>
              <a:rPr lang="vi-VN"/>
              <a:t>Sản phẩm hoàn thiện: nếu project có khả năng bán/chuyển giao, sinh viên/học viên là người hưởng </a:t>
            </a:r>
            <a:r>
              <a:rPr lang="vi-VN" b="1">
                <a:solidFill>
                  <a:srgbClr val="FF0000"/>
                </a:solidFill>
              </a:rPr>
              <a:t>LỢI NHUẬN CHÍNH</a:t>
            </a:r>
            <a:r>
              <a:rPr lang="vi-VN"/>
              <a:t>.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9184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7A3AF-C3AB-5194-A014-1DA3FCC8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Nghĩa vụ: </a:t>
            </a:r>
            <a:r>
              <a:rPr lang="en-VN" b="1"/>
              <a:t>Thực hiện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7C06-5AC0-D563-2648-19B40831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Mỗi sinh viên/học viên sẽ được giao và thực hiện một project.</a:t>
            </a:r>
          </a:p>
          <a:p>
            <a:pPr>
              <a:buFontTx/>
              <a:buChar char="-"/>
            </a:pPr>
            <a:r>
              <a:rPr lang="en-VN"/>
              <a:t>Cập nhật tiến độ thường xuyên</a:t>
            </a:r>
          </a:p>
          <a:p>
            <a:pPr marL="0" indent="0">
              <a:buNone/>
            </a:pPr>
            <a:r>
              <a:rPr lang="en-VN"/>
              <a:t>   </a:t>
            </a:r>
            <a:r>
              <a:rPr lang="en-VN">
                <a:solidFill>
                  <a:srgbClr val="FF0000"/>
                </a:solidFill>
              </a:rPr>
              <a:t>+ Không cập nhật trong thời gian dài ----&gt; KICK</a:t>
            </a:r>
          </a:p>
          <a:p>
            <a:pPr>
              <a:buFontTx/>
              <a:buChar char="-"/>
            </a:pPr>
            <a:r>
              <a:rPr lang="en-VN"/>
              <a:t>Tham gia và báo cáo lab meeting hàng tuần (offline)</a:t>
            </a:r>
          </a:p>
          <a:p>
            <a:pPr marL="0" indent="0">
              <a:buNone/>
            </a:pPr>
            <a:r>
              <a:rPr lang="en-VN"/>
              <a:t>   </a:t>
            </a:r>
            <a:r>
              <a:rPr lang="en-VN">
                <a:solidFill>
                  <a:srgbClr val="FF0000"/>
                </a:solidFill>
              </a:rPr>
              <a:t>+ Vắng quá nhiều meeting ----&gt; KICK</a:t>
            </a:r>
          </a:p>
          <a:p>
            <a:pPr>
              <a:buFontTx/>
              <a:buChar char="-"/>
            </a:pPr>
            <a:r>
              <a:rPr lang="en-VN"/>
              <a:t>Viết document đầy đủ trong quá trình thực hiện và sau khi hoàn thành project</a:t>
            </a:r>
          </a:p>
          <a:p>
            <a:pPr>
              <a:buFontTx/>
              <a:buChar char="-"/>
            </a:pPr>
            <a:r>
              <a:rPr lang="en-VN">
                <a:solidFill>
                  <a:srgbClr val="FF0000"/>
                </a:solidFill>
              </a:rPr>
              <a:t>Không được tự ý bán/chuyển giao các sản phẩm project cho lab khác / công ty khác.</a:t>
            </a:r>
          </a:p>
        </p:txBody>
      </p:sp>
    </p:spTree>
    <p:extLst>
      <p:ext uri="{BB962C8B-B14F-4D97-AF65-F5344CB8AC3E}">
        <p14:creationId xmlns:p14="http://schemas.microsoft.com/office/powerpoint/2010/main" val="408407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FE56-B6C3-87B3-7464-57DC030A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 trình làm việc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E19AE-0157-1BC5-19A0-9CBBE6520B9B}"/>
              </a:ext>
            </a:extLst>
          </p:cNvPr>
          <p:cNvSpPr/>
          <p:nvPr/>
        </p:nvSpPr>
        <p:spPr>
          <a:xfrm>
            <a:off x="838200" y="1690688"/>
            <a:ext cx="2339340" cy="50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Học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4A463-E0A7-957F-5EFE-068FD8EDF44E}"/>
              </a:ext>
            </a:extLst>
          </p:cNvPr>
          <p:cNvSpPr txBox="1"/>
          <p:nvPr/>
        </p:nvSpPr>
        <p:spPr>
          <a:xfrm>
            <a:off x="3208020" y="1619459"/>
            <a:ext cx="2548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>
                <a:solidFill>
                  <a:schemeClr val="tx1"/>
                </a:solidFill>
              </a:rPr>
              <a:t>Đủ background để thực hiện project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92B09-6449-1CFD-F88E-6FC2CB4D1ADC}"/>
              </a:ext>
            </a:extLst>
          </p:cNvPr>
          <p:cNvSpPr/>
          <p:nvPr/>
        </p:nvSpPr>
        <p:spPr>
          <a:xfrm>
            <a:off x="838200" y="3016251"/>
            <a:ext cx="2339340" cy="50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Chọn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824D1-420F-FD1B-297D-24D99340F8D1}"/>
              </a:ext>
            </a:extLst>
          </p:cNvPr>
          <p:cNvSpPr txBox="1"/>
          <p:nvPr/>
        </p:nvSpPr>
        <p:spPr>
          <a:xfrm>
            <a:off x="2007870" y="3628559"/>
            <a:ext cx="2137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>
                <a:solidFill>
                  <a:schemeClr val="tx1"/>
                </a:solidFill>
              </a:rPr>
              <a:t>1 người / 1 project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14ABA6-D485-3322-DCE1-278B594BCFE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2007870" y="2194560"/>
            <a:ext cx="0" cy="8216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65A598-50C8-A1ED-C937-17A6C278AE48}"/>
              </a:ext>
            </a:extLst>
          </p:cNvPr>
          <p:cNvSpPr txBox="1"/>
          <p:nvPr/>
        </p:nvSpPr>
        <p:spPr>
          <a:xfrm>
            <a:off x="2156460" y="2282240"/>
            <a:ext cx="4530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Báo cáo hàng tuần &amp; kiểm tra tiến độ học</a:t>
            </a:r>
          </a:p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Thực hiện sample project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385B4-9BD2-DB72-59BE-2B20E700472D}"/>
              </a:ext>
            </a:extLst>
          </p:cNvPr>
          <p:cNvSpPr/>
          <p:nvPr/>
        </p:nvSpPr>
        <p:spPr>
          <a:xfrm>
            <a:off x="838200" y="4341814"/>
            <a:ext cx="2339340" cy="50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Thực hiện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3127A-C07A-1DEC-0428-DCB9D9D72B97}"/>
              </a:ext>
            </a:extLst>
          </p:cNvPr>
          <p:cNvSpPr txBox="1"/>
          <p:nvPr/>
        </p:nvSpPr>
        <p:spPr>
          <a:xfrm>
            <a:off x="838200" y="5067212"/>
            <a:ext cx="5497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Báo cáo tiến độ hàng tuần</a:t>
            </a:r>
          </a:p>
          <a:p>
            <a:pPr marL="285750" indent="-285750">
              <a:buFontTx/>
              <a:buChar char="-"/>
            </a:pPr>
            <a:r>
              <a:rPr lang="en-VN"/>
              <a:t>Source code: update trên workspace của lab</a:t>
            </a:r>
          </a:p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Report: viết markdown &amp; submit cùng code</a:t>
            </a:r>
          </a:p>
          <a:p>
            <a:pPr marL="285750" indent="-285750">
              <a:buFontTx/>
              <a:buChar char="-"/>
            </a:pPr>
            <a:r>
              <a:rPr lang="en-VN"/>
              <a:t>Trao đổi: discord</a:t>
            </a:r>
            <a:endParaRPr lang="en-VN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6E64CA-C9A8-FEE1-E010-D60E728BF0C6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2007870" y="3520123"/>
            <a:ext cx="0" cy="8216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174E6-BA43-D13C-D36C-607EA63B4AA7}"/>
              </a:ext>
            </a:extLst>
          </p:cNvPr>
          <p:cNvSpPr/>
          <p:nvPr/>
        </p:nvSpPr>
        <p:spPr>
          <a:xfrm>
            <a:off x="7254240" y="1690688"/>
            <a:ext cx="2339340" cy="50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Viết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BB7B59E-1479-466C-9E5A-5F2C2DBEED69}"/>
              </a:ext>
            </a:extLst>
          </p:cNvPr>
          <p:cNvCxnSpPr>
            <a:stCxn id="13" idx="3"/>
            <a:endCxn id="18" idx="1"/>
          </p:cNvCxnSpPr>
          <p:nvPr/>
        </p:nvCxnSpPr>
        <p:spPr>
          <a:xfrm flipV="1">
            <a:off x="3177540" y="1942624"/>
            <a:ext cx="4076700" cy="2651126"/>
          </a:xfrm>
          <a:prstGeom prst="bentConnector3">
            <a:avLst>
              <a:gd name="adj1" fmla="val 8841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FDADCCF-320F-69E9-E024-9C10FC01367C}"/>
              </a:ext>
            </a:extLst>
          </p:cNvPr>
          <p:cNvSpPr txBox="1"/>
          <p:nvPr/>
        </p:nvSpPr>
        <p:spPr>
          <a:xfrm>
            <a:off x="8561069" y="2298690"/>
            <a:ext cx="3878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Manuscript: </a:t>
            </a:r>
            <a:r>
              <a:rPr lang="en-VN"/>
              <a:t>latex trên Overleaf</a:t>
            </a:r>
          </a:p>
          <a:p>
            <a:pPr marL="285750" indent="-285750">
              <a:buFontTx/>
              <a:buChar char="-"/>
            </a:pPr>
            <a:r>
              <a:rPr lang="en-VN"/>
              <a:t>Vẽ hình: inkscape, AE, 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C6B08A-2979-A009-141D-0EA3E3751745}"/>
              </a:ext>
            </a:extLst>
          </p:cNvPr>
          <p:cNvSpPr/>
          <p:nvPr/>
        </p:nvSpPr>
        <p:spPr>
          <a:xfrm>
            <a:off x="7254239" y="4341814"/>
            <a:ext cx="2339340" cy="50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Submit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AA0962-855A-D87B-3D51-C4E09A65218B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flipH="1">
            <a:off x="8423909" y="2194560"/>
            <a:ext cx="1" cy="21472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C22074F-4E8A-7815-AA60-73EB0C2B38FC}"/>
              </a:ext>
            </a:extLst>
          </p:cNvPr>
          <p:cNvSpPr txBox="1"/>
          <p:nvPr/>
        </p:nvSpPr>
        <p:spPr>
          <a:xfrm>
            <a:off x="8561069" y="4982646"/>
            <a:ext cx="3878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VN">
                <a:solidFill>
                  <a:schemeClr val="tx1"/>
                </a:solidFill>
              </a:rPr>
              <a:t>Viết doc</a:t>
            </a:r>
            <a:endParaRPr lang="en-VN"/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4DB723BE-06C7-E5E4-5AA7-F92B8446412F}"/>
              </a:ext>
            </a:extLst>
          </p:cNvPr>
          <p:cNvCxnSpPr>
            <a:cxnSpLocks/>
            <a:stCxn id="23" idx="2"/>
            <a:endCxn id="8" idx="1"/>
          </p:cNvCxnSpPr>
          <p:nvPr/>
        </p:nvCxnSpPr>
        <p:spPr>
          <a:xfrm rot="5400000" flipH="1">
            <a:off x="3842305" y="264083"/>
            <a:ext cx="1577499" cy="7585709"/>
          </a:xfrm>
          <a:prstGeom prst="bentConnector4">
            <a:avLst>
              <a:gd name="adj1" fmla="val -104337"/>
              <a:gd name="adj2" fmla="val 106932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815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16419</TotalTime>
  <Words>559</Words>
  <Application>Microsoft Macintosh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Quyền lợi: Học tập</vt:lpstr>
      <vt:lpstr>Quyền lợi: Tài nguyên</vt:lpstr>
      <vt:lpstr>Quyền lợi: Thực tập</vt:lpstr>
      <vt:lpstr>Quyền lợi: Đầu ra</vt:lpstr>
      <vt:lpstr>Nghĩa vụ: Thực hiện project </vt:lpstr>
      <vt:lpstr>Quy trình làm việc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Nguyễn Thị Lê Thủy</cp:lastModifiedBy>
  <cp:revision>21</cp:revision>
  <dcterms:created xsi:type="dcterms:W3CDTF">2025-08-09T01:51:01Z</dcterms:created>
  <dcterms:modified xsi:type="dcterms:W3CDTF">2025-10-22T13:17:08Z</dcterms:modified>
</cp:coreProperties>
</file>