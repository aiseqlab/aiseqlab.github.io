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90" r:id="rId2"/>
    <p:sldId id="291" r:id="rId3"/>
    <p:sldId id="292" r:id="rId4"/>
    <p:sldId id="293" r:id="rId5"/>
    <p:sldId id="288" r:id="rId6"/>
    <p:sldId id="289" r:id="rId7"/>
    <p:sldId id="256" r:id="rId8"/>
    <p:sldId id="267" r:id="rId9"/>
    <p:sldId id="283" r:id="rId10"/>
    <p:sldId id="284" r:id="rId11"/>
    <p:sldId id="285" r:id="rId12"/>
    <p:sldId id="286" r:id="rId13"/>
    <p:sldId id="287" r:id="rId14"/>
    <p:sldId id="294" r:id="rId15"/>
    <p:sldId id="295" r:id="rId16"/>
    <p:sldId id="299" r:id="rId17"/>
    <p:sldId id="300" r:id="rId18"/>
    <p:sldId id="301" r:id="rId19"/>
    <p:sldId id="296" r:id="rId20"/>
    <p:sldId id="297" r:id="rId21"/>
    <p:sldId id="298" r:id="rId22"/>
    <p:sldId id="269" r:id="rId23"/>
    <p:sldId id="268" r:id="rId24"/>
    <p:sldId id="257" r:id="rId25"/>
    <p:sldId id="270" r:id="rId26"/>
    <p:sldId id="271" r:id="rId27"/>
    <p:sldId id="272" r:id="rId28"/>
    <p:sldId id="273" r:id="rId29"/>
    <p:sldId id="258" r:id="rId30"/>
    <p:sldId id="274" r:id="rId31"/>
    <p:sldId id="259" r:id="rId32"/>
    <p:sldId id="260" r:id="rId33"/>
    <p:sldId id="266" r:id="rId34"/>
    <p:sldId id="261" r:id="rId35"/>
    <p:sldId id="262" r:id="rId36"/>
    <p:sldId id="275" r:id="rId37"/>
    <p:sldId id="276" r:id="rId38"/>
    <p:sldId id="279" r:id="rId39"/>
    <p:sldId id="263" r:id="rId40"/>
    <p:sldId id="265" r:id="rId41"/>
    <p:sldId id="277" r:id="rId42"/>
    <p:sldId id="278" r:id="rId43"/>
    <p:sldId id="264" r:id="rId44"/>
    <p:sldId id="280" r:id="rId45"/>
    <p:sldId id="281" r:id="rId46"/>
    <p:sldId id="28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32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5" autoAdjust="0"/>
    <p:restoredTop sz="95970"/>
  </p:normalViewPr>
  <p:slideViewPr>
    <p:cSldViewPr snapToGrid="0">
      <p:cViewPr varScale="1">
        <p:scale>
          <a:sx n="115" d="100"/>
          <a:sy n="115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2B7F2-4ED9-403D-8D8A-879FE3B4014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C423D-7B4B-467C-A396-4684F9D5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3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2A6B0-F2DA-440F-88D0-52594E8892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92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5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5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F216-2303-CCCA-7D04-79620CCE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F3928-A26A-F38D-C6F5-97DB4FADB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A3A11-865A-DF9F-A27C-4E1CC7A3A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DEB9D-08EC-47E5-FEF5-2AA21C50B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51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5569-A1C6-A157-CACB-9E848790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6549B-9DAF-0496-90AD-096F4EB55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E6D8F-6BF3-BFDE-B4D5-BFBA1E920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70B30-CF18-3F24-768D-32980F396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15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F216-2303-CCCA-7D04-79620CCE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F3928-A26A-F38D-C6F5-97DB4FADB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A3A11-865A-DF9F-A27C-4E1CC7A3A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DEB9D-08EC-47E5-FEF5-2AA21C50B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51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5569-A1C6-A157-CACB-9E848790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6549B-9DAF-0496-90AD-096F4EB55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E6D8F-6BF3-BFDE-B4D5-BFBA1E920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70B30-CF18-3F24-768D-32980F396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15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E7D5-C01F-CAE1-E3DF-BAC7AB9F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58C78-CE4F-9834-3E31-B6898E1AB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91BD2-128B-5E1F-D2FE-DFA909A07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04296-64C0-5F26-AD31-E94DCEE97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0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DE8D-798D-7555-88AA-4E95AF2C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55F20-0008-EC69-AC5E-D4FE09F79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1490-2FD4-AA50-BF50-4CF45762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235BF-6526-76F5-5969-04EDDEEC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8706E-08C5-A163-CBC0-FC7AE816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5F3D-D312-928A-32FE-7257407D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6CF6-4835-2587-BDF2-EA47C33EE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588C-59DE-2F0B-8FC0-84C64C1D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2A61-CE4A-8891-E424-CCBF1B92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80E8D-334E-B257-73DB-24B5D00D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9CC0-142D-0422-B915-B6015A2B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0E424-1A09-B3F5-445E-3D6A9FEB9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E8D41-581E-95D0-BC61-2FC75315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768F-F744-A98F-FDDE-2F26B118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01A2D-EE1F-C63F-6E0B-EA54C33E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3A80-A87E-D958-D2DB-90FEF1C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DEB2-CCCE-F170-1F5E-3F550729F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B4791-08C3-3085-79B4-63C4A6C20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416DA-E63F-75F7-16BF-6FE05494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DB0CF-1249-793C-6933-723E973A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69478-216A-E420-4871-50B60E4E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2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A8BE-99EA-CEB3-F967-3E3C3056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3B47-DE42-B6AC-886D-392613950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DDFE9-841D-4C7F-2B89-B3FB2ED46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64B45-0D56-BCEA-CB35-E3A628EB1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B7089-3B4E-CA12-8290-AD730D246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ACA35-7947-CC39-9F84-DF76F92C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2F98D-335D-5379-B7EB-51568888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6135E-532D-47C6-EBF4-BCF9B6FA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4037-D3AD-4234-3784-617F2814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5E707-9B4D-9764-18C2-E6F951D1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1A7BC-9FD1-F3A1-FF97-C3B77D32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1E4CE-523B-97B0-46D1-83937B16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6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7AEB8-1F39-B754-CEB1-E6CC74FE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E0D89-B5C6-76DF-E3EE-7BC349C7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50BEE-FACB-CCF3-75B9-D90A28BF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3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B739-52C1-EC9C-BAB6-2190F2E5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22FE-F550-4965-05BB-3BD1B961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F61AD-E898-1348-500B-D53F8E68D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2113D-70B5-1554-B46B-E1FA9BE8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BD78A-BCFB-145F-3560-0F0D234A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CCA62-BD49-0A4E-BA55-F4548E5B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451F-A63A-4CA9-56FB-FF25D44D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EC0B8-E9A4-D6BC-BB6C-AC4DBBD0E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E3693-0009-6A56-43F4-448D30D4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5BE45-3029-7D5B-0B91-A6442F2C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A3B2A-5F1E-D057-20F7-C5001462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A52A6-6EBB-F9BC-7FF0-B021E143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4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9BE5-8A2D-8C54-A867-730006CE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E8D7C-1733-7420-C8E2-E1B600840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AF03-26F1-AC4F-04EC-3410C5C6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ABDB-17A1-FDF0-E308-D956490B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79D9C-4CC0-24EA-6C38-5F06378D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87074-DFB1-F2E5-FE3E-E983588B5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33FA0-2BA5-C1F9-9453-A4C2D05CA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3321-B3F2-4A16-8C64-8DC325FA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88C8-C17F-3F52-8E89-BDA6863A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C3A1-BC56-130D-575A-B17453EB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0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452CD-2F74-E689-677A-5D2A444E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BF50-C904-90BC-1C17-1DDCAF202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C5E9F-45E2-2B0B-2F8B-77B2BFB00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A5567-2D39-432B-A86B-39F40DF129F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54A3-E78A-1718-5D47-74ED7E2BE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D6CD-F51E-9292-4433-501911A88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0.png"/><Relationship Id="rId2" Type="http://schemas.openxmlformats.org/officeDocument/2006/relationships/image" Target="../media/image26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8.gif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gi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9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52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9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49.png"/><Relationship Id="rId7" Type="http://schemas.openxmlformats.org/officeDocument/2006/relationships/image" Target="../media/image5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microsoft.com/office/2007/relationships/hdphoto" Target="../media/hdphoto1.wdp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/>
          <p:cNvSpPr/>
          <p:nvPr/>
        </p:nvSpPr>
        <p:spPr>
          <a:xfrm>
            <a:off x="5657103" y="633708"/>
            <a:ext cx="2884554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ounded Rectangle 19"/>
          <p:cNvSpPr/>
          <p:nvPr/>
        </p:nvSpPr>
        <p:spPr>
          <a:xfrm>
            <a:off x="10375435" y="2766196"/>
            <a:ext cx="2276009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ounded Rectangle 16"/>
          <p:cNvSpPr/>
          <p:nvPr/>
        </p:nvSpPr>
        <p:spPr>
          <a:xfrm>
            <a:off x="5666458" y="2758029"/>
            <a:ext cx="2890802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ounded Rectangle 1"/>
          <p:cNvSpPr/>
          <p:nvPr/>
        </p:nvSpPr>
        <p:spPr>
          <a:xfrm>
            <a:off x="1713890" y="2748457"/>
            <a:ext cx="2308860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" r="9625" b="1390"/>
          <a:stretch/>
        </p:blipFill>
        <p:spPr>
          <a:xfrm rot="16200000">
            <a:off x="10831290" y="2324330"/>
            <a:ext cx="1364302" cy="22760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" t="7019" r="-67" b="31993"/>
          <a:stretch>
            <a:fillRect/>
          </a:stretch>
        </p:blipFill>
        <p:spPr>
          <a:xfrm>
            <a:off x="5658473" y="2731104"/>
            <a:ext cx="2898787" cy="13381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890" y="2727393"/>
            <a:ext cx="2298163" cy="1364302"/>
          </a:xfrm>
          <a:prstGeom prst="rect">
            <a:avLst/>
          </a:prstGeom>
        </p:spPr>
      </p:pic>
      <p:pic>
        <p:nvPicPr>
          <p:cNvPr id="1026" name="Picture 2" descr="Không có mô tả ản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45655" y="-153375"/>
            <a:ext cx="1313191" cy="287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>
            <a:cxnSpLocks/>
          </p:cNvCxnSpPr>
          <p:nvPr/>
        </p:nvCxnSpPr>
        <p:spPr>
          <a:xfrm>
            <a:off x="-809626" y="2608118"/>
            <a:ext cx="13441680" cy="14535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73428" y="4106307"/>
            <a:ext cx="23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RTL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473" y="4098318"/>
            <a:ext cx="290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Simulating on FPGA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807773" y="3387558"/>
            <a:ext cx="266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cs typeface="Times New Roman" panose="02020603050405020304" pitchFamily="18" charset="0"/>
              </a:rPr>
              <a:t>Semiconductor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807773" y="1280974"/>
            <a:ext cx="2614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807773" y="5381595"/>
            <a:ext cx="24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  <a:cs typeface="Times New Roman" panose="02020603050405020304" pitchFamily="18" charset="0"/>
              </a:rPr>
              <a:t>Quantum Computing</a:t>
            </a:r>
            <a:endParaRPr lang="en-GB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-852487" y="4715331"/>
            <a:ext cx="13533120" cy="1455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375434" y="4111070"/>
            <a:ext cx="227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Fabricate chip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73427" y="646362"/>
            <a:ext cx="2362820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1911657" y="1982664"/>
            <a:ext cx="193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Propose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6914" y="1953327"/>
            <a:ext cx="290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Training on GPU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66203" y="639769"/>
            <a:ext cx="2236983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/>
          <p:cNvSpPr txBox="1"/>
          <p:nvPr/>
        </p:nvSpPr>
        <p:spPr>
          <a:xfrm>
            <a:off x="10366203" y="1962191"/>
            <a:ext cx="223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Inference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01190" y="4860765"/>
            <a:ext cx="2297830" cy="1687992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ounded Rectangle 35"/>
          <p:cNvSpPr/>
          <p:nvPr/>
        </p:nvSpPr>
        <p:spPr>
          <a:xfrm>
            <a:off x="5704368" y="4860765"/>
            <a:ext cx="2852892" cy="1712818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ounded Rectangle 36"/>
          <p:cNvSpPr/>
          <p:nvPr/>
        </p:nvSpPr>
        <p:spPr>
          <a:xfrm>
            <a:off x="10370504" y="4872449"/>
            <a:ext cx="2308860" cy="1712818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" name="Picture 2" descr="Không có mô tả ản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90798" y="4074331"/>
            <a:ext cx="1280023" cy="285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First quantum computer to pack 100 qubits enters crowded race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58" b="3469"/>
          <a:stretch>
            <a:fillRect/>
          </a:stretch>
        </p:blipFill>
        <p:spPr bwMode="auto">
          <a:xfrm>
            <a:off x="10366203" y="4875922"/>
            <a:ext cx="2332290" cy="106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5704368" y="6198477"/>
            <a:ext cx="28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Simulating on CPU/GPU/…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01190" y="6161625"/>
            <a:ext cx="229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Quantum algorithms</a:t>
            </a:r>
          </a:p>
        </p:txBody>
      </p:sp>
      <p:pic>
        <p:nvPicPr>
          <p:cNvPr id="1028" name="Picture 4" descr="Fractional Gates • Quantum Zeitgeist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30"/>
          <a:stretch>
            <a:fillRect/>
          </a:stretch>
        </p:blipFill>
        <p:spPr bwMode="auto">
          <a:xfrm>
            <a:off x="1696784" y="4854926"/>
            <a:ext cx="2302570" cy="122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10392800" y="5932517"/>
            <a:ext cx="228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Deploy on real quantum computer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A9A614-AC84-386A-4184-21527C5F924D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3999020" y="5704761"/>
            <a:ext cx="170534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22E3C8D-3F8C-E4C3-DB35-D4E55D0806A2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8557260" y="5717174"/>
            <a:ext cx="1813244" cy="11684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C9693990-8E80-4158-B5A3-168B2160ADDB}"/>
              </a:ext>
            </a:extLst>
          </p:cNvPr>
          <p:cNvCxnSpPr>
            <a:cxnSpLocks/>
            <a:stCxn id="30" idx="2"/>
            <a:endCxn id="7" idx="0"/>
          </p:cNvCxnSpPr>
          <p:nvPr/>
        </p:nvCxnSpPr>
        <p:spPr>
          <a:xfrm rot="5400000">
            <a:off x="6986431" y="-1770871"/>
            <a:ext cx="374806" cy="8621723"/>
          </a:xfrm>
          <a:prstGeom prst="bentConnector3">
            <a:avLst>
              <a:gd name="adj1" fmla="val 19504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1030" descr="A diagram of a network&#10;&#10;AI-generated content may be incorrect.">
            <a:extLst>
              <a:ext uri="{FF2B5EF4-FFF2-40B4-BE49-F238E27FC236}">
                <a16:creationId xmlns:a16="http://schemas.microsoft.com/office/drawing/2014/main" id="{E01D8258-C023-C866-8136-9695EAD8CF0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28" y="646362"/>
            <a:ext cx="2362820" cy="1324739"/>
          </a:xfrm>
          <a:prstGeom prst="rect">
            <a:avLst/>
          </a:prstGeom>
          <a:ln>
            <a:noFill/>
          </a:ln>
        </p:spPr>
      </p:pic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D777971A-E2FB-E418-A8D3-53AC7A99E919}"/>
              </a:ext>
            </a:extLst>
          </p:cNvPr>
          <p:cNvGrpSpPr/>
          <p:nvPr/>
        </p:nvGrpSpPr>
        <p:grpSpPr>
          <a:xfrm>
            <a:off x="10366203" y="621518"/>
            <a:ext cx="2285239" cy="1319139"/>
            <a:chOff x="-2930466" y="3133562"/>
            <a:chExt cx="1866473" cy="1223509"/>
          </a:xfrm>
        </p:grpSpPr>
        <p:sp>
          <p:nvSpPr>
            <p:cNvPr id="1033" name="Rectangle: Rounded Corners 1032">
              <a:extLst>
                <a:ext uri="{FF2B5EF4-FFF2-40B4-BE49-F238E27FC236}">
                  <a16:creationId xmlns:a16="http://schemas.microsoft.com/office/drawing/2014/main" id="{8A46E997-95C0-BE97-94B4-1D635666D72E}"/>
                </a:ext>
              </a:extLst>
            </p:cNvPr>
            <p:cNvSpPr/>
            <p:nvPr/>
          </p:nvSpPr>
          <p:spPr>
            <a:xfrm>
              <a:off x="-2930466" y="3133562"/>
              <a:ext cx="1827209" cy="1212944"/>
            </a:xfrm>
            <a:prstGeom prst="roundRect">
              <a:avLst>
                <a:gd name="adj" fmla="val 4102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1034" name="Picture 1033" descr="Document Vector Art, Icons, and Graphics for Free Download">
              <a:extLst>
                <a:ext uri="{FF2B5EF4-FFF2-40B4-BE49-F238E27FC236}">
                  <a16:creationId xmlns:a16="http://schemas.microsoft.com/office/drawing/2014/main" id="{9669CC6B-0237-99CC-0ABA-57FC7BA0C2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4" t="15064" r="23774" b="27683"/>
            <a:stretch>
              <a:fillRect/>
            </a:stretch>
          </p:blipFill>
          <p:spPr bwMode="auto">
            <a:xfrm>
              <a:off x="-2804134" y="3171801"/>
              <a:ext cx="345885" cy="38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5" name="Right Arrow 2">
              <a:extLst>
                <a:ext uri="{FF2B5EF4-FFF2-40B4-BE49-F238E27FC236}">
                  <a16:creationId xmlns:a16="http://schemas.microsoft.com/office/drawing/2014/main" id="{5766C89A-55C5-3A55-1D9E-62FF66A29FF8}"/>
                </a:ext>
              </a:extLst>
            </p:cNvPr>
            <p:cNvSpPr/>
            <p:nvPr/>
          </p:nvSpPr>
          <p:spPr>
            <a:xfrm>
              <a:off x="-2383519" y="3655408"/>
              <a:ext cx="235403" cy="20275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pic>
          <p:nvPicPr>
            <p:cNvPr id="1036" name="Picture 1035" descr="5+ điều cần biết về chụp cộng hưởng từ có tiêm thuốc tương phản">
              <a:extLst>
                <a:ext uri="{FF2B5EF4-FFF2-40B4-BE49-F238E27FC236}">
                  <a16:creationId xmlns:a16="http://schemas.microsoft.com/office/drawing/2014/main" id="{9953B549-A781-A7B7-8263-469B95D248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798142" y="3620068"/>
              <a:ext cx="339893" cy="388758"/>
            </a:xfrm>
            <a:prstGeom prst="rect">
              <a:avLst/>
            </a:prstGeom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Picture 1036" descr="ECG signals (744 fragments) | IEEE DataPort">
              <a:extLst>
                <a:ext uri="{FF2B5EF4-FFF2-40B4-BE49-F238E27FC236}">
                  <a16:creationId xmlns:a16="http://schemas.microsoft.com/office/drawing/2014/main" id="{E1EE9304-1A58-7FA4-1D0E-EE3E1691CB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834267" y="4025581"/>
              <a:ext cx="400515" cy="300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03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1A1433D-BE29-8BE4-A0EF-311763DB9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76938" y="3144126"/>
              <a:ext cx="1212945" cy="1212945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F870BEB3-15D3-3926-CF6C-88853366A2AF}"/>
              </a:ext>
            </a:extLst>
          </p:cNvPr>
          <p:cNvCxnSpPr>
            <a:cxnSpLocks/>
          </p:cNvCxnSpPr>
          <p:nvPr/>
        </p:nvCxnSpPr>
        <p:spPr>
          <a:xfrm>
            <a:off x="4391848" y="3494004"/>
            <a:ext cx="90630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DD5FA705-B101-6096-4E00-F166ECFC1E41}"/>
              </a:ext>
            </a:extLst>
          </p:cNvPr>
          <p:cNvCxnSpPr>
            <a:cxnSpLocks/>
          </p:cNvCxnSpPr>
          <p:nvPr/>
        </p:nvCxnSpPr>
        <p:spPr>
          <a:xfrm>
            <a:off x="8172756" y="3514692"/>
            <a:ext cx="822960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B20D730C-9D47-7924-AD60-FF4A929F91E5}"/>
              </a:ext>
            </a:extLst>
          </p:cNvPr>
          <p:cNvCxnSpPr>
            <a:cxnSpLocks/>
          </p:cNvCxnSpPr>
          <p:nvPr/>
        </p:nvCxnSpPr>
        <p:spPr>
          <a:xfrm>
            <a:off x="4431035" y="1359049"/>
            <a:ext cx="90630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55E6752A-45A2-0749-E59F-BEAD9D181E26}"/>
              </a:ext>
            </a:extLst>
          </p:cNvPr>
          <p:cNvCxnSpPr>
            <a:cxnSpLocks/>
          </p:cNvCxnSpPr>
          <p:nvPr/>
        </p:nvCxnSpPr>
        <p:spPr>
          <a:xfrm>
            <a:off x="8211943" y="1379737"/>
            <a:ext cx="822960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F3B145AC-F5FB-63F3-B1A6-52400BC63492}"/>
              </a:ext>
            </a:extLst>
          </p:cNvPr>
          <p:cNvCxnSpPr>
            <a:cxnSpLocks/>
            <a:stCxn id="35" idx="0"/>
            <a:endCxn id="13" idx="2"/>
          </p:cNvCxnSpPr>
          <p:nvPr/>
        </p:nvCxnSpPr>
        <p:spPr>
          <a:xfrm flipH="1" flipV="1">
            <a:off x="2842741" y="4475639"/>
            <a:ext cx="7364" cy="385126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9" name="Connector: Elbow 1058">
            <a:extLst>
              <a:ext uri="{FF2B5EF4-FFF2-40B4-BE49-F238E27FC236}">
                <a16:creationId xmlns:a16="http://schemas.microsoft.com/office/drawing/2014/main" id="{689D883D-131B-51FC-F5F4-022E9EE4C2D4}"/>
              </a:ext>
            </a:extLst>
          </p:cNvPr>
          <p:cNvCxnSpPr>
            <a:cxnSpLocks/>
            <a:stCxn id="15" idx="2"/>
            <a:endCxn id="39" idx="0"/>
          </p:cNvCxnSpPr>
          <p:nvPr/>
        </p:nvCxnSpPr>
        <p:spPr>
          <a:xfrm rot="16200000" flipH="1">
            <a:off x="9117967" y="2461541"/>
            <a:ext cx="408272" cy="4420489"/>
          </a:xfrm>
          <a:prstGeom prst="bentConnector3">
            <a:avLst>
              <a:gd name="adj1" fmla="val 29780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102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F1F64F4-8766-BE43-8A3E-38BC7D19D16E}"/>
              </a:ext>
            </a:extLst>
          </p:cNvPr>
          <p:cNvSpPr/>
          <p:nvPr/>
        </p:nvSpPr>
        <p:spPr>
          <a:xfrm>
            <a:off x="477877" y="675461"/>
            <a:ext cx="5408286" cy="3878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DC127-1985-AC44-FE5B-A606E464C4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9"/>
          <a:stretch>
            <a:fillRect/>
          </a:stretch>
        </p:blipFill>
        <p:spPr>
          <a:xfrm>
            <a:off x="743615" y="863854"/>
            <a:ext cx="3711815" cy="1922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4C548A-F962-BC97-8A09-8D7B906F90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9"/>
          <a:stretch>
            <a:fillRect/>
          </a:stretch>
        </p:blipFill>
        <p:spPr>
          <a:xfrm>
            <a:off x="4681502" y="954909"/>
            <a:ext cx="1072037" cy="33749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8ACE59A-63E5-051B-9399-0B3503CE1573}"/>
              </a:ext>
            </a:extLst>
          </p:cNvPr>
          <p:cNvSpPr/>
          <p:nvPr/>
        </p:nvSpPr>
        <p:spPr>
          <a:xfrm>
            <a:off x="4784384" y="954909"/>
            <a:ext cx="433137" cy="4042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F9F16C-D982-C8BA-6662-864242C4E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15" y="2985203"/>
            <a:ext cx="4013914" cy="1444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57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D96D753-C0F8-8970-3591-D48803A49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8" t="37760" r="22200" b="15424"/>
          <a:stretch>
            <a:fillRect/>
          </a:stretch>
        </p:blipFill>
        <p:spPr>
          <a:xfrm>
            <a:off x="5399773" y="2979020"/>
            <a:ext cx="1583356" cy="1650732"/>
          </a:xfr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299324-F031-54D0-4B0B-65E6A1C8B3CE}"/>
              </a:ext>
            </a:extLst>
          </p:cNvPr>
          <p:cNvSpPr/>
          <p:nvPr/>
        </p:nvSpPr>
        <p:spPr>
          <a:xfrm>
            <a:off x="3071863" y="3101340"/>
            <a:ext cx="2354580" cy="4457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AISeQ</a:t>
            </a:r>
            <a:r>
              <a:rPr lang="en-US" dirty="0"/>
              <a:t> lab x Dev Linux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82098-E2F4-596D-EFC9-45A0D82DD0AE}"/>
              </a:ext>
            </a:extLst>
          </p:cNvPr>
          <p:cNvSpPr txBox="1"/>
          <p:nvPr/>
        </p:nvSpPr>
        <p:spPr>
          <a:xfrm>
            <a:off x="3010902" y="3547110"/>
            <a:ext cx="2479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Tổ</a:t>
            </a:r>
            <a:r>
              <a:rPr lang="en-US" sz="1200" dirty="0"/>
              <a:t> </a:t>
            </a:r>
            <a:r>
              <a:rPr lang="en-US" sz="1200" dirty="0" err="1"/>
              <a:t>chức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khóa</a:t>
            </a:r>
            <a:r>
              <a:rPr lang="en-US" sz="1200" dirty="0"/>
              <a:t> </a:t>
            </a:r>
            <a:r>
              <a:rPr lang="en-US" sz="1200" dirty="0" err="1"/>
              <a:t>về</a:t>
            </a:r>
            <a:r>
              <a:rPr lang="en-US" sz="1200" dirty="0"/>
              <a:t> </a:t>
            </a:r>
            <a:r>
              <a:rPr lang="en-US" sz="1200" dirty="0" err="1"/>
              <a:t>thiết</a:t>
            </a:r>
            <a:r>
              <a:rPr lang="en-US" sz="1200" dirty="0"/>
              <a:t> </a:t>
            </a:r>
            <a:r>
              <a:rPr lang="en-US" sz="1200" dirty="0" err="1"/>
              <a:t>kế</a:t>
            </a:r>
            <a:r>
              <a:rPr lang="en-US" sz="1200" dirty="0"/>
              <a:t> vi </a:t>
            </a:r>
            <a:r>
              <a:rPr lang="en-US" sz="1200" dirty="0" err="1"/>
              <a:t>mạch</a:t>
            </a:r>
            <a:r>
              <a:rPr lang="en-US" sz="1200" dirty="0"/>
              <a:t> </a:t>
            </a:r>
            <a:r>
              <a:rPr lang="en-US" sz="1200" dirty="0" err="1"/>
              <a:t>kết</a:t>
            </a:r>
            <a:r>
              <a:rPr lang="en-US" sz="1200" dirty="0"/>
              <a:t> </a:t>
            </a:r>
            <a:r>
              <a:rPr lang="en-US" sz="1200" dirty="0" err="1"/>
              <a:t>hợp</a:t>
            </a:r>
            <a:r>
              <a:rPr lang="en-US" sz="1200" dirty="0"/>
              <a:t> </a:t>
            </a:r>
            <a:r>
              <a:rPr lang="en-US" sz="1200" dirty="0" err="1"/>
              <a:t>nhúng</a:t>
            </a:r>
            <a:endParaRPr lang="en-US" sz="1200" dirty="0"/>
          </a:p>
          <a:p>
            <a:r>
              <a:rPr lang="en-US" sz="1200" b="1" dirty="0"/>
              <a:t>Thông tin chi </a:t>
            </a:r>
            <a:r>
              <a:rPr lang="en-US" sz="1200" b="1" dirty="0" err="1"/>
              <a:t>tiết</a:t>
            </a:r>
            <a:r>
              <a:rPr lang="en-US" sz="1200" dirty="0"/>
              <a:t>: group </a:t>
            </a:r>
            <a:r>
              <a:rPr lang="en-US" sz="1200" dirty="0" err="1"/>
              <a:t>Zalo</a:t>
            </a:r>
            <a:r>
              <a:rPr lang="en-US" sz="1200" dirty="0"/>
              <a:t> </a:t>
            </a:r>
            <a:r>
              <a:rPr lang="en-US" sz="1200" dirty="0" err="1"/>
              <a:t>tư</a:t>
            </a:r>
            <a:r>
              <a:rPr lang="en-US" sz="1200" dirty="0"/>
              <a:t> </a:t>
            </a:r>
            <a:r>
              <a:rPr lang="en-US" sz="1200" dirty="0" err="1"/>
              <a:t>vấn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197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520502-90A8-D843-C00C-43E6F07EEC48}"/>
              </a:ext>
            </a:extLst>
          </p:cNvPr>
          <p:cNvSpPr/>
          <p:nvPr/>
        </p:nvSpPr>
        <p:spPr>
          <a:xfrm rot="5400000">
            <a:off x="-1118752" y="-2843369"/>
            <a:ext cx="4937760" cy="822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C38AF0-47D9-58D2-4F0D-99866FFC6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2" r="15320" b="17107"/>
          <a:stretch/>
        </p:blipFill>
        <p:spPr>
          <a:xfrm>
            <a:off x="-2248027" y="-203460"/>
            <a:ext cx="1862668" cy="25562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8D7F8C-FC6A-0D1B-23B3-BB15B3C27F0E}"/>
              </a:ext>
            </a:extLst>
          </p:cNvPr>
          <p:cNvSpPr/>
          <p:nvPr/>
        </p:nvSpPr>
        <p:spPr>
          <a:xfrm>
            <a:off x="-54775" y="-1197449"/>
            <a:ext cx="5519703" cy="4937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ED4D3-B8A2-0AB9-C8FD-962133AF7216}"/>
              </a:ext>
            </a:extLst>
          </p:cNvPr>
          <p:cNvSpPr txBox="1"/>
          <p:nvPr/>
        </p:nvSpPr>
        <p:spPr>
          <a:xfrm>
            <a:off x="24808" y="-1141069"/>
            <a:ext cx="51641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Vietnam National University – Ho Chi Minh city</a:t>
            </a:r>
            <a:endParaRPr lang="en-US" sz="1200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UNIVERSITY OF INFORMATION TECHNOLOGY</a:t>
            </a:r>
            <a:endParaRPr lang="en-VN" b="1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0CD473-C42E-72CC-B780-B56300F43C21}"/>
              </a:ext>
            </a:extLst>
          </p:cNvPr>
          <p:cNvCxnSpPr/>
          <p:nvPr/>
        </p:nvCxnSpPr>
        <p:spPr>
          <a:xfrm>
            <a:off x="99039" y="-562472"/>
            <a:ext cx="38312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B618CBA-AA54-8321-E80A-FBBFBB19B966}"/>
              </a:ext>
            </a:extLst>
          </p:cNvPr>
          <p:cNvSpPr txBox="1"/>
          <p:nvPr/>
        </p:nvSpPr>
        <p:spPr>
          <a:xfrm>
            <a:off x="24809" y="440434"/>
            <a:ext cx="524368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PhD. PHAM HOAI LUAN</a:t>
            </a:r>
          </a:p>
          <a:p>
            <a:r>
              <a:rPr lang="en-US" sz="2000" b="1">
                <a:solidFill>
                  <a:schemeClr val="bg1"/>
                </a:solidFill>
              </a:rPr>
              <a:t>Lecturer, Faculty of Computer Engineering</a:t>
            </a:r>
            <a:endParaRPr lang="en-VN" sz="2000" b="1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11831-8670-BA97-ED42-6225D79F0E2B}"/>
              </a:ext>
            </a:extLst>
          </p:cNvPr>
          <p:cNvSpPr txBox="1"/>
          <p:nvPr/>
        </p:nvSpPr>
        <p:spPr>
          <a:xfrm>
            <a:off x="24808" y="3424188"/>
            <a:ext cx="5243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Quarter 34, Linh Trung ward, Ho Chi Minh city, Vietnam</a:t>
            </a:r>
            <a:endParaRPr lang="en-VN" sz="120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440BA-ACD4-D77B-D2F8-3D6745B67D87}"/>
              </a:ext>
            </a:extLst>
          </p:cNvPr>
          <p:cNvSpPr txBox="1"/>
          <p:nvPr/>
        </p:nvSpPr>
        <p:spPr>
          <a:xfrm>
            <a:off x="24808" y="1781131"/>
            <a:ext cx="5243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Email: luanph@uit.edu.vn</a:t>
            </a:r>
          </a:p>
          <a:p>
            <a:r>
              <a:rPr lang="en-US" sz="1600" b="1">
                <a:solidFill>
                  <a:schemeClr val="bg1"/>
                </a:solidFill>
              </a:rPr>
              <a:t>Phone:  (+84) 383609042</a:t>
            </a:r>
            <a:endParaRPr lang="en-VN" sz="1600" b="1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D03813-10A9-E834-BE9E-D0188AFD0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34303" y="-1094224"/>
            <a:ext cx="1186947" cy="74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ADA901E-C9D5-5DC0-269E-E6C8FB962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4117" y="-1047378"/>
            <a:ext cx="810364" cy="65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51C8A9-F2D7-4988-D911-B82931689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3" t="8788" r="9596" b="11302"/>
          <a:stretch/>
        </p:blipFill>
        <p:spPr>
          <a:xfrm>
            <a:off x="-1864204" y="2365906"/>
            <a:ext cx="1095022" cy="109996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8E9AA6F-4D26-8204-11A7-0B61EF9F7A14}"/>
              </a:ext>
            </a:extLst>
          </p:cNvPr>
          <p:cNvSpPr/>
          <p:nvPr/>
        </p:nvSpPr>
        <p:spPr>
          <a:xfrm rot="5400000">
            <a:off x="-1118752" y="2244463"/>
            <a:ext cx="4937760" cy="822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EAE0F3-E8A6-67F6-B8F1-162766726B9D}"/>
              </a:ext>
            </a:extLst>
          </p:cNvPr>
          <p:cNvSpPr/>
          <p:nvPr/>
        </p:nvSpPr>
        <p:spPr>
          <a:xfrm>
            <a:off x="-54775" y="3890383"/>
            <a:ext cx="5519703" cy="4937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3719F-5DBC-DB80-A6D0-1D8201625A1D}"/>
              </a:ext>
            </a:extLst>
          </p:cNvPr>
          <p:cNvSpPr txBox="1"/>
          <p:nvPr/>
        </p:nvSpPr>
        <p:spPr>
          <a:xfrm>
            <a:off x="24808" y="3946763"/>
            <a:ext cx="51641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>
                <a:solidFill>
                  <a:srgbClr val="E2E5E9"/>
                </a:solidFill>
                <a:effectLst/>
                <a:latin typeface="Segoe UI Historic" panose="020F0502020204030204" pitchFamily="34" charset="0"/>
              </a:rPr>
              <a:t>Nara Institute of Science and Technology</a:t>
            </a:r>
          </a:p>
          <a:p>
            <a:r>
              <a:rPr lang="en-US" b="1">
                <a:solidFill>
                  <a:schemeClr val="bg1"/>
                </a:solidFill>
              </a:rPr>
              <a:t>Graduate School of Science and Technology</a:t>
            </a:r>
            <a:endParaRPr lang="en-VN" b="1">
              <a:solidFill>
                <a:schemeClr val="bg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F8A713-B49E-6B3B-8757-60A0D2F5E03E}"/>
              </a:ext>
            </a:extLst>
          </p:cNvPr>
          <p:cNvCxnSpPr/>
          <p:nvPr/>
        </p:nvCxnSpPr>
        <p:spPr>
          <a:xfrm>
            <a:off x="99039" y="4525360"/>
            <a:ext cx="38312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711C62F-9FD2-4FC7-04DF-C738EADC65E3}"/>
              </a:ext>
            </a:extLst>
          </p:cNvPr>
          <p:cNvSpPr txBox="1"/>
          <p:nvPr/>
        </p:nvSpPr>
        <p:spPr>
          <a:xfrm>
            <a:off x="24809" y="5528266"/>
            <a:ext cx="53503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PhD. PHAM HOAI LUAN</a:t>
            </a:r>
          </a:p>
          <a:p>
            <a:r>
              <a:rPr lang="en-US" sz="2000" b="1">
                <a:solidFill>
                  <a:schemeClr val="bg1"/>
                </a:solidFill>
              </a:rPr>
              <a:t>Assistant. Prof, Information Science division</a:t>
            </a:r>
            <a:endParaRPr lang="en-VN" sz="2000" b="1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320919-50F7-FCC0-307D-108A46D70408}"/>
              </a:ext>
            </a:extLst>
          </p:cNvPr>
          <p:cNvSpPr txBox="1"/>
          <p:nvPr/>
        </p:nvSpPr>
        <p:spPr>
          <a:xfrm>
            <a:off x="24808" y="8512020"/>
            <a:ext cx="5243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8916-5 Takayama, Ikoma, Nara 630-019, Japan</a:t>
            </a:r>
            <a:endParaRPr lang="en-VN" sz="120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A16007-87B1-0025-7FD3-9F48D37FFB3A}"/>
              </a:ext>
            </a:extLst>
          </p:cNvPr>
          <p:cNvSpPr txBox="1"/>
          <p:nvPr/>
        </p:nvSpPr>
        <p:spPr>
          <a:xfrm>
            <a:off x="24808" y="6868963"/>
            <a:ext cx="5243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Email: pham.luan@is.naist.jp</a:t>
            </a:r>
          </a:p>
          <a:p>
            <a:r>
              <a:rPr lang="en-US" sz="1600" b="1">
                <a:solidFill>
                  <a:schemeClr val="bg1"/>
                </a:solidFill>
              </a:rPr>
              <a:t>Phone:  (+81) 8095315365</a:t>
            </a:r>
            <a:endParaRPr lang="en-VN" sz="1600" b="1">
              <a:solidFill>
                <a:schemeClr val="bg1"/>
              </a:solidFill>
            </a:endParaRPr>
          </a:p>
        </p:txBody>
      </p:sp>
      <p:pic>
        <p:nvPicPr>
          <p:cNvPr id="1032" name="Picture 8" descr="Nara Institute of Science and Technology (NAIST) – MOBI ...">
            <a:extLst>
              <a:ext uri="{FF2B5EF4-FFF2-40B4-BE49-F238E27FC236}">
                <a16:creationId xmlns:a16="http://schemas.microsoft.com/office/drawing/2014/main" id="{745D3A34-E8D4-A760-FA80-F09242618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10934" y="4024473"/>
            <a:ext cx="2561588" cy="146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859E5D3-7045-0C87-6F49-1AC35FD008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6" t="9116" r="9535" b="9358"/>
          <a:stretch/>
        </p:blipFill>
        <p:spPr>
          <a:xfrm>
            <a:off x="-1940830" y="7453738"/>
            <a:ext cx="1092996" cy="1099967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461DDE83-45A9-DD52-BEF3-4A521C66E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40830" y="5775967"/>
            <a:ext cx="1092996" cy="10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52D15F-36BB-CEA6-E55A-8632C3331CCC}"/>
              </a:ext>
            </a:extLst>
          </p:cNvPr>
          <p:cNvSpPr txBox="1"/>
          <p:nvPr/>
        </p:nvSpPr>
        <p:spPr>
          <a:xfrm>
            <a:off x="-2665463" y="7172135"/>
            <a:ext cx="2542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Computing Architecture lab</a:t>
            </a:r>
            <a:endParaRPr lang="en-VN" sz="1400" b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A8C59F-4CB5-1ED6-B1C3-5A1E01E9071D}"/>
              </a:ext>
            </a:extLst>
          </p:cNvPr>
          <p:cNvSpPr/>
          <p:nvPr/>
        </p:nvSpPr>
        <p:spPr>
          <a:xfrm rot="5400000">
            <a:off x="7259233" y="-2843369"/>
            <a:ext cx="4937760" cy="822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A89D925-8829-6179-0CCD-0E421BE09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2" r="15320" b="17107"/>
          <a:stretch/>
        </p:blipFill>
        <p:spPr>
          <a:xfrm>
            <a:off x="6129958" y="-203460"/>
            <a:ext cx="1862668" cy="255623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FB57AA8-93B5-3FED-F76D-4CF4CA984CB5}"/>
              </a:ext>
            </a:extLst>
          </p:cNvPr>
          <p:cNvSpPr/>
          <p:nvPr/>
        </p:nvSpPr>
        <p:spPr>
          <a:xfrm>
            <a:off x="8323210" y="-1197449"/>
            <a:ext cx="5519703" cy="4937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9D053B-637C-E17D-6393-CC9FEE63C558}"/>
              </a:ext>
            </a:extLst>
          </p:cNvPr>
          <p:cNvSpPr txBox="1"/>
          <p:nvPr/>
        </p:nvSpPr>
        <p:spPr>
          <a:xfrm>
            <a:off x="8402793" y="-1141069"/>
            <a:ext cx="51641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Vietnam National University – Ho Chi Minh city</a:t>
            </a:r>
            <a:endParaRPr lang="en-US" sz="1200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UNIVERSITY OF INFORMATION TECHNOLOGY</a:t>
            </a:r>
            <a:endParaRPr lang="en-VN" b="1">
              <a:solidFill>
                <a:schemeClr val="bg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8E8736F-449C-E924-2C3F-61FF37D7623E}"/>
              </a:ext>
            </a:extLst>
          </p:cNvPr>
          <p:cNvCxnSpPr/>
          <p:nvPr/>
        </p:nvCxnSpPr>
        <p:spPr>
          <a:xfrm>
            <a:off x="8477024" y="-562472"/>
            <a:ext cx="38312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1B02CC-A87F-9104-F0A0-9C96CFC2C585}"/>
              </a:ext>
            </a:extLst>
          </p:cNvPr>
          <p:cNvSpPr txBox="1"/>
          <p:nvPr/>
        </p:nvSpPr>
        <p:spPr>
          <a:xfrm>
            <a:off x="8402794" y="440434"/>
            <a:ext cx="524368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PhD. VU TUAN HAI</a:t>
            </a:r>
          </a:p>
          <a:p>
            <a:r>
              <a:rPr lang="en-US" sz="2000" b="1">
                <a:solidFill>
                  <a:schemeClr val="bg1"/>
                </a:solidFill>
              </a:rPr>
              <a:t>Lecturer, Faculty of Software Engineering</a:t>
            </a:r>
            <a:endParaRPr lang="en-VN" sz="2000" b="1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C0D506-D1D8-BE4D-BCFA-A44C6091076A}"/>
              </a:ext>
            </a:extLst>
          </p:cNvPr>
          <p:cNvSpPr txBox="1"/>
          <p:nvPr/>
        </p:nvSpPr>
        <p:spPr>
          <a:xfrm>
            <a:off x="8402793" y="3424188"/>
            <a:ext cx="5243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Quarter 34, Linh Trung ward, Ho Chi Minh city, Vietnam</a:t>
            </a:r>
            <a:endParaRPr lang="en-VN"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537F80-7620-7B67-89C2-9E8DA417B127}"/>
              </a:ext>
            </a:extLst>
          </p:cNvPr>
          <p:cNvSpPr txBox="1"/>
          <p:nvPr/>
        </p:nvSpPr>
        <p:spPr>
          <a:xfrm>
            <a:off x="8402793" y="1781131"/>
            <a:ext cx="5243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Email: haivt@uit.edu.vn</a:t>
            </a:r>
          </a:p>
          <a:p>
            <a:r>
              <a:rPr lang="en-US" sz="1600" b="1">
                <a:solidFill>
                  <a:schemeClr val="bg1"/>
                </a:solidFill>
              </a:rPr>
              <a:t>Phone:  (+84) 814822188</a:t>
            </a:r>
            <a:endParaRPr lang="en-VN" sz="1600" b="1">
              <a:solidFill>
                <a:schemeClr val="bg1"/>
              </a:solidFill>
            </a:endParaRPr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48B78DE9-0716-6FF7-7D65-56BB966FD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682" y="-1094224"/>
            <a:ext cx="1186947" cy="74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>
            <a:extLst>
              <a:ext uri="{FF2B5EF4-FFF2-40B4-BE49-F238E27FC236}">
                <a16:creationId xmlns:a16="http://schemas.microsoft.com/office/drawing/2014/main" id="{14874428-828A-D417-C63F-E4DF66949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868" y="-1047378"/>
            <a:ext cx="810364" cy="65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26440C-BE81-2A81-F057-98DD12A971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3" t="8788" r="9596" b="11302"/>
          <a:stretch/>
        </p:blipFill>
        <p:spPr>
          <a:xfrm>
            <a:off x="6513781" y="2365906"/>
            <a:ext cx="1095022" cy="1099966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A74744F-BA84-1FA8-8FD2-15D877FA1407}"/>
              </a:ext>
            </a:extLst>
          </p:cNvPr>
          <p:cNvSpPr/>
          <p:nvPr/>
        </p:nvSpPr>
        <p:spPr>
          <a:xfrm rot="5400000">
            <a:off x="7259233" y="2244463"/>
            <a:ext cx="4937760" cy="8229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5886DF-F966-9E07-5094-6718EB9724E0}"/>
              </a:ext>
            </a:extLst>
          </p:cNvPr>
          <p:cNvSpPr/>
          <p:nvPr/>
        </p:nvSpPr>
        <p:spPr>
          <a:xfrm>
            <a:off x="8323210" y="3890383"/>
            <a:ext cx="5519703" cy="4937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206C8D-1D71-85A0-6288-D51FA03D07FB}"/>
              </a:ext>
            </a:extLst>
          </p:cNvPr>
          <p:cNvSpPr txBox="1"/>
          <p:nvPr/>
        </p:nvSpPr>
        <p:spPr>
          <a:xfrm>
            <a:off x="8402793" y="3946763"/>
            <a:ext cx="516410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i="0">
                <a:solidFill>
                  <a:srgbClr val="E2E5E9"/>
                </a:solidFill>
                <a:effectLst/>
                <a:latin typeface="Segoe UI Historic" panose="020F0502020204030204" pitchFamily="34" charset="0"/>
              </a:rPr>
              <a:t>Tohoku University</a:t>
            </a:r>
          </a:p>
          <a:p>
            <a:pPr algn="l"/>
            <a:r>
              <a:rPr lang="en-US" b="1">
                <a:solidFill>
                  <a:schemeClr val="bg1"/>
                </a:solidFill>
              </a:rPr>
              <a:t>Frontier Research Institute </a:t>
            </a:r>
          </a:p>
          <a:p>
            <a:pPr algn="l"/>
            <a:r>
              <a:rPr lang="en-US" b="1">
                <a:solidFill>
                  <a:schemeClr val="bg1"/>
                </a:solidFill>
              </a:rPr>
              <a:t>for Interdisciplinary Sciences</a:t>
            </a:r>
            <a:endParaRPr lang="en-VN" b="1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B96E0B-0D5B-0268-F592-FB0FAE7850A1}"/>
              </a:ext>
            </a:extLst>
          </p:cNvPr>
          <p:cNvCxnSpPr/>
          <p:nvPr/>
        </p:nvCxnSpPr>
        <p:spPr>
          <a:xfrm>
            <a:off x="8477024" y="4889423"/>
            <a:ext cx="38312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F1EFCA8-01A5-0078-21B9-1C7E0112C21F}"/>
              </a:ext>
            </a:extLst>
          </p:cNvPr>
          <p:cNvSpPr txBox="1"/>
          <p:nvPr/>
        </p:nvSpPr>
        <p:spPr>
          <a:xfrm>
            <a:off x="8402794" y="5528266"/>
            <a:ext cx="53503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PhD. VU TUAN HAI</a:t>
            </a:r>
          </a:p>
          <a:p>
            <a:r>
              <a:rPr lang="en-US" sz="2000" b="1">
                <a:solidFill>
                  <a:schemeClr val="bg1"/>
                </a:solidFill>
              </a:rPr>
              <a:t>Visiting Researcher</a:t>
            </a:r>
            <a:endParaRPr lang="en-VN" sz="2000" b="1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13B2CB-71D0-06D7-5BD4-9799A45FC281}"/>
              </a:ext>
            </a:extLst>
          </p:cNvPr>
          <p:cNvSpPr txBox="1"/>
          <p:nvPr/>
        </p:nvSpPr>
        <p:spPr>
          <a:xfrm>
            <a:off x="8402793" y="8512020"/>
            <a:ext cx="5243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Aoba-6-3 Aramaki, Aoba Ward, Sendai, Miyagi 980-0845, Japan</a:t>
            </a:r>
            <a:endParaRPr lang="en-VN" sz="120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5ABEEC-27A4-8EE1-9990-8462FC13917F}"/>
              </a:ext>
            </a:extLst>
          </p:cNvPr>
          <p:cNvSpPr txBox="1"/>
          <p:nvPr/>
        </p:nvSpPr>
        <p:spPr>
          <a:xfrm>
            <a:off x="8402793" y="6868963"/>
            <a:ext cx="5243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Email: tuan.hai.vu.b7@tohoku.ac.jp</a:t>
            </a:r>
          </a:p>
          <a:p>
            <a:r>
              <a:rPr lang="en-US" sz="1600" b="1">
                <a:solidFill>
                  <a:schemeClr val="bg1"/>
                </a:solidFill>
              </a:rPr>
              <a:t>Phone: (+81) 7089462244 </a:t>
            </a:r>
            <a:endParaRPr lang="en-VN" sz="1600" b="1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72A198-41C8-8321-CFBA-0EE2D13EF84B}"/>
              </a:ext>
            </a:extLst>
          </p:cNvPr>
          <p:cNvSpPr txBox="1"/>
          <p:nvPr/>
        </p:nvSpPr>
        <p:spPr>
          <a:xfrm>
            <a:off x="5712522" y="7155207"/>
            <a:ext cx="2542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Quantar lab</a:t>
            </a:r>
            <a:endParaRPr lang="en-VN" sz="1400" b="1"/>
          </a:p>
        </p:txBody>
      </p:sp>
      <p:pic>
        <p:nvPicPr>
          <p:cNvPr id="1038" name="Picture 14" descr="所内向け情報｜東北大学 学際科学フロンティア研究所 - Frontier Research Institute for  Interdisciplinary Sciences">
            <a:extLst>
              <a:ext uri="{FF2B5EF4-FFF2-40B4-BE49-F238E27FC236}">
                <a16:creationId xmlns:a16="http://schemas.microsoft.com/office/drawing/2014/main" id="{E03B44F5-032F-BCC4-C6F3-BFA9070F1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858" y="4091139"/>
            <a:ext cx="954454" cy="116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5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E0FC826-AE2D-4186-D66D-C92D8D0126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6" t="11751" r="9255" b="8897"/>
          <a:stretch/>
        </p:blipFill>
        <p:spPr>
          <a:xfrm>
            <a:off x="6470889" y="7474327"/>
            <a:ext cx="1119479" cy="1098333"/>
          </a:xfrm>
          <a:prstGeom prst="rect">
            <a:avLst/>
          </a:prstGeom>
        </p:spPr>
      </p:pic>
      <p:pic>
        <p:nvPicPr>
          <p:cNvPr id="1040" name="Picture 16" descr="About | Tohoku University">
            <a:extLst>
              <a:ext uri="{FF2B5EF4-FFF2-40B4-BE49-F238E27FC236}">
                <a16:creationId xmlns:a16="http://schemas.microsoft.com/office/drawing/2014/main" id="{F471593D-8FF7-2FA0-03EB-39DD0F10C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580" y="4024473"/>
            <a:ext cx="912544" cy="123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879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E949A1-A152-A7BB-5364-BAC68F7F88DD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-814947" y="1091535"/>
            <a:ext cx="6611686" cy="46749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34753-D52E-091E-9C1A-17F22724DD2D}"/>
              </a:ext>
            </a:extLst>
          </p:cNvPr>
          <p:cNvSpPr txBox="1">
            <a:spLocks/>
          </p:cNvSpPr>
          <p:nvPr/>
        </p:nvSpPr>
        <p:spPr>
          <a:xfrm>
            <a:off x="347446" y="902755"/>
            <a:ext cx="44089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chemeClr val="bg1"/>
                </a:solidFill>
                <a:latin typeface="Bungee" pitchFamily="2" charset="77"/>
                <a:ea typeface="Bungee" pitchFamily="2" charset="77"/>
              </a:rPr>
              <a:t>2026 </a:t>
            </a:r>
            <a:r>
              <a:rPr lang="en-US" sz="2400" b="1">
                <a:solidFill>
                  <a:schemeClr val="bg1"/>
                </a:solidFill>
                <a:latin typeface="Bungee" pitchFamily="2" charset="77"/>
                <a:ea typeface="Bungee" pitchFamily="2" charset="77"/>
              </a:rPr>
              <a:t>School on Quantum Optimization Algorithms (SQOA)</a:t>
            </a:r>
            <a:endParaRPr lang="en-VN" sz="2400" b="1">
              <a:solidFill>
                <a:schemeClr val="bg1"/>
              </a:solidFill>
              <a:latin typeface="Bungee" pitchFamily="2" charset="77"/>
              <a:ea typeface="Bungee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E68A66-584F-9145-EEEA-91F89E632229}"/>
              </a:ext>
            </a:extLst>
          </p:cNvPr>
          <p:cNvSpPr>
            <a:spLocks/>
          </p:cNvSpPr>
          <p:nvPr/>
        </p:nvSpPr>
        <p:spPr>
          <a:xfrm>
            <a:off x="431348" y="2616330"/>
            <a:ext cx="1023671" cy="3352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600" b="1">
                <a:solidFill>
                  <a:schemeClr val="tx1"/>
                </a:solidFill>
              </a:rPr>
              <a:t>22 – 25/4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DB6736-F90C-6951-3AA3-4F3687091B04}"/>
              </a:ext>
            </a:extLst>
          </p:cNvPr>
          <p:cNvSpPr txBox="1">
            <a:spLocks/>
          </p:cNvSpPr>
          <p:nvPr/>
        </p:nvSpPr>
        <p:spPr>
          <a:xfrm>
            <a:off x="1455019" y="2578237"/>
            <a:ext cx="35000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University of Phan Thiet</a:t>
            </a:r>
            <a:r>
              <a:rPr lang="en-VN" sz="1000" b="1">
                <a:solidFill>
                  <a:schemeClr val="bg1"/>
                </a:solidFill>
              </a:rPr>
              <a:t>, </a:t>
            </a:r>
            <a:r>
              <a:rPr lang="en-VN" sz="900" b="1">
                <a:solidFill>
                  <a:schemeClr val="bg1"/>
                </a:solidFill>
              </a:rPr>
              <a:t>Phu Thuy, Lam Dong</a:t>
            </a:r>
            <a:endParaRPr lang="en-VN" sz="1000" b="1">
              <a:solidFill>
                <a:schemeClr val="bg1"/>
              </a:solidFill>
            </a:endParaRP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9E5D5A20-D701-079A-91D4-1FA83F6CAE48}"/>
              </a:ext>
            </a:extLst>
          </p:cNvPr>
          <p:cNvSpPr>
            <a:spLocks/>
          </p:cNvSpPr>
          <p:nvPr/>
        </p:nvSpPr>
        <p:spPr>
          <a:xfrm>
            <a:off x="467871" y="3094802"/>
            <a:ext cx="1368000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Scientific Advisors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D371CC-10A5-AC1A-07FA-8FF1DDDAB682}"/>
              </a:ext>
            </a:extLst>
          </p:cNvPr>
          <p:cNvSpPr txBox="1">
            <a:spLocks/>
          </p:cNvSpPr>
          <p:nvPr/>
        </p:nvSpPr>
        <p:spPr>
          <a:xfrm>
            <a:off x="392151" y="3355549"/>
            <a:ext cx="2313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E2E5E9"/>
                </a:solidFill>
                <a:latin typeface="system-ui"/>
              </a:rPr>
              <a:t>Prof</a:t>
            </a:r>
            <a:r>
              <a:rPr lang="en-US" sz="1200" b="0" i="0">
                <a:solidFill>
                  <a:srgbClr val="E2E5E9"/>
                </a:solidFill>
                <a:effectLst/>
                <a:latin typeface="system-ui"/>
              </a:rPr>
              <a:t>. Nguyen Minh Tho, VinUni </a:t>
            </a:r>
          </a:p>
          <a:p>
            <a:r>
              <a:rPr lang="en-US" sz="1200">
                <a:solidFill>
                  <a:srgbClr val="E2E5E9"/>
                </a:solidFill>
                <a:latin typeface="system-ui"/>
              </a:rPr>
              <a:t>Prof</a:t>
            </a:r>
            <a:r>
              <a:rPr lang="en-US" sz="1200" b="0" i="0">
                <a:solidFill>
                  <a:srgbClr val="E2E5E9"/>
                </a:solidFill>
                <a:effectLst/>
                <a:latin typeface="system-ui"/>
              </a:rPr>
              <a:t>. Le Van Hoang, HCMUE</a:t>
            </a:r>
            <a:endParaRPr lang="en-VN" sz="1200"/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9DDC8B92-E6A1-74CC-BDD0-D7E0ED57F506}"/>
              </a:ext>
            </a:extLst>
          </p:cNvPr>
          <p:cNvSpPr>
            <a:spLocks/>
          </p:cNvSpPr>
          <p:nvPr/>
        </p:nvSpPr>
        <p:spPr>
          <a:xfrm>
            <a:off x="467871" y="3871154"/>
            <a:ext cx="1610960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Organizing Committee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49E463-01BF-72AF-867B-468782A5F5CB}"/>
              </a:ext>
            </a:extLst>
          </p:cNvPr>
          <p:cNvSpPr txBox="1">
            <a:spLocks/>
          </p:cNvSpPr>
          <p:nvPr/>
        </p:nvSpPr>
        <p:spPr>
          <a:xfrm>
            <a:off x="392150" y="4131901"/>
            <a:ext cx="2588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Tran Nguyen Lan, US-VNUHCM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Minh Tam, UPT</a:t>
            </a:r>
            <a:endParaRPr lang="en-VN" sz="1200" b="0" i="0">
              <a:solidFill>
                <a:srgbClr val="E2E5E9"/>
              </a:solidFill>
              <a:effectLst/>
              <a:latin typeface="system-ui"/>
            </a:endParaRPr>
          </a:p>
          <a:p>
            <a:r>
              <a:rPr lang="en-VN" sz="1200">
                <a:solidFill>
                  <a:srgbClr val="E2E5E9"/>
                </a:solidFill>
                <a:latin typeface="system-ui"/>
              </a:rPr>
              <a:t>Msc. Truong Đuc Toan, VLU</a:t>
            </a:r>
            <a:endParaRPr lang="vi-VN" sz="1200" b="0" i="0">
              <a:solidFill>
                <a:srgbClr val="E2E5E9"/>
              </a:solidFill>
              <a:effectLst/>
              <a:latin typeface="system-ui"/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BEC74E81-53C6-395B-3373-90E70F2EF915}"/>
              </a:ext>
            </a:extLst>
          </p:cNvPr>
          <p:cNvSpPr>
            <a:spLocks/>
          </p:cNvSpPr>
          <p:nvPr/>
        </p:nvSpPr>
        <p:spPr>
          <a:xfrm>
            <a:off x="477393" y="4833629"/>
            <a:ext cx="751332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Lecturer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2E67B1-7946-8544-8FD4-F07D25210351}"/>
              </a:ext>
            </a:extLst>
          </p:cNvPr>
          <p:cNvSpPr>
            <a:spLocks/>
          </p:cNvSpPr>
          <p:nvPr/>
        </p:nvSpPr>
        <p:spPr>
          <a:xfrm>
            <a:off x="1561773" y="2859668"/>
            <a:ext cx="3276000" cy="497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10F60DB3-FC03-7BDD-7541-AE023758A8E2}"/>
              </a:ext>
            </a:extLst>
          </p:cNvPr>
          <p:cNvSpPr>
            <a:spLocks noChangeAspect="1"/>
          </p:cNvSpPr>
          <p:nvPr/>
        </p:nvSpPr>
        <p:spPr>
          <a:xfrm>
            <a:off x="4142508" y="1695438"/>
            <a:ext cx="542562" cy="574238"/>
          </a:xfrm>
          <a:custGeom>
            <a:avLst/>
            <a:gdLst/>
            <a:ahLst/>
            <a:cxnLst/>
            <a:rect l="l" t="t" r="r" b="b"/>
            <a:pathLst>
              <a:path w="1244967" h="1317652">
                <a:moveTo>
                  <a:pt x="0" y="0"/>
                </a:moveTo>
                <a:lnTo>
                  <a:pt x="1244968" y="0"/>
                </a:lnTo>
                <a:lnTo>
                  <a:pt x="1244968" y="1317653"/>
                </a:lnTo>
                <a:lnTo>
                  <a:pt x="0" y="1317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VN"/>
          </a:p>
        </p:txBody>
      </p:sp>
      <p:pic>
        <p:nvPicPr>
          <p:cNvPr id="31" name="Picture 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98D2D4C-AAEB-61F0-B279-2E19DEA9935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3192408" y="959281"/>
            <a:ext cx="323109" cy="323109"/>
          </a:xfrm>
          <a:prstGeom prst="rect">
            <a:avLst/>
          </a:prstGeom>
        </p:spPr>
      </p:pic>
      <p:sp>
        <p:nvSpPr>
          <p:cNvPr id="33" name="Triangle 32">
            <a:extLst>
              <a:ext uri="{FF2B5EF4-FFF2-40B4-BE49-F238E27FC236}">
                <a16:creationId xmlns:a16="http://schemas.microsoft.com/office/drawing/2014/main" id="{308CDD5A-3BD9-E885-EA8B-E0A678C76FAC}"/>
              </a:ext>
            </a:extLst>
          </p:cNvPr>
          <p:cNvSpPr>
            <a:spLocks/>
          </p:cNvSpPr>
          <p:nvPr/>
        </p:nvSpPr>
        <p:spPr>
          <a:xfrm>
            <a:off x="153431" y="5096419"/>
            <a:ext cx="1848363" cy="1637173"/>
          </a:xfrm>
          <a:prstGeom prst="triangle">
            <a:avLst>
              <a:gd name="adj" fmla="val 0"/>
            </a:avLst>
          </a:prstGeom>
          <a:gradFill flip="none" rotWithShape="1">
            <a:gsLst>
              <a:gs pos="27000">
                <a:schemeClr val="accent1">
                  <a:lumMod val="60000"/>
                  <a:lumOff val="40000"/>
                  <a:tint val="66000"/>
                  <a:satMod val="160000"/>
                  <a:alpha val="0"/>
                </a:schemeClr>
              </a:gs>
              <a:gs pos="93000">
                <a:schemeClr val="accent1">
                  <a:tint val="44500"/>
                  <a:satMod val="160000"/>
                  <a:lumMod val="57967"/>
                  <a:lumOff val="42033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AB212C-6E73-031C-9A7F-BAE2EC533B15}"/>
              </a:ext>
            </a:extLst>
          </p:cNvPr>
          <p:cNvSpPr txBox="1">
            <a:spLocks/>
          </p:cNvSpPr>
          <p:nvPr/>
        </p:nvSpPr>
        <p:spPr>
          <a:xfrm>
            <a:off x="3216588" y="6264901"/>
            <a:ext cx="13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900" b="1">
                <a:solidFill>
                  <a:schemeClr val="bg1"/>
                </a:solidFill>
              </a:rPr>
              <a:t>Registration deadline: 31/03/2026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362B2D-12CF-D056-30F1-3E6A55C47759}"/>
              </a:ext>
            </a:extLst>
          </p:cNvPr>
          <p:cNvSpPr txBox="1">
            <a:spLocks/>
          </p:cNvSpPr>
          <p:nvPr/>
        </p:nvSpPr>
        <p:spPr>
          <a:xfrm>
            <a:off x="401672" y="5094375"/>
            <a:ext cx="28371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>
                <a:solidFill>
                  <a:srgbClr val="E2E5E9"/>
                </a:solidFill>
                <a:latin typeface="system-ui"/>
              </a:rPr>
              <a:t>Assist.Prof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Le Bin Ho, Tohoku Univ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Van Duy, Phenikaa Univ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Huynh Minh Trung, US-VNUHCM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Vu Tuan Hai, UIT-VNUHCM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MA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Quoc Chuong, DTU</a:t>
            </a:r>
            <a:endParaRPr lang="en-VN" sz="1200"/>
          </a:p>
        </p:txBody>
      </p:sp>
      <p:pic>
        <p:nvPicPr>
          <p:cNvPr id="18" name="Graphic 17" descr="Envelope with solid fill">
            <a:extLst>
              <a:ext uri="{FF2B5EF4-FFF2-40B4-BE49-F238E27FC236}">
                <a16:creationId xmlns:a16="http://schemas.microsoft.com/office/drawing/2014/main" id="{81FA308E-CBFB-EB6A-1A71-F8119E95C7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656" y="6315130"/>
            <a:ext cx="297535" cy="2975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16DBCC6-6AC5-EF1A-D35E-02EE7B82836B}"/>
              </a:ext>
            </a:extLst>
          </p:cNvPr>
          <p:cNvSpPr txBox="1">
            <a:spLocks/>
          </p:cNvSpPr>
          <p:nvPr/>
        </p:nvSpPr>
        <p:spPr>
          <a:xfrm>
            <a:off x="757302" y="6358494"/>
            <a:ext cx="21258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900" b="1">
                <a:solidFill>
                  <a:schemeClr val="bg1"/>
                </a:solidFill>
              </a:rPr>
              <a:t>Email: quantum.vnuhcm@gmail.com</a:t>
            </a:r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871776F9-EA02-F1E7-DFD3-3D92A731DC71}"/>
              </a:ext>
            </a:extLst>
          </p:cNvPr>
          <p:cNvSpPr>
            <a:spLocks/>
          </p:cNvSpPr>
          <p:nvPr/>
        </p:nvSpPr>
        <p:spPr>
          <a:xfrm flipH="1" flipV="1">
            <a:off x="1826096" y="2961028"/>
            <a:ext cx="3002262" cy="2713005"/>
          </a:xfrm>
          <a:prstGeom prst="triangle">
            <a:avLst>
              <a:gd name="adj" fmla="val 0"/>
            </a:avLst>
          </a:prstGeom>
          <a:gradFill flip="none" rotWithShape="1">
            <a:gsLst>
              <a:gs pos="27000">
                <a:schemeClr val="accent1">
                  <a:lumMod val="60000"/>
                  <a:lumOff val="40000"/>
                  <a:tint val="66000"/>
                  <a:satMod val="160000"/>
                  <a:alpha val="0"/>
                </a:schemeClr>
              </a:gs>
              <a:gs pos="93000">
                <a:schemeClr val="accent1">
                  <a:tint val="44500"/>
                  <a:satMod val="160000"/>
                  <a:lumMod val="57967"/>
                  <a:lumOff val="42033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EF4744-43B3-79E1-C347-E643DD592B52}"/>
              </a:ext>
            </a:extLst>
          </p:cNvPr>
          <p:cNvSpPr txBox="1">
            <a:spLocks/>
          </p:cNvSpPr>
          <p:nvPr/>
        </p:nvSpPr>
        <p:spPr>
          <a:xfrm>
            <a:off x="2402543" y="3006753"/>
            <a:ext cx="24143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i="0" u="sng">
                <a:effectLst/>
                <a:latin typeface="system-ui"/>
              </a:rPr>
              <a:t>Date 1:</a:t>
            </a:r>
          </a:p>
          <a:p>
            <a:pPr algn="r"/>
            <a:r>
              <a:rPr lang="en-US" sz="1200">
                <a:latin typeface="system-ui"/>
              </a:rPr>
              <a:t>Foundation for quantum computing</a:t>
            </a:r>
          </a:p>
          <a:p>
            <a:pPr algn="r"/>
            <a:r>
              <a:rPr lang="en-US" sz="1200" b="1" u="sng">
                <a:latin typeface="system-ui"/>
              </a:rPr>
              <a:t>Date 2:</a:t>
            </a:r>
          </a:p>
          <a:p>
            <a:pPr algn="r"/>
            <a:r>
              <a:rPr lang="en-US" sz="1200">
                <a:latin typeface="system-ui"/>
              </a:rPr>
              <a:t>Basic quantum computing</a:t>
            </a:r>
          </a:p>
          <a:p>
            <a:pPr algn="r"/>
            <a:r>
              <a:rPr lang="en-US" sz="1200" b="1" u="sng">
                <a:latin typeface="system-ui"/>
              </a:rPr>
              <a:t>Date 3:</a:t>
            </a:r>
          </a:p>
          <a:p>
            <a:pPr algn="r"/>
            <a:r>
              <a:rPr lang="en-US" sz="1200">
                <a:latin typeface="system-ui"/>
              </a:rPr>
              <a:t>Project: Q-optimization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AB9890-B64B-1C6B-ECD9-E5DCD740BF48}"/>
              </a:ext>
            </a:extLst>
          </p:cNvPr>
          <p:cNvSpPr txBox="1">
            <a:spLocks/>
          </p:cNvSpPr>
          <p:nvPr/>
        </p:nvSpPr>
        <p:spPr>
          <a:xfrm>
            <a:off x="364600" y="2012666"/>
            <a:ext cx="38013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800" b="0" i="0">
                <a:solidFill>
                  <a:srgbClr val="E2E5E9"/>
                </a:solidFill>
                <a:effectLst/>
                <a:latin typeface="system-ui"/>
              </a:rPr>
              <a:t>The School on Quantum Optimization Algorithms (SQOA) 2026 is a specialized program for undergraduate and graduate students interested in quantum optimization algorithms. The course provides a theoretical foundation, the latest results, and the implementation of quantum optimization algorithms through hands-on projects.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E0C123-E6F2-CDC6-D271-7AECA014F482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4967556" y="123156"/>
            <a:ext cx="6910851" cy="46072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F61B92-4450-48F5-334C-0B0F02152E3D}"/>
              </a:ext>
            </a:extLst>
          </p:cNvPr>
          <p:cNvSpPr txBox="1">
            <a:spLocks/>
          </p:cNvSpPr>
          <p:nvPr/>
        </p:nvSpPr>
        <p:spPr>
          <a:xfrm>
            <a:off x="5088960" y="911890"/>
            <a:ext cx="680194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300" b="1">
                <a:solidFill>
                  <a:schemeClr val="bg1"/>
                </a:solidFill>
                <a:latin typeface="Bungee" pitchFamily="2" charset="77"/>
                <a:ea typeface="Bungee" pitchFamily="2" charset="77"/>
              </a:rPr>
              <a:t>2026 </a:t>
            </a:r>
            <a:r>
              <a:rPr lang="en-US" sz="2300" b="1">
                <a:solidFill>
                  <a:schemeClr val="bg1"/>
                </a:solidFill>
                <a:latin typeface="Bungee" pitchFamily="2" charset="77"/>
                <a:ea typeface="Bungee" pitchFamily="2" charset="77"/>
              </a:rPr>
              <a:t>School on </a:t>
            </a:r>
          </a:p>
          <a:p>
            <a:r>
              <a:rPr lang="en-US" sz="2300" b="1">
                <a:solidFill>
                  <a:schemeClr val="bg1"/>
                </a:solidFill>
                <a:latin typeface="Bungee" pitchFamily="2" charset="77"/>
                <a:ea typeface="Bungee" pitchFamily="2" charset="77"/>
              </a:rPr>
              <a:t>Quantum Optimization Algorithms </a:t>
            </a:r>
            <a:endParaRPr lang="en-VN" sz="2300" b="1">
              <a:solidFill>
                <a:schemeClr val="bg1"/>
              </a:solidFill>
              <a:latin typeface="Bungee" pitchFamily="2" charset="77"/>
              <a:ea typeface="Bungee" pitchFamily="2" charset="77"/>
            </a:endParaRPr>
          </a:p>
        </p:txBody>
      </p:sp>
      <p:sp>
        <p:nvSpPr>
          <p:cNvPr id="47" name="Freeform 14">
            <a:extLst>
              <a:ext uri="{FF2B5EF4-FFF2-40B4-BE49-F238E27FC236}">
                <a16:creationId xmlns:a16="http://schemas.microsoft.com/office/drawing/2014/main" id="{A9C8A1E2-8BAD-0E7F-BE6C-4605C2BF8B0D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11134923" y="318789"/>
            <a:ext cx="481921" cy="476663"/>
          </a:xfrm>
          <a:custGeom>
            <a:avLst/>
            <a:gdLst/>
            <a:ahLst/>
            <a:cxnLst/>
            <a:rect l="l" t="t" r="r" b="b"/>
            <a:pathLst>
              <a:path w="1246344" h="1232747">
                <a:moveTo>
                  <a:pt x="1246344" y="0"/>
                </a:moveTo>
                <a:lnTo>
                  <a:pt x="0" y="0"/>
                </a:lnTo>
                <a:lnTo>
                  <a:pt x="0" y="1232747"/>
                </a:lnTo>
                <a:lnTo>
                  <a:pt x="1246344" y="1232747"/>
                </a:lnTo>
                <a:lnTo>
                  <a:pt x="124634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63B351-1FF1-1172-76F5-52F447EBBFCB}"/>
              </a:ext>
            </a:extLst>
          </p:cNvPr>
          <p:cNvSpPr txBox="1">
            <a:spLocks/>
          </p:cNvSpPr>
          <p:nvPr/>
        </p:nvSpPr>
        <p:spPr>
          <a:xfrm>
            <a:off x="5106279" y="2040514"/>
            <a:ext cx="37910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800" b="0" i="0">
                <a:solidFill>
                  <a:srgbClr val="E2E5E9"/>
                </a:solidFill>
                <a:effectLst/>
                <a:latin typeface="system-ui"/>
              </a:rPr>
              <a:t>The School on Quantum Optimization Algorithms (SQOA) 2026 is a specialized program for undergraduate and graduate students interested in quantum optimization algorithms. The course provides a theoretical foundation, the latest results, and the implementation of quantum optimization algorithms through hands-on projects.</a:t>
            </a:r>
          </a:p>
        </p:txBody>
      </p:sp>
      <p:sp>
        <p:nvSpPr>
          <p:cNvPr id="49" name="Pentagon 48">
            <a:extLst>
              <a:ext uri="{FF2B5EF4-FFF2-40B4-BE49-F238E27FC236}">
                <a16:creationId xmlns:a16="http://schemas.microsoft.com/office/drawing/2014/main" id="{88059F23-E693-87A7-66C1-346A99B7BF8A}"/>
              </a:ext>
            </a:extLst>
          </p:cNvPr>
          <p:cNvSpPr>
            <a:spLocks/>
          </p:cNvSpPr>
          <p:nvPr/>
        </p:nvSpPr>
        <p:spPr>
          <a:xfrm>
            <a:off x="5191205" y="2661068"/>
            <a:ext cx="1368000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Scientific Advisors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7D2F62-00B4-ED7A-1067-43D3E31D3310}"/>
              </a:ext>
            </a:extLst>
          </p:cNvPr>
          <p:cNvSpPr txBox="1">
            <a:spLocks/>
          </p:cNvSpPr>
          <p:nvPr/>
        </p:nvSpPr>
        <p:spPr>
          <a:xfrm>
            <a:off x="5115484" y="2921815"/>
            <a:ext cx="2250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E2E5E9"/>
                </a:solidFill>
                <a:latin typeface="system-ui"/>
              </a:rPr>
              <a:t>Prof</a:t>
            </a:r>
            <a:r>
              <a:rPr lang="en-US" sz="1200" b="0" i="0">
                <a:solidFill>
                  <a:srgbClr val="E2E5E9"/>
                </a:solidFill>
                <a:effectLst/>
                <a:latin typeface="system-ui"/>
              </a:rPr>
              <a:t>. Nguyen Minh Tho, VinUni </a:t>
            </a:r>
          </a:p>
          <a:p>
            <a:r>
              <a:rPr lang="en-US" sz="1200">
                <a:solidFill>
                  <a:srgbClr val="E2E5E9"/>
                </a:solidFill>
                <a:latin typeface="system-ui"/>
              </a:rPr>
              <a:t>Prof</a:t>
            </a:r>
            <a:r>
              <a:rPr lang="en-US" sz="1200" b="0" i="0">
                <a:solidFill>
                  <a:srgbClr val="E2E5E9"/>
                </a:solidFill>
                <a:effectLst/>
                <a:latin typeface="system-ui"/>
              </a:rPr>
              <a:t>. Le Van Hoang, HCMUE</a:t>
            </a:r>
            <a:endParaRPr lang="en-VN" sz="12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471021-AFC5-6FE4-AFB6-0214E80BDBE2}"/>
              </a:ext>
            </a:extLst>
          </p:cNvPr>
          <p:cNvSpPr txBox="1">
            <a:spLocks/>
          </p:cNvSpPr>
          <p:nvPr/>
        </p:nvSpPr>
        <p:spPr>
          <a:xfrm>
            <a:off x="5115484" y="3648739"/>
            <a:ext cx="2481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Tran Nguyen Lan, US-VNUHCM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Minh Tam, UPT</a:t>
            </a:r>
            <a:endParaRPr lang="en-VN" sz="1200" b="0" i="0">
              <a:solidFill>
                <a:srgbClr val="E2E5E9"/>
              </a:solidFill>
              <a:effectLst/>
              <a:latin typeface="system-ui"/>
            </a:endParaRPr>
          </a:p>
          <a:p>
            <a:r>
              <a:rPr lang="en-VN" sz="1200">
                <a:solidFill>
                  <a:srgbClr val="E2E5E9"/>
                </a:solidFill>
                <a:latin typeface="system-ui"/>
              </a:rPr>
              <a:t>Msc. Truong Đuc Toan, VLU</a:t>
            </a:r>
            <a:endParaRPr lang="vi-VN" sz="1200" b="0" i="0">
              <a:solidFill>
                <a:srgbClr val="E2E5E9"/>
              </a:solidFill>
              <a:effectLst/>
              <a:latin typeface="system-ui"/>
            </a:endParaRPr>
          </a:p>
        </p:txBody>
      </p:sp>
      <p:sp>
        <p:nvSpPr>
          <p:cNvPr id="53" name="Pentagon 52">
            <a:extLst>
              <a:ext uri="{FF2B5EF4-FFF2-40B4-BE49-F238E27FC236}">
                <a16:creationId xmlns:a16="http://schemas.microsoft.com/office/drawing/2014/main" id="{E851EB87-7C15-A6F2-EE46-000C97761553}"/>
              </a:ext>
            </a:extLst>
          </p:cNvPr>
          <p:cNvSpPr>
            <a:spLocks/>
          </p:cNvSpPr>
          <p:nvPr/>
        </p:nvSpPr>
        <p:spPr>
          <a:xfrm>
            <a:off x="7487755" y="2659025"/>
            <a:ext cx="763276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Lecturer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54" name="Triangle 53">
            <a:extLst>
              <a:ext uri="{FF2B5EF4-FFF2-40B4-BE49-F238E27FC236}">
                <a16:creationId xmlns:a16="http://schemas.microsoft.com/office/drawing/2014/main" id="{0CEE697C-D5B2-3B28-5716-CA3B5D19142C}"/>
              </a:ext>
            </a:extLst>
          </p:cNvPr>
          <p:cNvSpPr>
            <a:spLocks/>
          </p:cNvSpPr>
          <p:nvPr/>
        </p:nvSpPr>
        <p:spPr>
          <a:xfrm>
            <a:off x="4963291" y="3094802"/>
            <a:ext cx="1848363" cy="1637173"/>
          </a:xfrm>
          <a:prstGeom prst="triangle">
            <a:avLst>
              <a:gd name="adj" fmla="val 0"/>
            </a:avLst>
          </a:prstGeom>
          <a:gradFill flip="none" rotWithShape="1">
            <a:gsLst>
              <a:gs pos="27000">
                <a:schemeClr val="accent1">
                  <a:lumMod val="60000"/>
                  <a:lumOff val="40000"/>
                  <a:tint val="66000"/>
                  <a:satMod val="160000"/>
                  <a:alpha val="0"/>
                </a:schemeClr>
              </a:gs>
              <a:gs pos="93000">
                <a:schemeClr val="accent1">
                  <a:tint val="44500"/>
                  <a:satMod val="160000"/>
                  <a:lumMod val="57967"/>
                  <a:lumOff val="42033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11563E-14F6-CC55-C424-186C2FF4C85C}"/>
              </a:ext>
            </a:extLst>
          </p:cNvPr>
          <p:cNvSpPr txBox="1">
            <a:spLocks/>
          </p:cNvSpPr>
          <p:nvPr/>
        </p:nvSpPr>
        <p:spPr>
          <a:xfrm>
            <a:off x="7412034" y="2919771"/>
            <a:ext cx="28371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>
                <a:solidFill>
                  <a:srgbClr val="E2E5E9"/>
                </a:solidFill>
                <a:latin typeface="system-ui"/>
              </a:rPr>
              <a:t>Assist.Prof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Le Bin Ho, Tohoku Univ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Van Duy, Phenikaa Univ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Huynh Minh Trung, US-VNUHCM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Dr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Vu Tuan Hai, UIT-VNUHCM</a:t>
            </a:r>
          </a:p>
          <a:p>
            <a:r>
              <a:rPr lang="vi-VN" sz="1200">
                <a:solidFill>
                  <a:srgbClr val="E2E5E9"/>
                </a:solidFill>
                <a:latin typeface="system-ui"/>
              </a:rPr>
              <a:t>MA</a:t>
            </a:r>
            <a:r>
              <a:rPr lang="vi-VN" sz="1200" b="0" i="0">
                <a:solidFill>
                  <a:srgbClr val="E2E5E9"/>
                </a:solidFill>
                <a:effectLst/>
                <a:latin typeface="system-ui"/>
              </a:rPr>
              <a:t>. Nguyen Quoc Chuong, DTU</a:t>
            </a:r>
            <a:endParaRPr lang="en-VN" sz="1200"/>
          </a:p>
        </p:txBody>
      </p:sp>
      <p:pic>
        <p:nvPicPr>
          <p:cNvPr id="56" name="Graphic 55" descr="Envelope with solid fill">
            <a:extLst>
              <a:ext uri="{FF2B5EF4-FFF2-40B4-BE49-F238E27FC236}">
                <a16:creationId xmlns:a16="http://schemas.microsoft.com/office/drawing/2014/main" id="{ED992CF2-E787-EBB7-F491-A42D3DBFD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89816" y="4334457"/>
            <a:ext cx="297535" cy="29753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A769457-9CE4-2071-D5D7-48954A39AE4D}"/>
              </a:ext>
            </a:extLst>
          </p:cNvPr>
          <p:cNvSpPr txBox="1">
            <a:spLocks/>
          </p:cNvSpPr>
          <p:nvPr/>
        </p:nvSpPr>
        <p:spPr>
          <a:xfrm>
            <a:off x="5486462" y="4377821"/>
            <a:ext cx="21258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900" b="1">
                <a:solidFill>
                  <a:schemeClr val="bg1"/>
                </a:solidFill>
              </a:rPr>
              <a:t>Email: quantum.vnuhcm@gmail.com</a:t>
            </a:r>
          </a:p>
        </p:txBody>
      </p:sp>
      <p:sp>
        <p:nvSpPr>
          <p:cNvPr id="60" name="Triangle 59">
            <a:extLst>
              <a:ext uri="{FF2B5EF4-FFF2-40B4-BE49-F238E27FC236}">
                <a16:creationId xmlns:a16="http://schemas.microsoft.com/office/drawing/2014/main" id="{647BD4D1-6CBD-40BB-CBA6-A9861D55CF6B}"/>
              </a:ext>
            </a:extLst>
          </p:cNvPr>
          <p:cNvSpPr>
            <a:spLocks/>
          </p:cNvSpPr>
          <p:nvPr/>
        </p:nvSpPr>
        <p:spPr>
          <a:xfrm flipH="1" flipV="1">
            <a:off x="8897371" y="2112219"/>
            <a:ext cx="3002262" cy="2618172"/>
          </a:xfrm>
          <a:prstGeom prst="triangle">
            <a:avLst>
              <a:gd name="adj" fmla="val 0"/>
            </a:avLst>
          </a:prstGeom>
          <a:gradFill flip="none" rotWithShape="1">
            <a:gsLst>
              <a:gs pos="27000">
                <a:schemeClr val="accent1">
                  <a:lumMod val="60000"/>
                  <a:lumOff val="40000"/>
                  <a:tint val="66000"/>
                  <a:satMod val="160000"/>
                  <a:alpha val="0"/>
                </a:schemeClr>
              </a:gs>
              <a:gs pos="93000">
                <a:schemeClr val="accent1">
                  <a:tint val="44500"/>
                  <a:satMod val="160000"/>
                  <a:lumMod val="57967"/>
                  <a:lumOff val="42033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973744-897A-A7B9-DB92-2ECE8EBF6DE1}"/>
              </a:ext>
            </a:extLst>
          </p:cNvPr>
          <p:cNvSpPr txBox="1">
            <a:spLocks/>
          </p:cNvSpPr>
          <p:nvPr/>
        </p:nvSpPr>
        <p:spPr>
          <a:xfrm>
            <a:off x="9417771" y="2157944"/>
            <a:ext cx="24703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i="0" u="sng">
                <a:effectLst/>
                <a:latin typeface="system-ui"/>
              </a:rPr>
              <a:t>Date 1:</a:t>
            </a:r>
          </a:p>
          <a:p>
            <a:pPr algn="r"/>
            <a:r>
              <a:rPr lang="en-US" sz="1200">
                <a:latin typeface="system-ui"/>
              </a:rPr>
              <a:t>Foundation for quantum computing</a:t>
            </a:r>
          </a:p>
          <a:p>
            <a:pPr algn="r"/>
            <a:r>
              <a:rPr lang="en-US" sz="1200" b="1" u="sng">
                <a:latin typeface="system-ui"/>
              </a:rPr>
              <a:t>Date 2:</a:t>
            </a:r>
          </a:p>
          <a:p>
            <a:pPr algn="r"/>
            <a:r>
              <a:rPr lang="en-US" sz="1200">
                <a:latin typeface="system-ui"/>
              </a:rPr>
              <a:t>Basic quantum computing</a:t>
            </a:r>
          </a:p>
          <a:p>
            <a:pPr algn="r"/>
            <a:r>
              <a:rPr lang="en-US" sz="1200" b="1" u="sng">
                <a:latin typeface="system-ui"/>
              </a:rPr>
              <a:t>Date 3:</a:t>
            </a:r>
          </a:p>
          <a:p>
            <a:pPr algn="r"/>
            <a:r>
              <a:rPr lang="en-US" sz="1200">
                <a:latin typeface="system-ui"/>
              </a:rPr>
              <a:t>Project: Q-optimization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3C83327-C070-8469-587D-0F9D02204F34}"/>
              </a:ext>
            </a:extLst>
          </p:cNvPr>
          <p:cNvSpPr>
            <a:spLocks/>
          </p:cNvSpPr>
          <p:nvPr/>
        </p:nvSpPr>
        <p:spPr>
          <a:xfrm>
            <a:off x="5189816" y="1691692"/>
            <a:ext cx="1023671" cy="3352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600" b="1">
                <a:solidFill>
                  <a:schemeClr val="tx1"/>
                </a:solidFill>
              </a:rPr>
              <a:t>22 – 25/4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2B5265-4F37-0BBE-59F6-59FB0D2A4868}"/>
              </a:ext>
            </a:extLst>
          </p:cNvPr>
          <p:cNvSpPr txBox="1">
            <a:spLocks/>
          </p:cNvSpPr>
          <p:nvPr/>
        </p:nvSpPr>
        <p:spPr>
          <a:xfrm>
            <a:off x="6213487" y="1669510"/>
            <a:ext cx="35000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University of Phan Thiet</a:t>
            </a:r>
            <a:r>
              <a:rPr lang="en-VN" sz="1000" b="1">
                <a:solidFill>
                  <a:schemeClr val="bg1"/>
                </a:solidFill>
              </a:rPr>
              <a:t>, </a:t>
            </a:r>
            <a:r>
              <a:rPr lang="en-VN" sz="900" b="1">
                <a:solidFill>
                  <a:schemeClr val="bg1"/>
                </a:solidFill>
              </a:rPr>
              <a:t>Phu Thuy, Lam Dong</a:t>
            </a:r>
            <a:endParaRPr lang="en-VN" sz="1000" b="1">
              <a:solidFill>
                <a:schemeClr val="bg1"/>
              </a:solidFill>
            </a:endParaRP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80F9B21A-3FB7-120F-2A63-502E3D2E3248}"/>
              </a:ext>
            </a:extLst>
          </p:cNvPr>
          <p:cNvSpPr>
            <a:spLocks/>
          </p:cNvSpPr>
          <p:nvPr/>
        </p:nvSpPr>
        <p:spPr>
          <a:xfrm>
            <a:off x="6302847" y="1948903"/>
            <a:ext cx="5585273" cy="556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31" name="Picture 10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2827FDB-B2A2-90C5-0ABC-6A7981D7C48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826667" y="952034"/>
            <a:ext cx="323109" cy="323109"/>
          </a:xfrm>
          <a:prstGeom prst="rect">
            <a:avLst/>
          </a:prstGeom>
        </p:spPr>
      </p:pic>
      <p:pic>
        <p:nvPicPr>
          <p:cNvPr id="1045" name="Picture 104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8AEC535-917E-A4BD-489B-CCDBBEC9001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672" t="9171" r="8088" b="9178"/>
          <a:stretch>
            <a:fillRect/>
          </a:stretch>
        </p:blipFill>
        <p:spPr>
          <a:xfrm>
            <a:off x="3329394" y="5173171"/>
            <a:ext cx="1114449" cy="1093173"/>
          </a:xfrm>
          <a:prstGeom prst="rect">
            <a:avLst/>
          </a:prstGeom>
        </p:spPr>
      </p:pic>
      <p:pic>
        <p:nvPicPr>
          <p:cNvPr id="1053" name="Picture 105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0AC08F0-A369-902E-DD8E-F4EEA4E3112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672" t="9171" r="8088" b="9178"/>
          <a:stretch>
            <a:fillRect/>
          </a:stretch>
        </p:blipFill>
        <p:spPr>
          <a:xfrm>
            <a:off x="10753511" y="3430661"/>
            <a:ext cx="881233" cy="864409"/>
          </a:xfrm>
          <a:prstGeom prst="rect">
            <a:avLst/>
          </a:prstGeom>
        </p:spPr>
      </p:pic>
      <p:sp>
        <p:nvSpPr>
          <p:cNvPr id="1054" name="TextBox 1053">
            <a:extLst>
              <a:ext uri="{FF2B5EF4-FFF2-40B4-BE49-F238E27FC236}">
                <a16:creationId xmlns:a16="http://schemas.microsoft.com/office/drawing/2014/main" id="{80A57BA8-AB67-836D-4D9B-4ECC347BE1FD}"/>
              </a:ext>
            </a:extLst>
          </p:cNvPr>
          <p:cNvSpPr txBox="1">
            <a:spLocks/>
          </p:cNvSpPr>
          <p:nvPr/>
        </p:nvSpPr>
        <p:spPr>
          <a:xfrm>
            <a:off x="10498150" y="4309583"/>
            <a:ext cx="135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900" b="1">
                <a:solidFill>
                  <a:schemeClr val="bg1"/>
                </a:solidFill>
              </a:rPr>
              <a:t>Registration deadline: 31/03/2026</a:t>
            </a:r>
          </a:p>
        </p:txBody>
      </p:sp>
      <p:sp>
        <p:nvSpPr>
          <p:cNvPr id="1055" name="Pentagon 1054">
            <a:extLst>
              <a:ext uri="{FF2B5EF4-FFF2-40B4-BE49-F238E27FC236}">
                <a16:creationId xmlns:a16="http://schemas.microsoft.com/office/drawing/2014/main" id="{08285779-61BE-EFA3-810E-B82573610759}"/>
              </a:ext>
            </a:extLst>
          </p:cNvPr>
          <p:cNvSpPr>
            <a:spLocks/>
          </p:cNvSpPr>
          <p:nvPr/>
        </p:nvSpPr>
        <p:spPr>
          <a:xfrm>
            <a:off x="5205551" y="3402299"/>
            <a:ext cx="1610960" cy="22475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Organizing Committee</a:t>
            </a:r>
            <a:endParaRPr lang="en-VN" sz="1100">
              <a:solidFill>
                <a:schemeClr val="tx1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42470F0-3215-085E-DCFE-7D1D8F882F29}"/>
              </a:ext>
            </a:extLst>
          </p:cNvPr>
          <p:cNvSpPr>
            <a:spLocks/>
          </p:cNvSpPr>
          <p:nvPr/>
        </p:nvSpPr>
        <p:spPr>
          <a:xfrm>
            <a:off x="392150" y="315457"/>
            <a:ext cx="3990664" cy="490655"/>
          </a:xfrm>
          <a:prstGeom prst="roundRect">
            <a:avLst>
              <a:gd name="adj" fmla="val 4242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04E3119B-42BE-F9A2-9BCD-1FF8840E6E4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10"/>
          <a:stretch>
            <a:fillRect/>
          </a:stretch>
        </p:blipFill>
        <p:spPr bwMode="auto">
          <a:xfrm>
            <a:off x="1514726" y="373655"/>
            <a:ext cx="1138372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LOGO TRƯỜNG - Trường Đại học Phan Thiết">
            <a:extLst>
              <a:ext uri="{FF2B5EF4-FFF2-40B4-BE49-F238E27FC236}">
                <a16:creationId xmlns:a16="http://schemas.microsoft.com/office/drawing/2014/main" id="{7C03FF4F-749D-44B2-08F5-F2BEE951B0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85" y="399179"/>
            <a:ext cx="324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Giới Thiệu Trường Đại Học Thương Mại - TMU">
            <a:extLst>
              <a:ext uri="{FF2B5EF4-FFF2-40B4-BE49-F238E27FC236}">
                <a16:creationId xmlns:a16="http://schemas.microsoft.com/office/drawing/2014/main" id="{FA62FAB6-EA04-F6E4-1B90-E322C2B5D5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713" y="399178"/>
            <a:ext cx="528973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 descr="Logo Phenikaa University - International Institute for Environmental Studies">
            <a:extLst>
              <a:ext uri="{FF2B5EF4-FFF2-40B4-BE49-F238E27FC236}">
                <a16:creationId xmlns:a16="http://schemas.microsoft.com/office/drawing/2014/main" id="{4F189D55-89DA-9FC7-0FC7-3DB1F730829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417" y="402365"/>
            <a:ext cx="47206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2" descr="About | Tohoku University">
            <a:extLst>
              <a:ext uri="{FF2B5EF4-FFF2-40B4-BE49-F238E27FC236}">
                <a16:creationId xmlns:a16="http://schemas.microsoft.com/office/drawing/2014/main" id="{8EBAC310-4C91-B179-0FAF-D403223A56E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609" y="384165"/>
            <a:ext cx="2662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6A810B8-94C8-7F10-66E5-C38BAB664B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5" t="79869" r="35762" b="14847"/>
          <a:stretch>
            <a:fillRect/>
          </a:stretch>
        </p:blipFill>
        <p:spPr bwMode="auto">
          <a:xfrm>
            <a:off x="1318244" y="386314"/>
            <a:ext cx="296328" cy="33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No description available.">
            <a:extLst>
              <a:ext uri="{FF2B5EF4-FFF2-40B4-BE49-F238E27FC236}">
                <a16:creationId xmlns:a16="http://schemas.microsoft.com/office/drawing/2014/main" id="{A2F7B5A1-CCE4-FC84-7DF1-C42AB7A4D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158" y="373655"/>
            <a:ext cx="373999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 descr="No description available.">
            <a:extLst>
              <a:ext uri="{FF2B5EF4-FFF2-40B4-BE49-F238E27FC236}">
                <a16:creationId xmlns:a16="http://schemas.microsoft.com/office/drawing/2014/main" id="{C152D016-149F-D2E6-8C49-E84405B1D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377" y="351649"/>
            <a:ext cx="504000" cy="41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D4F9CAD-2032-0C9A-39D4-84570919589B}"/>
              </a:ext>
            </a:extLst>
          </p:cNvPr>
          <p:cNvSpPr>
            <a:spLocks/>
          </p:cNvSpPr>
          <p:nvPr/>
        </p:nvSpPr>
        <p:spPr>
          <a:xfrm>
            <a:off x="5196549" y="316308"/>
            <a:ext cx="3990664" cy="490655"/>
          </a:xfrm>
          <a:prstGeom prst="roundRect">
            <a:avLst>
              <a:gd name="adj" fmla="val 4242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44" name="Picture 4">
            <a:extLst>
              <a:ext uri="{FF2B5EF4-FFF2-40B4-BE49-F238E27FC236}">
                <a16:creationId xmlns:a16="http://schemas.microsoft.com/office/drawing/2014/main" id="{95AA6FF5-7ED0-8B04-306F-154857BB72E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10"/>
          <a:stretch>
            <a:fillRect/>
          </a:stretch>
        </p:blipFill>
        <p:spPr bwMode="auto">
          <a:xfrm>
            <a:off x="6319125" y="374506"/>
            <a:ext cx="1138372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6" descr="LOGO TRƯỜNG - Trường Đại học Phan Thiết">
            <a:extLst>
              <a:ext uri="{FF2B5EF4-FFF2-40B4-BE49-F238E27FC236}">
                <a16:creationId xmlns:a16="http://schemas.microsoft.com/office/drawing/2014/main" id="{450C6EDA-59F7-F2A0-B33A-48675EEBD3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484" y="400030"/>
            <a:ext cx="324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8" descr="Giới Thiệu Trường Đại Học Thương Mại - TMU">
            <a:extLst>
              <a:ext uri="{FF2B5EF4-FFF2-40B4-BE49-F238E27FC236}">
                <a16:creationId xmlns:a16="http://schemas.microsoft.com/office/drawing/2014/main" id="{7C74FA34-1FE3-92D2-AA87-8ADF4AB64F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3112" y="400029"/>
            <a:ext cx="528973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10" descr="Logo Phenikaa University - International Institute for Environmental Studies">
            <a:extLst>
              <a:ext uri="{FF2B5EF4-FFF2-40B4-BE49-F238E27FC236}">
                <a16:creationId xmlns:a16="http://schemas.microsoft.com/office/drawing/2014/main" id="{262B85D5-C159-1B9D-5E9D-03A774340C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816" y="403216"/>
            <a:ext cx="47206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2" descr="About | Tohoku University">
            <a:extLst>
              <a:ext uri="{FF2B5EF4-FFF2-40B4-BE49-F238E27FC236}">
                <a16:creationId xmlns:a16="http://schemas.microsoft.com/office/drawing/2014/main" id="{CAC9E764-64A0-5F37-201E-667C7AD70EB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008" y="385016"/>
            <a:ext cx="2662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A0AF364C-26AF-1936-F068-7367F1D445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5" t="79869" r="35762" b="14847"/>
          <a:stretch>
            <a:fillRect/>
          </a:stretch>
        </p:blipFill>
        <p:spPr bwMode="auto">
          <a:xfrm>
            <a:off x="6122643" y="387165"/>
            <a:ext cx="296328" cy="33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o description available.">
            <a:extLst>
              <a:ext uri="{FF2B5EF4-FFF2-40B4-BE49-F238E27FC236}">
                <a16:creationId xmlns:a16="http://schemas.microsoft.com/office/drawing/2014/main" id="{D818843F-ECE5-F985-FA94-7AA149242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557" y="374506"/>
            <a:ext cx="373999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4" descr="No description available.">
            <a:extLst>
              <a:ext uri="{FF2B5EF4-FFF2-40B4-BE49-F238E27FC236}">
                <a16:creationId xmlns:a16="http://schemas.microsoft.com/office/drawing/2014/main" id="{75DCF351-A182-7395-CD99-A2EC87876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776" y="352500"/>
            <a:ext cx="504000" cy="41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685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001572F-ED10-AEAE-AD3E-B75E528B91BB}"/>
              </a:ext>
            </a:extLst>
          </p:cNvPr>
          <p:cNvSpPr>
            <a:spLocks/>
          </p:cNvSpPr>
          <p:nvPr/>
        </p:nvSpPr>
        <p:spPr>
          <a:xfrm>
            <a:off x="392150" y="315457"/>
            <a:ext cx="3990664" cy="490655"/>
          </a:xfrm>
          <a:prstGeom prst="roundRect">
            <a:avLst>
              <a:gd name="adj" fmla="val 4242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B2EDC079-13E6-4475-B0AD-569C261DD8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10"/>
          <a:stretch>
            <a:fillRect/>
          </a:stretch>
        </p:blipFill>
        <p:spPr bwMode="auto">
          <a:xfrm>
            <a:off x="1514726" y="373655"/>
            <a:ext cx="1138372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LOGO TRƯỜNG - Trường Đại học Phan Thiết">
            <a:extLst>
              <a:ext uri="{FF2B5EF4-FFF2-40B4-BE49-F238E27FC236}">
                <a16:creationId xmlns:a16="http://schemas.microsoft.com/office/drawing/2014/main" id="{506966DA-FE64-4363-B1CD-B80B909AF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85" y="399179"/>
            <a:ext cx="324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Giới Thiệu Trường Đại Học Thương Mại - TMU">
            <a:extLst>
              <a:ext uri="{FF2B5EF4-FFF2-40B4-BE49-F238E27FC236}">
                <a16:creationId xmlns:a16="http://schemas.microsoft.com/office/drawing/2014/main" id="{8591AF70-4AE9-C263-F76C-7060CFED83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713" y="399178"/>
            <a:ext cx="528973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Logo Phenikaa University - International Institute for Environmental Studies">
            <a:extLst>
              <a:ext uri="{FF2B5EF4-FFF2-40B4-BE49-F238E27FC236}">
                <a16:creationId xmlns:a16="http://schemas.microsoft.com/office/drawing/2014/main" id="{07EF1A8E-C67C-24FF-B0A7-E2EB937A5B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417" y="402365"/>
            <a:ext cx="472064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About | Tohoku University">
            <a:extLst>
              <a:ext uri="{FF2B5EF4-FFF2-40B4-BE49-F238E27FC236}">
                <a16:creationId xmlns:a16="http://schemas.microsoft.com/office/drawing/2014/main" id="{58A84739-46FB-5B93-5508-0C4E655169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609" y="384165"/>
            <a:ext cx="2662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F9E5ED-5AF6-8245-1E7A-FC6F2697B4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5" t="79869" r="35762" b="14847"/>
          <a:stretch>
            <a:fillRect/>
          </a:stretch>
        </p:blipFill>
        <p:spPr bwMode="auto">
          <a:xfrm>
            <a:off x="1318244" y="386314"/>
            <a:ext cx="296328" cy="33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o description available.">
            <a:extLst>
              <a:ext uri="{FF2B5EF4-FFF2-40B4-BE49-F238E27FC236}">
                <a16:creationId xmlns:a16="http://schemas.microsoft.com/office/drawing/2014/main" id="{3BBB2C06-E9AB-AC7A-44B1-7043C6E05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158" y="373655"/>
            <a:ext cx="373999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 description available.">
            <a:extLst>
              <a:ext uri="{FF2B5EF4-FFF2-40B4-BE49-F238E27FC236}">
                <a16:creationId xmlns:a16="http://schemas.microsoft.com/office/drawing/2014/main" id="{3A2ED54E-79DB-E2D3-D7C6-49FA7DFC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377" y="351649"/>
            <a:ext cx="504000" cy="41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100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F4EB994-CE36-BBE7-DA7B-A57EF8235A71}"/>
              </a:ext>
            </a:extLst>
          </p:cNvPr>
          <p:cNvSpPr/>
          <p:nvPr/>
        </p:nvSpPr>
        <p:spPr>
          <a:xfrm>
            <a:off x="0" y="1474987"/>
            <a:ext cx="2509675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06CD9C-BDF8-D53A-EC65-A6A3AA46D577}"/>
              </a:ext>
            </a:extLst>
          </p:cNvPr>
          <p:cNvSpPr/>
          <p:nvPr/>
        </p:nvSpPr>
        <p:spPr>
          <a:xfrm rot="5400000">
            <a:off x="3097426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308E4A-B3EC-0189-B846-E5C3F3EAE95C}"/>
              </a:ext>
            </a:extLst>
          </p:cNvPr>
          <p:cNvSpPr/>
          <p:nvPr/>
        </p:nvSpPr>
        <p:spPr>
          <a:xfrm rot="5400000">
            <a:off x="2701322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B3BEBB-F496-31FC-2167-6216D8C60E9D}"/>
              </a:ext>
            </a:extLst>
          </p:cNvPr>
          <p:cNvSpPr/>
          <p:nvPr/>
        </p:nvSpPr>
        <p:spPr>
          <a:xfrm rot="5400000">
            <a:off x="2305217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CE1CD8-A77F-DB25-7959-F156DA3DEACF}"/>
              </a:ext>
            </a:extLst>
          </p:cNvPr>
          <p:cNvSpPr/>
          <p:nvPr/>
        </p:nvSpPr>
        <p:spPr>
          <a:xfrm>
            <a:off x="2708160" y="29912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7DC428-68C5-9FBC-65A4-6773711B108A}"/>
              </a:ext>
            </a:extLst>
          </p:cNvPr>
          <p:cNvSpPr/>
          <p:nvPr/>
        </p:nvSpPr>
        <p:spPr>
          <a:xfrm>
            <a:off x="2708160" y="26601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DA5666-D6B9-7672-0C3A-F03BCFF93E2E}"/>
              </a:ext>
            </a:extLst>
          </p:cNvPr>
          <p:cNvSpPr/>
          <p:nvPr/>
        </p:nvSpPr>
        <p:spPr>
          <a:xfrm>
            <a:off x="2708160" y="23289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4CE3F8-9F6A-233D-19DA-D55356C1E5B5}"/>
              </a:ext>
            </a:extLst>
          </p:cNvPr>
          <p:cNvSpPr/>
          <p:nvPr/>
        </p:nvSpPr>
        <p:spPr>
          <a:xfrm>
            <a:off x="2884202" y="20028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50E2141D-8661-2873-8F84-A87578722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945" y="25612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811C460-4561-A612-7D62-9C39370CE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178" y="20897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ABA0E3-0B5F-6C96-1D64-A5558ACDEC74}"/>
              </a:ext>
            </a:extLst>
          </p:cNvPr>
          <p:cNvSpPr/>
          <p:nvPr/>
        </p:nvSpPr>
        <p:spPr>
          <a:xfrm rot="5400000">
            <a:off x="6647076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670E43-A53E-2E50-AD5E-115D37F70437}"/>
              </a:ext>
            </a:extLst>
          </p:cNvPr>
          <p:cNvSpPr/>
          <p:nvPr/>
        </p:nvSpPr>
        <p:spPr>
          <a:xfrm rot="5400000">
            <a:off x="6250972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50BC17-0A53-FB1B-C32E-768989C073F7}"/>
              </a:ext>
            </a:extLst>
          </p:cNvPr>
          <p:cNvSpPr/>
          <p:nvPr/>
        </p:nvSpPr>
        <p:spPr>
          <a:xfrm rot="5400000">
            <a:off x="5854867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CF20AE-B10E-1CD0-09C7-64FAF0BC3AE1}"/>
              </a:ext>
            </a:extLst>
          </p:cNvPr>
          <p:cNvSpPr/>
          <p:nvPr/>
        </p:nvSpPr>
        <p:spPr>
          <a:xfrm>
            <a:off x="6257810" y="30781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7FD0FF-E7E0-D1A5-7812-159872FA5C06}"/>
              </a:ext>
            </a:extLst>
          </p:cNvPr>
          <p:cNvSpPr/>
          <p:nvPr/>
        </p:nvSpPr>
        <p:spPr>
          <a:xfrm>
            <a:off x="6257810" y="27470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3051DC-2B96-AB0C-C93A-37449C5C756E}"/>
              </a:ext>
            </a:extLst>
          </p:cNvPr>
          <p:cNvSpPr/>
          <p:nvPr/>
        </p:nvSpPr>
        <p:spPr>
          <a:xfrm>
            <a:off x="6257810" y="24158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B870E7-8A73-9EBF-653E-BFD83A78BBA8}"/>
              </a:ext>
            </a:extLst>
          </p:cNvPr>
          <p:cNvSpPr/>
          <p:nvPr/>
        </p:nvSpPr>
        <p:spPr>
          <a:xfrm>
            <a:off x="6433852" y="20897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CC8B90D8-4DD3-303B-AAC7-8E1BA68B7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595" y="26481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1F99566-FCC0-80A6-2A27-DCBECE5B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28" y="21766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4078C6F-7305-516F-A414-B7F2B007C68D}"/>
              </a:ext>
            </a:extLst>
          </p:cNvPr>
          <p:cNvSpPr txBox="1"/>
          <p:nvPr/>
        </p:nvSpPr>
        <p:spPr>
          <a:xfrm>
            <a:off x="2804159" y="356477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44B260-6B1B-29D2-B90D-CEF4D988352B}"/>
              </a:ext>
            </a:extLst>
          </p:cNvPr>
          <p:cNvSpPr/>
          <p:nvPr/>
        </p:nvSpPr>
        <p:spPr>
          <a:xfrm rot="5400000">
            <a:off x="6675058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22807A-6B52-A915-26BC-449070F24EA3}"/>
              </a:ext>
            </a:extLst>
          </p:cNvPr>
          <p:cNvSpPr/>
          <p:nvPr/>
        </p:nvSpPr>
        <p:spPr>
          <a:xfrm rot="5400000">
            <a:off x="6278954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25A3C1-CC41-71DB-048B-F221BE5A796E}"/>
              </a:ext>
            </a:extLst>
          </p:cNvPr>
          <p:cNvSpPr/>
          <p:nvPr/>
        </p:nvSpPr>
        <p:spPr>
          <a:xfrm rot="5400000">
            <a:off x="5882849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B33097-4520-719B-3F45-2E3EB8294BE6}"/>
              </a:ext>
            </a:extLst>
          </p:cNvPr>
          <p:cNvSpPr/>
          <p:nvPr/>
        </p:nvSpPr>
        <p:spPr>
          <a:xfrm>
            <a:off x="6285792" y="589103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BBACC5-B743-411A-C3BD-49FE6616A276}"/>
              </a:ext>
            </a:extLst>
          </p:cNvPr>
          <p:cNvSpPr/>
          <p:nvPr/>
        </p:nvSpPr>
        <p:spPr>
          <a:xfrm>
            <a:off x="6285792" y="555990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A3494E-5771-C3D8-9F2F-77AE77C35585}"/>
              </a:ext>
            </a:extLst>
          </p:cNvPr>
          <p:cNvSpPr/>
          <p:nvPr/>
        </p:nvSpPr>
        <p:spPr>
          <a:xfrm>
            <a:off x="6285792" y="522878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2795D2-F1BF-CE94-8A6B-44901BCA5AEA}"/>
              </a:ext>
            </a:extLst>
          </p:cNvPr>
          <p:cNvSpPr/>
          <p:nvPr/>
        </p:nvSpPr>
        <p:spPr>
          <a:xfrm>
            <a:off x="6461834" y="49026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3D580D6-79D7-2186-A93F-56610A2EA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77" y="54610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1450D98-739F-8887-6C3B-2850B9464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10" y="498955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FDD57E55-9928-5301-88F2-574939F3C291}"/>
              </a:ext>
            </a:extLst>
          </p:cNvPr>
          <p:cNvSpPr/>
          <p:nvPr/>
        </p:nvSpPr>
        <p:spPr>
          <a:xfrm>
            <a:off x="5931490" y="4372031"/>
            <a:ext cx="2481439" cy="24814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CA3B92-2008-FC7D-D5BD-E82FAAAB84BA}"/>
              </a:ext>
            </a:extLst>
          </p:cNvPr>
          <p:cNvSpPr/>
          <p:nvPr/>
        </p:nvSpPr>
        <p:spPr>
          <a:xfrm rot="5400000">
            <a:off x="719398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297C8A7-4C43-7FCE-8FAF-1F07DDB94F24}"/>
              </a:ext>
            </a:extLst>
          </p:cNvPr>
          <p:cNvSpPr/>
          <p:nvPr/>
        </p:nvSpPr>
        <p:spPr>
          <a:xfrm rot="5400000">
            <a:off x="323294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9F7E8-9CFF-33D3-B9D2-38B5F4981DDC}"/>
              </a:ext>
            </a:extLst>
          </p:cNvPr>
          <p:cNvSpPr/>
          <p:nvPr/>
        </p:nvSpPr>
        <p:spPr>
          <a:xfrm rot="5400000">
            <a:off x="-72811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AB9D4-4145-D154-5178-92E6ED67F2C6}"/>
              </a:ext>
            </a:extLst>
          </p:cNvPr>
          <p:cNvSpPr/>
          <p:nvPr/>
        </p:nvSpPr>
        <p:spPr>
          <a:xfrm>
            <a:off x="330132" y="305126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8D8EB59-3E44-7878-42F4-B406558CFEB6}"/>
              </a:ext>
            </a:extLst>
          </p:cNvPr>
          <p:cNvSpPr/>
          <p:nvPr/>
        </p:nvSpPr>
        <p:spPr>
          <a:xfrm>
            <a:off x="330132" y="2720137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8384B3E-7558-B2B1-6E09-4EF52B7DC2FA}"/>
              </a:ext>
            </a:extLst>
          </p:cNvPr>
          <p:cNvSpPr/>
          <p:nvPr/>
        </p:nvSpPr>
        <p:spPr>
          <a:xfrm>
            <a:off x="330132" y="238901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9F68D7-0EEE-9799-4983-C63C3ED04B20}"/>
              </a:ext>
            </a:extLst>
          </p:cNvPr>
          <p:cNvSpPr/>
          <p:nvPr/>
        </p:nvSpPr>
        <p:spPr>
          <a:xfrm>
            <a:off x="506174" y="2062887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1AFBF86D-F438-62A3-EF86-7902C3CA4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17" y="2621274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18A5ABD8-CA56-B405-FF65-DCB92F1DB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44" y="2121183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477531-4AEC-33AD-3115-251D449AE925}"/>
              </a:ext>
            </a:extLst>
          </p:cNvPr>
          <p:cNvSpPr txBox="1"/>
          <p:nvPr/>
        </p:nvSpPr>
        <p:spPr>
          <a:xfrm>
            <a:off x="426131" y="3624790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70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04CE484-F909-8325-F81B-CC8C38747983}"/>
              </a:ext>
            </a:extLst>
          </p:cNvPr>
          <p:cNvSpPr/>
          <p:nvPr/>
        </p:nvSpPr>
        <p:spPr>
          <a:xfrm>
            <a:off x="5922693" y="809805"/>
            <a:ext cx="5701272" cy="18598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9E8B1CC-4A4A-C84D-0C93-AE7FCD34FE50}"/>
              </a:ext>
            </a:extLst>
          </p:cNvPr>
          <p:cNvSpPr>
            <a:spLocks noChangeAspect="1"/>
          </p:cNvSpPr>
          <p:nvPr/>
        </p:nvSpPr>
        <p:spPr>
          <a:xfrm>
            <a:off x="2465278" y="2196259"/>
            <a:ext cx="2999749" cy="299974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5B44-1918-0A6B-FC23-17716604915A}"/>
              </a:ext>
            </a:extLst>
          </p:cNvPr>
          <p:cNvSpPr txBox="1"/>
          <p:nvPr/>
        </p:nvSpPr>
        <p:spPr>
          <a:xfrm>
            <a:off x="2998156" y="3001265"/>
            <a:ext cx="2466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139BD-DB7C-4526-2EB9-BDADDEDF6EC5}"/>
              </a:ext>
            </a:extLst>
          </p:cNvPr>
          <p:cNvCxnSpPr>
            <a:cxnSpLocks/>
          </p:cNvCxnSpPr>
          <p:nvPr/>
        </p:nvCxnSpPr>
        <p:spPr>
          <a:xfrm>
            <a:off x="3058348" y="3859724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5709812-191C-C925-972B-A5917A40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193" y="2782154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DCE02D-C88E-AC7A-504E-40239560308C}"/>
              </a:ext>
            </a:extLst>
          </p:cNvPr>
          <p:cNvCxnSpPr>
            <a:cxnSpLocks/>
          </p:cNvCxnSpPr>
          <p:nvPr/>
        </p:nvCxnSpPr>
        <p:spPr>
          <a:xfrm>
            <a:off x="3792639" y="3532544"/>
            <a:ext cx="1440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1AEEDC-1BB2-BC54-4C7E-01661A84599F}"/>
              </a:ext>
            </a:extLst>
          </p:cNvPr>
          <p:cNvCxnSpPr>
            <a:cxnSpLocks/>
          </p:cNvCxnSpPr>
          <p:nvPr/>
        </p:nvCxnSpPr>
        <p:spPr>
          <a:xfrm flipV="1">
            <a:off x="3657600" y="3532544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5A37CE5-789C-41C7-9742-9E8874EF06EE}"/>
              </a:ext>
            </a:extLst>
          </p:cNvPr>
          <p:cNvSpPr txBox="1"/>
          <p:nvPr/>
        </p:nvSpPr>
        <p:spPr>
          <a:xfrm>
            <a:off x="6609190" y="1357343"/>
            <a:ext cx="2924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at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8BD161-BAE0-5958-4F8C-8EB72A5BED73}"/>
              </a:ext>
            </a:extLst>
          </p:cNvPr>
          <p:cNvCxnSpPr>
            <a:cxnSpLocks/>
          </p:cNvCxnSpPr>
          <p:nvPr/>
        </p:nvCxnSpPr>
        <p:spPr>
          <a:xfrm>
            <a:off x="6669383" y="2215802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449A2911-60E7-A575-FAE8-6E8924AD9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228" y="1138232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32291CF-1715-142E-68FE-ABF38A72E88D}"/>
              </a:ext>
            </a:extLst>
          </p:cNvPr>
          <p:cNvCxnSpPr>
            <a:cxnSpLocks/>
          </p:cNvCxnSpPr>
          <p:nvPr/>
        </p:nvCxnSpPr>
        <p:spPr>
          <a:xfrm>
            <a:off x="7403674" y="1888622"/>
            <a:ext cx="194314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7275FE-B10F-A588-F36C-AA2AB64B29D6}"/>
              </a:ext>
            </a:extLst>
          </p:cNvPr>
          <p:cNvCxnSpPr>
            <a:cxnSpLocks/>
          </p:cNvCxnSpPr>
          <p:nvPr/>
        </p:nvCxnSpPr>
        <p:spPr>
          <a:xfrm flipV="1">
            <a:off x="7268635" y="1888622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7EBAB01-EFD5-66A3-16A9-4F78450BE5B2}"/>
              </a:ext>
            </a:extLst>
          </p:cNvPr>
          <p:cNvSpPr>
            <a:spLocks noChangeAspect="1"/>
          </p:cNvSpPr>
          <p:nvPr/>
        </p:nvSpPr>
        <p:spPr>
          <a:xfrm>
            <a:off x="6096000" y="-110029"/>
            <a:ext cx="3600000" cy="360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43" name="Picture 4">
            <a:extLst>
              <a:ext uri="{FF2B5EF4-FFF2-40B4-BE49-F238E27FC236}">
                <a16:creationId xmlns:a16="http://schemas.microsoft.com/office/drawing/2014/main" id="{6CCF406E-2867-DA00-AABB-5C4C1E4A9A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6" t="30055"/>
          <a:stretch>
            <a:fillRect/>
          </a:stretch>
        </p:blipFill>
        <p:spPr bwMode="auto">
          <a:xfrm>
            <a:off x="9521993" y="1433726"/>
            <a:ext cx="1651572" cy="123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705F6CC-51D2-62E7-4391-DCE9DC222630}"/>
              </a:ext>
            </a:extLst>
          </p:cNvPr>
          <p:cNvSpPr txBox="1"/>
          <p:nvPr/>
        </p:nvSpPr>
        <p:spPr>
          <a:xfrm>
            <a:off x="3764931" y="3477969"/>
            <a:ext cx="1486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>
                <a:latin typeface="Aharoni" panose="020F0502020204030204" pitchFamily="34" charset="0"/>
                <a:cs typeface="Aharoni" panose="020F0502020204030204" pitchFamily="34" charset="0"/>
              </a:rPr>
              <a:t>research 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487992D-47AA-DFA7-5174-206A2C15DC5F}"/>
              </a:ext>
            </a:extLst>
          </p:cNvPr>
          <p:cNvSpPr>
            <a:spLocks noChangeAspect="1"/>
          </p:cNvSpPr>
          <p:nvPr/>
        </p:nvSpPr>
        <p:spPr>
          <a:xfrm>
            <a:off x="6536901" y="2998046"/>
            <a:ext cx="2999749" cy="299974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EE3CCC-44C0-5CEA-C129-E0D249DEC5D5}"/>
              </a:ext>
            </a:extLst>
          </p:cNvPr>
          <p:cNvSpPr txBox="1"/>
          <p:nvPr/>
        </p:nvSpPr>
        <p:spPr>
          <a:xfrm>
            <a:off x="7069779" y="3803052"/>
            <a:ext cx="2466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FC0A5F1-E32F-0262-9B01-B176DF5BA1FE}"/>
              </a:ext>
            </a:extLst>
          </p:cNvPr>
          <p:cNvCxnSpPr>
            <a:cxnSpLocks/>
          </p:cNvCxnSpPr>
          <p:nvPr/>
        </p:nvCxnSpPr>
        <p:spPr>
          <a:xfrm>
            <a:off x="7129971" y="4661511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8E2AE578-14C9-CAA7-73AE-D0113F68D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816" y="3583941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0BC827-AAF8-AFB9-935E-8378A69B4EAE}"/>
              </a:ext>
            </a:extLst>
          </p:cNvPr>
          <p:cNvCxnSpPr>
            <a:cxnSpLocks/>
          </p:cNvCxnSpPr>
          <p:nvPr/>
        </p:nvCxnSpPr>
        <p:spPr>
          <a:xfrm>
            <a:off x="7864262" y="4334331"/>
            <a:ext cx="1440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4" name="Picture 4">
            <a:extLst>
              <a:ext uri="{FF2B5EF4-FFF2-40B4-BE49-F238E27FC236}">
                <a16:creationId xmlns:a16="http://schemas.microsoft.com/office/drawing/2014/main" id="{5B74924D-C00C-9D44-6ABC-CC2F8AF3D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6" t="30055"/>
          <a:stretch>
            <a:fillRect/>
          </a:stretch>
        </p:blipFill>
        <p:spPr bwMode="auto">
          <a:xfrm>
            <a:off x="7074671" y="4719473"/>
            <a:ext cx="1651572" cy="123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EB85B52-C5D0-2283-762F-BAEC5E7C763E}"/>
              </a:ext>
            </a:extLst>
          </p:cNvPr>
          <p:cNvCxnSpPr>
            <a:cxnSpLocks/>
          </p:cNvCxnSpPr>
          <p:nvPr/>
        </p:nvCxnSpPr>
        <p:spPr>
          <a:xfrm flipV="1">
            <a:off x="7729223" y="4334331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31031BA-20E1-5FED-4756-8A05869CC7D5}"/>
              </a:ext>
            </a:extLst>
          </p:cNvPr>
          <p:cNvSpPr txBox="1"/>
          <p:nvPr/>
        </p:nvSpPr>
        <p:spPr>
          <a:xfrm>
            <a:off x="7836554" y="4279756"/>
            <a:ext cx="1486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at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1619BB-E993-339D-8377-70F01CC473BB}"/>
              </a:ext>
            </a:extLst>
          </p:cNvPr>
          <p:cNvSpPr txBox="1"/>
          <p:nvPr/>
        </p:nvSpPr>
        <p:spPr>
          <a:xfrm>
            <a:off x="2752939" y="3954123"/>
            <a:ext cx="2658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2A326C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Ho Chi Minh city </a:t>
            </a:r>
          </a:p>
        </p:txBody>
      </p:sp>
    </p:spTree>
    <p:extLst>
      <p:ext uri="{BB962C8B-B14F-4D97-AF65-F5344CB8AC3E}">
        <p14:creationId xmlns:p14="http://schemas.microsoft.com/office/powerpoint/2010/main" val="360038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F4EB994-CE36-BBE7-DA7B-A57EF8235A71}"/>
              </a:ext>
            </a:extLst>
          </p:cNvPr>
          <p:cNvSpPr/>
          <p:nvPr/>
        </p:nvSpPr>
        <p:spPr>
          <a:xfrm>
            <a:off x="0" y="1474987"/>
            <a:ext cx="2509675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06CD9C-BDF8-D53A-EC65-A6A3AA46D577}"/>
              </a:ext>
            </a:extLst>
          </p:cNvPr>
          <p:cNvSpPr/>
          <p:nvPr/>
        </p:nvSpPr>
        <p:spPr>
          <a:xfrm rot="5400000">
            <a:off x="3097426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308E4A-B3EC-0189-B846-E5C3F3EAE95C}"/>
              </a:ext>
            </a:extLst>
          </p:cNvPr>
          <p:cNvSpPr/>
          <p:nvPr/>
        </p:nvSpPr>
        <p:spPr>
          <a:xfrm rot="5400000">
            <a:off x="2701322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B3BEBB-F496-31FC-2167-6216D8C60E9D}"/>
              </a:ext>
            </a:extLst>
          </p:cNvPr>
          <p:cNvSpPr/>
          <p:nvPr/>
        </p:nvSpPr>
        <p:spPr>
          <a:xfrm rot="5400000">
            <a:off x="2305217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CE1CD8-A77F-DB25-7959-F156DA3DEACF}"/>
              </a:ext>
            </a:extLst>
          </p:cNvPr>
          <p:cNvSpPr/>
          <p:nvPr/>
        </p:nvSpPr>
        <p:spPr>
          <a:xfrm>
            <a:off x="2708160" y="29912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7DC428-68C5-9FBC-65A4-6773711B108A}"/>
              </a:ext>
            </a:extLst>
          </p:cNvPr>
          <p:cNvSpPr/>
          <p:nvPr/>
        </p:nvSpPr>
        <p:spPr>
          <a:xfrm>
            <a:off x="2708160" y="26601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DA5666-D6B9-7672-0C3A-F03BCFF93E2E}"/>
              </a:ext>
            </a:extLst>
          </p:cNvPr>
          <p:cNvSpPr/>
          <p:nvPr/>
        </p:nvSpPr>
        <p:spPr>
          <a:xfrm>
            <a:off x="2708160" y="23289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4CE3F8-9F6A-233D-19DA-D55356C1E5B5}"/>
              </a:ext>
            </a:extLst>
          </p:cNvPr>
          <p:cNvSpPr/>
          <p:nvPr/>
        </p:nvSpPr>
        <p:spPr>
          <a:xfrm>
            <a:off x="2884202" y="20028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50E2141D-8661-2873-8F84-A87578722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945" y="25612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811C460-4561-A612-7D62-9C39370CE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178" y="20897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ABA0E3-0B5F-6C96-1D64-A5558ACDEC74}"/>
              </a:ext>
            </a:extLst>
          </p:cNvPr>
          <p:cNvSpPr/>
          <p:nvPr/>
        </p:nvSpPr>
        <p:spPr>
          <a:xfrm rot="5400000">
            <a:off x="6647076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670E43-A53E-2E50-AD5E-115D37F70437}"/>
              </a:ext>
            </a:extLst>
          </p:cNvPr>
          <p:cNvSpPr/>
          <p:nvPr/>
        </p:nvSpPr>
        <p:spPr>
          <a:xfrm rot="5400000">
            <a:off x="6250972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50BC17-0A53-FB1B-C32E-768989C073F7}"/>
              </a:ext>
            </a:extLst>
          </p:cNvPr>
          <p:cNvSpPr/>
          <p:nvPr/>
        </p:nvSpPr>
        <p:spPr>
          <a:xfrm rot="5400000">
            <a:off x="5854867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CF20AE-B10E-1CD0-09C7-64FAF0BC3AE1}"/>
              </a:ext>
            </a:extLst>
          </p:cNvPr>
          <p:cNvSpPr/>
          <p:nvPr/>
        </p:nvSpPr>
        <p:spPr>
          <a:xfrm>
            <a:off x="6257810" y="30781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7FD0FF-E7E0-D1A5-7812-159872FA5C06}"/>
              </a:ext>
            </a:extLst>
          </p:cNvPr>
          <p:cNvSpPr/>
          <p:nvPr/>
        </p:nvSpPr>
        <p:spPr>
          <a:xfrm>
            <a:off x="6257810" y="27470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3051DC-2B96-AB0C-C93A-37449C5C756E}"/>
              </a:ext>
            </a:extLst>
          </p:cNvPr>
          <p:cNvSpPr/>
          <p:nvPr/>
        </p:nvSpPr>
        <p:spPr>
          <a:xfrm>
            <a:off x="6257810" y="24158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B870E7-8A73-9EBF-653E-BFD83A78BBA8}"/>
              </a:ext>
            </a:extLst>
          </p:cNvPr>
          <p:cNvSpPr/>
          <p:nvPr/>
        </p:nvSpPr>
        <p:spPr>
          <a:xfrm>
            <a:off x="6433852" y="20897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CC8B90D8-4DD3-303B-AAC7-8E1BA68B7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595" y="26481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1F99566-FCC0-80A6-2A27-DCBECE5B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28" y="21766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4078C6F-7305-516F-A414-B7F2B007C68D}"/>
              </a:ext>
            </a:extLst>
          </p:cNvPr>
          <p:cNvSpPr txBox="1"/>
          <p:nvPr/>
        </p:nvSpPr>
        <p:spPr>
          <a:xfrm>
            <a:off x="2804159" y="356477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44B260-6B1B-29D2-B90D-CEF4D988352B}"/>
              </a:ext>
            </a:extLst>
          </p:cNvPr>
          <p:cNvSpPr/>
          <p:nvPr/>
        </p:nvSpPr>
        <p:spPr>
          <a:xfrm rot="5400000">
            <a:off x="6675058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22807A-6B52-A915-26BC-449070F24EA3}"/>
              </a:ext>
            </a:extLst>
          </p:cNvPr>
          <p:cNvSpPr/>
          <p:nvPr/>
        </p:nvSpPr>
        <p:spPr>
          <a:xfrm rot="5400000">
            <a:off x="6278954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25A3C1-CC41-71DB-048B-F221BE5A796E}"/>
              </a:ext>
            </a:extLst>
          </p:cNvPr>
          <p:cNvSpPr/>
          <p:nvPr/>
        </p:nvSpPr>
        <p:spPr>
          <a:xfrm rot="5400000">
            <a:off x="5882849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B33097-4520-719B-3F45-2E3EB8294BE6}"/>
              </a:ext>
            </a:extLst>
          </p:cNvPr>
          <p:cNvSpPr/>
          <p:nvPr/>
        </p:nvSpPr>
        <p:spPr>
          <a:xfrm>
            <a:off x="6285792" y="589103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BBACC5-B743-411A-C3BD-49FE6616A276}"/>
              </a:ext>
            </a:extLst>
          </p:cNvPr>
          <p:cNvSpPr/>
          <p:nvPr/>
        </p:nvSpPr>
        <p:spPr>
          <a:xfrm>
            <a:off x="6285792" y="555990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A3494E-5771-C3D8-9F2F-77AE77C35585}"/>
              </a:ext>
            </a:extLst>
          </p:cNvPr>
          <p:cNvSpPr/>
          <p:nvPr/>
        </p:nvSpPr>
        <p:spPr>
          <a:xfrm>
            <a:off x="6285792" y="522878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2795D2-F1BF-CE94-8A6B-44901BCA5AEA}"/>
              </a:ext>
            </a:extLst>
          </p:cNvPr>
          <p:cNvSpPr/>
          <p:nvPr/>
        </p:nvSpPr>
        <p:spPr>
          <a:xfrm>
            <a:off x="6461834" y="49026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3D580D6-79D7-2186-A93F-56610A2EA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77" y="54610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1450D98-739F-8887-6C3B-2850B9464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10" y="498955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FDD57E55-9928-5301-88F2-574939F3C291}"/>
              </a:ext>
            </a:extLst>
          </p:cNvPr>
          <p:cNvSpPr/>
          <p:nvPr/>
        </p:nvSpPr>
        <p:spPr>
          <a:xfrm>
            <a:off x="5931490" y="4372031"/>
            <a:ext cx="2481439" cy="24814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CA3B92-2008-FC7D-D5BD-E82FAAAB84BA}"/>
              </a:ext>
            </a:extLst>
          </p:cNvPr>
          <p:cNvSpPr/>
          <p:nvPr/>
        </p:nvSpPr>
        <p:spPr>
          <a:xfrm rot="5400000">
            <a:off x="719398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297C8A7-4C43-7FCE-8FAF-1F07DDB94F24}"/>
              </a:ext>
            </a:extLst>
          </p:cNvPr>
          <p:cNvSpPr/>
          <p:nvPr/>
        </p:nvSpPr>
        <p:spPr>
          <a:xfrm rot="5400000">
            <a:off x="323294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9F7E8-9CFF-33D3-B9D2-38B5F4981DDC}"/>
              </a:ext>
            </a:extLst>
          </p:cNvPr>
          <p:cNvSpPr/>
          <p:nvPr/>
        </p:nvSpPr>
        <p:spPr>
          <a:xfrm rot="5400000">
            <a:off x="-72811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AB9D4-4145-D154-5178-92E6ED67F2C6}"/>
              </a:ext>
            </a:extLst>
          </p:cNvPr>
          <p:cNvSpPr/>
          <p:nvPr/>
        </p:nvSpPr>
        <p:spPr>
          <a:xfrm>
            <a:off x="330132" y="305126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8D8EB59-3E44-7878-42F4-B406558CFEB6}"/>
              </a:ext>
            </a:extLst>
          </p:cNvPr>
          <p:cNvSpPr/>
          <p:nvPr/>
        </p:nvSpPr>
        <p:spPr>
          <a:xfrm>
            <a:off x="330132" y="2720137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8384B3E-7558-B2B1-6E09-4EF52B7DC2FA}"/>
              </a:ext>
            </a:extLst>
          </p:cNvPr>
          <p:cNvSpPr/>
          <p:nvPr/>
        </p:nvSpPr>
        <p:spPr>
          <a:xfrm>
            <a:off x="330132" y="238901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9F68D7-0EEE-9799-4983-C63C3ED04B20}"/>
              </a:ext>
            </a:extLst>
          </p:cNvPr>
          <p:cNvSpPr/>
          <p:nvPr/>
        </p:nvSpPr>
        <p:spPr>
          <a:xfrm>
            <a:off x="506174" y="2062887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1AFBF86D-F438-62A3-EF86-7902C3CA4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17" y="2621274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18A5ABD8-CA56-B405-FF65-DCB92F1DB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44" y="2121183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477531-4AEC-33AD-3115-251D449AE925}"/>
              </a:ext>
            </a:extLst>
          </p:cNvPr>
          <p:cNvSpPr txBox="1"/>
          <p:nvPr/>
        </p:nvSpPr>
        <p:spPr>
          <a:xfrm>
            <a:off x="426131" y="3624790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763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077F-41B6-D4CE-69F2-4FEA2624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0459AAF-90AF-99FA-2029-9C89A2D4CE6F}"/>
              </a:ext>
            </a:extLst>
          </p:cNvPr>
          <p:cNvSpPr/>
          <p:nvPr/>
        </p:nvSpPr>
        <p:spPr>
          <a:xfrm>
            <a:off x="2659531" y="1588548"/>
            <a:ext cx="5940000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CBDEC0-EF99-6705-F6FB-146EF6FF1516}"/>
              </a:ext>
            </a:extLst>
          </p:cNvPr>
          <p:cNvSpPr/>
          <p:nvPr/>
        </p:nvSpPr>
        <p:spPr>
          <a:xfrm rot="5400000">
            <a:off x="5117778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3AC6A68-DF78-55D2-D5EC-17DD0B1A927E}"/>
              </a:ext>
            </a:extLst>
          </p:cNvPr>
          <p:cNvSpPr/>
          <p:nvPr/>
        </p:nvSpPr>
        <p:spPr>
          <a:xfrm rot="5400000">
            <a:off x="4721674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B80439-CF4F-7920-06FB-01E46E1518AA}"/>
              </a:ext>
            </a:extLst>
          </p:cNvPr>
          <p:cNvSpPr/>
          <p:nvPr/>
        </p:nvSpPr>
        <p:spPr>
          <a:xfrm rot="5400000">
            <a:off x="4325569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DA76D03-293D-20E0-2FEB-768E8CFC1B35}"/>
              </a:ext>
            </a:extLst>
          </p:cNvPr>
          <p:cNvSpPr/>
          <p:nvPr/>
        </p:nvSpPr>
        <p:spPr>
          <a:xfrm>
            <a:off x="4728512" y="315543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0447D0E-C512-A1F9-F680-3657CE4C9C38}"/>
              </a:ext>
            </a:extLst>
          </p:cNvPr>
          <p:cNvSpPr/>
          <p:nvPr/>
        </p:nvSpPr>
        <p:spPr>
          <a:xfrm>
            <a:off x="4728512" y="28243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A04D6BA-7FB0-BB25-3927-ABFC45A6BD05}"/>
              </a:ext>
            </a:extLst>
          </p:cNvPr>
          <p:cNvSpPr/>
          <p:nvPr/>
        </p:nvSpPr>
        <p:spPr>
          <a:xfrm>
            <a:off x="4728512" y="249318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C2C387-FC5A-50BE-5656-954E174DF63D}"/>
              </a:ext>
            </a:extLst>
          </p:cNvPr>
          <p:cNvSpPr/>
          <p:nvPr/>
        </p:nvSpPr>
        <p:spPr>
          <a:xfrm>
            <a:off x="4904554" y="21670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AE7D31E-3AB9-8225-DB86-024F57DEC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297" y="27254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ACEAB02-6CD0-8D01-21AD-A1C40E5E6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24" y="2225355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28451E5-A62A-0375-5585-1ED1E95B7598}"/>
              </a:ext>
            </a:extLst>
          </p:cNvPr>
          <p:cNvSpPr txBox="1"/>
          <p:nvPr/>
        </p:nvSpPr>
        <p:spPr>
          <a:xfrm>
            <a:off x="4824511" y="372896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942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74EA-F32B-ADF0-E56D-5BB0DCBB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90A71C-B431-E2B4-6572-47A39318F0F2}"/>
              </a:ext>
            </a:extLst>
          </p:cNvPr>
          <p:cNvSpPr/>
          <p:nvPr/>
        </p:nvSpPr>
        <p:spPr>
          <a:xfrm rot="5400000">
            <a:off x="616139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D9443E-B720-3E7E-C06E-01DB82FCFA68}"/>
              </a:ext>
            </a:extLst>
          </p:cNvPr>
          <p:cNvSpPr/>
          <p:nvPr/>
        </p:nvSpPr>
        <p:spPr>
          <a:xfrm rot="5400000">
            <a:off x="220035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52CF2D-EE59-052E-33AA-C05D4C249B4A}"/>
              </a:ext>
            </a:extLst>
          </p:cNvPr>
          <p:cNvSpPr/>
          <p:nvPr/>
        </p:nvSpPr>
        <p:spPr>
          <a:xfrm rot="5400000">
            <a:off x="-176070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A8B208-5278-3F0F-6943-A59AB5D25909}"/>
              </a:ext>
            </a:extLst>
          </p:cNvPr>
          <p:cNvSpPr/>
          <p:nvPr/>
        </p:nvSpPr>
        <p:spPr>
          <a:xfrm>
            <a:off x="226873" y="295433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5381A-C50E-3701-E24E-2DE4DE358F27}"/>
              </a:ext>
            </a:extLst>
          </p:cNvPr>
          <p:cNvSpPr/>
          <p:nvPr/>
        </p:nvSpPr>
        <p:spPr>
          <a:xfrm>
            <a:off x="226873" y="262321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DDE37E-733E-FDE8-A749-9CA64ACDD23D}"/>
              </a:ext>
            </a:extLst>
          </p:cNvPr>
          <p:cNvSpPr/>
          <p:nvPr/>
        </p:nvSpPr>
        <p:spPr>
          <a:xfrm>
            <a:off x="226873" y="229208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508132-1031-101E-297A-C0A354AF67D3}"/>
              </a:ext>
            </a:extLst>
          </p:cNvPr>
          <p:cNvSpPr/>
          <p:nvPr/>
        </p:nvSpPr>
        <p:spPr>
          <a:xfrm>
            <a:off x="402915" y="1965960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F205CF90-0198-35EF-AF0A-1C819809C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58" y="2524347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B37BB288-4367-C0CB-867E-0FCF20971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91" y="2052859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A0F6A5-FF0E-7735-F7B8-090426E984EE}"/>
              </a:ext>
            </a:extLst>
          </p:cNvPr>
          <p:cNvSpPr txBox="1"/>
          <p:nvPr/>
        </p:nvSpPr>
        <p:spPr>
          <a:xfrm>
            <a:off x="322872" y="3527863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126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3F324C-ABDE-F462-D3E6-64F8017FD058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4356912D-43C4-139B-7288-2EBDBDEC7C71}"/>
              </a:ext>
            </a:extLst>
          </p:cNvPr>
          <p:cNvSpPr/>
          <p:nvPr/>
        </p:nvSpPr>
        <p:spPr>
          <a:xfrm>
            <a:off x="6922616" y="1429862"/>
            <a:ext cx="3810635" cy="5282366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5" name="Picture 4" descr="A black and white logo with a brain&#10;&#10;AI-generated content may be incorrect.">
            <a:extLst>
              <a:ext uri="{FF2B5EF4-FFF2-40B4-BE49-F238E27FC236}">
                <a16:creationId xmlns:a16="http://schemas.microsoft.com/office/drawing/2014/main" id="{F79A1F60-778D-2697-07EB-792CC1EE9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86" y="216561"/>
            <a:ext cx="1043768" cy="13590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8D8A28-657C-A19A-B590-3F6E57288BD4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BÀI GIẢNG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2F036E7-1290-0F39-62A4-1D189F6BF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341" y="5065807"/>
            <a:ext cx="1555438" cy="155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B8C843-8943-04E6-3976-73E462546549}"/>
              </a:ext>
            </a:extLst>
          </p:cNvPr>
          <p:cNvSpPr txBox="1"/>
          <p:nvPr/>
        </p:nvSpPr>
        <p:spPr>
          <a:xfrm>
            <a:off x="10327341" y="4679222"/>
            <a:ext cx="1555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/>
              <a:t>Đăng ký tại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78768-E9E8-4C8F-804D-7A3450FC26BB}"/>
              </a:ext>
            </a:extLst>
          </p:cNvPr>
          <p:cNvSpPr txBox="1"/>
          <p:nvPr/>
        </p:nvSpPr>
        <p:spPr>
          <a:xfrm>
            <a:off x="7468474" y="2657308"/>
            <a:ext cx="28008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9h – 11h sáng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5 hàng tuần từ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05/03/ – 23/04/2026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AE4C79-0823-7EB9-EF2E-606DC0AE66C6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ĐHQG TP. HCM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E1F859-E454-F8B6-5A70-16844C90A53D}"/>
              </a:ext>
            </a:extLst>
          </p:cNvPr>
          <p:cNvSpPr txBox="1"/>
          <p:nvPr/>
        </p:nvSpPr>
        <p:spPr>
          <a:xfrm>
            <a:off x="7090499" y="5430235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Chi phí: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Miễn phí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A40149-A253-97A6-65AC-5D487B4B6091}"/>
              </a:ext>
            </a:extLst>
          </p:cNvPr>
          <p:cNvSpPr txBox="1"/>
          <p:nvPr/>
        </p:nvSpPr>
        <p:spPr>
          <a:xfrm>
            <a:off x="7800812" y="1444734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(Không hỗ trợ online)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A9F91E-4A9E-3243-4A94-96FF3E83C740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35EC66-5FEC-4353-FE30-397F0F079B73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Tính toán lượng tử cho sinh viên CNTT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8DA5A6-799C-EB14-FD75-1C661E264251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EB936A98-C564-962E-1C96-A8F59522E4E5}"/>
              </a:ext>
            </a:extLst>
          </p:cNvPr>
          <p:cNvSpPr/>
          <p:nvPr/>
        </p:nvSpPr>
        <p:spPr>
          <a:xfrm>
            <a:off x="1592317" y="3268807"/>
            <a:ext cx="5729403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B30F7E8A-ECC5-A510-8761-B39FB8A94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71" y="3121571"/>
            <a:ext cx="3373824" cy="337382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BEC587-F178-02E9-0175-1AA09B8A34F7}"/>
              </a:ext>
            </a:extLst>
          </p:cNvPr>
          <p:cNvSpPr txBox="1"/>
          <p:nvPr/>
        </p:nvSpPr>
        <p:spPr>
          <a:xfrm>
            <a:off x="3409432" y="3429000"/>
            <a:ext cx="3805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ThS. Phan Hoàng Chương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EBB2F6-7FED-E301-3A19-6F01528E1FF0}"/>
              </a:ext>
            </a:extLst>
          </p:cNvPr>
          <p:cNvSpPr txBox="1"/>
          <p:nvPr/>
        </p:nvSpPr>
        <p:spPr>
          <a:xfrm>
            <a:off x="3716695" y="4005542"/>
            <a:ext cx="3369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i="1">
                <a:solidFill>
                  <a:schemeClr val="bg1"/>
                </a:solidFill>
              </a:rPr>
              <a:t>Giảng viên bộ môn Toán – Lý, </a:t>
            </a:r>
          </a:p>
          <a:p>
            <a:r>
              <a:rPr lang="en-VN" sz="2000" i="1">
                <a:solidFill>
                  <a:schemeClr val="bg1"/>
                </a:solidFill>
              </a:rPr>
              <a:t> Gần 20 năm gắn bó với UIT, </a:t>
            </a:r>
          </a:p>
          <a:p>
            <a:r>
              <a:rPr lang="en-VN" sz="2000" i="1">
                <a:solidFill>
                  <a:schemeClr val="bg1"/>
                </a:solidFill>
              </a:rPr>
              <a:t>  09/2006 ~ 05/2026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282A65-9168-8DBC-4B24-A736C8D091E3}"/>
              </a:ext>
            </a:extLst>
          </p:cNvPr>
          <p:cNvSpPr txBox="1"/>
          <p:nvPr/>
        </p:nvSpPr>
        <p:spPr>
          <a:xfrm>
            <a:off x="3410886" y="5090139"/>
            <a:ext cx="34171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i="1">
                <a:solidFill>
                  <a:schemeClr val="bg1"/>
                </a:solidFill>
              </a:rPr>
              <a:t>      Người truyền lửa về</a:t>
            </a:r>
          </a:p>
          <a:p>
            <a:r>
              <a:rPr lang="en-VN" sz="2000" i="1">
                <a:solidFill>
                  <a:schemeClr val="bg1"/>
                </a:solidFill>
              </a:rPr>
              <a:t>    Tính toán lượng tử (Quantum Computing) tại UIT</a:t>
            </a:r>
          </a:p>
        </p:txBody>
      </p:sp>
      <p:pic>
        <p:nvPicPr>
          <p:cNvPr id="2" name="Picture 2" descr="No photo description available.">
            <a:extLst>
              <a:ext uri="{FF2B5EF4-FFF2-40B4-BE49-F238E27FC236}">
                <a16:creationId xmlns:a16="http://schemas.microsoft.com/office/drawing/2014/main" id="{C2BBE708-FEA9-4DDB-335A-22174C4F9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054" y="216561"/>
            <a:ext cx="1153491" cy="115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352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65DE1-5E71-2B70-E297-FCF37109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E25EE9-1E7D-0A6D-6EB8-A3C84EDDFAA6}"/>
              </a:ext>
            </a:extLst>
          </p:cNvPr>
          <p:cNvSpPr>
            <a:spLocks noChangeAspect="1"/>
          </p:cNvSpPr>
          <p:nvPr/>
        </p:nvSpPr>
        <p:spPr>
          <a:xfrm>
            <a:off x="0" y="708162"/>
            <a:ext cx="10933043" cy="6149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4A4A812A-8AF5-BA4C-EFA2-317D1C8503EE}"/>
              </a:ext>
            </a:extLst>
          </p:cNvPr>
          <p:cNvSpPr/>
          <p:nvPr/>
        </p:nvSpPr>
        <p:spPr>
          <a:xfrm>
            <a:off x="6922616" y="1784890"/>
            <a:ext cx="3810635" cy="4927337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47C1B-6838-791D-D293-D4D67A66971E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LỚP HỌC </a:t>
            </a:r>
            <a:r>
              <a:rPr lang="en-US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SE366.R11</a:t>
            </a:r>
            <a:endParaRPr lang="en-VN" sz="4800" b="1">
              <a:latin typeface="Corbel" panose="020B0503020204020204" pitchFamily="34" charset="0"/>
              <a:ea typeface="Brush Script MT" panose="03060802040406070304" pitchFamily="66" charset="-122"/>
              <a:cs typeface="Al Tarikh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54E5AB-187D-8C7B-6055-A88ABB2916CA}"/>
              </a:ext>
            </a:extLst>
          </p:cNvPr>
          <p:cNvSpPr txBox="1"/>
          <p:nvPr/>
        </p:nvSpPr>
        <p:spPr>
          <a:xfrm>
            <a:off x="7468474" y="2657308"/>
            <a:ext cx="28008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7h30 – 9h45 sáng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4 hàng tuần từ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07/09/2026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EFC0CD-66BD-2F3A-A423-CB776D17BEE1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B4.10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A66B7-F1B7-1756-1EC1-A6E4726D974B}"/>
              </a:ext>
            </a:extLst>
          </p:cNvPr>
          <p:cNvSpPr txBox="1"/>
          <p:nvPr/>
        </p:nvSpPr>
        <p:spPr>
          <a:xfrm>
            <a:off x="7800812" y="1855551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7DED47-FB31-8B53-A2BA-F5541CC8FAEF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E95DCC-02B2-F2EA-F600-5B7D41479829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Lập trình cho máy tính lượng tử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31DFF2-AC97-1016-E67A-EB7F3A357BAD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2872134F-44DB-AB99-FCF2-BB5D72BCF08D}"/>
              </a:ext>
            </a:extLst>
          </p:cNvPr>
          <p:cNvSpPr/>
          <p:nvPr/>
        </p:nvSpPr>
        <p:spPr>
          <a:xfrm>
            <a:off x="1592317" y="3268807"/>
            <a:ext cx="5729403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FBCB1-659F-6B33-1D3F-295785F96808}"/>
              </a:ext>
            </a:extLst>
          </p:cNvPr>
          <p:cNvSpPr txBox="1"/>
          <p:nvPr/>
        </p:nvSpPr>
        <p:spPr>
          <a:xfrm>
            <a:off x="3409432" y="3429000"/>
            <a:ext cx="3805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TS. Vũ Tuấn Hải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5EE455-9171-77E2-0392-DE808C69EAB9}"/>
              </a:ext>
            </a:extLst>
          </p:cNvPr>
          <p:cNvSpPr txBox="1"/>
          <p:nvPr/>
        </p:nvSpPr>
        <p:spPr>
          <a:xfrm>
            <a:off x="3532546" y="3824213"/>
            <a:ext cx="3573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i="1">
                <a:solidFill>
                  <a:schemeClr val="bg1"/>
                </a:solidFill>
              </a:rPr>
              <a:t>Giảng viên khoa Công nghệ  </a:t>
            </a:r>
          </a:p>
          <a:p>
            <a:r>
              <a:rPr lang="en-VN" sz="2000" i="1">
                <a:solidFill>
                  <a:schemeClr val="bg1"/>
                </a:solidFill>
              </a:rPr>
              <a:t>   phần mềm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4AC1CD-870D-E392-3733-90B7B71F6B64}"/>
              </a:ext>
            </a:extLst>
          </p:cNvPr>
          <p:cNvSpPr txBox="1"/>
          <p:nvPr/>
        </p:nvSpPr>
        <p:spPr>
          <a:xfrm>
            <a:off x="3409432" y="4766478"/>
            <a:ext cx="34171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i="1">
                <a:solidFill>
                  <a:schemeClr val="bg1"/>
                </a:solidFill>
              </a:rPr>
              <a:t>      </a:t>
            </a:r>
            <a:r>
              <a:rPr lang="en-VN" sz="2000" b="1" i="1">
                <a:solidFill>
                  <a:schemeClr val="bg1"/>
                </a:solidFill>
              </a:rPr>
              <a:t>Nội dung</a:t>
            </a:r>
            <a:r>
              <a:rPr lang="en-VN" sz="2000" i="1">
                <a:solidFill>
                  <a:schemeClr val="bg1"/>
                </a:solidFill>
              </a:rPr>
              <a:t>: Tính toán lượng    </a:t>
            </a:r>
          </a:p>
          <a:p>
            <a:r>
              <a:rPr lang="en-VN" sz="2000" i="1">
                <a:solidFill>
                  <a:schemeClr val="bg1"/>
                </a:solidFill>
              </a:rPr>
              <a:t>   tử cơ bản, hệ phần mềm cho máy tính lượng tử và các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4BF696-D1DE-D5CB-C967-3B86233FD962}"/>
              </a:ext>
            </a:extLst>
          </p:cNvPr>
          <p:cNvSpPr>
            <a:spLocks noChangeAspect="1"/>
          </p:cNvSpPr>
          <p:nvPr/>
        </p:nvSpPr>
        <p:spPr>
          <a:xfrm>
            <a:off x="387661" y="3215757"/>
            <a:ext cx="3144885" cy="3161587"/>
          </a:xfrm>
          <a:prstGeom prst="ellipse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4" name="Picture 2" descr="Something small and cute - 大頭表情 - Download Stickers from Sigstick">
            <a:extLst>
              <a:ext uri="{FF2B5EF4-FFF2-40B4-BE49-F238E27FC236}">
                <a16:creationId xmlns:a16="http://schemas.microsoft.com/office/drawing/2014/main" id="{30B409AD-89BF-67F3-828B-0767A0AC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35" y="3573956"/>
            <a:ext cx="2367264" cy="2367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3A9180-4024-997A-1F78-02993882CE97}"/>
              </a:ext>
            </a:extLst>
          </p:cNvPr>
          <p:cNvSpPr txBox="1"/>
          <p:nvPr/>
        </p:nvSpPr>
        <p:spPr>
          <a:xfrm>
            <a:off x="3257707" y="568354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000" i="1">
                <a:solidFill>
                  <a:schemeClr val="bg1"/>
                </a:solidFill>
              </a:rPr>
              <a:t>topic nâng cao khác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320382-794F-5A47-F828-27E6EC072CD2}"/>
              </a:ext>
            </a:extLst>
          </p:cNvPr>
          <p:cNvSpPr txBox="1"/>
          <p:nvPr/>
        </p:nvSpPr>
        <p:spPr>
          <a:xfrm>
            <a:off x="7215424" y="5261167"/>
            <a:ext cx="213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800" b="1" i="1">
                <a:solidFill>
                  <a:schemeClr val="bg1"/>
                </a:solidFill>
              </a:rPr>
              <a:t>ĐHQG TP. HCM</a:t>
            </a:r>
            <a:endParaRPr lang="en-VN" sz="2000" b="1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897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0BA8-5565-D037-7BC3-E6319A1E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1BF01D-D8FF-A49D-2E2D-77DF8F4949A7}"/>
              </a:ext>
            </a:extLst>
          </p:cNvPr>
          <p:cNvSpPr>
            <a:spLocks noChangeAspect="1"/>
          </p:cNvSpPr>
          <p:nvPr/>
        </p:nvSpPr>
        <p:spPr>
          <a:xfrm>
            <a:off x="0" y="708162"/>
            <a:ext cx="10933043" cy="6149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454F2B7D-FBB9-9BC8-6936-A9096A36E4B9}"/>
              </a:ext>
            </a:extLst>
          </p:cNvPr>
          <p:cNvSpPr/>
          <p:nvPr/>
        </p:nvSpPr>
        <p:spPr>
          <a:xfrm>
            <a:off x="6922616" y="1784890"/>
            <a:ext cx="3810635" cy="4927337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CD553-E3F8-0AF4-64DD-6A86D88D4BA4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LỚP HỌC </a:t>
            </a:r>
            <a:r>
              <a:rPr lang="en-US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SE366.R11</a:t>
            </a:r>
            <a:endParaRPr lang="en-VN" sz="4800" b="1">
              <a:latin typeface="Corbel" panose="020B0503020204020204" pitchFamily="34" charset="0"/>
              <a:ea typeface="Brush Script MT" panose="03060802040406070304" pitchFamily="66" charset="-122"/>
              <a:cs typeface="Al Tarikh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A0051-0C0B-3349-EAF2-866E1EE78E28}"/>
              </a:ext>
            </a:extLst>
          </p:cNvPr>
          <p:cNvSpPr txBox="1"/>
          <p:nvPr/>
        </p:nvSpPr>
        <p:spPr>
          <a:xfrm>
            <a:off x="7468474" y="2657308"/>
            <a:ext cx="28008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7h30 – 9h45 sáng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4 hàng tuần từ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07/09/2026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3ED3F6-985D-B5EF-64FE-F06B51AF4690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B4.10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6858D-C2D5-922A-CE65-B15A41A92670}"/>
              </a:ext>
            </a:extLst>
          </p:cNvPr>
          <p:cNvSpPr txBox="1"/>
          <p:nvPr/>
        </p:nvSpPr>
        <p:spPr>
          <a:xfrm>
            <a:off x="7800812" y="1855551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316D26-AE22-F4AE-FBC8-EE2060A7EBF1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ABC30E-52C7-6181-8A51-75AFD3517E87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Lập trình cho máy tính lượng tử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A91DAB-F8A2-875C-576D-815B4EFF3EE6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B9389F59-0564-1FBB-5A36-B1E44432CC21}"/>
              </a:ext>
            </a:extLst>
          </p:cNvPr>
          <p:cNvSpPr/>
          <p:nvPr/>
        </p:nvSpPr>
        <p:spPr>
          <a:xfrm>
            <a:off x="546411" y="3268807"/>
            <a:ext cx="6775310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93A208-652E-A0C7-E6FA-CE55FD10AABF}"/>
              </a:ext>
            </a:extLst>
          </p:cNvPr>
          <p:cNvSpPr txBox="1"/>
          <p:nvPr/>
        </p:nvSpPr>
        <p:spPr>
          <a:xfrm>
            <a:off x="1258957" y="3429000"/>
            <a:ext cx="59564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6600" b="1" i="1">
                <a:solidFill>
                  <a:schemeClr val="bg1"/>
                </a:solidFill>
              </a:rPr>
              <a:t>Buổi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37EB03-F036-598F-CBBD-256EF98975A4}"/>
              </a:ext>
            </a:extLst>
          </p:cNvPr>
          <p:cNvSpPr txBox="1"/>
          <p:nvPr/>
        </p:nvSpPr>
        <p:spPr>
          <a:xfrm>
            <a:off x="839388" y="4708013"/>
            <a:ext cx="55676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 i="1">
                <a:solidFill>
                  <a:schemeClr val="bg1"/>
                </a:solidFill>
              </a:rPr>
              <a:t>  Nội dung</a:t>
            </a:r>
            <a:r>
              <a:rPr lang="en-VN" sz="3200" i="1">
                <a:solidFill>
                  <a:schemeClr val="bg1"/>
                </a:solidFill>
              </a:rPr>
              <a:t>: </a:t>
            </a:r>
          </a:p>
          <a:p>
            <a:pPr marL="342900" indent="-342900">
              <a:buFontTx/>
              <a:buChar char="-"/>
            </a:pPr>
            <a:r>
              <a:rPr lang="en-VN" sz="3200" i="1">
                <a:solidFill>
                  <a:schemeClr val="bg1"/>
                </a:solidFill>
              </a:rPr>
              <a:t>Toán và vật lý</a:t>
            </a:r>
          </a:p>
          <a:p>
            <a:pPr marL="342900" indent="-342900">
              <a:buFontTx/>
              <a:buChar char="-"/>
            </a:pPr>
            <a:r>
              <a:rPr lang="en-VN" sz="3200" i="1">
                <a:solidFill>
                  <a:schemeClr val="bg1"/>
                </a:solidFill>
              </a:rPr>
              <a:t>Tính toán lượng  tử cơ bản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EBE44-6A59-5618-6A3E-E10A5E2B2994}"/>
              </a:ext>
            </a:extLst>
          </p:cNvPr>
          <p:cNvSpPr txBox="1"/>
          <p:nvPr/>
        </p:nvSpPr>
        <p:spPr>
          <a:xfrm>
            <a:off x="7215424" y="5261167"/>
            <a:ext cx="213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800" b="1" i="1">
                <a:solidFill>
                  <a:schemeClr val="bg1"/>
                </a:solidFill>
              </a:rPr>
              <a:t>ĐHQG TP. HCM</a:t>
            </a:r>
            <a:endParaRPr lang="en-VN" sz="2000" b="1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458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1F00-9B1F-F32E-FB0F-4C8D8456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95E263-EBA4-9522-FF47-41D29B4C19D1}"/>
              </a:ext>
            </a:extLst>
          </p:cNvPr>
          <p:cNvSpPr>
            <a:spLocks noChangeAspect="1"/>
          </p:cNvSpPr>
          <p:nvPr/>
        </p:nvSpPr>
        <p:spPr>
          <a:xfrm>
            <a:off x="0" y="708162"/>
            <a:ext cx="10933043" cy="6149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CECB603-745D-C99E-5C8A-069BCA65B65D}"/>
              </a:ext>
            </a:extLst>
          </p:cNvPr>
          <p:cNvSpPr/>
          <p:nvPr/>
        </p:nvSpPr>
        <p:spPr>
          <a:xfrm>
            <a:off x="6922616" y="1784890"/>
            <a:ext cx="3810635" cy="4927337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F7A291-C8D1-3BA1-A193-74B2937DF2AF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LỚP HỌC </a:t>
            </a:r>
            <a:r>
              <a:rPr lang="en-US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SE366.R11</a:t>
            </a:r>
            <a:endParaRPr lang="en-VN" sz="4800" b="1">
              <a:latin typeface="Corbel" panose="020B0503020204020204" pitchFamily="34" charset="0"/>
              <a:ea typeface="Brush Script MT" panose="03060802040406070304" pitchFamily="66" charset="-122"/>
              <a:cs typeface="Al Tarikh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C49438-086E-AE0F-A3CA-11EBB1DA1BFF}"/>
              </a:ext>
            </a:extLst>
          </p:cNvPr>
          <p:cNvSpPr txBox="1"/>
          <p:nvPr/>
        </p:nvSpPr>
        <p:spPr>
          <a:xfrm>
            <a:off x="7468474" y="2657308"/>
            <a:ext cx="28008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7h30 – 9h45 sáng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4 hàng tuần từ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07/09/2026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3DA986-D97F-1168-5439-D00164F0396E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B4.10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06F502-66EC-662D-01F4-667AF1D610A6}"/>
              </a:ext>
            </a:extLst>
          </p:cNvPr>
          <p:cNvSpPr txBox="1"/>
          <p:nvPr/>
        </p:nvSpPr>
        <p:spPr>
          <a:xfrm>
            <a:off x="7800812" y="1855551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E46EA5-AACE-0879-CC6F-C3768FEDB23A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1D5EB6-3615-5096-4C54-94EDEAE315F3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Lập trình cho máy tính lượng tử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9002DA-33BD-DF3F-30B2-3382C3416B0E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3363A5C8-A9CA-5025-A581-C69CA117341F}"/>
              </a:ext>
            </a:extLst>
          </p:cNvPr>
          <p:cNvSpPr/>
          <p:nvPr/>
        </p:nvSpPr>
        <p:spPr>
          <a:xfrm>
            <a:off x="546411" y="3268807"/>
            <a:ext cx="6775310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02C11-4D8E-CB00-0F39-55CE191E17E6}"/>
              </a:ext>
            </a:extLst>
          </p:cNvPr>
          <p:cNvSpPr txBox="1"/>
          <p:nvPr/>
        </p:nvSpPr>
        <p:spPr>
          <a:xfrm>
            <a:off x="1258957" y="3429000"/>
            <a:ext cx="59564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6600" b="1" i="1">
                <a:solidFill>
                  <a:schemeClr val="bg1"/>
                </a:solidFill>
              </a:rPr>
              <a:t>Buổi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2DFF36-93CA-98AB-7941-E3225AA6E6CF}"/>
              </a:ext>
            </a:extLst>
          </p:cNvPr>
          <p:cNvSpPr txBox="1"/>
          <p:nvPr/>
        </p:nvSpPr>
        <p:spPr>
          <a:xfrm>
            <a:off x="839388" y="4708013"/>
            <a:ext cx="55676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 i="1">
                <a:solidFill>
                  <a:schemeClr val="bg1"/>
                </a:solidFill>
              </a:rPr>
              <a:t>  Nội dung</a:t>
            </a:r>
            <a:r>
              <a:rPr lang="en-VN" sz="3200" i="1">
                <a:solidFill>
                  <a:schemeClr val="bg1"/>
                </a:solidFill>
              </a:rPr>
              <a:t>: </a:t>
            </a:r>
          </a:p>
          <a:p>
            <a:pPr marL="342900" indent="-342900">
              <a:buFontTx/>
              <a:buChar char="-"/>
            </a:pPr>
            <a:r>
              <a:rPr lang="en-VN" sz="3200" i="1">
                <a:solidFill>
                  <a:schemeClr val="bg1"/>
                </a:solidFill>
              </a:rPr>
              <a:t>Tính toán lượng tử cơ bản</a:t>
            </a:r>
          </a:p>
          <a:p>
            <a:pPr marL="342900" indent="-342900">
              <a:buFontTx/>
              <a:buChar char="-"/>
            </a:pPr>
            <a:r>
              <a:rPr lang="en-VN" sz="3200" i="1">
                <a:solidFill>
                  <a:schemeClr val="bg1"/>
                </a:solidFill>
              </a:rPr>
              <a:t>Cổng, mạch và phép đo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F0B99F-C65D-FF4C-D41C-112C5FCD2E15}"/>
              </a:ext>
            </a:extLst>
          </p:cNvPr>
          <p:cNvSpPr txBox="1"/>
          <p:nvPr/>
        </p:nvSpPr>
        <p:spPr>
          <a:xfrm>
            <a:off x="7215424" y="5261167"/>
            <a:ext cx="213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800" b="1" i="1">
                <a:solidFill>
                  <a:schemeClr val="bg1"/>
                </a:solidFill>
              </a:rPr>
              <a:t>ĐHQG TP. HCM</a:t>
            </a:r>
            <a:endParaRPr lang="en-VN" sz="2000" b="1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812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0B05-8599-E99F-ED33-E3A791546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E30686-5718-2701-42EB-44680D209C55}"/>
              </a:ext>
            </a:extLst>
          </p:cNvPr>
          <p:cNvSpPr>
            <a:spLocks noChangeAspect="1"/>
          </p:cNvSpPr>
          <p:nvPr/>
        </p:nvSpPr>
        <p:spPr>
          <a:xfrm>
            <a:off x="0" y="708162"/>
            <a:ext cx="10933043" cy="6149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01C48421-7EA5-6240-4533-DD0DF03BCCF5}"/>
              </a:ext>
            </a:extLst>
          </p:cNvPr>
          <p:cNvSpPr/>
          <p:nvPr/>
        </p:nvSpPr>
        <p:spPr>
          <a:xfrm>
            <a:off x="6922616" y="1784890"/>
            <a:ext cx="3810635" cy="4927337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10417-2353-D1BC-32E5-FF55A892668B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LỚP HỌC </a:t>
            </a:r>
            <a:r>
              <a:rPr lang="en-US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SE366.R11</a:t>
            </a:r>
            <a:endParaRPr lang="en-VN" sz="4800" b="1">
              <a:latin typeface="Corbel" panose="020B0503020204020204" pitchFamily="34" charset="0"/>
              <a:ea typeface="Brush Script MT" panose="03060802040406070304" pitchFamily="66" charset="-122"/>
              <a:cs typeface="Al Tarikh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0F90B8-01D3-D6A8-F715-A7512C468A9E}"/>
              </a:ext>
            </a:extLst>
          </p:cNvPr>
          <p:cNvSpPr txBox="1"/>
          <p:nvPr/>
        </p:nvSpPr>
        <p:spPr>
          <a:xfrm>
            <a:off x="7468474" y="2657308"/>
            <a:ext cx="28008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7h30 – 9h45 sáng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4 hàng tuần từ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07/09/2026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308CD1-9539-E932-9182-12E91AA98111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B4.10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3ED823-A5CF-FEC6-056E-7CD6DEBE9FE1}"/>
              </a:ext>
            </a:extLst>
          </p:cNvPr>
          <p:cNvSpPr txBox="1"/>
          <p:nvPr/>
        </p:nvSpPr>
        <p:spPr>
          <a:xfrm>
            <a:off x="7800812" y="1855551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E3031F-F6D4-BAD5-CD6D-667BFC993315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785ED5-A152-789D-89C3-3AC42EC83879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Lập trình cho máy tính lượng tử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5985F6-EA9B-B43B-D0C8-FEE1E5771B0C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6A79A9AD-FFA7-FBC5-9BCE-AD60EA348E71}"/>
              </a:ext>
            </a:extLst>
          </p:cNvPr>
          <p:cNvSpPr/>
          <p:nvPr/>
        </p:nvSpPr>
        <p:spPr>
          <a:xfrm>
            <a:off x="546411" y="3268807"/>
            <a:ext cx="6775310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36FFB4-DFA4-DC2A-577E-4624EBDF456F}"/>
              </a:ext>
            </a:extLst>
          </p:cNvPr>
          <p:cNvSpPr txBox="1"/>
          <p:nvPr/>
        </p:nvSpPr>
        <p:spPr>
          <a:xfrm>
            <a:off x="1258957" y="3429000"/>
            <a:ext cx="59564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6600" b="1" i="1">
                <a:solidFill>
                  <a:schemeClr val="bg1"/>
                </a:solidFill>
              </a:rPr>
              <a:t>Buổi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83CF36-0C95-E522-B4B1-719BE672F1B5}"/>
              </a:ext>
            </a:extLst>
          </p:cNvPr>
          <p:cNvSpPr txBox="1"/>
          <p:nvPr/>
        </p:nvSpPr>
        <p:spPr>
          <a:xfrm>
            <a:off x="839388" y="4708013"/>
            <a:ext cx="55676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 i="1">
                <a:solidFill>
                  <a:schemeClr val="bg1"/>
                </a:solidFill>
              </a:rPr>
              <a:t>  Nội dung</a:t>
            </a:r>
            <a:r>
              <a:rPr lang="en-VN" sz="3200" i="1">
                <a:solidFill>
                  <a:schemeClr val="bg1"/>
                </a:solidFill>
              </a:rPr>
              <a:t>: </a:t>
            </a:r>
          </a:p>
          <a:p>
            <a:pPr marL="342900" indent="-342900">
              <a:buFontTx/>
              <a:buChar char="-"/>
            </a:pPr>
            <a:r>
              <a:rPr lang="en-VN" sz="3200" i="1">
                <a:solidFill>
                  <a:schemeClr val="bg1"/>
                </a:solidFill>
              </a:rPr>
              <a:t>Thuật toán lượng tử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5B0155-20B7-8688-9C75-2631F0AD2760}"/>
              </a:ext>
            </a:extLst>
          </p:cNvPr>
          <p:cNvSpPr txBox="1"/>
          <p:nvPr/>
        </p:nvSpPr>
        <p:spPr>
          <a:xfrm>
            <a:off x="7215424" y="5261167"/>
            <a:ext cx="213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800" b="1" i="1">
                <a:solidFill>
                  <a:schemeClr val="bg1"/>
                </a:solidFill>
              </a:rPr>
              <a:t>ĐHQG TP. HCM</a:t>
            </a:r>
            <a:endParaRPr lang="en-VN" sz="2000" b="1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78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BA769-6711-26D7-D5FB-A7C494693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4928D9-1DF8-C9D1-1980-BC280E9A1612}"/>
              </a:ext>
            </a:extLst>
          </p:cNvPr>
          <p:cNvSpPr>
            <a:spLocks noChangeAspect="1"/>
          </p:cNvSpPr>
          <p:nvPr/>
        </p:nvSpPr>
        <p:spPr>
          <a:xfrm>
            <a:off x="0" y="708162"/>
            <a:ext cx="10933043" cy="6149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2D0642B-6AA9-291E-BCD3-20C6383E47D9}"/>
              </a:ext>
            </a:extLst>
          </p:cNvPr>
          <p:cNvSpPr/>
          <p:nvPr/>
        </p:nvSpPr>
        <p:spPr>
          <a:xfrm>
            <a:off x="6922616" y="1784890"/>
            <a:ext cx="3810635" cy="4927337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10A1C-38B3-F33D-B21B-E07F43497713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LỚP HỌC </a:t>
            </a:r>
            <a:r>
              <a:rPr lang="en-US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SE366.R11</a:t>
            </a:r>
            <a:endParaRPr lang="en-VN" sz="4800" b="1">
              <a:latin typeface="Corbel" panose="020B0503020204020204" pitchFamily="34" charset="0"/>
              <a:ea typeface="Brush Script MT" panose="03060802040406070304" pitchFamily="66" charset="-122"/>
              <a:cs typeface="Al Tarikh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F04F51-2372-1CDD-98D4-0520B048E1A5}"/>
              </a:ext>
            </a:extLst>
          </p:cNvPr>
          <p:cNvSpPr txBox="1"/>
          <p:nvPr/>
        </p:nvSpPr>
        <p:spPr>
          <a:xfrm>
            <a:off x="7468474" y="2657308"/>
            <a:ext cx="28008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7h30 – 9h45 sáng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4 hàng tuần từ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07/09/2026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F02E8E-9EE0-44BA-4AB6-4F73D1FA14E7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B4.10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227308-9CF0-03C8-7DB7-E64CEA348F67}"/>
              </a:ext>
            </a:extLst>
          </p:cNvPr>
          <p:cNvSpPr txBox="1"/>
          <p:nvPr/>
        </p:nvSpPr>
        <p:spPr>
          <a:xfrm>
            <a:off x="7800812" y="1855551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5656C5-8D76-72B1-52B1-2E88341924DD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AE456D-DA5A-A9E8-92B5-F2B44C459483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Lập trình cho máy tính lượng tử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208466-033E-E5EF-63E0-2D3EE4F573A6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9A9BF94D-FF16-096A-A5D6-68C451794605}"/>
              </a:ext>
            </a:extLst>
          </p:cNvPr>
          <p:cNvSpPr/>
          <p:nvPr/>
        </p:nvSpPr>
        <p:spPr>
          <a:xfrm>
            <a:off x="546411" y="3268807"/>
            <a:ext cx="6775310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52EB1-1750-44F2-46A6-1106968AA9AA}"/>
              </a:ext>
            </a:extLst>
          </p:cNvPr>
          <p:cNvSpPr txBox="1"/>
          <p:nvPr/>
        </p:nvSpPr>
        <p:spPr>
          <a:xfrm>
            <a:off x="1258957" y="3429000"/>
            <a:ext cx="59564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6600" b="1" i="1">
                <a:solidFill>
                  <a:schemeClr val="bg1"/>
                </a:solidFill>
              </a:rPr>
              <a:t>Buổi 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64658A-EF19-1CB8-C0E0-DDE052F718F0}"/>
              </a:ext>
            </a:extLst>
          </p:cNvPr>
          <p:cNvSpPr txBox="1"/>
          <p:nvPr/>
        </p:nvSpPr>
        <p:spPr>
          <a:xfrm>
            <a:off x="839388" y="4708013"/>
            <a:ext cx="55676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 i="1">
                <a:solidFill>
                  <a:schemeClr val="bg1"/>
                </a:solidFill>
              </a:rPr>
              <a:t>  Nội dung</a:t>
            </a:r>
            <a:r>
              <a:rPr lang="en-VN" sz="3200" i="1">
                <a:solidFill>
                  <a:schemeClr val="bg1"/>
                </a:solidFill>
              </a:rPr>
              <a:t>: </a:t>
            </a:r>
          </a:p>
          <a:p>
            <a:pPr marL="342900" indent="-342900">
              <a:buFontTx/>
              <a:buChar char="-"/>
            </a:pPr>
            <a:r>
              <a:rPr lang="en-VN" sz="3200" i="1">
                <a:solidFill>
                  <a:schemeClr val="bg1"/>
                </a:solidFill>
              </a:rPr>
              <a:t>Độ phức tạp lượng tử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46474C-A0A1-7677-6649-0E5466DDE624}"/>
              </a:ext>
            </a:extLst>
          </p:cNvPr>
          <p:cNvSpPr txBox="1"/>
          <p:nvPr/>
        </p:nvSpPr>
        <p:spPr>
          <a:xfrm>
            <a:off x="7215424" y="5261167"/>
            <a:ext cx="213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800" b="1" i="1">
                <a:solidFill>
                  <a:schemeClr val="bg1"/>
                </a:solidFill>
              </a:rPr>
              <a:t>ĐHQG TP. HCM</a:t>
            </a:r>
            <a:endParaRPr lang="en-VN" sz="2000" b="1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93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7A99C-A57E-F9A1-BA58-EC15DA232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1FCA02-FDF0-849C-E056-EEB565406F96}"/>
              </a:ext>
            </a:extLst>
          </p:cNvPr>
          <p:cNvSpPr>
            <a:spLocks noChangeAspect="1"/>
          </p:cNvSpPr>
          <p:nvPr/>
        </p:nvSpPr>
        <p:spPr>
          <a:xfrm>
            <a:off x="0" y="708162"/>
            <a:ext cx="10933043" cy="6149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B4572497-6E85-F819-8149-EDFFEB75DA6A}"/>
              </a:ext>
            </a:extLst>
          </p:cNvPr>
          <p:cNvSpPr/>
          <p:nvPr/>
        </p:nvSpPr>
        <p:spPr>
          <a:xfrm>
            <a:off x="6922616" y="1784890"/>
            <a:ext cx="3810635" cy="4927337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5051F-32A5-D422-8B4C-D9CC2F89532A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LỚP HỌC </a:t>
            </a:r>
            <a:r>
              <a:rPr lang="en-US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SE366.R11</a:t>
            </a:r>
            <a:endParaRPr lang="en-VN" sz="4800" b="1">
              <a:latin typeface="Corbel" panose="020B0503020204020204" pitchFamily="34" charset="0"/>
              <a:ea typeface="Brush Script MT" panose="03060802040406070304" pitchFamily="66" charset="-122"/>
              <a:cs typeface="Al Tarikh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264723-F640-E17A-7D8F-7DB4E59BC47F}"/>
              </a:ext>
            </a:extLst>
          </p:cNvPr>
          <p:cNvSpPr txBox="1"/>
          <p:nvPr/>
        </p:nvSpPr>
        <p:spPr>
          <a:xfrm>
            <a:off x="7468474" y="2657308"/>
            <a:ext cx="28008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7h30 – 9h45 sáng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4 hàng tuần từ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07/09/2026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E6444A-B15A-290F-0203-F3F479F89319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B4.10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A64EE-8E4F-7A3D-E11F-30F8217C3BC2}"/>
              </a:ext>
            </a:extLst>
          </p:cNvPr>
          <p:cNvSpPr txBox="1"/>
          <p:nvPr/>
        </p:nvSpPr>
        <p:spPr>
          <a:xfrm>
            <a:off x="7800812" y="1855551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7AD66B-AD61-3406-CBF1-ACF19BDA4FD3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E1F79B-A59C-2FE0-A266-0F75B77CF101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Lập trình cho máy tính lượng tử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A6994-1514-B162-0CD8-76432A00CD0F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29C3A471-01F6-25CF-3249-AAC366F23F76}"/>
              </a:ext>
            </a:extLst>
          </p:cNvPr>
          <p:cNvSpPr/>
          <p:nvPr/>
        </p:nvSpPr>
        <p:spPr>
          <a:xfrm>
            <a:off x="546411" y="3268807"/>
            <a:ext cx="6775310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BB7BB-9E48-C3BF-EEFC-0C9012B035EA}"/>
              </a:ext>
            </a:extLst>
          </p:cNvPr>
          <p:cNvSpPr txBox="1"/>
          <p:nvPr/>
        </p:nvSpPr>
        <p:spPr>
          <a:xfrm>
            <a:off x="1258957" y="3429000"/>
            <a:ext cx="59564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6600" b="1" i="1">
                <a:solidFill>
                  <a:schemeClr val="bg1"/>
                </a:solidFill>
              </a:rPr>
              <a:t>Buổi 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272241-F87B-7141-674D-4231E1458A35}"/>
              </a:ext>
            </a:extLst>
          </p:cNvPr>
          <p:cNvSpPr txBox="1"/>
          <p:nvPr/>
        </p:nvSpPr>
        <p:spPr>
          <a:xfrm>
            <a:off x="839388" y="4708013"/>
            <a:ext cx="55676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 i="1">
                <a:solidFill>
                  <a:schemeClr val="bg1"/>
                </a:solidFill>
              </a:rPr>
              <a:t>  Nội dung</a:t>
            </a:r>
            <a:r>
              <a:rPr lang="en-VN" sz="3200" i="1">
                <a:solidFill>
                  <a:schemeClr val="bg1"/>
                </a:solidFill>
              </a:rPr>
              <a:t>: </a:t>
            </a:r>
          </a:p>
          <a:p>
            <a:pPr marL="342900" indent="-342900">
              <a:buFontTx/>
              <a:buChar char="-"/>
            </a:pPr>
            <a:r>
              <a:rPr lang="en-VN" sz="3200" i="1">
                <a:solidFill>
                  <a:schemeClr val="bg1"/>
                </a:solidFill>
              </a:rPr>
              <a:t>Quantum gradient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A3ED81-37D4-EB0F-95DD-B5C7EB1F0774}"/>
              </a:ext>
            </a:extLst>
          </p:cNvPr>
          <p:cNvSpPr txBox="1"/>
          <p:nvPr/>
        </p:nvSpPr>
        <p:spPr>
          <a:xfrm>
            <a:off x="7215424" y="5261167"/>
            <a:ext cx="213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800" b="1" i="1">
                <a:solidFill>
                  <a:schemeClr val="bg1"/>
                </a:solidFill>
              </a:rPr>
              <a:t>ĐHQG TP. HCM</a:t>
            </a:r>
            <a:endParaRPr lang="en-VN" sz="2000" b="1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225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388B-A8FB-85AD-BFC8-43259B39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02ED4D-9A06-3D39-9419-3E375CD32A31}"/>
              </a:ext>
            </a:extLst>
          </p:cNvPr>
          <p:cNvSpPr>
            <a:spLocks noChangeAspect="1"/>
          </p:cNvSpPr>
          <p:nvPr/>
        </p:nvSpPr>
        <p:spPr>
          <a:xfrm>
            <a:off x="0" y="708162"/>
            <a:ext cx="10933043" cy="6149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E306742D-CBAF-980F-DCCB-A6F8A7F1191A}"/>
              </a:ext>
            </a:extLst>
          </p:cNvPr>
          <p:cNvSpPr/>
          <p:nvPr/>
        </p:nvSpPr>
        <p:spPr>
          <a:xfrm>
            <a:off x="6922616" y="1784890"/>
            <a:ext cx="3810635" cy="4927337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8AA8C5-C509-06FE-7D3A-71448B772A07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LỚP HỌC </a:t>
            </a:r>
            <a:r>
              <a:rPr lang="en-US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SE366.R11</a:t>
            </a:r>
            <a:endParaRPr lang="en-VN" sz="4800" b="1">
              <a:latin typeface="Corbel" panose="020B0503020204020204" pitchFamily="34" charset="0"/>
              <a:ea typeface="Brush Script MT" panose="03060802040406070304" pitchFamily="66" charset="-122"/>
              <a:cs typeface="Al Tarikh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C4848C-E76A-0C85-D5A5-C3E6FC7FF2B5}"/>
              </a:ext>
            </a:extLst>
          </p:cNvPr>
          <p:cNvSpPr txBox="1"/>
          <p:nvPr/>
        </p:nvSpPr>
        <p:spPr>
          <a:xfrm>
            <a:off x="7468474" y="2657308"/>
            <a:ext cx="292010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7h30 – 11h15 sáng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2 ngày  28/09/2026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5F6C17-C05C-B5C1-8B20-A90599EA59B3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C210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433EC8-0A81-9071-820C-125AB496B85D}"/>
              </a:ext>
            </a:extLst>
          </p:cNvPr>
          <p:cNvSpPr txBox="1"/>
          <p:nvPr/>
        </p:nvSpPr>
        <p:spPr>
          <a:xfrm>
            <a:off x="7800812" y="1855551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3F2393-9D1E-0B69-6B0F-F3537148A961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8946D7-FA33-5B5F-765F-E395630EECE0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Lập trình cho máy tính lượng tử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94C940-FA0F-C835-0B22-E4299C547C8F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C10EF3E3-03D1-3CE3-A5C0-F0D78DFE61DE}"/>
              </a:ext>
            </a:extLst>
          </p:cNvPr>
          <p:cNvSpPr/>
          <p:nvPr/>
        </p:nvSpPr>
        <p:spPr>
          <a:xfrm>
            <a:off x="546411" y="3268807"/>
            <a:ext cx="6775310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1C050-6819-493B-01AB-E9998C673B16}"/>
              </a:ext>
            </a:extLst>
          </p:cNvPr>
          <p:cNvSpPr txBox="1"/>
          <p:nvPr/>
        </p:nvSpPr>
        <p:spPr>
          <a:xfrm>
            <a:off x="1258957" y="3429000"/>
            <a:ext cx="59564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6600" b="1" i="1">
                <a:solidFill>
                  <a:schemeClr val="bg1"/>
                </a:solidFill>
              </a:rPr>
              <a:t>Seminar #1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30B3FA-555E-180E-E091-5E4065D6E11E}"/>
              </a:ext>
            </a:extLst>
          </p:cNvPr>
          <p:cNvSpPr txBox="1"/>
          <p:nvPr/>
        </p:nvSpPr>
        <p:spPr>
          <a:xfrm>
            <a:off x="839388" y="4708013"/>
            <a:ext cx="55676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 i="1">
                <a:solidFill>
                  <a:schemeClr val="bg1"/>
                </a:solidFill>
              </a:rPr>
              <a:t>  Nội dung</a:t>
            </a:r>
            <a:r>
              <a:rPr lang="en-VN" sz="3200" i="1">
                <a:solidFill>
                  <a:schemeClr val="bg1"/>
                </a:solidFill>
              </a:rPr>
              <a:t>: </a:t>
            </a:r>
          </a:p>
          <a:p>
            <a:pPr marL="342900" indent="-342900">
              <a:buFontTx/>
              <a:buChar char="-"/>
            </a:pPr>
            <a:r>
              <a:rPr lang="en-VN" sz="3200" i="1">
                <a:solidFill>
                  <a:schemeClr val="bg1"/>
                </a:solidFill>
              </a:rPr>
              <a:t>Quantum transpilation</a:t>
            </a:r>
          </a:p>
          <a:p>
            <a:pPr marL="342900" indent="-342900">
              <a:buFontTx/>
              <a:buChar char="-"/>
            </a:pPr>
            <a:r>
              <a:rPr lang="en-VN" sz="3200" i="1">
                <a:solidFill>
                  <a:schemeClr val="bg1"/>
                </a:solidFill>
              </a:rPr>
              <a:t>Các phương pháp tối ưu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49AF4-BA30-ECF0-EF3D-2CB8610323F5}"/>
              </a:ext>
            </a:extLst>
          </p:cNvPr>
          <p:cNvSpPr txBox="1"/>
          <p:nvPr/>
        </p:nvSpPr>
        <p:spPr>
          <a:xfrm>
            <a:off x="7215424" y="5261167"/>
            <a:ext cx="213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800" b="1" i="1">
                <a:solidFill>
                  <a:schemeClr val="bg1"/>
                </a:solidFill>
              </a:rPr>
              <a:t>ĐHQG TP. HCM</a:t>
            </a:r>
            <a:endParaRPr lang="en-VN" sz="2000" b="1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95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EBC4-AB5E-7C56-167B-A473ED57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414F23-9DCC-795B-9750-565169EB2AB4}"/>
              </a:ext>
            </a:extLst>
          </p:cNvPr>
          <p:cNvSpPr>
            <a:spLocks noChangeAspect="1"/>
          </p:cNvSpPr>
          <p:nvPr/>
        </p:nvSpPr>
        <p:spPr>
          <a:xfrm>
            <a:off x="0" y="708162"/>
            <a:ext cx="10933043" cy="6149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02F0628-B085-8DA2-C0A6-8CCEC0ADD59C}"/>
              </a:ext>
            </a:extLst>
          </p:cNvPr>
          <p:cNvSpPr/>
          <p:nvPr/>
        </p:nvSpPr>
        <p:spPr>
          <a:xfrm>
            <a:off x="6922616" y="1784890"/>
            <a:ext cx="3810635" cy="4927337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CE76A9-810C-FFA6-1CF9-4FFBD64BED8A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LỚP HỌC </a:t>
            </a:r>
            <a:r>
              <a:rPr lang="en-US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SE366.R11</a:t>
            </a:r>
            <a:endParaRPr lang="en-VN" sz="4800" b="1">
              <a:latin typeface="Corbel" panose="020B0503020204020204" pitchFamily="34" charset="0"/>
              <a:ea typeface="Brush Script MT" panose="03060802040406070304" pitchFamily="66" charset="-122"/>
              <a:cs typeface="Al Tarikh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917B2-13EA-7A40-976A-F65FD8BD5D1F}"/>
              </a:ext>
            </a:extLst>
          </p:cNvPr>
          <p:cNvSpPr txBox="1"/>
          <p:nvPr/>
        </p:nvSpPr>
        <p:spPr>
          <a:xfrm>
            <a:off x="7468474" y="2657308"/>
            <a:ext cx="292010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13h00 – 16h30 chiều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2 ngày  26/10/2026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F9AD0-0DD7-4873-8F90-B60992850E8D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C206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490F4D-2FD7-8A25-89B3-98511EF2B05C}"/>
              </a:ext>
            </a:extLst>
          </p:cNvPr>
          <p:cNvSpPr txBox="1"/>
          <p:nvPr/>
        </p:nvSpPr>
        <p:spPr>
          <a:xfrm>
            <a:off x="7800812" y="1855551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F4665A-C17D-B985-BAB1-CA40C418B965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C5C121-541D-AA3D-8AFC-E2DCEDE5010D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Lập trình cho máy tính lượng tử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FA618C-79F6-0654-99B0-6DAF5A929834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414BAB36-1DAC-2B64-2EB7-E0BA161ADDC9}"/>
              </a:ext>
            </a:extLst>
          </p:cNvPr>
          <p:cNvSpPr/>
          <p:nvPr/>
        </p:nvSpPr>
        <p:spPr>
          <a:xfrm>
            <a:off x="546411" y="3268807"/>
            <a:ext cx="6775310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38754-190A-079C-5BF5-3187DDD764D6}"/>
              </a:ext>
            </a:extLst>
          </p:cNvPr>
          <p:cNvSpPr txBox="1"/>
          <p:nvPr/>
        </p:nvSpPr>
        <p:spPr>
          <a:xfrm>
            <a:off x="1258957" y="3429000"/>
            <a:ext cx="59564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6600" b="1" i="1">
                <a:solidFill>
                  <a:schemeClr val="bg1"/>
                </a:solidFill>
              </a:rPr>
              <a:t>Seminar #2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9DE13E-EE80-85DE-8434-FB4262566617}"/>
              </a:ext>
            </a:extLst>
          </p:cNvPr>
          <p:cNvSpPr txBox="1"/>
          <p:nvPr/>
        </p:nvSpPr>
        <p:spPr>
          <a:xfrm>
            <a:off x="839387" y="4708013"/>
            <a:ext cx="59564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 i="1">
                <a:solidFill>
                  <a:schemeClr val="bg1"/>
                </a:solidFill>
              </a:rPr>
              <a:t>  Nội dung</a:t>
            </a:r>
            <a:r>
              <a:rPr lang="en-VN" sz="3200" i="1">
                <a:solidFill>
                  <a:schemeClr val="bg1"/>
                </a:solidFill>
              </a:rPr>
              <a:t>: </a:t>
            </a:r>
          </a:p>
          <a:p>
            <a:r>
              <a:rPr lang="en-VN" sz="3200" i="1">
                <a:solidFill>
                  <a:schemeClr val="bg1"/>
                </a:solidFill>
              </a:rPr>
              <a:t>Software packages for quantum machine learning projects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DF805D-AD2D-986B-DA84-3927BDEDE026}"/>
              </a:ext>
            </a:extLst>
          </p:cNvPr>
          <p:cNvSpPr txBox="1"/>
          <p:nvPr/>
        </p:nvSpPr>
        <p:spPr>
          <a:xfrm>
            <a:off x="7215424" y="5261167"/>
            <a:ext cx="213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800" b="1" i="1">
                <a:solidFill>
                  <a:schemeClr val="bg1"/>
                </a:solidFill>
              </a:rPr>
              <a:t>ĐHQG TP. HCM</a:t>
            </a:r>
            <a:endParaRPr lang="en-VN" sz="2000" b="1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521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57FF7-B863-EAB4-1EFF-8C30332C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F0745E-F7F0-0BD9-37BB-E80800B78734}"/>
              </a:ext>
            </a:extLst>
          </p:cNvPr>
          <p:cNvSpPr>
            <a:spLocks noChangeAspect="1"/>
          </p:cNvSpPr>
          <p:nvPr/>
        </p:nvSpPr>
        <p:spPr>
          <a:xfrm>
            <a:off x="0" y="708162"/>
            <a:ext cx="10933043" cy="6149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01212818-6033-E1DA-18E3-1A0ADFC3569B}"/>
              </a:ext>
            </a:extLst>
          </p:cNvPr>
          <p:cNvSpPr/>
          <p:nvPr/>
        </p:nvSpPr>
        <p:spPr>
          <a:xfrm>
            <a:off x="6922616" y="1784890"/>
            <a:ext cx="3810635" cy="4927337"/>
          </a:xfrm>
          <a:prstGeom prst="parallelogram">
            <a:avLst>
              <a:gd name="adj" fmla="val 254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EE8C5-B9BF-DEF0-CE49-2255E60F3FE4}"/>
              </a:ext>
            </a:extLst>
          </p:cNvPr>
          <p:cNvSpPr txBox="1"/>
          <p:nvPr/>
        </p:nvSpPr>
        <p:spPr>
          <a:xfrm>
            <a:off x="323770" y="1442964"/>
            <a:ext cx="6719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LỚP HỌC </a:t>
            </a:r>
            <a:r>
              <a:rPr lang="en-US" sz="4800" b="1">
                <a:latin typeface="Corbel" panose="020B0503020204020204" pitchFamily="34" charset="0"/>
                <a:ea typeface="Brush Script MT" panose="03060802040406070304" pitchFamily="66" charset="-122"/>
                <a:cs typeface="Al Tarikh" pitchFamily="2" charset="-78"/>
              </a:rPr>
              <a:t>SE366.R11</a:t>
            </a:r>
            <a:endParaRPr lang="en-VN" sz="4800" b="1">
              <a:latin typeface="Corbel" panose="020B0503020204020204" pitchFamily="34" charset="0"/>
              <a:ea typeface="Brush Script MT" panose="03060802040406070304" pitchFamily="66" charset="-122"/>
              <a:cs typeface="Al Tarikh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D4CB06-5169-3A6A-C747-58B55C23E45B}"/>
              </a:ext>
            </a:extLst>
          </p:cNvPr>
          <p:cNvSpPr txBox="1"/>
          <p:nvPr/>
        </p:nvSpPr>
        <p:spPr>
          <a:xfrm>
            <a:off x="7468474" y="2657308"/>
            <a:ext cx="292010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  Thời gian: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  </a:t>
            </a:r>
            <a:r>
              <a:rPr lang="en-VN" sz="2000" b="1" i="1">
                <a:solidFill>
                  <a:schemeClr val="bg1"/>
                </a:solidFill>
              </a:rPr>
              <a:t>13h00 – 16h30 chiều 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  Thứ 2 ngày  30/11/2026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DBBD67-8A04-93AC-D06A-5413264B6D63}"/>
              </a:ext>
            </a:extLst>
          </p:cNvPr>
          <p:cNvSpPr txBox="1"/>
          <p:nvPr/>
        </p:nvSpPr>
        <p:spPr>
          <a:xfrm>
            <a:off x="7305954" y="4185745"/>
            <a:ext cx="258776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Địa điểm: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C201</a:t>
            </a:r>
          </a:p>
          <a:p>
            <a:r>
              <a:rPr lang="en-VN" sz="2000" b="1" i="1">
                <a:solidFill>
                  <a:schemeClr val="bg1"/>
                </a:solidFill>
              </a:rPr>
              <a:t>Đại học CNTT (UIT),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A5EE3-E261-4800-A4EB-D75FF579ADC5}"/>
              </a:ext>
            </a:extLst>
          </p:cNvPr>
          <p:cNvSpPr txBox="1"/>
          <p:nvPr/>
        </p:nvSpPr>
        <p:spPr>
          <a:xfrm>
            <a:off x="7800812" y="1855551"/>
            <a:ext cx="2587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 i="1">
                <a:solidFill>
                  <a:schemeClr val="bg1"/>
                </a:solidFill>
              </a:rPr>
              <a:t>  Hình thức:</a:t>
            </a:r>
          </a:p>
          <a:p>
            <a:r>
              <a:rPr lang="en-VN" sz="2400" b="1" i="1">
                <a:solidFill>
                  <a:schemeClr val="bg1"/>
                </a:solidFill>
              </a:rPr>
              <a:t> </a:t>
            </a:r>
            <a:r>
              <a:rPr lang="en-VN" sz="2000" b="1" i="1">
                <a:solidFill>
                  <a:schemeClr val="bg1"/>
                </a:solidFill>
              </a:rPr>
              <a:t>Trực tiếp</a:t>
            </a:r>
            <a:endParaRPr lang="en-VN" sz="2400" b="1" i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C7CE3B-4F04-36C6-6D9C-2F5F852D482D}"/>
              </a:ext>
            </a:extLst>
          </p:cNvPr>
          <p:cNvSpPr/>
          <p:nvPr/>
        </p:nvSpPr>
        <p:spPr>
          <a:xfrm>
            <a:off x="6922617" y="6324296"/>
            <a:ext cx="2955334" cy="171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2EB72E-9B35-C672-F607-0D0CF83A8451}"/>
              </a:ext>
            </a:extLst>
          </p:cNvPr>
          <p:cNvSpPr txBox="1"/>
          <p:nvPr/>
        </p:nvSpPr>
        <p:spPr>
          <a:xfrm>
            <a:off x="323769" y="2352965"/>
            <a:ext cx="7184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Lập trình cho máy tính lượng tử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F07E11-0779-7B27-CFD8-0CBC9408369A}"/>
              </a:ext>
            </a:extLst>
          </p:cNvPr>
          <p:cNvSpPr/>
          <p:nvPr/>
        </p:nvSpPr>
        <p:spPr>
          <a:xfrm>
            <a:off x="411572" y="2235581"/>
            <a:ext cx="6115351" cy="621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33F374EB-E25C-4027-D0DB-45CCE02C6242}"/>
              </a:ext>
            </a:extLst>
          </p:cNvPr>
          <p:cNvSpPr/>
          <p:nvPr/>
        </p:nvSpPr>
        <p:spPr>
          <a:xfrm>
            <a:off x="546411" y="3268807"/>
            <a:ext cx="6775310" cy="3055489"/>
          </a:xfrm>
          <a:prstGeom prst="parallelogram">
            <a:avLst>
              <a:gd name="adj" fmla="val 166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DC9E6-C306-66AF-F801-30C006BBE40C}"/>
              </a:ext>
            </a:extLst>
          </p:cNvPr>
          <p:cNvSpPr txBox="1"/>
          <p:nvPr/>
        </p:nvSpPr>
        <p:spPr>
          <a:xfrm>
            <a:off x="1258957" y="3429000"/>
            <a:ext cx="59564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6600" b="1" i="1">
                <a:solidFill>
                  <a:schemeClr val="bg1"/>
                </a:solidFill>
              </a:rPr>
              <a:t>Seminar #3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72595B-747D-3844-1504-DA20EDCCD612}"/>
              </a:ext>
            </a:extLst>
          </p:cNvPr>
          <p:cNvSpPr txBox="1"/>
          <p:nvPr/>
        </p:nvSpPr>
        <p:spPr>
          <a:xfrm>
            <a:off x="839387" y="4708013"/>
            <a:ext cx="59564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 i="1">
                <a:solidFill>
                  <a:schemeClr val="bg1"/>
                </a:solidFill>
              </a:rPr>
              <a:t>  Nội dung</a:t>
            </a:r>
            <a:r>
              <a:rPr lang="en-VN" sz="3200" i="1">
                <a:solidFill>
                  <a:schemeClr val="bg1"/>
                </a:solidFill>
              </a:rPr>
              <a:t>: </a:t>
            </a:r>
          </a:p>
          <a:p>
            <a:r>
              <a:rPr lang="en-VN" sz="3200" i="1">
                <a:solidFill>
                  <a:schemeClr val="bg1"/>
                </a:solidFill>
              </a:rPr>
              <a:t>Software packages for quantum tomography problems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47E041-A84F-3DAC-682E-02FFF81443B5}"/>
              </a:ext>
            </a:extLst>
          </p:cNvPr>
          <p:cNvSpPr txBox="1"/>
          <p:nvPr/>
        </p:nvSpPr>
        <p:spPr>
          <a:xfrm>
            <a:off x="7215424" y="5261167"/>
            <a:ext cx="213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800" b="1" i="1">
                <a:solidFill>
                  <a:schemeClr val="bg1"/>
                </a:solidFill>
              </a:rPr>
              <a:t>ĐHQG TP. HCM</a:t>
            </a:r>
            <a:endParaRPr lang="en-VN" sz="2000" b="1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886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305FF5B-75E5-026E-8C01-2EBFA3C8B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828" y="3736714"/>
            <a:ext cx="5312229" cy="257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998508-3C5A-ED14-4112-68C6D2D7F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87491" y="1933993"/>
            <a:ext cx="1008509" cy="971461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0187CE6-E06B-C5B8-EB61-2631B9169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859" y="2419724"/>
            <a:ext cx="4005943" cy="1403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728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1637A-1F19-24AC-3D14-84F707B3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AB47C8-C3DA-32A4-5CB1-BC839A151024}"/>
              </a:ext>
            </a:extLst>
          </p:cNvPr>
          <p:cNvSpPr txBox="1"/>
          <p:nvPr/>
        </p:nvSpPr>
        <p:spPr>
          <a:xfrm>
            <a:off x="2998155" y="3001265"/>
            <a:ext cx="2924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at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D646CE-B835-05BA-EF65-718E38E34B44}"/>
              </a:ext>
            </a:extLst>
          </p:cNvPr>
          <p:cNvCxnSpPr>
            <a:cxnSpLocks/>
          </p:cNvCxnSpPr>
          <p:nvPr/>
        </p:nvCxnSpPr>
        <p:spPr>
          <a:xfrm>
            <a:off x="3058348" y="3859724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1865B243-2E62-7036-6362-FFB6D5703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7" t="30055" r="46494"/>
          <a:stretch>
            <a:fillRect/>
          </a:stretch>
        </p:blipFill>
        <p:spPr bwMode="auto">
          <a:xfrm>
            <a:off x="3792639" y="3593186"/>
            <a:ext cx="2130053" cy="164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2905CBCA-0B73-D533-1636-7AA7BDD67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193" y="2782154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D8E85B-B4F5-664F-6C6A-9E658467F7EE}"/>
              </a:ext>
            </a:extLst>
          </p:cNvPr>
          <p:cNvCxnSpPr>
            <a:cxnSpLocks/>
          </p:cNvCxnSpPr>
          <p:nvPr/>
        </p:nvCxnSpPr>
        <p:spPr>
          <a:xfrm>
            <a:off x="3792639" y="3532544"/>
            <a:ext cx="194314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4">
            <a:extLst>
              <a:ext uri="{FF2B5EF4-FFF2-40B4-BE49-F238E27FC236}">
                <a16:creationId xmlns:a16="http://schemas.microsoft.com/office/drawing/2014/main" id="{0F2F06EE-6996-4C3A-3A1F-0C481A1F62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6" t="30055"/>
          <a:stretch>
            <a:fillRect/>
          </a:stretch>
        </p:blipFill>
        <p:spPr bwMode="auto">
          <a:xfrm>
            <a:off x="2969285" y="3842486"/>
            <a:ext cx="1651572" cy="123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E5D081-A154-AACD-D8D3-87DA99EE8775}"/>
              </a:ext>
            </a:extLst>
          </p:cNvPr>
          <p:cNvCxnSpPr>
            <a:cxnSpLocks/>
          </p:cNvCxnSpPr>
          <p:nvPr/>
        </p:nvCxnSpPr>
        <p:spPr>
          <a:xfrm flipV="1">
            <a:off x="3657600" y="3532544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09EFA628-4CA9-4D18-FBDF-87562EC49C64}"/>
              </a:ext>
            </a:extLst>
          </p:cNvPr>
          <p:cNvSpPr>
            <a:spLocks noChangeAspect="1"/>
          </p:cNvSpPr>
          <p:nvPr/>
        </p:nvSpPr>
        <p:spPr>
          <a:xfrm>
            <a:off x="2530193" y="2005149"/>
            <a:ext cx="3600000" cy="360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721646-0307-3211-1525-AF564E89E617}"/>
              </a:ext>
            </a:extLst>
          </p:cNvPr>
          <p:cNvSpPr txBox="1"/>
          <p:nvPr/>
        </p:nvSpPr>
        <p:spPr>
          <a:xfrm>
            <a:off x="6563962" y="886087"/>
            <a:ext cx="2924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at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263DCEF-0BA2-2E6A-B12C-20AABE640983}"/>
              </a:ext>
            </a:extLst>
          </p:cNvPr>
          <p:cNvCxnSpPr>
            <a:cxnSpLocks/>
          </p:cNvCxnSpPr>
          <p:nvPr/>
        </p:nvCxnSpPr>
        <p:spPr>
          <a:xfrm>
            <a:off x="6624155" y="1744546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Picture 4">
            <a:extLst>
              <a:ext uri="{FF2B5EF4-FFF2-40B4-BE49-F238E27FC236}">
                <a16:creationId xmlns:a16="http://schemas.microsoft.com/office/drawing/2014/main" id="{E23ED1E3-77E7-68B1-F6CB-F4DCB55C2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8" t="30055" r="-1247"/>
          <a:stretch>
            <a:fillRect/>
          </a:stretch>
        </p:blipFill>
        <p:spPr bwMode="auto">
          <a:xfrm>
            <a:off x="7404034" y="1509459"/>
            <a:ext cx="3600000" cy="133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78EC61E-9B4C-3C63-F94D-D5F65CAE0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66976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5662120-3115-9C76-3124-3A9EB85B7A5F}"/>
              </a:ext>
            </a:extLst>
          </p:cNvPr>
          <p:cNvCxnSpPr>
            <a:cxnSpLocks/>
          </p:cNvCxnSpPr>
          <p:nvPr/>
        </p:nvCxnSpPr>
        <p:spPr>
          <a:xfrm>
            <a:off x="7358446" y="1417366"/>
            <a:ext cx="194314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D7E5E5C-F220-9AD3-8807-1EF6210B9D75}"/>
              </a:ext>
            </a:extLst>
          </p:cNvPr>
          <p:cNvCxnSpPr>
            <a:cxnSpLocks/>
          </p:cNvCxnSpPr>
          <p:nvPr/>
        </p:nvCxnSpPr>
        <p:spPr>
          <a:xfrm flipV="1">
            <a:off x="7223407" y="1417366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C31E8CF-42E5-F79F-EBE8-2C4E2FD3C368}"/>
              </a:ext>
            </a:extLst>
          </p:cNvPr>
          <p:cNvSpPr>
            <a:spLocks noChangeAspect="1"/>
          </p:cNvSpPr>
          <p:nvPr/>
        </p:nvSpPr>
        <p:spPr>
          <a:xfrm>
            <a:off x="6096000" y="-110029"/>
            <a:ext cx="3600000" cy="360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01042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27">
            <a:extLst>
              <a:ext uri="{FF2B5EF4-FFF2-40B4-BE49-F238E27FC236}">
                <a16:creationId xmlns:a16="http://schemas.microsoft.com/office/drawing/2014/main" id="{E7D69FF8-3445-E923-C0B3-80C854FEF365}"/>
              </a:ext>
            </a:extLst>
          </p:cNvPr>
          <p:cNvSpPr/>
          <p:nvPr/>
        </p:nvSpPr>
        <p:spPr>
          <a:xfrm>
            <a:off x="4901729" y="633708"/>
            <a:ext cx="2884554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ounded Rectangle 19">
            <a:extLst>
              <a:ext uri="{FF2B5EF4-FFF2-40B4-BE49-F238E27FC236}">
                <a16:creationId xmlns:a16="http://schemas.microsoft.com/office/drawing/2014/main" id="{A74BECE9-AD52-BF0A-1EE5-11B4151FBE00}"/>
              </a:ext>
            </a:extLst>
          </p:cNvPr>
          <p:cNvSpPr/>
          <p:nvPr/>
        </p:nvSpPr>
        <p:spPr>
          <a:xfrm>
            <a:off x="8765296" y="2766196"/>
            <a:ext cx="2276009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64BDF933-FEDF-FE3D-5B6A-187CDDFE793C}"/>
              </a:ext>
            </a:extLst>
          </p:cNvPr>
          <p:cNvSpPr/>
          <p:nvPr/>
        </p:nvSpPr>
        <p:spPr>
          <a:xfrm>
            <a:off x="4911084" y="2758029"/>
            <a:ext cx="2890802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A15D58BA-E347-BDD1-76D8-65D3C10A5210}"/>
              </a:ext>
            </a:extLst>
          </p:cNvPr>
          <p:cNvSpPr/>
          <p:nvPr/>
        </p:nvSpPr>
        <p:spPr>
          <a:xfrm>
            <a:off x="1713890" y="2748457"/>
            <a:ext cx="2308860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49FC13-801D-B378-CB31-5362A33A88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" r="9625" b="1390"/>
          <a:stretch/>
        </p:blipFill>
        <p:spPr>
          <a:xfrm rot="16200000">
            <a:off x="9221151" y="2324330"/>
            <a:ext cx="1364302" cy="2276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E52E97-AD1B-C265-158D-2939EA9299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" t="7019" r="-67" b="31993"/>
          <a:stretch>
            <a:fillRect/>
          </a:stretch>
        </p:blipFill>
        <p:spPr>
          <a:xfrm>
            <a:off x="4903099" y="2731104"/>
            <a:ext cx="2898787" cy="13381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6E1724-52F2-EF5D-4BAC-14D059BEEB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890" y="2727393"/>
            <a:ext cx="2298163" cy="1364302"/>
          </a:xfrm>
          <a:prstGeom prst="rect">
            <a:avLst/>
          </a:prstGeom>
        </p:spPr>
      </p:pic>
      <p:pic>
        <p:nvPicPr>
          <p:cNvPr id="11" name="Picture 2" descr="Không có mô tả ảnh.">
            <a:extLst>
              <a:ext uri="{FF2B5EF4-FFF2-40B4-BE49-F238E27FC236}">
                <a16:creationId xmlns:a16="http://schemas.microsoft.com/office/drawing/2014/main" id="{5F1148C0-94C7-6D36-BD9D-4265DE28F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690281" y="-153375"/>
            <a:ext cx="1313191" cy="287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A2E03A-2062-04E9-ED94-56DEEFAD827C}"/>
              </a:ext>
            </a:extLst>
          </p:cNvPr>
          <p:cNvCxnSpPr>
            <a:cxnSpLocks/>
          </p:cNvCxnSpPr>
          <p:nvPr/>
        </p:nvCxnSpPr>
        <p:spPr>
          <a:xfrm>
            <a:off x="-809626" y="2608118"/>
            <a:ext cx="11850929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74EAB1-6567-2EB9-BB40-4D04EC2E294F}"/>
              </a:ext>
            </a:extLst>
          </p:cNvPr>
          <p:cNvSpPr txBox="1"/>
          <p:nvPr/>
        </p:nvSpPr>
        <p:spPr>
          <a:xfrm>
            <a:off x="1673428" y="4106307"/>
            <a:ext cx="23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RTL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4E0C2F-86FB-CD48-45EB-5B9E15F84707}"/>
              </a:ext>
            </a:extLst>
          </p:cNvPr>
          <p:cNvSpPr txBox="1"/>
          <p:nvPr/>
        </p:nvSpPr>
        <p:spPr>
          <a:xfrm>
            <a:off x="4903099" y="4098318"/>
            <a:ext cx="290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Simulating on FPGA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1F60B-53F9-3ECD-ADF0-DEA600B9AC13}"/>
              </a:ext>
            </a:extLst>
          </p:cNvPr>
          <p:cNvSpPr txBox="1"/>
          <p:nvPr/>
        </p:nvSpPr>
        <p:spPr>
          <a:xfrm>
            <a:off x="-807773" y="3373773"/>
            <a:ext cx="266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cs typeface="Times New Roman" panose="02020603050405020304" pitchFamily="18" charset="0"/>
              </a:rPr>
              <a:t>Semiconductor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F20746-37A6-121F-769B-15AE7A97FBAD}"/>
              </a:ext>
            </a:extLst>
          </p:cNvPr>
          <p:cNvSpPr txBox="1"/>
          <p:nvPr/>
        </p:nvSpPr>
        <p:spPr>
          <a:xfrm>
            <a:off x="-807773" y="1267189"/>
            <a:ext cx="2614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4BF66C-862B-C805-CBBB-4C62FCBE6E3B}"/>
              </a:ext>
            </a:extLst>
          </p:cNvPr>
          <p:cNvSpPr txBox="1"/>
          <p:nvPr/>
        </p:nvSpPr>
        <p:spPr>
          <a:xfrm>
            <a:off x="-807773" y="5381595"/>
            <a:ext cx="24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  <a:cs typeface="Times New Roman" panose="02020603050405020304" pitchFamily="18" charset="0"/>
              </a:rPr>
              <a:t>Quantum Computing</a:t>
            </a:r>
            <a:endParaRPr lang="en-GB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9017D6-0AB8-8E83-73D9-E33613CB6308}"/>
              </a:ext>
            </a:extLst>
          </p:cNvPr>
          <p:cNvCxnSpPr>
            <a:cxnSpLocks/>
          </p:cNvCxnSpPr>
          <p:nvPr/>
        </p:nvCxnSpPr>
        <p:spPr>
          <a:xfrm flipV="1">
            <a:off x="-852487" y="4690356"/>
            <a:ext cx="1189379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43B250-0CEF-488C-11E4-F4C2123E17B7}"/>
              </a:ext>
            </a:extLst>
          </p:cNvPr>
          <p:cNvSpPr txBox="1"/>
          <p:nvPr/>
        </p:nvSpPr>
        <p:spPr>
          <a:xfrm>
            <a:off x="8765295" y="4111070"/>
            <a:ext cx="227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Fabricate chip</a:t>
            </a:r>
          </a:p>
        </p:txBody>
      </p:sp>
      <p:sp>
        <p:nvSpPr>
          <p:cNvPr id="20" name="Rounded Rectangle 24">
            <a:extLst>
              <a:ext uri="{FF2B5EF4-FFF2-40B4-BE49-F238E27FC236}">
                <a16:creationId xmlns:a16="http://schemas.microsoft.com/office/drawing/2014/main" id="{32A82298-3DF5-E751-6B3A-678A25ED0058}"/>
              </a:ext>
            </a:extLst>
          </p:cNvPr>
          <p:cNvSpPr/>
          <p:nvPr/>
        </p:nvSpPr>
        <p:spPr>
          <a:xfrm>
            <a:off x="1673427" y="646362"/>
            <a:ext cx="2362820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DA449C-02DB-AF4E-2778-0FDEDAB6A1F3}"/>
              </a:ext>
            </a:extLst>
          </p:cNvPr>
          <p:cNvSpPr txBox="1"/>
          <p:nvPr/>
        </p:nvSpPr>
        <p:spPr>
          <a:xfrm>
            <a:off x="1911657" y="1982664"/>
            <a:ext cx="193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Propose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F91999-FDBA-A13E-7392-1662B420CD22}"/>
              </a:ext>
            </a:extLst>
          </p:cNvPr>
          <p:cNvSpPr txBox="1"/>
          <p:nvPr/>
        </p:nvSpPr>
        <p:spPr>
          <a:xfrm>
            <a:off x="4901540" y="1953327"/>
            <a:ext cx="290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Training on GPU</a:t>
            </a:r>
          </a:p>
        </p:txBody>
      </p:sp>
      <p:sp>
        <p:nvSpPr>
          <p:cNvPr id="23" name="Rounded Rectangle 29">
            <a:extLst>
              <a:ext uri="{FF2B5EF4-FFF2-40B4-BE49-F238E27FC236}">
                <a16:creationId xmlns:a16="http://schemas.microsoft.com/office/drawing/2014/main" id="{2873F891-2EF7-F8F6-CB70-40C7B6F3BC98}"/>
              </a:ext>
            </a:extLst>
          </p:cNvPr>
          <p:cNvSpPr/>
          <p:nvPr/>
        </p:nvSpPr>
        <p:spPr>
          <a:xfrm>
            <a:off x="8756064" y="639769"/>
            <a:ext cx="2236983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DD276B-C862-6414-17D4-E68E4D5DC0FD}"/>
              </a:ext>
            </a:extLst>
          </p:cNvPr>
          <p:cNvSpPr txBox="1"/>
          <p:nvPr/>
        </p:nvSpPr>
        <p:spPr>
          <a:xfrm>
            <a:off x="8756064" y="1962191"/>
            <a:ext cx="223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Inference model</a:t>
            </a:r>
          </a:p>
        </p:txBody>
      </p:sp>
      <p:sp>
        <p:nvSpPr>
          <p:cNvPr id="25" name="Rounded Rectangle 34">
            <a:extLst>
              <a:ext uri="{FF2B5EF4-FFF2-40B4-BE49-F238E27FC236}">
                <a16:creationId xmlns:a16="http://schemas.microsoft.com/office/drawing/2014/main" id="{0C064383-A165-9F3E-57A9-C5EEE1B0879F}"/>
              </a:ext>
            </a:extLst>
          </p:cNvPr>
          <p:cNvSpPr/>
          <p:nvPr/>
        </p:nvSpPr>
        <p:spPr>
          <a:xfrm>
            <a:off x="1701190" y="4860765"/>
            <a:ext cx="2297830" cy="1687992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110F9F95-378A-9D48-C4AA-012845F19983}"/>
              </a:ext>
            </a:extLst>
          </p:cNvPr>
          <p:cNvSpPr/>
          <p:nvPr/>
        </p:nvSpPr>
        <p:spPr>
          <a:xfrm>
            <a:off x="4948994" y="4860765"/>
            <a:ext cx="2852892" cy="1712818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ounded Rectangle 36">
            <a:extLst>
              <a:ext uri="{FF2B5EF4-FFF2-40B4-BE49-F238E27FC236}">
                <a16:creationId xmlns:a16="http://schemas.microsoft.com/office/drawing/2014/main" id="{30A921C2-DF31-24AC-6D42-FF54A55199C6}"/>
              </a:ext>
            </a:extLst>
          </p:cNvPr>
          <p:cNvSpPr/>
          <p:nvPr/>
        </p:nvSpPr>
        <p:spPr>
          <a:xfrm>
            <a:off x="8760365" y="4872449"/>
            <a:ext cx="2308860" cy="1712818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8" name="Picture 2" descr="Không có mô tả ảnh.">
            <a:extLst>
              <a:ext uri="{FF2B5EF4-FFF2-40B4-BE49-F238E27FC236}">
                <a16:creationId xmlns:a16="http://schemas.microsoft.com/office/drawing/2014/main" id="{CFE8BC93-45F9-1C5F-1174-5E45E5729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35424" y="4074331"/>
            <a:ext cx="1280023" cy="285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First quantum computer to pack 100 qubits enters crowded race">
            <a:extLst>
              <a:ext uri="{FF2B5EF4-FFF2-40B4-BE49-F238E27FC236}">
                <a16:creationId xmlns:a16="http://schemas.microsoft.com/office/drawing/2014/main" id="{19BE9CC6-DC34-0959-E47E-E9D5E04E1A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58" b="3469"/>
          <a:stretch>
            <a:fillRect/>
          </a:stretch>
        </p:blipFill>
        <p:spPr bwMode="auto">
          <a:xfrm>
            <a:off x="8756064" y="4875922"/>
            <a:ext cx="2332290" cy="106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58F7DC5-6DA5-663B-B085-C4DDC93B0B96}"/>
              </a:ext>
            </a:extLst>
          </p:cNvPr>
          <p:cNvSpPr txBox="1"/>
          <p:nvPr/>
        </p:nvSpPr>
        <p:spPr>
          <a:xfrm>
            <a:off x="4889776" y="6198477"/>
            <a:ext cx="302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Simulating on CPU/GPU/…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9531-F67E-2F0A-D42C-7521E5D3AC6E}"/>
              </a:ext>
            </a:extLst>
          </p:cNvPr>
          <p:cNvSpPr txBox="1"/>
          <p:nvPr/>
        </p:nvSpPr>
        <p:spPr>
          <a:xfrm>
            <a:off x="1603509" y="6161625"/>
            <a:ext cx="24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Quantum algorithms</a:t>
            </a:r>
          </a:p>
        </p:txBody>
      </p:sp>
      <p:pic>
        <p:nvPicPr>
          <p:cNvPr id="32" name="Picture 4" descr="Fractional Gates • Quantum Zeitgeist">
            <a:extLst>
              <a:ext uri="{FF2B5EF4-FFF2-40B4-BE49-F238E27FC236}">
                <a16:creationId xmlns:a16="http://schemas.microsoft.com/office/drawing/2014/main" id="{48C87B8E-8B25-4642-7032-1403033A2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30"/>
          <a:stretch>
            <a:fillRect/>
          </a:stretch>
        </p:blipFill>
        <p:spPr bwMode="auto">
          <a:xfrm>
            <a:off x="1696784" y="4854926"/>
            <a:ext cx="2302570" cy="122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AFFA14D-03C6-C25B-B98D-B117B24D829C}"/>
              </a:ext>
            </a:extLst>
          </p:cNvPr>
          <p:cNvSpPr txBox="1"/>
          <p:nvPr/>
        </p:nvSpPr>
        <p:spPr>
          <a:xfrm>
            <a:off x="8782661" y="5932517"/>
            <a:ext cx="228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Deploy on real quantum computer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759E11-3728-AD09-1B66-1CC6A76237B0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3999020" y="5704761"/>
            <a:ext cx="949974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76C19C6-1B38-40A7-01E1-BB152DFFD7D3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7801886" y="5717174"/>
            <a:ext cx="958479" cy="11684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83C2E66-AA85-164D-4FB0-A61ABBC0A768}"/>
              </a:ext>
            </a:extLst>
          </p:cNvPr>
          <p:cNvCxnSpPr>
            <a:cxnSpLocks/>
            <a:stCxn id="23" idx="2"/>
            <a:endCxn id="10" idx="0"/>
          </p:cNvCxnSpPr>
          <p:nvPr/>
        </p:nvCxnSpPr>
        <p:spPr>
          <a:xfrm rot="5400000">
            <a:off x="6181361" y="-965802"/>
            <a:ext cx="374806" cy="7011584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A diagram of a network&#10;&#10;AI-generated content may be incorrect.">
            <a:extLst>
              <a:ext uri="{FF2B5EF4-FFF2-40B4-BE49-F238E27FC236}">
                <a16:creationId xmlns:a16="http://schemas.microsoft.com/office/drawing/2014/main" id="{969C7A31-8D78-BB35-0ABE-0608BFBA5B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28" y="646362"/>
            <a:ext cx="2362820" cy="1324739"/>
          </a:xfrm>
          <a:prstGeom prst="rect">
            <a:avLst/>
          </a:prstGeom>
          <a:ln>
            <a:noFill/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2B54290-BE06-B25F-6EC4-D4E4AEF773F1}"/>
              </a:ext>
            </a:extLst>
          </p:cNvPr>
          <p:cNvGrpSpPr/>
          <p:nvPr/>
        </p:nvGrpSpPr>
        <p:grpSpPr>
          <a:xfrm>
            <a:off x="8756064" y="621518"/>
            <a:ext cx="2285239" cy="1319139"/>
            <a:chOff x="-2930466" y="3133562"/>
            <a:chExt cx="1866473" cy="122350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584A1D3-C1D5-4EFB-196F-51098F2088A3}"/>
                </a:ext>
              </a:extLst>
            </p:cNvPr>
            <p:cNvSpPr/>
            <p:nvPr/>
          </p:nvSpPr>
          <p:spPr>
            <a:xfrm>
              <a:off x="-2930466" y="3133562"/>
              <a:ext cx="1827209" cy="1212944"/>
            </a:xfrm>
            <a:prstGeom prst="roundRect">
              <a:avLst>
                <a:gd name="adj" fmla="val 4102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40" name="Picture 39" descr="Document Vector Art, Icons, and Graphics for Free Download">
              <a:extLst>
                <a:ext uri="{FF2B5EF4-FFF2-40B4-BE49-F238E27FC236}">
                  <a16:creationId xmlns:a16="http://schemas.microsoft.com/office/drawing/2014/main" id="{47A82B17-D57E-1CAE-4942-7470BEEC91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4" t="15064" r="23774" b="27683"/>
            <a:stretch>
              <a:fillRect/>
            </a:stretch>
          </p:blipFill>
          <p:spPr bwMode="auto">
            <a:xfrm>
              <a:off x="-2804134" y="3171801"/>
              <a:ext cx="345885" cy="38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ight Arrow 2">
              <a:extLst>
                <a:ext uri="{FF2B5EF4-FFF2-40B4-BE49-F238E27FC236}">
                  <a16:creationId xmlns:a16="http://schemas.microsoft.com/office/drawing/2014/main" id="{9B563163-9708-57EA-DD42-5818231D4ABA}"/>
                </a:ext>
              </a:extLst>
            </p:cNvPr>
            <p:cNvSpPr/>
            <p:nvPr/>
          </p:nvSpPr>
          <p:spPr>
            <a:xfrm>
              <a:off x="-2383519" y="3655408"/>
              <a:ext cx="235403" cy="20275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pic>
          <p:nvPicPr>
            <p:cNvPr id="42" name="Picture 41" descr="5+ điều cần biết về chụp cộng hưởng từ có tiêm thuốc tương phản">
              <a:extLst>
                <a:ext uri="{FF2B5EF4-FFF2-40B4-BE49-F238E27FC236}">
                  <a16:creationId xmlns:a16="http://schemas.microsoft.com/office/drawing/2014/main" id="{993F408A-6079-35DA-5D90-CED09677D8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798142" y="3620068"/>
              <a:ext cx="339893" cy="388758"/>
            </a:xfrm>
            <a:prstGeom prst="rect">
              <a:avLst/>
            </a:prstGeom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42" descr="ECG signals (744 fragments) | IEEE DataPort">
              <a:extLst>
                <a:ext uri="{FF2B5EF4-FFF2-40B4-BE49-F238E27FC236}">
                  <a16:creationId xmlns:a16="http://schemas.microsoft.com/office/drawing/2014/main" id="{76AF0D7B-CF4B-0304-677E-4C3C84FF0A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834267" y="4025581"/>
              <a:ext cx="400515" cy="300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4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9857267-60F8-E59E-3717-65DE1652B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76938" y="3144126"/>
              <a:ext cx="1212945" cy="1212945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34DF691-0853-1EBF-2D24-8BC2B3EE9CCE}"/>
              </a:ext>
            </a:extLst>
          </p:cNvPr>
          <p:cNvCxnSpPr>
            <a:cxnSpLocks/>
          </p:cNvCxnSpPr>
          <p:nvPr/>
        </p:nvCxnSpPr>
        <p:spPr>
          <a:xfrm>
            <a:off x="3994282" y="3494004"/>
            <a:ext cx="90630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2153D91-6E22-9CA8-0FBF-0940C47175CC}"/>
              </a:ext>
            </a:extLst>
          </p:cNvPr>
          <p:cNvCxnSpPr>
            <a:cxnSpLocks/>
          </p:cNvCxnSpPr>
          <p:nvPr/>
        </p:nvCxnSpPr>
        <p:spPr>
          <a:xfrm>
            <a:off x="7885548" y="3552232"/>
            <a:ext cx="822960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E80813-038A-FE47-00BF-7100AE366B57}"/>
              </a:ext>
            </a:extLst>
          </p:cNvPr>
          <p:cNvCxnSpPr>
            <a:cxnSpLocks/>
          </p:cNvCxnSpPr>
          <p:nvPr/>
        </p:nvCxnSpPr>
        <p:spPr>
          <a:xfrm>
            <a:off x="4033469" y="1359049"/>
            <a:ext cx="90630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3A5241E-0703-2023-05FC-2B614FE5B5C9}"/>
              </a:ext>
            </a:extLst>
          </p:cNvPr>
          <p:cNvCxnSpPr>
            <a:cxnSpLocks/>
          </p:cNvCxnSpPr>
          <p:nvPr/>
        </p:nvCxnSpPr>
        <p:spPr>
          <a:xfrm>
            <a:off x="7885548" y="1405836"/>
            <a:ext cx="822960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C4FDFAB-BCC7-B829-CCF7-F2310C1F6B3C}"/>
              </a:ext>
            </a:extLst>
          </p:cNvPr>
          <p:cNvCxnSpPr>
            <a:cxnSpLocks/>
            <a:stCxn id="25" idx="0"/>
            <a:endCxn id="13" idx="2"/>
          </p:cNvCxnSpPr>
          <p:nvPr/>
        </p:nvCxnSpPr>
        <p:spPr>
          <a:xfrm flipH="1" flipV="1">
            <a:off x="2842741" y="4475639"/>
            <a:ext cx="7364" cy="385126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517DD5E-BF04-C1D3-B1F3-A808309A08E1}"/>
              </a:ext>
            </a:extLst>
          </p:cNvPr>
          <p:cNvCxnSpPr>
            <a:cxnSpLocks/>
            <a:stCxn id="14" idx="2"/>
            <a:endCxn id="29" idx="0"/>
          </p:cNvCxnSpPr>
          <p:nvPr/>
        </p:nvCxnSpPr>
        <p:spPr>
          <a:xfrm rot="16200000" flipH="1">
            <a:off x="7935211" y="2888924"/>
            <a:ext cx="408272" cy="3565724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383EE22-A9BA-4DB9-B0FA-4CF3122A75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0829" y="-1302091"/>
            <a:ext cx="4600555" cy="4431552"/>
          </a:xfrm>
          <a:prstGeom prst="rect">
            <a:avLst/>
          </a:prstGeom>
        </p:spPr>
      </p:pic>
      <p:pic>
        <p:nvPicPr>
          <p:cNvPr id="51" name="Picture 5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0CCCAC-1C4B-6896-C182-163D77BDBDD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257" y="-3666427"/>
            <a:ext cx="7772400" cy="4095037"/>
          </a:xfrm>
          <a:prstGeom prst="rect">
            <a:avLst/>
          </a:prstGeom>
        </p:spPr>
      </p:pic>
      <p:pic>
        <p:nvPicPr>
          <p:cNvPr id="53" name="Picture 52" descr="A screenshot of a phone&#10;&#10;AI-generated content may be incorrect.">
            <a:extLst>
              <a:ext uri="{FF2B5EF4-FFF2-40B4-BE49-F238E27FC236}">
                <a16:creationId xmlns:a16="http://schemas.microsoft.com/office/drawing/2014/main" id="{60AD378D-ADBE-22EC-1A09-431FE8F468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56"/>
          <a:stretch>
            <a:fillRect/>
          </a:stretch>
        </p:blipFill>
        <p:spPr>
          <a:xfrm>
            <a:off x="5285742" y="-3628401"/>
            <a:ext cx="4991800" cy="4090391"/>
          </a:xfrm>
          <a:prstGeom prst="rect">
            <a:avLst/>
          </a:prstGeom>
        </p:spPr>
      </p:pic>
      <p:pic>
        <p:nvPicPr>
          <p:cNvPr id="54" name="Picture 53" descr="A screenshot of a phone&#10;&#10;AI-generated content may be incorrect.">
            <a:extLst>
              <a:ext uri="{FF2B5EF4-FFF2-40B4-BE49-F238E27FC236}">
                <a16:creationId xmlns:a16="http://schemas.microsoft.com/office/drawing/2014/main" id="{DACA7E98-D889-1F68-C0B4-56B8FCCA66A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89"/>
          <a:stretch>
            <a:fillRect/>
          </a:stretch>
        </p:blipFill>
        <p:spPr>
          <a:xfrm>
            <a:off x="10248594" y="-3577727"/>
            <a:ext cx="4991800" cy="2723349"/>
          </a:xfrm>
          <a:prstGeom prst="rect">
            <a:avLst/>
          </a:prstGeom>
        </p:spPr>
      </p:pic>
      <p:pic>
        <p:nvPicPr>
          <p:cNvPr id="60" name="Picture 59" descr="A black and white logo with a brain&#10;&#10;AI-generated content may be incorrect.">
            <a:extLst>
              <a:ext uri="{FF2B5EF4-FFF2-40B4-BE49-F238E27FC236}">
                <a16:creationId xmlns:a16="http://schemas.microsoft.com/office/drawing/2014/main" id="{8F47B79F-F2B5-A45C-B111-76B15C7A2E3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8449" y="2835798"/>
            <a:ext cx="2010140" cy="261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37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338B-1E34-4522-1C2B-5C4B36409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27">
            <a:extLst>
              <a:ext uri="{FF2B5EF4-FFF2-40B4-BE49-F238E27FC236}">
                <a16:creationId xmlns:a16="http://schemas.microsoft.com/office/drawing/2014/main" id="{937BD890-C29A-6BFF-7605-0EEC0BFE6048}"/>
              </a:ext>
            </a:extLst>
          </p:cNvPr>
          <p:cNvSpPr/>
          <p:nvPr/>
        </p:nvSpPr>
        <p:spPr>
          <a:xfrm>
            <a:off x="5657103" y="633708"/>
            <a:ext cx="2884554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ounded Rectangle 19">
            <a:extLst>
              <a:ext uri="{FF2B5EF4-FFF2-40B4-BE49-F238E27FC236}">
                <a16:creationId xmlns:a16="http://schemas.microsoft.com/office/drawing/2014/main" id="{2DFDDA92-7A37-9361-8640-CEC95072A421}"/>
              </a:ext>
            </a:extLst>
          </p:cNvPr>
          <p:cNvSpPr/>
          <p:nvPr/>
        </p:nvSpPr>
        <p:spPr>
          <a:xfrm>
            <a:off x="10375435" y="2766196"/>
            <a:ext cx="2276009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C3BA982C-9322-8FBE-D470-DAF2C772A650}"/>
              </a:ext>
            </a:extLst>
          </p:cNvPr>
          <p:cNvSpPr/>
          <p:nvPr/>
        </p:nvSpPr>
        <p:spPr>
          <a:xfrm>
            <a:off x="5666458" y="2758029"/>
            <a:ext cx="2890802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1B96D868-DFBD-647B-8B53-6E3C4993B576}"/>
              </a:ext>
            </a:extLst>
          </p:cNvPr>
          <p:cNvSpPr/>
          <p:nvPr/>
        </p:nvSpPr>
        <p:spPr>
          <a:xfrm>
            <a:off x="1713890" y="2748457"/>
            <a:ext cx="2308860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6A7040-D10B-AF7C-C8BE-3349B63E35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" r="9625" b="1390"/>
          <a:stretch/>
        </p:blipFill>
        <p:spPr>
          <a:xfrm rot="16200000">
            <a:off x="10831290" y="2324330"/>
            <a:ext cx="1364302" cy="2276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C9FC48-3659-CF5D-54BE-5C3EB5046A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" t="7019" r="-67" b="31993"/>
          <a:stretch>
            <a:fillRect/>
          </a:stretch>
        </p:blipFill>
        <p:spPr>
          <a:xfrm>
            <a:off x="5658473" y="2731104"/>
            <a:ext cx="2898787" cy="13381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3991B7-88AD-A869-EE22-0B86802BB1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890" y="2727393"/>
            <a:ext cx="2298163" cy="1364302"/>
          </a:xfrm>
          <a:prstGeom prst="rect">
            <a:avLst/>
          </a:prstGeom>
        </p:spPr>
      </p:pic>
      <p:pic>
        <p:nvPicPr>
          <p:cNvPr id="11" name="Picture 2" descr="Không có mô tả ảnh.">
            <a:extLst>
              <a:ext uri="{FF2B5EF4-FFF2-40B4-BE49-F238E27FC236}">
                <a16:creationId xmlns:a16="http://schemas.microsoft.com/office/drawing/2014/main" id="{02C9F87A-4886-CC85-F058-E533A026E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45655" y="-153375"/>
            <a:ext cx="1313191" cy="287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A68341-D8A6-27B2-6CA8-B41331636335}"/>
              </a:ext>
            </a:extLst>
          </p:cNvPr>
          <p:cNvCxnSpPr>
            <a:cxnSpLocks/>
          </p:cNvCxnSpPr>
          <p:nvPr/>
        </p:nvCxnSpPr>
        <p:spPr>
          <a:xfrm>
            <a:off x="-809626" y="2608118"/>
            <a:ext cx="13441680" cy="14535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1658C7-61D8-0257-E69B-A79B69A92BBF}"/>
              </a:ext>
            </a:extLst>
          </p:cNvPr>
          <p:cNvSpPr txBox="1"/>
          <p:nvPr/>
        </p:nvSpPr>
        <p:spPr>
          <a:xfrm>
            <a:off x="1673428" y="4106307"/>
            <a:ext cx="23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RTL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1679DB-98EB-0543-4B57-D6B4B16B6F98}"/>
              </a:ext>
            </a:extLst>
          </p:cNvPr>
          <p:cNvSpPr txBox="1"/>
          <p:nvPr/>
        </p:nvSpPr>
        <p:spPr>
          <a:xfrm>
            <a:off x="5658473" y="4098318"/>
            <a:ext cx="290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Simulating on FPGA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E372A1-0329-D591-F779-B5F9496E4EBE}"/>
              </a:ext>
            </a:extLst>
          </p:cNvPr>
          <p:cNvSpPr txBox="1"/>
          <p:nvPr/>
        </p:nvSpPr>
        <p:spPr>
          <a:xfrm>
            <a:off x="-807773" y="3373773"/>
            <a:ext cx="266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cs typeface="Times New Roman" panose="02020603050405020304" pitchFamily="18" charset="0"/>
              </a:rPr>
              <a:t>Semiconductor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A64F04-CC92-7A0E-FADF-CB20232B2B60}"/>
              </a:ext>
            </a:extLst>
          </p:cNvPr>
          <p:cNvSpPr txBox="1"/>
          <p:nvPr/>
        </p:nvSpPr>
        <p:spPr>
          <a:xfrm>
            <a:off x="-807773" y="1267189"/>
            <a:ext cx="2614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51EB4B-CA6C-3C34-B4D0-28F95DC7EA11}"/>
              </a:ext>
            </a:extLst>
          </p:cNvPr>
          <p:cNvSpPr txBox="1"/>
          <p:nvPr/>
        </p:nvSpPr>
        <p:spPr>
          <a:xfrm>
            <a:off x="-807773" y="5381595"/>
            <a:ext cx="24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  <a:cs typeface="Times New Roman" panose="02020603050405020304" pitchFamily="18" charset="0"/>
              </a:rPr>
              <a:t>Quantum Computing</a:t>
            </a:r>
            <a:endParaRPr lang="en-GB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93803E-9C01-88AB-4FC6-1BB0F4096522}"/>
              </a:ext>
            </a:extLst>
          </p:cNvPr>
          <p:cNvCxnSpPr>
            <a:cxnSpLocks/>
          </p:cNvCxnSpPr>
          <p:nvPr/>
        </p:nvCxnSpPr>
        <p:spPr>
          <a:xfrm>
            <a:off x="-852487" y="4701546"/>
            <a:ext cx="13533120" cy="1455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CC0BF8-E1D6-122D-AE97-C3397639D9DB}"/>
              </a:ext>
            </a:extLst>
          </p:cNvPr>
          <p:cNvSpPr txBox="1"/>
          <p:nvPr/>
        </p:nvSpPr>
        <p:spPr>
          <a:xfrm>
            <a:off x="10375434" y="4111070"/>
            <a:ext cx="227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Fabricate chip</a:t>
            </a:r>
          </a:p>
        </p:txBody>
      </p:sp>
      <p:sp>
        <p:nvSpPr>
          <p:cNvPr id="20" name="Rounded Rectangle 24">
            <a:extLst>
              <a:ext uri="{FF2B5EF4-FFF2-40B4-BE49-F238E27FC236}">
                <a16:creationId xmlns:a16="http://schemas.microsoft.com/office/drawing/2014/main" id="{43EB32B9-B63A-9F24-25EB-B8AA77BE7A3E}"/>
              </a:ext>
            </a:extLst>
          </p:cNvPr>
          <p:cNvSpPr/>
          <p:nvPr/>
        </p:nvSpPr>
        <p:spPr>
          <a:xfrm>
            <a:off x="1673427" y="646362"/>
            <a:ext cx="2362820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8D8798-BC59-EB6E-985A-60EE6F681F64}"/>
              </a:ext>
            </a:extLst>
          </p:cNvPr>
          <p:cNvSpPr txBox="1"/>
          <p:nvPr/>
        </p:nvSpPr>
        <p:spPr>
          <a:xfrm>
            <a:off x="1911657" y="1982664"/>
            <a:ext cx="193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Propose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0B3459-25F6-BEFE-A15F-A5D1B3DC83B1}"/>
              </a:ext>
            </a:extLst>
          </p:cNvPr>
          <p:cNvSpPr txBox="1"/>
          <p:nvPr/>
        </p:nvSpPr>
        <p:spPr>
          <a:xfrm>
            <a:off x="5656914" y="1953327"/>
            <a:ext cx="290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Training on GPU</a:t>
            </a:r>
          </a:p>
        </p:txBody>
      </p:sp>
      <p:sp>
        <p:nvSpPr>
          <p:cNvPr id="23" name="Rounded Rectangle 29">
            <a:extLst>
              <a:ext uri="{FF2B5EF4-FFF2-40B4-BE49-F238E27FC236}">
                <a16:creationId xmlns:a16="http://schemas.microsoft.com/office/drawing/2014/main" id="{EB976ACB-5D3D-3F5D-971C-87DA8282A013}"/>
              </a:ext>
            </a:extLst>
          </p:cNvPr>
          <p:cNvSpPr/>
          <p:nvPr/>
        </p:nvSpPr>
        <p:spPr>
          <a:xfrm>
            <a:off x="10366203" y="639769"/>
            <a:ext cx="2236983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1C9906-D46C-D1B7-AEBA-6E72A4EF700F}"/>
              </a:ext>
            </a:extLst>
          </p:cNvPr>
          <p:cNvSpPr txBox="1"/>
          <p:nvPr/>
        </p:nvSpPr>
        <p:spPr>
          <a:xfrm>
            <a:off x="10366203" y="1962191"/>
            <a:ext cx="223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Inference model</a:t>
            </a:r>
          </a:p>
        </p:txBody>
      </p:sp>
      <p:sp>
        <p:nvSpPr>
          <p:cNvPr id="25" name="Rounded Rectangle 34">
            <a:extLst>
              <a:ext uri="{FF2B5EF4-FFF2-40B4-BE49-F238E27FC236}">
                <a16:creationId xmlns:a16="http://schemas.microsoft.com/office/drawing/2014/main" id="{35C991D2-0C89-CE07-C3C7-07F4F65ED62C}"/>
              </a:ext>
            </a:extLst>
          </p:cNvPr>
          <p:cNvSpPr/>
          <p:nvPr/>
        </p:nvSpPr>
        <p:spPr>
          <a:xfrm>
            <a:off x="1701190" y="4860765"/>
            <a:ext cx="2297830" cy="1687992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F7B19CE4-EA3C-6A1B-30F7-A623AAC1D04A}"/>
              </a:ext>
            </a:extLst>
          </p:cNvPr>
          <p:cNvSpPr/>
          <p:nvPr/>
        </p:nvSpPr>
        <p:spPr>
          <a:xfrm>
            <a:off x="5704368" y="4860765"/>
            <a:ext cx="2852892" cy="1712818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ounded Rectangle 36">
            <a:extLst>
              <a:ext uri="{FF2B5EF4-FFF2-40B4-BE49-F238E27FC236}">
                <a16:creationId xmlns:a16="http://schemas.microsoft.com/office/drawing/2014/main" id="{82D1CCD1-2DE1-0F59-A8C7-D9FACB5E88EA}"/>
              </a:ext>
            </a:extLst>
          </p:cNvPr>
          <p:cNvSpPr/>
          <p:nvPr/>
        </p:nvSpPr>
        <p:spPr>
          <a:xfrm>
            <a:off x="10370504" y="4872449"/>
            <a:ext cx="2308860" cy="1712818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8" name="Picture 2" descr="Không có mô tả ảnh.">
            <a:extLst>
              <a:ext uri="{FF2B5EF4-FFF2-40B4-BE49-F238E27FC236}">
                <a16:creationId xmlns:a16="http://schemas.microsoft.com/office/drawing/2014/main" id="{24948EC8-77D7-DBD3-6741-0B71F0045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90798" y="4074331"/>
            <a:ext cx="1280023" cy="285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First quantum computer to pack 100 qubits enters crowded race">
            <a:extLst>
              <a:ext uri="{FF2B5EF4-FFF2-40B4-BE49-F238E27FC236}">
                <a16:creationId xmlns:a16="http://schemas.microsoft.com/office/drawing/2014/main" id="{598D5C2F-1ED2-330A-C115-27D0049A83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58" b="3469"/>
          <a:stretch>
            <a:fillRect/>
          </a:stretch>
        </p:blipFill>
        <p:spPr bwMode="auto">
          <a:xfrm>
            <a:off x="10366203" y="4875922"/>
            <a:ext cx="2332290" cy="106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50D0E65-6512-4392-53E9-A7326E977446}"/>
              </a:ext>
            </a:extLst>
          </p:cNvPr>
          <p:cNvSpPr txBox="1"/>
          <p:nvPr/>
        </p:nvSpPr>
        <p:spPr>
          <a:xfrm>
            <a:off x="5645150" y="6198477"/>
            <a:ext cx="302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Simulating on CPU/GPU/…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7A22DF-2CE0-C72E-583A-E8EED5C41C1C}"/>
              </a:ext>
            </a:extLst>
          </p:cNvPr>
          <p:cNvSpPr txBox="1"/>
          <p:nvPr/>
        </p:nvSpPr>
        <p:spPr>
          <a:xfrm>
            <a:off x="1603509" y="6161625"/>
            <a:ext cx="24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Quantum algorithms</a:t>
            </a:r>
          </a:p>
        </p:txBody>
      </p:sp>
      <p:pic>
        <p:nvPicPr>
          <p:cNvPr id="32" name="Picture 4" descr="Fractional Gates • Quantum Zeitgeist">
            <a:extLst>
              <a:ext uri="{FF2B5EF4-FFF2-40B4-BE49-F238E27FC236}">
                <a16:creationId xmlns:a16="http://schemas.microsoft.com/office/drawing/2014/main" id="{0D1D4CE3-2B43-C6FB-70AD-E3C3ECF6B4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30"/>
          <a:stretch>
            <a:fillRect/>
          </a:stretch>
        </p:blipFill>
        <p:spPr bwMode="auto">
          <a:xfrm>
            <a:off x="1696784" y="4854926"/>
            <a:ext cx="2302570" cy="122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2E76181-A876-197A-C442-B287B206CF22}"/>
              </a:ext>
            </a:extLst>
          </p:cNvPr>
          <p:cNvSpPr txBox="1"/>
          <p:nvPr/>
        </p:nvSpPr>
        <p:spPr>
          <a:xfrm>
            <a:off x="10392800" y="5932517"/>
            <a:ext cx="228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Deploy on real quantum computer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37F5FBD-32CE-2400-F9BE-88A2DA625FFC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3999020" y="5704761"/>
            <a:ext cx="170534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A918C8-6A9F-5417-401C-E793BBE75D0C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8557260" y="5717174"/>
            <a:ext cx="1813244" cy="11684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63082FA-C412-5CA8-F12A-2F0F47F82514}"/>
              </a:ext>
            </a:extLst>
          </p:cNvPr>
          <p:cNvCxnSpPr>
            <a:cxnSpLocks/>
            <a:stCxn id="23" idx="2"/>
            <a:endCxn id="10" idx="0"/>
          </p:cNvCxnSpPr>
          <p:nvPr/>
        </p:nvCxnSpPr>
        <p:spPr>
          <a:xfrm rot="5400000">
            <a:off x="6986431" y="-1770871"/>
            <a:ext cx="374806" cy="8621723"/>
          </a:xfrm>
          <a:prstGeom prst="bentConnector3">
            <a:avLst>
              <a:gd name="adj1" fmla="val 19504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A diagram of a network&#10;&#10;AI-generated content may be incorrect.">
            <a:extLst>
              <a:ext uri="{FF2B5EF4-FFF2-40B4-BE49-F238E27FC236}">
                <a16:creationId xmlns:a16="http://schemas.microsoft.com/office/drawing/2014/main" id="{42D91A3F-E0B4-CE61-3481-3DD128E24D9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28" y="646362"/>
            <a:ext cx="2362820" cy="1324739"/>
          </a:xfrm>
          <a:prstGeom prst="rect">
            <a:avLst/>
          </a:prstGeom>
          <a:ln>
            <a:noFill/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49CCD031-578A-17FC-82BA-D1C0A547067D}"/>
              </a:ext>
            </a:extLst>
          </p:cNvPr>
          <p:cNvGrpSpPr/>
          <p:nvPr/>
        </p:nvGrpSpPr>
        <p:grpSpPr>
          <a:xfrm>
            <a:off x="10366203" y="621518"/>
            <a:ext cx="2285239" cy="1319139"/>
            <a:chOff x="-2930466" y="3133562"/>
            <a:chExt cx="1866473" cy="122350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23B2E94-1DC9-3EF1-5886-97C4CD1E845A}"/>
                </a:ext>
              </a:extLst>
            </p:cNvPr>
            <p:cNvSpPr/>
            <p:nvPr/>
          </p:nvSpPr>
          <p:spPr>
            <a:xfrm>
              <a:off x="-2930466" y="3133562"/>
              <a:ext cx="1827209" cy="1212944"/>
            </a:xfrm>
            <a:prstGeom prst="roundRect">
              <a:avLst>
                <a:gd name="adj" fmla="val 4102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40" name="Picture 39" descr="Document Vector Art, Icons, and Graphics for Free Download">
              <a:extLst>
                <a:ext uri="{FF2B5EF4-FFF2-40B4-BE49-F238E27FC236}">
                  <a16:creationId xmlns:a16="http://schemas.microsoft.com/office/drawing/2014/main" id="{00F696FB-D1C5-02C7-82DB-EC58E6DE22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4" t="15064" r="23774" b="27683"/>
            <a:stretch>
              <a:fillRect/>
            </a:stretch>
          </p:blipFill>
          <p:spPr bwMode="auto">
            <a:xfrm>
              <a:off x="-2804134" y="3171801"/>
              <a:ext cx="345885" cy="38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ight Arrow 2">
              <a:extLst>
                <a:ext uri="{FF2B5EF4-FFF2-40B4-BE49-F238E27FC236}">
                  <a16:creationId xmlns:a16="http://schemas.microsoft.com/office/drawing/2014/main" id="{F9EF9906-F2B9-F2EC-9FBE-B66FB810B8C2}"/>
                </a:ext>
              </a:extLst>
            </p:cNvPr>
            <p:cNvSpPr/>
            <p:nvPr/>
          </p:nvSpPr>
          <p:spPr>
            <a:xfrm>
              <a:off x="-2383519" y="3655408"/>
              <a:ext cx="235403" cy="20275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pic>
          <p:nvPicPr>
            <p:cNvPr id="42" name="Picture 41" descr="5+ điều cần biết về chụp cộng hưởng từ có tiêm thuốc tương phản">
              <a:extLst>
                <a:ext uri="{FF2B5EF4-FFF2-40B4-BE49-F238E27FC236}">
                  <a16:creationId xmlns:a16="http://schemas.microsoft.com/office/drawing/2014/main" id="{A8A5AD0F-C1C4-00AF-FA24-878C02F572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798142" y="3620068"/>
              <a:ext cx="339893" cy="388758"/>
            </a:xfrm>
            <a:prstGeom prst="rect">
              <a:avLst/>
            </a:prstGeom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42" descr="ECG signals (744 fragments) | IEEE DataPort">
              <a:extLst>
                <a:ext uri="{FF2B5EF4-FFF2-40B4-BE49-F238E27FC236}">
                  <a16:creationId xmlns:a16="http://schemas.microsoft.com/office/drawing/2014/main" id="{C20D664D-E08C-D8C8-9703-835CAF59B8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834267" y="4025581"/>
              <a:ext cx="400515" cy="300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4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F2908A9-21D2-DC67-1704-70D37D7C6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76938" y="3144126"/>
              <a:ext cx="1212945" cy="1212945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3AB74E4-D312-E37F-1A18-FCAF525FD249}"/>
              </a:ext>
            </a:extLst>
          </p:cNvPr>
          <p:cNvCxnSpPr>
            <a:cxnSpLocks/>
          </p:cNvCxnSpPr>
          <p:nvPr/>
        </p:nvCxnSpPr>
        <p:spPr>
          <a:xfrm>
            <a:off x="4391848" y="3494004"/>
            <a:ext cx="90630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745B6EA-35D4-97BC-B991-D8EE3EEFC039}"/>
              </a:ext>
            </a:extLst>
          </p:cNvPr>
          <p:cNvCxnSpPr>
            <a:cxnSpLocks/>
          </p:cNvCxnSpPr>
          <p:nvPr/>
        </p:nvCxnSpPr>
        <p:spPr>
          <a:xfrm>
            <a:off x="8172756" y="3514692"/>
            <a:ext cx="822960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3AA4557-B3DF-2848-FCB4-E6D5528E2D2D}"/>
              </a:ext>
            </a:extLst>
          </p:cNvPr>
          <p:cNvCxnSpPr>
            <a:cxnSpLocks/>
          </p:cNvCxnSpPr>
          <p:nvPr/>
        </p:nvCxnSpPr>
        <p:spPr>
          <a:xfrm>
            <a:off x="4431035" y="1359049"/>
            <a:ext cx="90630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99E628F-EE6A-1C61-1272-1CFEFA6B2F9F}"/>
              </a:ext>
            </a:extLst>
          </p:cNvPr>
          <p:cNvCxnSpPr>
            <a:cxnSpLocks/>
          </p:cNvCxnSpPr>
          <p:nvPr/>
        </p:nvCxnSpPr>
        <p:spPr>
          <a:xfrm>
            <a:off x="8211943" y="1379737"/>
            <a:ext cx="822960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642A6BD-8CC9-DAAB-96BD-6CB9840E3046}"/>
              </a:ext>
            </a:extLst>
          </p:cNvPr>
          <p:cNvCxnSpPr>
            <a:cxnSpLocks/>
            <a:stCxn id="25" idx="0"/>
            <a:endCxn id="13" idx="2"/>
          </p:cNvCxnSpPr>
          <p:nvPr/>
        </p:nvCxnSpPr>
        <p:spPr>
          <a:xfrm flipH="1" flipV="1">
            <a:off x="2842741" y="4475639"/>
            <a:ext cx="7364" cy="385126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E4C58AA-EB07-FC35-0721-CCD9C448268F}"/>
              </a:ext>
            </a:extLst>
          </p:cNvPr>
          <p:cNvCxnSpPr>
            <a:cxnSpLocks/>
            <a:stCxn id="14" idx="2"/>
            <a:endCxn id="29" idx="0"/>
          </p:cNvCxnSpPr>
          <p:nvPr/>
        </p:nvCxnSpPr>
        <p:spPr>
          <a:xfrm rot="16200000" flipH="1">
            <a:off x="9117967" y="2461541"/>
            <a:ext cx="408272" cy="4420489"/>
          </a:xfrm>
          <a:prstGeom prst="bentConnector3">
            <a:avLst>
              <a:gd name="adj1" fmla="val 29780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F8CEE3A-B1F9-88E3-E5C9-F368FEE3A61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4684" y="-2066530"/>
            <a:ext cx="2800543" cy="269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83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Binho Le">
            <a:extLst>
              <a:ext uri="{FF2B5EF4-FFF2-40B4-BE49-F238E27FC236}">
                <a16:creationId xmlns:a16="http://schemas.microsoft.com/office/drawing/2014/main" id="{AC66EE62-1AD4-BC76-A0A2-9AB599D93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31" y="1372801"/>
            <a:ext cx="2171756" cy="287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39917557-A99C-8795-FF42-1ABAFD162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4" t="17900" r="11233" b="14625"/>
          <a:stretch>
            <a:fillRect/>
          </a:stretch>
        </p:blipFill>
        <p:spPr>
          <a:xfrm>
            <a:off x="6844916" y="601145"/>
            <a:ext cx="1581665" cy="1272746"/>
          </a:xfrm>
          <a:prstGeom prst="rect">
            <a:avLst/>
          </a:prstGeom>
        </p:spPr>
      </p:pic>
      <p:pic>
        <p:nvPicPr>
          <p:cNvPr id="7" name="Picture 6" descr="A close up of a sign&#10;&#10;AI-generated content may be incorrect.">
            <a:extLst>
              <a:ext uri="{FF2B5EF4-FFF2-40B4-BE49-F238E27FC236}">
                <a16:creationId xmlns:a16="http://schemas.microsoft.com/office/drawing/2014/main" id="{803E7152-48F1-8557-0CD4-60A0F6321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31" y="705438"/>
            <a:ext cx="2171756" cy="532080"/>
          </a:xfrm>
          <a:prstGeom prst="rect">
            <a:avLst/>
          </a:prstGeom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8924213-21D2-CFCD-993A-71F5B8A2D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471" y="4992340"/>
            <a:ext cx="1165662" cy="104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201E29-D53F-25B3-0D87-21A0941DFE6A}"/>
              </a:ext>
            </a:extLst>
          </p:cNvPr>
          <p:cNvSpPr txBox="1"/>
          <p:nvPr/>
        </p:nvSpPr>
        <p:spPr>
          <a:xfrm>
            <a:off x="985899" y="4375314"/>
            <a:ext cx="32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/>
              <a:t>Software Package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B6196F5D-6956-4598-101B-7F9C2A703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544" y="4992341"/>
            <a:ext cx="1714927" cy="10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 descr="Dim (Smaller Sun) with solid fill">
            <a:extLst>
              <a:ext uri="{FF2B5EF4-FFF2-40B4-BE49-F238E27FC236}">
                <a16:creationId xmlns:a16="http://schemas.microsoft.com/office/drawing/2014/main" id="{6D32126F-83DB-9217-878A-D1668ED074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6097" y="4893484"/>
            <a:ext cx="1048025" cy="1048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7B87AF-3C66-5B9C-952B-BB4D23937CD4}"/>
              </a:ext>
            </a:extLst>
          </p:cNvPr>
          <p:cNvSpPr txBox="1"/>
          <p:nvPr/>
        </p:nvSpPr>
        <p:spPr>
          <a:xfrm>
            <a:off x="4749118" y="5671033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latin typeface="Aharoni" panose="02010803020104030203" pitchFamily="2" charset="-79"/>
                <a:cs typeface="Aharoni" panose="02010803020104030203" pitchFamily="2" charset="-79"/>
              </a:rPr>
              <a:t>Qsun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8103450-94D5-7761-06BC-670DF1914816}"/>
              </a:ext>
            </a:extLst>
          </p:cNvPr>
          <p:cNvSpPr/>
          <p:nvPr/>
        </p:nvSpPr>
        <p:spPr>
          <a:xfrm>
            <a:off x="1061831" y="4856413"/>
            <a:ext cx="7364750" cy="134498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AF6A45-9EF4-AFFF-478B-2F5962C142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440" y="2016385"/>
            <a:ext cx="2642141" cy="22443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293533-3A11-B4E8-6C46-B8B460291A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424" y="1381104"/>
            <a:ext cx="2450537" cy="287958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548AD6E-DF8A-F57A-B6D4-D2A076012A3C}"/>
              </a:ext>
            </a:extLst>
          </p:cNvPr>
          <p:cNvSpPr/>
          <p:nvPr/>
        </p:nvSpPr>
        <p:spPr>
          <a:xfrm>
            <a:off x="6277232" y="2211374"/>
            <a:ext cx="567684" cy="86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21" name="Picture 20" descr="A logo for a package&#10;&#10;AI-generated content may be incorrect.">
            <a:extLst>
              <a:ext uri="{FF2B5EF4-FFF2-40B4-BE49-F238E27FC236}">
                <a16:creationId xmlns:a16="http://schemas.microsoft.com/office/drawing/2014/main" id="{4632AA62-1826-07A5-012D-B7EDE999D4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0" t="8989" r="17758" b="33167"/>
          <a:stretch>
            <a:fillRect/>
          </a:stretch>
        </p:blipFill>
        <p:spPr>
          <a:xfrm>
            <a:off x="5796891" y="5059773"/>
            <a:ext cx="1048025" cy="93826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4925975-76CE-C436-5B22-45C11F7DE49C}"/>
              </a:ext>
            </a:extLst>
          </p:cNvPr>
          <p:cNvSpPr txBox="1"/>
          <p:nvPr/>
        </p:nvSpPr>
        <p:spPr>
          <a:xfrm>
            <a:off x="7055362" y="5105483"/>
            <a:ext cx="103869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3200" b="1"/>
              <a:t>One</a:t>
            </a:r>
          </a:p>
          <a:p>
            <a:pPr algn="ctr"/>
            <a:r>
              <a:rPr lang="en-VN" sz="2000"/>
              <a:t>circuit</a:t>
            </a:r>
          </a:p>
        </p:txBody>
      </p:sp>
    </p:spTree>
    <p:extLst>
      <p:ext uri="{BB962C8B-B14F-4D97-AF65-F5344CB8AC3E}">
        <p14:creationId xmlns:p14="http://schemas.microsoft.com/office/powerpoint/2010/main" val="2186942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4C6836-45CA-A0F0-1342-FA2643C52002}"/>
              </a:ext>
            </a:extLst>
          </p:cNvPr>
          <p:cNvSpPr/>
          <p:nvPr/>
        </p:nvSpPr>
        <p:spPr>
          <a:xfrm>
            <a:off x="2129050" y="883930"/>
            <a:ext cx="3234521" cy="646331"/>
          </a:xfrm>
          <a:prstGeom prst="roundRect">
            <a:avLst>
              <a:gd name="adj" fmla="val 2933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5" name="Content Placeholder 4" descr="A screenshot of a scientific research&#10;&#10;AI-generated content may be incorrect.">
            <a:extLst>
              <a:ext uri="{FF2B5EF4-FFF2-40B4-BE49-F238E27FC236}">
                <a16:creationId xmlns:a16="http://schemas.microsoft.com/office/drawing/2014/main" id="{B8B0F83D-3FD8-1EE4-2B16-9B14877B4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" r="1615"/>
          <a:stretch>
            <a:fillRect/>
          </a:stretch>
        </p:blipFill>
        <p:spPr>
          <a:xfrm>
            <a:off x="5486398" y="870282"/>
            <a:ext cx="5295333" cy="406824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0FFE2D-48BB-E263-1D32-3B5C4DEBAE10}"/>
              </a:ext>
            </a:extLst>
          </p:cNvPr>
          <p:cNvSpPr txBox="1"/>
          <p:nvPr/>
        </p:nvSpPr>
        <p:spPr>
          <a:xfrm>
            <a:off x="2279176" y="883930"/>
            <a:ext cx="28969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  <a:effectLst/>
              </a:rPr>
              <a:t>Computational Quantum Materials Design Research Group</a:t>
            </a:r>
            <a:endParaRPr lang="en-VN">
              <a:solidFill>
                <a:schemeClr val="bg1"/>
              </a:solidFill>
            </a:endParaRPr>
          </a:p>
        </p:txBody>
      </p:sp>
      <p:sp>
        <p:nvSpPr>
          <p:cNvPr id="9" name="AutoShape 2" descr="TS. Đỗ Đức Cường">
            <a:extLst>
              <a:ext uri="{FF2B5EF4-FFF2-40B4-BE49-F238E27FC236}">
                <a16:creationId xmlns:a16="http://schemas.microsoft.com/office/drawing/2014/main" id="{EACA8E3A-A99C-1A79-C4CA-2B77E8DD2F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11" name="Picture 10" descr="A person wearing glasses and a blue jacket&#10;&#10;AI-generated content may be incorrect.">
            <a:extLst>
              <a:ext uri="{FF2B5EF4-FFF2-40B4-BE49-F238E27FC236}">
                <a16:creationId xmlns:a16="http://schemas.microsoft.com/office/drawing/2014/main" id="{724C6138-CCE0-D694-B412-0398DF752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559" y="1638300"/>
            <a:ext cx="2619012" cy="3276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ABCF8D-1E67-16B3-3C49-BF6D19005A43}"/>
              </a:ext>
            </a:extLst>
          </p:cNvPr>
          <p:cNvSpPr txBox="1"/>
          <p:nvPr/>
        </p:nvSpPr>
        <p:spPr>
          <a:xfrm>
            <a:off x="3010011" y="4426127"/>
            <a:ext cx="20881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VN"/>
              <a:t>Dr. Do Duc Cuong</a:t>
            </a:r>
          </a:p>
        </p:txBody>
      </p:sp>
      <p:pic>
        <p:nvPicPr>
          <p:cNvPr id="14" name="Picture 13" descr="A close-up of a sign&#10;&#10;AI-generated content may be incorrect.">
            <a:extLst>
              <a:ext uri="{FF2B5EF4-FFF2-40B4-BE49-F238E27FC236}">
                <a16:creationId xmlns:a16="http://schemas.microsoft.com/office/drawing/2014/main" id="{15459B54-6EA7-D47A-BA94-1427712639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6" t="16271" r="8729" b="17279"/>
          <a:stretch>
            <a:fillRect/>
          </a:stretch>
        </p:blipFill>
        <p:spPr>
          <a:xfrm rot="16200000">
            <a:off x="1366549" y="2400801"/>
            <a:ext cx="2060813" cy="53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286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6668-2B7B-2F98-1356-3DAF440A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5FB0C-4EF0-F98F-FE7B-C577FFB02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8194" name="Picture 2" descr="FQsun Demo">
            <a:extLst>
              <a:ext uri="{FF2B5EF4-FFF2-40B4-BE49-F238E27FC236}">
                <a16:creationId xmlns:a16="http://schemas.microsoft.com/office/drawing/2014/main" id="{E0396DA3-2812-D416-BA34-2401FC427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6746"/>
            <a:ext cx="10955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ECG Demo">
            <a:extLst>
              <a:ext uri="{FF2B5EF4-FFF2-40B4-BE49-F238E27FC236}">
                <a16:creationId xmlns:a16="http://schemas.microsoft.com/office/drawing/2014/main" id="{6616C87E-FAB1-F64D-A8E4-F469C0950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5337" y="0"/>
            <a:ext cx="12733504" cy="678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565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6E830DA2-D141-0080-A10A-18F2803EEF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5706" y="-533400"/>
            <a:ext cx="12790393" cy="617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FA0AD19-2E2F-4A50-4961-529E2C1BDCC1}"/>
              </a:ext>
            </a:extLst>
          </p:cNvPr>
          <p:cNvSpPr/>
          <p:nvPr/>
        </p:nvSpPr>
        <p:spPr>
          <a:xfrm>
            <a:off x="6420532" y="517002"/>
            <a:ext cx="1388311" cy="1782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027736-622C-7588-A664-D2552D396E81}"/>
              </a:ext>
            </a:extLst>
          </p:cNvPr>
          <p:cNvCxnSpPr>
            <a:cxnSpLocks/>
          </p:cNvCxnSpPr>
          <p:nvPr/>
        </p:nvCxnSpPr>
        <p:spPr>
          <a:xfrm>
            <a:off x="576488" y="2419432"/>
            <a:ext cx="12524755" cy="1354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A9420BF-5155-0B76-96E2-4E01FD9A4176}"/>
              </a:ext>
            </a:extLst>
          </p:cNvPr>
          <p:cNvSpPr txBox="1"/>
          <p:nvPr/>
        </p:nvSpPr>
        <p:spPr>
          <a:xfrm>
            <a:off x="608745" y="2981975"/>
            <a:ext cx="134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cs typeface="Times New Roman" panose="02020603050405020304" pitchFamily="18" charset="0"/>
              </a:rPr>
              <a:t>R&amp;D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81463F-234D-8526-28A4-E833F44C1E25}"/>
              </a:ext>
            </a:extLst>
          </p:cNvPr>
          <p:cNvSpPr txBox="1"/>
          <p:nvPr/>
        </p:nvSpPr>
        <p:spPr>
          <a:xfrm>
            <a:off x="608745" y="1286648"/>
            <a:ext cx="1400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Academy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BC46A-7770-4085-667C-0FD21E0B021C}"/>
              </a:ext>
            </a:extLst>
          </p:cNvPr>
          <p:cNvSpPr txBox="1"/>
          <p:nvPr/>
        </p:nvSpPr>
        <p:spPr>
          <a:xfrm>
            <a:off x="578340" y="4300271"/>
            <a:ext cx="24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  <a:cs typeface="Times New Roman" panose="02020603050405020304" pitchFamily="18" charset="0"/>
              </a:rPr>
              <a:t>Startup</a:t>
            </a:r>
            <a:endParaRPr lang="en-GB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915B31-43A5-4C0B-2D61-3084F6EA5194}"/>
              </a:ext>
            </a:extLst>
          </p:cNvPr>
          <p:cNvCxnSpPr>
            <a:cxnSpLocks/>
          </p:cNvCxnSpPr>
          <p:nvPr/>
        </p:nvCxnSpPr>
        <p:spPr>
          <a:xfrm>
            <a:off x="533627" y="3846109"/>
            <a:ext cx="12567616" cy="1351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0FA5A9C-18E7-6EEE-15A1-8042AFC24EFB}"/>
              </a:ext>
            </a:extLst>
          </p:cNvPr>
          <p:cNvCxnSpPr>
            <a:cxnSpLocks/>
          </p:cNvCxnSpPr>
          <p:nvPr/>
        </p:nvCxnSpPr>
        <p:spPr>
          <a:xfrm>
            <a:off x="1923146" y="500743"/>
            <a:ext cx="0" cy="465704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68B5793-D12D-F5DF-E339-A600EE2EDF3E}"/>
              </a:ext>
            </a:extLst>
          </p:cNvPr>
          <p:cNvSpPr/>
          <p:nvPr/>
        </p:nvSpPr>
        <p:spPr>
          <a:xfrm>
            <a:off x="2039258" y="675396"/>
            <a:ext cx="2521566" cy="471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High school student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B6A0E8F-C178-A5C1-C7BD-3FAF3668010A}"/>
              </a:ext>
            </a:extLst>
          </p:cNvPr>
          <p:cNvCxnSpPr>
            <a:cxnSpLocks/>
          </p:cNvCxnSpPr>
          <p:nvPr/>
        </p:nvCxnSpPr>
        <p:spPr>
          <a:xfrm>
            <a:off x="4717143" y="500743"/>
            <a:ext cx="0" cy="465704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7586DB8-BA51-8305-B0C3-EF321CF93C3C}"/>
              </a:ext>
            </a:extLst>
          </p:cNvPr>
          <p:cNvCxnSpPr>
            <a:cxnSpLocks/>
          </p:cNvCxnSpPr>
          <p:nvPr/>
        </p:nvCxnSpPr>
        <p:spPr>
          <a:xfrm>
            <a:off x="6313714" y="493483"/>
            <a:ext cx="0" cy="181428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7BEF14A7-7591-1620-7E04-B21A2D132CB0}"/>
              </a:ext>
            </a:extLst>
          </p:cNvPr>
          <p:cNvSpPr/>
          <p:nvPr/>
        </p:nvSpPr>
        <p:spPr>
          <a:xfrm>
            <a:off x="2039258" y="1267740"/>
            <a:ext cx="2521566" cy="4712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Undergraduate student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482E67F-EBCF-5744-0BAE-63577B48D0A7}"/>
              </a:ext>
            </a:extLst>
          </p:cNvPr>
          <p:cNvCxnSpPr>
            <a:cxnSpLocks/>
          </p:cNvCxnSpPr>
          <p:nvPr/>
        </p:nvCxnSpPr>
        <p:spPr>
          <a:xfrm>
            <a:off x="7932057" y="493483"/>
            <a:ext cx="0" cy="181428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31E00A0-2DD3-3A54-AC0C-A12A7A4D820C}"/>
              </a:ext>
            </a:extLst>
          </p:cNvPr>
          <p:cNvCxnSpPr>
            <a:cxnSpLocks/>
          </p:cNvCxnSpPr>
          <p:nvPr/>
        </p:nvCxnSpPr>
        <p:spPr>
          <a:xfrm>
            <a:off x="9561285" y="493483"/>
            <a:ext cx="0" cy="181428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8FD8CA1-C9F5-446A-4ACD-CA54BF93A317}"/>
              </a:ext>
            </a:extLst>
          </p:cNvPr>
          <p:cNvCxnSpPr>
            <a:cxnSpLocks/>
          </p:cNvCxnSpPr>
          <p:nvPr/>
        </p:nvCxnSpPr>
        <p:spPr>
          <a:xfrm>
            <a:off x="11362871" y="506183"/>
            <a:ext cx="0" cy="465160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6111B6D9-92DB-FE5B-94BF-2C2DB2A3DD93}"/>
              </a:ext>
            </a:extLst>
          </p:cNvPr>
          <p:cNvSpPr/>
          <p:nvPr/>
        </p:nvSpPr>
        <p:spPr>
          <a:xfrm>
            <a:off x="2039258" y="1850616"/>
            <a:ext cx="2521566" cy="47123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MS/PhD student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9C1EE7-EAE4-83F5-64EA-B85787AEC916}"/>
              </a:ext>
            </a:extLst>
          </p:cNvPr>
          <p:cNvSpPr txBox="1"/>
          <p:nvPr/>
        </p:nvSpPr>
        <p:spPr>
          <a:xfrm>
            <a:off x="4932818" y="-187035"/>
            <a:ext cx="1142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months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A5D1669-4868-CD1A-B00A-C616D2BA0FD3}"/>
              </a:ext>
            </a:extLst>
          </p:cNvPr>
          <p:cNvSpPr/>
          <p:nvPr/>
        </p:nvSpPr>
        <p:spPr>
          <a:xfrm>
            <a:off x="4820554" y="525205"/>
            <a:ext cx="1388311" cy="1782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9F1BEA-FF54-7654-E9FE-7DB6AB9D34C8}"/>
              </a:ext>
            </a:extLst>
          </p:cNvPr>
          <p:cNvSpPr txBox="1"/>
          <p:nvPr/>
        </p:nvSpPr>
        <p:spPr>
          <a:xfrm>
            <a:off x="576488" y="5284456"/>
            <a:ext cx="2659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*Free, **Paid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6D31F03-4FE4-9AA9-52F2-FD4B7A524C89}"/>
              </a:ext>
            </a:extLst>
          </p:cNvPr>
          <p:cNvSpPr/>
          <p:nvPr/>
        </p:nvSpPr>
        <p:spPr>
          <a:xfrm>
            <a:off x="2039259" y="675396"/>
            <a:ext cx="2518229" cy="46939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9F0E64-993E-E3ED-6A50-CDDDC8ED6DF7}"/>
              </a:ext>
            </a:extLst>
          </p:cNvPr>
          <p:cNvSpPr txBox="1"/>
          <p:nvPr/>
        </p:nvSpPr>
        <p:spPr>
          <a:xfrm>
            <a:off x="4660900" y="209225"/>
            <a:ext cx="1769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Basic </a:t>
            </a:r>
            <a:r>
              <a:rPr lang="en-US" sz="1400" dirty="0"/>
              <a:t>k</a:t>
            </a:r>
            <a:r>
              <a:rPr lang="en-US" sz="1400" dirty="0">
                <a:solidFill>
                  <a:schemeClr val="tx1"/>
                </a:solidFill>
              </a:rPr>
              <a:t>nowledge*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E9F0840-33B5-384F-CF28-5EC54E0EA3F9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4557488" y="910092"/>
            <a:ext cx="1538512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E9A793E-F49F-B7F2-BC3B-D943296A6625}"/>
              </a:ext>
            </a:extLst>
          </p:cNvPr>
          <p:cNvSpPr/>
          <p:nvPr/>
        </p:nvSpPr>
        <p:spPr>
          <a:xfrm>
            <a:off x="9674230" y="517002"/>
            <a:ext cx="1388311" cy="1782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A285132-890B-39F6-B1DA-B0B44EE2CEA0}"/>
              </a:ext>
            </a:extLst>
          </p:cNvPr>
          <p:cNvSpPr/>
          <p:nvPr/>
        </p:nvSpPr>
        <p:spPr>
          <a:xfrm>
            <a:off x="8055202" y="518855"/>
            <a:ext cx="1388311" cy="1782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098B79-3AB0-77D4-DED3-581A965F7675}"/>
              </a:ext>
            </a:extLst>
          </p:cNvPr>
          <p:cNvSpPr txBox="1"/>
          <p:nvPr/>
        </p:nvSpPr>
        <p:spPr>
          <a:xfrm>
            <a:off x="6431711" y="189826"/>
            <a:ext cx="1382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Module 1**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A0767F-364D-439D-16C3-43503FD334E8}"/>
              </a:ext>
            </a:extLst>
          </p:cNvPr>
          <p:cNvSpPr txBox="1"/>
          <p:nvPr/>
        </p:nvSpPr>
        <p:spPr>
          <a:xfrm>
            <a:off x="8060938" y="196687"/>
            <a:ext cx="1382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Module 2**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E255BB-8A68-032F-1759-6B52F14554AF}"/>
              </a:ext>
            </a:extLst>
          </p:cNvPr>
          <p:cNvSpPr txBox="1"/>
          <p:nvPr/>
        </p:nvSpPr>
        <p:spPr>
          <a:xfrm>
            <a:off x="9690165" y="189826"/>
            <a:ext cx="1382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Module 3**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0AB2DBF-C4D0-8EE3-F8BA-8F0F17FE13BA}"/>
              </a:ext>
            </a:extLst>
          </p:cNvPr>
          <p:cNvCxnSpPr>
            <a:cxnSpLocks/>
          </p:cNvCxnSpPr>
          <p:nvPr/>
        </p:nvCxnSpPr>
        <p:spPr>
          <a:xfrm>
            <a:off x="4557488" y="1487005"/>
            <a:ext cx="6383562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CCF426B1-FA81-90DF-4E7A-BAA1046582E1}"/>
              </a:ext>
            </a:extLst>
          </p:cNvPr>
          <p:cNvSpPr/>
          <p:nvPr/>
        </p:nvSpPr>
        <p:spPr>
          <a:xfrm>
            <a:off x="6096000" y="1390037"/>
            <a:ext cx="397575" cy="16794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Test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B5F7580-4917-A0F5-38DC-62C46C269223}"/>
              </a:ext>
            </a:extLst>
          </p:cNvPr>
          <p:cNvCxnSpPr>
            <a:cxnSpLocks/>
          </p:cNvCxnSpPr>
          <p:nvPr/>
        </p:nvCxnSpPr>
        <p:spPr>
          <a:xfrm>
            <a:off x="6430804" y="2083905"/>
            <a:ext cx="4510246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CEB8AACC-882B-EECA-8B0F-3E132B487856}"/>
              </a:ext>
            </a:extLst>
          </p:cNvPr>
          <p:cNvSpPr/>
          <p:nvPr/>
        </p:nvSpPr>
        <p:spPr>
          <a:xfrm>
            <a:off x="10928658" y="1309902"/>
            <a:ext cx="337421" cy="33742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D724698-BD4A-C941-7172-ADF4869AEE18}"/>
              </a:ext>
            </a:extLst>
          </p:cNvPr>
          <p:cNvSpPr txBox="1"/>
          <p:nvPr/>
        </p:nvSpPr>
        <p:spPr>
          <a:xfrm>
            <a:off x="10894402" y="1371753"/>
            <a:ext cx="4267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End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FC68994-A4CE-6793-E57A-959D2D782358}"/>
              </a:ext>
            </a:extLst>
          </p:cNvPr>
          <p:cNvSpPr/>
          <p:nvPr/>
        </p:nvSpPr>
        <p:spPr>
          <a:xfrm>
            <a:off x="10941050" y="1894160"/>
            <a:ext cx="337421" cy="33742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042964F-58C8-40FE-23E8-60FB730CB105}"/>
              </a:ext>
            </a:extLst>
          </p:cNvPr>
          <p:cNvSpPr txBox="1"/>
          <p:nvPr/>
        </p:nvSpPr>
        <p:spPr>
          <a:xfrm>
            <a:off x="10932850" y="1962048"/>
            <a:ext cx="365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End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AEE174A-0344-5225-D69D-2278A5238E90}"/>
              </a:ext>
            </a:extLst>
          </p:cNvPr>
          <p:cNvSpPr/>
          <p:nvPr/>
        </p:nvSpPr>
        <p:spPr>
          <a:xfrm>
            <a:off x="6100159" y="723851"/>
            <a:ext cx="337421" cy="33742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DA815A7-E04A-62F8-BEB1-CBAFDCF204E1}"/>
              </a:ext>
            </a:extLst>
          </p:cNvPr>
          <p:cNvSpPr txBox="1"/>
          <p:nvPr/>
        </p:nvSpPr>
        <p:spPr>
          <a:xfrm>
            <a:off x="5954451" y="791739"/>
            <a:ext cx="6365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End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D259E1-9540-88BF-68EA-367D2C25AFC4}"/>
              </a:ext>
            </a:extLst>
          </p:cNvPr>
          <p:cNvSpPr/>
          <p:nvPr/>
        </p:nvSpPr>
        <p:spPr>
          <a:xfrm>
            <a:off x="11517994" y="510201"/>
            <a:ext cx="1583249" cy="1782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371D708-787D-5FB5-B3C7-AEB0D24FAF8C}"/>
              </a:ext>
            </a:extLst>
          </p:cNvPr>
          <p:cNvSpPr/>
          <p:nvPr/>
        </p:nvSpPr>
        <p:spPr>
          <a:xfrm>
            <a:off x="11443462" y="1687134"/>
            <a:ext cx="462926" cy="15939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Test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C52992F3-C38B-A410-4EA8-AC7FF64E5F40}"/>
              </a:ext>
            </a:extLst>
          </p:cNvPr>
          <p:cNvCxnSpPr>
            <a:cxnSpLocks/>
            <a:stCxn id="86" idx="6"/>
            <a:endCxn id="95" idx="0"/>
          </p:cNvCxnSpPr>
          <p:nvPr/>
        </p:nvCxnSpPr>
        <p:spPr>
          <a:xfrm>
            <a:off x="11266079" y="1478613"/>
            <a:ext cx="408846" cy="208521"/>
          </a:xfrm>
          <a:prstGeom prst="bent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5E5CF676-FE6B-3C20-4DB7-2C358D11B3C1}"/>
              </a:ext>
            </a:extLst>
          </p:cNvPr>
          <p:cNvCxnSpPr>
            <a:cxnSpLocks/>
            <a:stCxn id="89" idx="6"/>
            <a:endCxn id="95" idx="2"/>
          </p:cNvCxnSpPr>
          <p:nvPr/>
        </p:nvCxnSpPr>
        <p:spPr>
          <a:xfrm flipV="1">
            <a:off x="11278471" y="1846526"/>
            <a:ext cx="396454" cy="216345"/>
          </a:xfrm>
          <a:prstGeom prst="bentConnector2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8819CD17-70E0-E0B5-1103-F20E61EFFF86}"/>
              </a:ext>
            </a:extLst>
          </p:cNvPr>
          <p:cNvSpPr txBox="1"/>
          <p:nvPr/>
        </p:nvSpPr>
        <p:spPr>
          <a:xfrm>
            <a:off x="11566201" y="182297"/>
            <a:ext cx="13824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Project*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5FBAD78-0AB5-B282-ECC8-A9EBBB2FD1F2}"/>
              </a:ext>
            </a:extLst>
          </p:cNvPr>
          <p:cNvSpPr/>
          <p:nvPr/>
        </p:nvSpPr>
        <p:spPr>
          <a:xfrm>
            <a:off x="2035922" y="2704964"/>
            <a:ext cx="2521566" cy="47123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Staff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5547843-F385-CE39-8B61-4F0934A340A5}"/>
              </a:ext>
            </a:extLst>
          </p:cNvPr>
          <p:cNvSpPr/>
          <p:nvPr/>
        </p:nvSpPr>
        <p:spPr>
          <a:xfrm>
            <a:off x="2039258" y="3267853"/>
            <a:ext cx="2521566" cy="47123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Partner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35DFECE-B982-6B30-CF20-61A324E29B08}"/>
              </a:ext>
            </a:extLst>
          </p:cNvPr>
          <p:cNvSpPr/>
          <p:nvPr/>
        </p:nvSpPr>
        <p:spPr>
          <a:xfrm>
            <a:off x="2048547" y="3971186"/>
            <a:ext cx="2521566" cy="47123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Mentor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5C03046-A34E-E551-9FCB-490B55E92513}"/>
              </a:ext>
            </a:extLst>
          </p:cNvPr>
          <p:cNvSpPr/>
          <p:nvPr/>
        </p:nvSpPr>
        <p:spPr>
          <a:xfrm>
            <a:off x="2051883" y="4534075"/>
            <a:ext cx="2521566" cy="47123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Advisor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6A1C7FA-2777-3BF5-C68C-25388E74F2D2}"/>
              </a:ext>
            </a:extLst>
          </p:cNvPr>
          <p:cNvSpPr txBox="1"/>
          <p:nvPr/>
        </p:nvSpPr>
        <p:spPr>
          <a:xfrm>
            <a:off x="6493575" y="-187035"/>
            <a:ext cx="1142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months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FA9783D-384C-8ADE-D244-E07854C01A43}"/>
              </a:ext>
            </a:extLst>
          </p:cNvPr>
          <p:cNvSpPr txBox="1"/>
          <p:nvPr/>
        </p:nvSpPr>
        <p:spPr>
          <a:xfrm>
            <a:off x="8120394" y="-179929"/>
            <a:ext cx="1142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months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607732E-03D6-F0B4-7BC4-882B2709F5BA}"/>
              </a:ext>
            </a:extLst>
          </p:cNvPr>
          <p:cNvSpPr txBox="1"/>
          <p:nvPr/>
        </p:nvSpPr>
        <p:spPr>
          <a:xfrm>
            <a:off x="9681151" y="-179929"/>
            <a:ext cx="1142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months</a:t>
            </a:r>
          </a:p>
        </p:txBody>
      </p:sp>
      <p:cxnSp>
        <p:nvCxnSpPr>
          <p:cNvPr id="124" name="Connector: Curved 123">
            <a:extLst>
              <a:ext uri="{FF2B5EF4-FFF2-40B4-BE49-F238E27FC236}">
                <a16:creationId xmlns:a16="http://schemas.microsoft.com/office/drawing/2014/main" id="{C167DAEC-5242-224E-B770-135A0E27D3B7}"/>
              </a:ext>
            </a:extLst>
          </p:cNvPr>
          <p:cNvCxnSpPr>
            <a:cxnSpLocks/>
            <a:stCxn id="63" idx="0"/>
            <a:endCxn id="120" idx="0"/>
          </p:cNvCxnSpPr>
          <p:nvPr/>
        </p:nvCxnSpPr>
        <p:spPr>
          <a:xfrm rot="5400000" flipH="1" flipV="1">
            <a:off x="6284338" y="-967413"/>
            <a:ext cx="12700" cy="156075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Connector: Curved 126">
            <a:extLst>
              <a:ext uri="{FF2B5EF4-FFF2-40B4-BE49-F238E27FC236}">
                <a16:creationId xmlns:a16="http://schemas.microsoft.com/office/drawing/2014/main" id="{1DE53310-E78C-20D3-3F13-6F79ED9E0B73}"/>
              </a:ext>
            </a:extLst>
          </p:cNvPr>
          <p:cNvCxnSpPr>
            <a:cxnSpLocks/>
            <a:stCxn id="120" idx="0"/>
            <a:endCxn id="121" idx="0"/>
          </p:cNvCxnSpPr>
          <p:nvPr/>
        </p:nvCxnSpPr>
        <p:spPr>
          <a:xfrm rot="16200000" flipH="1">
            <a:off x="7874573" y="-996891"/>
            <a:ext cx="7106" cy="1626819"/>
          </a:xfrm>
          <a:prstGeom prst="curvedConnector3">
            <a:avLst>
              <a:gd name="adj1" fmla="val -3217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Connector: Curved 129">
            <a:extLst>
              <a:ext uri="{FF2B5EF4-FFF2-40B4-BE49-F238E27FC236}">
                <a16:creationId xmlns:a16="http://schemas.microsoft.com/office/drawing/2014/main" id="{1270A273-260B-7C4D-A08C-34EFF3413A5E}"/>
              </a:ext>
            </a:extLst>
          </p:cNvPr>
          <p:cNvCxnSpPr>
            <a:cxnSpLocks/>
            <a:stCxn id="121" idx="0"/>
            <a:endCxn id="122" idx="0"/>
          </p:cNvCxnSpPr>
          <p:nvPr/>
        </p:nvCxnSpPr>
        <p:spPr>
          <a:xfrm rot="5400000" flipH="1" flipV="1">
            <a:off x="9471914" y="-960307"/>
            <a:ext cx="12700" cy="156075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B74E1A4C-9060-3B14-48D6-F3C21F82C374}"/>
              </a:ext>
            </a:extLst>
          </p:cNvPr>
          <p:cNvSpPr txBox="1"/>
          <p:nvPr/>
        </p:nvSpPr>
        <p:spPr>
          <a:xfrm>
            <a:off x="11566201" y="576417"/>
            <a:ext cx="179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1,2</a:t>
            </a:r>
          </a:p>
          <a:p>
            <a:r>
              <a:rPr lang="en-US" dirty="0"/>
              <a:t>Thesis</a:t>
            </a:r>
          </a:p>
        </p:txBody>
      </p:sp>
      <p:pic>
        <p:nvPicPr>
          <p:cNvPr id="138" name="Picture 137" descr="A black and white logo with a brain">
            <a:extLst>
              <a:ext uri="{FF2B5EF4-FFF2-40B4-BE49-F238E27FC236}">
                <a16:creationId xmlns:a16="http://schemas.microsoft.com/office/drawing/2014/main" id="{02EB5EC5-5A9D-6630-F7CB-F85C0501D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07" y="-316884"/>
            <a:ext cx="808112" cy="1012574"/>
          </a:xfrm>
          <a:prstGeom prst="rect">
            <a:avLst/>
          </a:prstGeom>
        </p:spPr>
      </p:pic>
      <p:sp>
        <p:nvSpPr>
          <p:cNvPr id="139" name="Rectangle 138">
            <a:extLst>
              <a:ext uri="{FF2B5EF4-FFF2-40B4-BE49-F238E27FC236}">
                <a16:creationId xmlns:a16="http://schemas.microsoft.com/office/drawing/2014/main" id="{3E893622-3B8D-A7B1-1F45-735412E9DE75}"/>
              </a:ext>
            </a:extLst>
          </p:cNvPr>
          <p:cNvSpPr/>
          <p:nvPr/>
        </p:nvSpPr>
        <p:spPr>
          <a:xfrm>
            <a:off x="4827934" y="2718173"/>
            <a:ext cx="911209" cy="1035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431D182-90F0-A7E7-8C27-838F32530F96}"/>
              </a:ext>
            </a:extLst>
          </p:cNvPr>
          <p:cNvSpPr txBox="1"/>
          <p:nvPr/>
        </p:nvSpPr>
        <p:spPr>
          <a:xfrm>
            <a:off x="4864174" y="3070110"/>
            <a:ext cx="87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Design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F782BBF-D5DF-46EF-68B7-C85DBD206B77}"/>
              </a:ext>
            </a:extLst>
          </p:cNvPr>
          <p:cNvSpPr/>
          <p:nvPr/>
        </p:nvSpPr>
        <p:spPr>
          <a:xfrm>
            <a:off x="7004010" y="2725282"/>
            <a:ext cx="1315268" cy="1023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40B48CA-9F5E-E0C0-A46E-7A53E0295709}"/>
              </a:ext>
            </a:extLst>
          </p:cNvPr>
          <p:cNvSpPr txBox="1"/>
          <p:nvPr/>
        </p:nvSpPr>
        <p:spPr>
          <a:xfrm>
            <a:off x="7030117" y="3048882"/>
            <a:ext cx="127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Simulation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B531F86-CFC3-0485-4C57-04461ACD623A}"/>
              </a:ext>
            </a:extLst>
          </p:cNvPr>
          <p:cNvSpPr/>
          <p:nvPr/>
        </p:nvSpPr>
        <p:spPr>
          <a:xfrm>
            <a:off x="9549042" y="2702044"/>
            <a:ext cx="624564" cy="1035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4399058-74D1-A08A-2FDA-AF9D890A9266}"/>
              </a:ext>
            </a:extLst>
          </p:cNvPr>
          <p:cNvSpPr txBox="1"/>
          <p:nvPr/>
        </p:nvSpPr>
        <p:spPr>
          <a:xfrm>
            <a:off x="9561284" y="3053981"/>
            <a:ext cx="604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Test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F444B47-D22A-977C-3C49-7E9907FA7A4D}"/>
              </a:ext>
            </a:extLst>
          </p:cNvPr>
          <p:cNvSpPr/>
          <p:nvPr/>
        </p:nvSpPr>
        <p:spPr>
          <a:xfrm>
            <a:off x="11517994" y="2693135"/>
            <a:ext cx="1580844" cy="1035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675F8C1-4734-D23E-AB82-C7FE6B5A972C}"/>
              </a:ext>
            </a:extLst>
          </p:cNvPr>
          <p:cNvSpPr txBox="1"/>
          <p:nvPr/>
        </p:nvSpPr>
        <p:spPr>
          <a:xfrm>
            <a:off x="11554234" y="2879972"/>
            <a:ext cx="1122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Fabricate chip</a:t>
            </a:r>
          </a:p>
        </p:txBody>
      </p:sp>
      <p:pic>
        <p:nvPicPr>
          <p:cNvPr id="1026" name="Picture 2" descr="May be an image of text">
            <a:extLst>
              <a:ext uri="{FF2B5EF4-FFF2-40B4-BE49-F238E27FC236}">
                <a16:creationId xmlns:a16="http://schemas.microsoft.com/office/drawing/2014/main" id="{CAB84BA2-72C1-C7E5-EBCC-D9CE0EB4B0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5" t="18693" r="2145" b="22945"/>
          <a:stretch>
            <a:fillRect/>
          </a:stretch>
        </p:blipFill>
        <p:spPr bwMode="auto">
          <a:xfrm rot="16200000">
            <a:off x="10213323" y="2752512"/>
            <a:ext cx="1049672" cy="91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y be an image of text">
            <a:extLst>
              <a:ext uri="{FF2B5EF4-FFF2-40B4-BE49-F238E27FC236}">
                <a16:creationId xmlns:a16="http://schemas.microsoft.com/office/drawing/2014/main" id="{7B5CDA45-8060-D4BA-A52E-DA5723B8A0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" t="6307" r="12617" b="13272"/>
          <a:stretch>
            <a:fillRect/>
          </a:stretch>
        </p:blipFill>
        <p:spPr bwMode="auto">
          <a:xfrm>
            <a:off x="8402845" y="2716344"/>
            <a:ext cx="843408" cy="104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D69769FA-8426-EFDC-2559-793F9058D5A8}"/>
              </a:ext>
            </a:extLst>
          </p:cNvPr>
          <p:cNvCxnSpPr>
            <a:cxnSpLocks/>
            <a:stCxn id="1028" idx="3"/>
            <a:endCxn id="144" idx="1"/>
          </p:cNvCxnSpPr>
          <p:nvPr/>
        </p:nvCxnSpPr>
        <p:spPr>
          <a:xfrm flipV="1">
            <a:off x="9246253" y="3238647"/>
            <a:ext cx="315031" cy="84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5FD0E53C-BFB3-D059-8E66-8DF3FDFC4F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" r="54320"/>
          <a:stretch>
            <a:fillRect/>
          </a:stretch>
        </p:blipFill>
        <p:spPr>
          <a:xfrm>
            <a:off x="5821607" y="2706480"/>
            <a:ext cx="802203" cy="1049672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18883CC-4160-7A2A-77DB-47494A7F71CB}"/>
              </a:ext>
            </a:extLst>
          </p:cNvPr>
          <p:cNvCxnSpPr>
            <a:cxnSpLocks/>
            <a:stCxn id="150" idx="3"/>
            <a:endCxn id="142" idx="1"/>
          </p:cNvCxnSpPr>
          <p:nvPr/>
        </p:nvCxnSpPr>
        <p:spPr>
          <a:xfrm>
            <a:off x="6623810" y="3231316"/>
            <a:ext cx="406307" cy="22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094D7AB-65D9-F0A3-754F-1D0BC839031D}"/>
              </a:ext>
            </a:extLst>
          </p:cNvPr>
          <p:cNvCxnSpPr>
            <a:cxnSpLocks/>
          </p:cNvCxnSpPr>
          <p:nvPr/>
        </p:nvCxnSpPr>
        <p:spPr>
          <a:xfrm>
            <a:off x="11212632" y="3231316"/>
            <a:ext cx="31503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548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C1DD-B2BC-5372-DB64-548F18963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065AE8-CF88-2B76-EB80-7820579EFC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05933" cy="1603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9600" b="0" i="1">
                          <a:latin typeface="Cambria Math" panose="02040503050406030204" pitchFamily="18" charset="0"/>
                        </a:rPr>
                        <m:t>{</m:t>
                      </m:r>
                    </m:oMath>
                  </m:oMathPara>
                </a14:m>
                <a:endParaRPr lang="en-VN" sz="96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065AE8-CF88-2B76-EB80-7820579EF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05933" cy="1603375"/>
              </a:xfrm>
              <a:blipFill>
                <a:blip r:embed="rId2"/>
                <a:stretch>
                  <a:fillRect l="-38889" t="-7031" r="-38889" b="-156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124D4F4E-ABB9-D85B-8C02-2A08699436B0}"/>
              </a:ext>
            </a:extLst>
          </p:cNvPr>
          <p:cNvSpPr/>
          <p:nvPr/>
        </p:nvSpPr>
        <p:spPr>
          <a:xfrm>
            <a:off x="3115733" y="2929467"/>
            <a:ext cx="660400" cy="3285066"/>
          </a:xfrm>
          <a:prstGeom prst="leftBrace">
            <a:avLst>
              <a:gd name="adj1" fmla="val 4121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08389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077F-41B6-D4CE-69F2-4FEA2624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0459AAF-90AF-99FA-2029-9C89A2D4CE6F}"/>
              </a:ext>
            </a:extLst>
          </p:cNvPr>
          <p:cNvSpPr/>
          <p:nvPr/>
        </p:nvSpPr>
        <p:spPr>
          <a:xfrm>
            <a:off x="2659531" y="1588548"/>
            <a:ext cx="5940000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CBDEC0-EF99-6705-F6FB-146EF6FF1516}"/>
              </a:ext>
            </a:extLst>
          </p:cNvPr>
          <p:cNvSpPr/>
          <p:nvPr/>
        </p:nvSpPr>
        <p:spPr>
          <a:xfrm rot="5400000">
            <a:off x="5117778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3AC6A68-DF78-55D2-D5EC-17DD0B1A927E}"/>
              </a:ext>
            </a:extLst>
          </p:cNvPr>
          <p:cNvSpPr/>
          <p:nvPr/>
        </p:nvSpPr>
        <p:spPr>
          <a:xfrm rot="5400000">
            <a:off x="4721674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B80439-CF4F-7920-06FB-01E46E1518AA}"/>
              </a:ext>
            </a:extLst>
          </p:cNvPr>
          <p:cNvSpPr/>
          <p:nvPr/>
        </p:nvSpPr>
        <p:spPr>
          <a:xfrm rot="5400000">
            <a:off x="4325569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DA76D03-293D-20E0-2FEB-768E8CFC1B35}"/>
              </a:ext>
            </a:extLst>
          </p:cNvPr>
          <p:cNvSpPr/>
          <p:nvPr/>
        </p:nvSpPr>
        <p:spPr>
          <a:xfrm>
            <a:off x="4728512" y="315543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0447D0E-C512-A1F9-F680-3657CE4C9C38}"/>
              </a:ext>
            </a:extLst>
          </p:cNvPr>
          <p:cNvSpPr/>
          <p:nvPr/>
        </p:nvSpPr>
        <p:spPr>
          <a:xfrm>
            <a:off x="4728512" y="28243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A04D6BA-7FB0-BB25-3927-ABFC45A6BD05}"/>
              </a:ext>
            </a:extLst>
          </p:cNvPr>
          <p:cNvSpPr/>
          <p:nvPr/>
        </p:nvSpPr>
        <p:spPr>
          <a:xfrm>
            <a:off x="4728512" y="249318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C2C387-FC5A-50BE-5656-954E174DF63D}"/>
              </a:ext>
            </a:extLst>
          </p:cNvPr>
          <p:cNvSpPr/>
          <p:nvPr/>
        </p:nvSpPr>
        <p:spPr>
          <a:xfrm>
            <a:off x="4904554" y="21670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AE7D31E-3AB9-8225-DB86-024F57DEC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297" y="27254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ACEAB02-6CD0-8D01-21AD-A1C40E5E6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24" y="2225355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28451E5-A62A-0375-5585-1ED1E95B7598}"/>
              </a:ext>
            </a:extLst>
          </p:cNvPr>
          <p:cNvSpPr txBox="1"/>
          <p:nvPr/>
        </p:nvSpPr>
        <p:spPr>
          <a:xfrm>
            <a:off x="4824511" y="372896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004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74EA-F32B-ADF0-E56D-5BB0DCBB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90A71C-B431-E2B4-6572-47A39318F0F2}"/>
              </a:ext>
            </a:extLst>
          </p:cNvPr>
          <p:cNvSpPr/>
          <p:nvPr/>
        </p:nvSpPr>
        <p:spPr>
          <a:xfrm rot="5400000">
            <a:off x="616139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D9443E-B720-3E7E-C06E-01DB82FCFA68}"/>
              </a:ext>
            </a:extLst>
          </p:cNvPr>
          <p:cNvSpPr/>
          <p:nvPr/>
        </p:nvSpPr>
        <p:spPr>
          <a:xfrm rot="5400000">
            <a:off x="220035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52CF2D-EE59-052E-33AA-C05D4C249B4A}"/>
              </a:ext>
            </a:extLst>
          </p:cNvPr>
          <p:cNvSpPr/>
          <p:nvPr/>
        </p:nvSpPr>
        <p:spPr>
          <a:xfrm rot="5400000">
            <a:off x="-176070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A8B208-5278-3F0F-6943-A59AB5D25909}"/>
              </a:ext>
            </a:extLst>
          </p:cNvPr>
          <p:cNvSpPr/>
          <p:nvPr/>
        </p:nvSpPr>
        <p:spPr>
          <a:xfrm>
            <a:off x="226873" y="295433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5381A-C50E-3701-E24E-2DE4DE358F27}"/>
              </a:ext>
            </a:extLst>
          </p:cNvPr>
          <p:cNvSpPr/>
          <p:nvPr/>
        </p:nvSpPr>
        <p:spPr>
          <a:xfrm>
            <a:off x="226873" y="262321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DDE37E-733E-FDE8-A749-9CA64ACDD23D}"/>
              </a:ext>
            </a:extLst>
          </p:cNvPr>
          <p:cNvSpPr/>
          <p:nvPr/>
        </p:nvSpPr>
        <p:spPr>
          <a:xfrm>
            <a:off x="226873" y="229208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508132-1031-101E-297A-C0A354AF67D3}"/>
              </a:ext>
            </a:extLst>
          </p:cNvPr>
          <p:cNvSpPr/>
          <p:nvPr/>
        </p:nvSpPr>
        <p:spPr>
          <a:xfrm>
            <a:off x="402915" y="1965960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F205CF90-0198-35EF-AF0A-1C819809C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58" y="2524347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B37BB288-4367-C0CB-867E-0FCF20971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91" y="2052859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A0F6A5-FF0E-7735-F7B8-090426E984EE}"/>
              </a:ext>
            </a:extLst>
          </p:cNvPr>
          <p:cNvSpPr txBox="1"/>
          <p:nvPr/>
        </p:nvSpPr>
        <p:spPr>
          <a:xfrm>
            <a:off x="322872" y="3527863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30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0381-9FCF-D613-489F-178D9DFC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C992C3-C7FB-D26B-6BF6-ACE53B88B420}"/>
              </a:ext>
            </a:extLst>
          </p:cNvPr>
          <p:cNvSpPr/>
          <p:nvPr/>
        </p:nvSpPr>
        <p:spPr>
          <a:xfrm rot="5400000">
            <a:off x="4250590" y="22209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D6DF5E-D1A2-4B70-EF86-D1483CBE53DB}"/>
              </a:ext>
            </a:extLst>
          </p:cNvPr>
          <p:cNvSpPr/>
          <p:nvPr/>
        </p:nvSpPr>
        <p:spPr>
          <a:xfrm rot="5400000">
            <a:off x="3854486" y="22209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30504-C376-C8C8-7405-42F53BBC831D}"/>
              </a:ext>
            </a:extLst>
          </p:cNvPr>
          <p:cNvSpPr/>
          <p:nvPr/>
        </p:nvSpPr>
        <p:spPr>
          <a:xfrm rot="5400000">
            <a:off x="3458381" y="22209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8DF179-8203-A633-43D2-456102CA0A47}"/>
              </a:ext>
            </a:extLst>
          </p:cNvPr>
          <p:cNvSpPr/>
          <p:nvPr/>
        </p:nvSpPr>
        <p:spPr>
          <a:xfrm>
            <a:off x="3861324" y="252607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BF61AC-FA6A-260B-54E1-1CF57C2DE670}"/>
              </a:ext>
            </a:extLst>
          </p:cNvPr>
          <p:cNvSpPr/>
          <p:nvPr/>
        </p:nvSpPr>
        <p:spPr>
          <a:xfrm>
            <a:off x="3861324" y="219494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3F46BC-C6BD-BDB9-CDFA-95DFA217EDAD}"/>
              </a:ext>
            </a:extLst>
          </p:cNvPr>
          <p:cNvSpPr/>
          <p:nvPr/>
        </p:nvSpPr>
        <p:spPr>
          <a:xfrm>
            <a:off x="3861324" y="186382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C4D5D2-FFFD-0551-B674-00B0259AD8C9}"/>
              </a:ext>
            </a:extLst>
          </p:cNvPr>
          <p:cNvSpPr/>
          <p:nvPr/>
        </p:nvSpPr>
        <p:spPr>
          <a:xfrm>
            <a:off x="4037366" y="1537697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6F875D76-D3A6-D5D1-4576-D8C18267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109" y="2096084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2903D11-0838-83CB-F31E-83F38F5F2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342" y="1624596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81E4290-2832-B53F-7222-A30CF501703F}"/>
              </a:ext>
            </a:extLst>
          </p:cNvPr>
          <p:cNvSpPr txBox="1"/>
          <p:nvPr/>
        </p:nvSpPr>
        <p:spPr>
          <a:xfrm>
            <a:off x="3957323" y="3099600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pic>
        <p:nvPicPr>
          <p:cNvPr id="3" name="Picture 4" descr="Discord logo icon, social media icon 23741147 PNG">
            <a:extLst>
              <a:ext uri="{FF2B5EF4-FFF2-40B4-BE49-F238E27FC236}">
                <a16:creationId xmlns:a16="http://schemas.microsoft.com/office/drawing/2014/main" id="{A9B33C19-FA00-4A82-1A5E-0E492792F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318" y="4115263"/>
            <a:ext cx="634409" cy="63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AE83F2-EE27-EF51-7792-2E0F232131A6}"/>
              </a:ext>
            </a:extLst>
          </p:cNvPr>
          <p:cNvSpPr txBox="1"/>
          <p:nvPr/>
        </p:nvSpPr>
        <p:spPr>
          <a:xfrm>
            <a:off x="4716043" y="4115263"/>
            <a:ext cx="1140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/>
              <a:t>Discord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52E82-FBAE-E520-0A66-81DDFA6E17C3}"/>
              </a:ext>
            </a:extLst>
          </p:cNvPr>
          <p:cNvSpPr txBox="1"/>
          <p:nvPr/>
        </p:nvSpPr>
        <p:spPr>
          <a:xfrm>
            <a:off x="811395" y="631175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/>
              <a:t>https://discord.gg/Ct87Yzqbgz</a:t>
            </a:r>
          </a:p>
        </p:txBody>
      </p:sp>
      <p:pic>
        <p:nvPicPr>
          <p:cNvPr id="15" name="Picture 1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09ED738-D8DC-E9F7-2841-4659ED4573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106" y="1306612"/>
            <a:ext cx="2819433" cy="2848700"/>
          </a:xfrm>
          <a:prstGeom prst="rect">
            <a:avLst/>
          </a:prstGeom>
        </p:spPr>
      </p:pic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6F2957EF-B37F-F322-BA6F-2F8D33BDD7C6}"/>
              </a:ext>
            </a:extLst>
          </p:cNvPr>
          <p:cNvCxnSpPr>
            <a:stCxn id="5" idx="2"/>
            <a:endCxn id="15" idx="2"/>
          </p:cNvCxnSpPr>
          <p:nvPr/>
        </p:nvCxnSpPr>
        <p:spPr>
          <a:xfrm rot="5400000" flipH="1" flipV="1">
            <a:off x="6005479" y="3436250"/>
            <a:ext cx="606282" cy="2044406"/>
          </a:xfrm>
          <a:prstGeom prst="curvedConnector3">
            <a:avLst>
              <a:gd name="adj1" fmla="val -3770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486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ô Hình Brid - Goddess Of Victory: Nikke - Noodle Stopper ...">
            <a:extLst>
              <a:ext uri="{FF2B5EF4-FFF2-40B4-BE49-F238E27FC236}">
                <a16:creationId xmlns:a16="http://schemas.microsoft.com/office/drawing/2014/main" id="{6D3B75A9-9C93-444D-B1CB-970DE5E997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3" b="27426"/>
          <a:stretch>
            <a:fillRect/>
          </a:stretch>
        </p:blipFill>
        <p:spPr bwMode="auto">
          <a:xfrm>
            <a:off x="2667000" y="451412"/>
            <a:ext cx="6858000" cy="452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3AECF8-B9B3-2B76-2764-05A808312F8F}"/>
              </a:ext>
            </a:extLst>
          </p:cNvPr>
          <p:cNvSpPr/>
          <p:nvPr/>
        </p:nvSpPr>
        <p:spPr>
          <a:xfrm>
            <a:off x="5416954" y="1925647"/>
            <a:ext cx="2939970" cy="12847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390F1-B552-27F0-E308-801CACD385C1}"/>
              </a:ext>
            </a:extLst>
          </p:cNvPr>
          <p:cNvSpPr txBox="1"/>
          <p:nvPr/>
        </p:nvSpPr>
        <p:spPr>
          <a:xfrm>
            <a:off x="5567423" y="1967877"/>
            <a:ext cx="2939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600">
                <a:latin typeface="Andale Mono" panose="020B0509000000000004" pitchFamily="49" charset="0"/>
              </a:rPr>
              <a:t>GIVE AWAY THÁNG 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977472-FD84-1ADE-3EC9-DE451D0F6B1A}"/>
              </a:ext>
            </a:extLst>
          </p:cNvPr>
          <p:cNvSpPr txBox="1"/>
          <p:nvPr/>
        </p:nvSpPr>
        <p:spPr>
          <a:xfrm>
            <a:off x="3034495" y="3647499"/>
            <a:ext cx="64905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520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chocib Script Latin Pro" panose="020F0502020204030204" pitchFamily="34" charset="0"/>
                <a:ea typeface="Brush Script MT" panose="03060802040406070304" pitchFamily="66" charset="-122"/>
                <a:cs typeface="Cochocib Script Latin Pro" panose="020F0502020204030204" pitchFamily="34" charset="0"/>
              </a:rPr>
              <a:t>NIKKE  Noodle Stopper Brid</a:t>
            </a: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23EFDC87-63B1-DF7F-7362-6456A9179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244" y="592221"/>
            <a:ext cx="795759" cy="1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08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eam Workshop::[Nikke] Brid">
            <a:extLst>
              <a:ext uri="{FF2B5EF4-FFF2-40B4-BE49-F238E27FC236}">
                <a16:creationId xmlns:a16="http://schemas.microsoft.com/office/drawing/2014/main" id="{01A9FF36-078C-8107-3121-A82352CD9F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61"/>
          <a:stretch>
            <a:fillRect/>
          </a:stretch>
        </p:blipFill>
        <p:spPr bwMode="auto">
          <a:xfrm>
            <a:off x="2844800" y="177800"/>
            <a:ext cx="6502400" cy="442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F868966-7E61-3463-621A-BAF7FC9883A9}"/>
              </a:ext>
            </a:extLst>
          </p:cNvPr>
          <p:cNvSpPr/>
          <p:nvPr/>
        </p:nvSpPr>
        <p:spPr>
          <a:xfrm>
            <a:off x="4195179" y="2222340"/>
            <a:ext cx="5041418" cy="13026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1F055-3C1E-F298-1605-C4A8974ECA69}"/>
              </a:ext>
            </a:extLst>
          </p:cNvPr>
          <p:cNvSpPr txBox="1"/>
          <p:nvPr/>
        </p:nvSpPr>
        <p:spPr>
          <a:xfrm>
            <a:off x="4305782" y="2266807"/>
            <a:ext cx="4930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3600">
                <a:latin typeface="Andale Mono" panose="020B0509000000000004" pitchFamily="49" charset="0"/>
              </a:rPr>
              <a:t>KẾT QUẢ GIVE AWAY </a:t>
            </a:r>
          </a:p>
          <a:p>
            <a:pPr algn="ctr"/>
            <a:r>
              <a:rPr lang="en-VN" sz="3600">
                <a:latin typeface="Andale Mono" panose="020B0509000000000004" pitchFamily="49" charset="0"/>
              </a:rPr>
              <a:t>THÁNG 9 (BRID)</a:t>
            </a: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2590F628-8390-6264-4F3C-317926804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800" y="279704"/>
            <a:ext cx="795759" cy="1032000"/>
          </a:xfrm>
          <a:prstGeom prst="rect">
            <a:avLst/>
          </a:prstGeom>
        </p:spPr>
      </p:pic>
      <p:pic>
        <p:nvPicPr>
          <p:cNvPr id="8" name="Picture 7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61AEBAAF-8492-0AB4-BC55-0D1F17922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284" y="3656953"/>
            <a:ext cx="4390663" cy="813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B97CA1-3DF4-B1AC-0867-A825492AD823}"/>
              </a:ext>
            </a:extLst>
          </p:cNvPr>
          <p:cNvSpPr txBox="1"/>
          <p:nvPr/>
        </p:nvSpPr>
        <p:spPr>
          <a:xfrm>
            <a:off x="7292051" y="3740330"/>
            <a:ext cx="2055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Số may mắn: 40</a:t>
            </a:r>
          </a:p>
          <a:p>
            <a:r>
              <a:rPr lang="en-VN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Đáp án đúng: B B</a:t>
            </a:r>
          </a:p>
        </p:txBody>
      </p:sp>
    </p:spTree>
    <p:extLst>
      <p:ext uri="{BB962C8B-B14F-4D97-AF65-F5344CB8AC3E}">
        <p14:creationId xmlns:p14="http://schemas.microsoft.com/office/powerpoint/2010/main" val="3044804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YNDUALITY ELLIE vo ( MISHIMA Hiroji HATANO Dai ) SYNDUALITY ELLIE - -  Manga news">
            <a:extLst>
              <a:ext uri="{FF2B5EF4-FFF2-40B4-BE49-F238E27FC236}">
                <a16:creationId xmlns:a16="http://schemas.microsoft.com/office/drawing/2014/main" id="{3744AA6C-BCF9-3092-736C-6763A62F8B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98" b="44938"/>
          <a:stretch>
            <a:fillRect/>
          </a:stretch>
        </p:blipFill>
        <p:spPr bwMode="auto">
          <a:xfrm>
            <a:off x="812800" y="829733"/>
            <a:ext cx="7694613" cy="4700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C36701EB-C74D-4E26-A995-FA95E5D79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546" y="984250"/>
            <a:ext cx="1049867" cy="1361546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04A087-3C82-01BA-72CD-AEC1FA223469}"/>
              </a:ext>
            </a:extLst>
          </p:cNvPr>
          <p:cNvSpPr/>
          <p:nvPr/>
        </p:nvSpPr>
        <p:spPr>
          <a:xfrm>
            <a:off x="4836695" y="3372708"/>
            <a:ext cx="3272589" cy="11309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266F6-8F54-204C-9317-CEB6F9EC852F}"/>
              </a:ext>
            </a:extLst>
          </p:cNvPr>
          <p:cNvSpPr txBox="1"/>
          <p:nvPr/>
        </p:nvSpPr>
        <p:spPr>
          <a:xfrm>
            <a:off x="4890836" y="3522694"/>
            <a:ext cx="3164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400">
                <a:latin typeface="Andale Mono" panose="020B0509000000000004" pitchFamily="49" charset="0"/>
              </a:rPr>
              <a:t>KẾT QUẢ GIVEAWAY </a:t>
            </a:r>
          </a:p>
          <a:p>
            <a:pPr algn="ctr"/>
            <a:r>
              <a:rPr lang="en-VN" sz="2400">
                <a:latin typeface="Andale Mono" panose="020B0509000000000004" pitchFamily="49" charset="0"/>
              </a:rPr>
              <a:t>THÁNG 12</a:t>
            </a:r>
          </a:p>
        </p:txBody>
      </p:sp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185B9255-A442-9135-644B-FDFCC05A0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72" y="2636917"/>
            <a:ext cx="2849033" cy="67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86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ownload Nana Astar Deviluke Anime To Love-Ru: Darkness HD Wallpaper">
            <a:extLst>
              <a:ext uri="{FF2B5EF4-FFF2-40B4-BE49-F238E27FC236}">
                <a16:creationId xmlns:a16="http://schemas.microsoft.com/office/drawing/2014/main" id="{8C895F97-B261-CF57-4806-8878B5305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67" y="812800"/>
            <a:ext cx="9302044" cy="523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230406-FE80-FB0E-26A0-BF49066DAB09}"/>
              </a:ext>
            </a:extLst>
          </p:cNvPr>
          <p:cNvSpPr txBox="1"/>
          <p:nvPr/>
        </p:nvSpPr>
        <p:spPr>
          <a:xfrm>
            <a:off x="897468" y="3902841"/>
            <a:ext cx="93020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960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chocib Script Latin Pro" panose="020F0502020204030204" pitchFamily="34" charset="0"/>
                <a:ea typeface="Brush Script MT" panose="03060802040406070304" pitchFamily="66" charset="-122"/>
                <a:cs typeface="Cochocib Script Latin Pro" panose="020F0502020204030204" pitchFamily="34" charset="0"/>
              </a:rPr>
              <a:t>To Love-Ru NaNa</a:t>
            </a: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8890C31C-7A51-A81A-CE71-70D00F913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298" y="960187"/>
            <a:ext cx="1049867" cy="1361546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40DB6F-4D87-E43E-D018-7ADE7C9F0100}"/>
              </a:ext>
            </a:extLst>
          </p:cNvPr>
          <p:cNvSpPr/>
          <p:nvPr/>
        </p:nvSpPr>
        <p:spPr>
          <a:xfrm>
            <a:off x="3982453" y="5198918"/>
            <a:ext cx="3272589" cy="7550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9B4860-C42B-E29C-7F03-8B2878A3881C}"/>
              </a:ext>
            </a:extLst>
          </p:cNvPr>
          <p:cNvSpPr txBox="1"/>
          <p:nvPr/>
        </p:nvSpPr>
        <p:spPr>
          <a:xfrm>
            <a:off x="4036594" y="5348903"/>
            <a:ext cx="316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400">
                <a:latin typeface="Andale Mono" panose="020B0509000000000004" pitchFamily="49" charset="0"/>
              </a:rPr>
              <a:t>GIVEAWAY THÁNG 1</a:t>
            </a:r>
          </a:p>
        </p:txBody>
      </p:sp>
    </p:spTree>
    <p:extLst>
      <p:ext uri="{BB962C8B-B14F-4D97-AF65-F5344CB8AC3E}">
        <p14:creationId xmlns:p14="http://schemas.microsoft.com/office/powerpoint/2010/main" val="38690443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26579-3EEB-2D84-AA84-3433650D3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EF61D84-002E-130F-ADAF-A76D30CA92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" t="8051" r="1825" b="52334"/>
          <a:stretch>
            <a:fillRect/>
          </a:stretch>
        </p:blipFill>
        <p:spPr bwMode="auto">
          <a:xfrm>
            <a:off x="1213544" y="903994"/>
            <a:ext cx="8810406" cy="514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29AB6F-B976-9559-412C-B68F8A75D8EB}"/>
              </a:ext>
            </a:extLst>
          </p:cNvPr>
          <p:cNvSpPr txBox="1"/>
          <p:nvPr/>
        </p:nvSpPr>
        <p:spPr>
          <a:xfrm>
            <a:off x="1376184" y="4478149"/>
            <a:ext cx="84567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960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chocib Script Latin Pro" panose="020F0502020204030204" pitchFamily="34" charset="0"/>
                <a:ea typeface="Brush Script MT" panose="03060802040406070304" pitchFamily="66" charset="-122"/>
                <a:cs typeface="Cochocib Script Latin Pro" panose="020F0502020204030204" pitchFamily="34" charset="0"/>
              </a:rPr>
              <a:t>To Love-Ru NaNa</a:t>
            </a: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8F82E76E-78D3-62C2-58F2-757088172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512" y="1035343"/>
            <a:ext cx="1049867" cy="1361546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7449ED-CC6B-97D9-2E4B-3E97FF8E1BFC}"/>
              </a:ext>
            </a:extLst>
          </p:cNvPr>
          <p:cNvSpPr/>
          <p:nvPr/>
        </p:nvSpPr>
        <p:spPr>
          <a:xfrm>
            <a:off x="1308442" y="2393013"/>
            <a:ext cx="4810817" cy="7550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19439-6D8F-594D-94C6-98A65020CFDC}"/>
              </a:ext>
            </a:extLst>
          </p:cNvPr>
          <p:cNvSpPr txBox="1"/>
          <p:nvPr/>
        </p:nvSpPr>
        <p:spPr>
          <a:xfrm>
            <a:off x="1362582" y="2542998"/>
            <a:ext cx="4756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2400">
                <a:latin typeface="Andale Mono" panose="020B0509000000000004" pitchFamily="49" charset="0"/>
              </a:rPr>
              <a:t>KẾT QUẢ GIVEAWAY THÁNG 1</a:t>
            </a:r>
          </a:p>
        </p:txBody>
      </p:sp>
      <p:pic>
        <p:nvPicPr>
          <p:cNvPr id="3" name="Picture 2" descr="A black rectangle with white text&#10;&#10;AI-generated content may be incorrect.">
            <a:extLst>
              <a:ext uri="{FF2B5EF4-FFF2-40B4-BE49-F238E27FC236}">
                <a16:creationId xmlns:a16="http://schemas.microsoft.com/office/drawing/2014/main" id="{F6095177-7E98-90B0-7E32-94C52B3FD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43" y="3254360"/>
            <a:ext cx="4810817" cy="86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35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8FF64E-6604-A711-E0CF-9994C4181DD7}"/>
              </a:ext>
            </a:extLst>
          </p:cNvPr>
          <p:cNvSpPr/>
          <p:nvPr/>
        </p:nvSpPr>
        <p:spPr>
          <a:xfrm>
            <a:off x="1979271" y="1203767"/>
            <a:ext cx="7789762" cy="4234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F5399F21-A852-E29B-DEE1-CEF4CED48256}"/>
              </a:ext>
            </a:extLst>
          </p:cNvPr>
          <p:cNvSpPr/>
          <p:nvPr/>
        </p:nvSpPr>
        <p:spPr>
          <a:xfrm rot="5400000">
            <a:off x="5400788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7C2762B0-8B0E-6366-8005-8C9EDBBD58A4}"/>
              </a:ext>
            </a:extLst>
          </p:cNvPr>
          <p:cNvSpPr/>
          <p:nvPr/>
        </p:nvSpPr>
        <p:spPr>
          <a:xfrm rot="5400000">
            <a:off x="5004684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ABA2B01B-B0BA-3575-D9BC-E9CB2C940ADE}"/>
              </a:ext>
            </a:extLst>
          </p:cNvPr>
          <p:cNvSpPr/>
          <p:nvPr/>
        </p:nvSpPr>
        <p:spPr>
          <a:xfrm rot="5400000">
            <a:off x="4608579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359F5A-63E5-7D2D-01A7-D2C203ABB054}"/>
              </a:ext>
            </a:extLst>
          </p:cNvPr>
          <p:cNvSpPr/>
          <p:nvPr/>
        </p:nvSpPr>
        <p:spPr>
          <a:xfrm>
            <a:off x="5011522" y="258613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368274AD-4558-9AE6-9BD2-F56FFEBD3DEC}"/>
              </a:ext>
            </a:extLst>
          </p:cNvPr>
          <p:cNvSpPr/>
          <p:nvPr/>
        </p:nvSpPr>
        <p:spPr>
          <a:xfrm>
            <a:off x="5011522" y="225500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006FA7CA-E256-8AEC-3B60-0BC2EC132DAA}"/>
              </a:ext>
            </a:extLst>
          </p:cNvPr>
          <p:cNvSpPr/>
          <p:nvPr/>
        </p:nvSpPr>
        <p:spPr>
          <a:xfrm>
            <a:off x="5011522" y="192388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0B58668E-C89E-2D44-5AC2-2419A6AA4596}"/>
              </a:ext>
            </a:extLst>
          </p:cNvPr>
          <p:cNvSpPr/>
          <p:nvPr/>
        </p:nvSpPr>
        <p:spPr>
          <a:xfrm>
            <a:off x="5187564" y="1597755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296F55F3-156B-5BA8-93AB-C6A1F6BEF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307" y="2156142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9F881A6-1879-009B-F717-84341003F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540" y="1684654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D9E839-DCFC-84D4-F23E-246DC3CFCB96}"/>
              </a:ext>
            </a:extLst>
          </p:cNvPr>
          <p:cNvSpPr txBox="1"/>
          <p:nvPr/>
        </p:nvSpPr>
        <p:spPr>
          <a:xfrm>
            <a:off x="5107521" y="3159658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72DE8-9C7B-9652-8407-7037BF69BCE9}"/>
              </a:ext>
            </a:extLst>
          </p:cNvPr>
          <p:cNvSpPr txBox="1"/>
          <p:nvPr/>
        </p:nvSpPr>
        <p:spPr>
          <a:xfrm>
            <a:off x="1979271" y="4118573"/>
            <a:ext cx="7789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/>
              <a:t>TUYỂN SINH VIÊN THAM GIA NGHIÊN CỨU </a:t>
            </a:r>
          </a:p>
          <a:p>
            <a:pPr algn="ctr"/>
            <a:r>
              <a:rPr lang="en-VN" b="1"/>
              <a:t>(QUANTUM COMPUTING &amp; SOFTWARE OPTIMIZATION)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FA242A-1016-A0C1-15EA-92A3F98CAB35}"/>
              </a:ext>
            </a:extLst>
          </p:cNvPr>
          <p:cNvCxnSpPr/>
          <p:nvPr/>
        </p:nvCxnSpPr>
        <p:spPr>
          <a:xfrm>
            <a:off x="3992036" y="4818715"/>
            <a:ext cx="383122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1E00E4-4F07-EBCC-2174-9B39E57998F0}"/>
              </a:ext>
            </a:extLst>
          </p:cNvPr>
          <p:cNvSpPr txBox="1"/>
          <p:nvPr/>
        </p:nvSpPr>
        <p:spPr>
          <a:xfrm>
            <a:off x="2012765" y="4980887"/>
            <a:ext cx="778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/>
              <a:t>Thời hạn: 20/05 – 01/06</a:t>
            </a:r>
          </a:p>
        </p:txBody>
      </p:sp>
    </p:spTree>
    <p:extLst>
      <p:ext uri="{BB962C8B-B14F-4D97-AF65-F5344CB8AC3E}">
        <p14:creationId xmlns:p14="http://schemas.microsoft.com/office/powerpoint/2010/main" val="1077780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7C150-99C8-8F33-961B-2AAAC83FC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A2026B-BFBE-B2EA-7B43-464B59E25139}"/>
              </a:ext>
            </a:extLst>
          </p:cNvPr>
          <p:cNvSpPr/>
          <p:nvPr/>
        </p:nvSpPr>
        <p:spPr>
          <a:xfrm>
            <a:off x="1979271" y="1203767"/>
            <a:ext cx="7789762" cy="4234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AF14CDB2-EE90-4D11-0410-3DDA6E9C8B08}"/>
              </a:ext>
            </a:extLst>
          </p:cNvPr>
          <p:cNvSpPr/>
          <p:nvPr/>
        </p:nvSpPr>
        <p:spPr>
          <a:xfrm rot="5400000">
            <a:off x="5400788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A8B03EE6-9F96-B8E6-0D80-2BEB98A122E2}"/>
              </a:ext>
            </a:extLst>
          </p:cNvPr>
          <p:cNvSpPr/>
          <p:nvPr/>
        </p:nvSpPr>
        <p:spPr>
          <a:xfrm rot="5400000">
            <a:off x="5004684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43368E15-E816-AFF0-7185-0D23249652BC}"/>
              </a:ext>
            </a:extLst>
          </p:cNvPr>
          <p:cNvSpPr/>
          <p:nvPr/>
        </p:nvSpPr>
        <p:spPr>
          <a:xfrm rot="5400000">
            <a:off x="4608579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7E98A8-819A-AAA1-B08C-917A49E21D03}"/>
              </a:ext>
            </a:extLst>
          </p:cNvPr>
          <p:cNvSpPr/>
          <p:nvPr/>
        </p:nvSpPr>
        <p:spPr>
          <a:xfrm>
            <a:off x="5011522" y="258613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B8B2C86B-1FBA-32EB-F449-3016018965B8}"/>
              </a:ext>
            </a:extLst>
          </p:cNvPr>
          <p:cNvSpPr/>
          <p:nvPr/>
        </p:nvSpPr>
        <p:spPr>
          <a:xfrm>
            <a:off x="5011522" y="225500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1BC8AF34-715D-D27B-8239-B22C2B184982}"/>
              </a:ext>
            </a:extLst>
          </p:cNvPr>
          <p:cNvSpPr/>
          <p:nvPr/>
        </p:nvSpPr>
        <p:spPr>
          <a:xfrm>
            <a:off x="5011522" y="192388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CFF7279D-7866-D091-792F-C943DC16A2A3}"/>
              </a:ext>
            </a:extLst>
          </p:cNvPr>
          <p:cNvSpPr/>
          <p:nvPr/>
        </p:nvSpPr>
        <p:spPr>
          <a:xfrm>
            <a:off x="5187564" y="1597755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2721CAC6-02DD-1F59-BE6D-B7E68163E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307" y="2156142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3C889DE0-58C8-41CC-669E-19C0A8E73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540" y="1684654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76C1F1-4114-E392-A94A-ACFB8BD5F47A}"/>
              </a:ext>
            </a:extLst>
          </p:cNvPr>
          <p:cNvSpPr txBox="1"/>
          <p:nvPr/>
        </p:nvSpPr>
        <p:spPr>
          <a:xfrm>
            <a:off x="5107521" y="3159658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CFBAD-D9A3-515C-E5C7-24756AC49A51}"/>
              </a:ext>
            </a:extLst>
          </p:cNvPr>
          <p:cNvSpPr txBox="1"/>
          <p:nvPr/>
        </p:nvSpPr>
        <p:spPr>
          <a:xfrm>
            <a:off x="1979271" y="4118573"/>
            <a:ext cx="778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/>
              <a:t>SẮP ĐÓNG FORM ỨNG TUYỂN THAM GIA NGHIÊN CỨU (SOFTWARE)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7365A2-E7B1-A786-BBE0-95CD59843863}"/>
              </a:ext>
            </a:extLst>
          </p:cNvPr>
          <p:cNvCxnSpPr/>
          <p:nvPr/>
        </p:nvCxnSpPr>
        <p:spPr>
          <a:xfrm>
            <a:off x="3992036" y="4618299"/>
            <a:ext cx="383122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B0FBECB-C84D-D690-FCFF-694C524B95B1}"/>
              </a:ext>
            </a:extLst>
          </p:cNvPr>
          <p:cNvSpPr txBox="1"/>
          <p:nvPr/>
        </p:nvSpPr>
        <p:spPr>
          <a:xfrm>
            <a:off x="2012765" y="4780471"/>
            <a:ext cx="778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/>
              <a:t>Thời hạn: hết ngày 01/06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CBF24D-CFDA-9CC6-2313-4B5D237B5491}"/>
              </a:ext>
            </a:extLst>
          </p:cNvPr>
          <p:cNvSpPr txBox="1"/>
          <p:nvPr/>
        </p:nvSpPr>
        <p:spPr>
          <a:xfrm>
            <a:off x="358815" y="37386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42859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2A5B-B121-2DEC-50CD-74B098092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F5BFA3-4381-E5A5-F1BB-EBC698AAD540}"/>
              </a:ext>
            </a:extLst>
          </p:cNvPr>
          <p:cNvSpPr/>
          <p:nvPr/>
        </p:nvSpPr>
        <p:spPr>
          <a:xfrm>
            <a:off x="1979271" y="1203767"/>
            <a:ext cx="7789762" cy="4234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0EC712AE-CAE0-B550-7A2E-D8401FD67E80}"/>
              </a:ext>
            </a:extLst>
          </p:cNvPr>
          <p:cNvSpPr/>
          <p:nvPr/>
        </p:nvSpPr>
        <p:spPr>
          <a:xfrm rot="5400000">
            <a:off x="5400788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7F1D8924-FABE-5C3D-0583-F9EA35AD6A3E}"/>
              </a:ext>
            </a:extLst>
          </p:cNvPr>
          <p:cNvSpPr/>
          <p:nvPr/>
        </p:nvSpPr>
        <p:spPr>
          <a:xfrm rot="5400000">
            <a:off x="5004684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0163766A-80CC-8F85-54B9-94EEA6EDE7AC}"/>
              </a:ext>
            </a:extLst>
          </p:cNvPr>
          <p:cNvSpPr/>
          <p:nvPr/>
        </p:nvSpPr>
        <p:spPr>
          <a:xfrm rot="5400000">
            <a:off x="4608579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37D879-A442-63F6-97FD-D32E7DAF2BD9}"/>
              </a:ext>
            </a:extLst>
          </p:cNvPr>
          <p:cNvSpPr/>
          <p:nvPr/>
        </p:nvSpPr>
        <p:spPr>
          <a:xfrm>
            <a:off x="5011522" y="258613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FCD9939E-1DE3-5EA6-D545-35C7BE603F45}"/>
              </a:ext>
            </a:extLst>
          </p:cNvPr>
          <p:cNvSpPr/>
          <p:nvPr/>
        </p:nvSpPr>
        <p:spPr>
          <a:xfrm>
            <a:off x="5011522" y="225500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D96378F3-7353-6FFD-10A0-569F3942BB1D}"/>
              </a:ext>
            </a:extLst>
          </p:cNvPr>
          <p:cNvSpPr/>
          <p:nvPr/>
        </p:nvSpPr>
        <p:spPr>
          <a:xfrm>
            <a:off x="5011522" y="192388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88FD4657-3E06-802F-A3F0-D949400E4DB0}"/>
              </a:ext>
            </a:extLst>
          </p:cNvPr>
          <p:cNvSpPr/>
          <p:nvPr/>
        </p:nvSpPr>
        <p:spPr>
          <a:xfrm>
            <a:off x="5187564" y="1597755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B2CFE27F-E0BD-9BF3-5FC1-7366B2EA0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307" y="2156142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5F33A9BB-BC2D-AC92-12EF-0B401353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540" y="1684654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49AB1E-5C23-4933-52AC-DB958A422095}"/>
              </a:ext>
            </a:extLst>
          </p:cNvPr>
          <p:cNvSpPr txBox="1"/>
          <p:nvPr/>
        </p:nvSpPr>
        <p:spPr>
          <a:xfrm>
            <a:off x="5107521" y="3159658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AE74E1-91C4-EA4A-B97D-2FFB1EB84791}"/>
              </a:ext>
            </a:extLst>
          </p:cNvPr>
          <p:cNvSpPr txBox="1"/>
          <p:nvPr/>
        </p:nvSpPr>
        <p:spPr>
          <a:xfrm>
            <a:off x="1979271" y="4118573"/>
            <a:ext cx="7789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/>
              <a:t>THÔNG BÁO ĐĂNG KÝ ĐỀ TÀI CHO ĐỒ ÁN 1, ĐỒ ÁN 2, KHOÁ LUẬN TỐT NGHIỆP TẠI UIT (KHOA KỸ THUẬT MÁY TÍNH &amp; CÔNG NGHỆ PHẦN MỀM)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450E01-3970-F05D-4EAE-0FAD975D932C}"/>
              </a:ext>
            </a:extLst>
          </p:cNvPr>
          <p:cNvSpPr txBox="1"/>
          <p:nvPr/>
        </p:nvSpPr>
        <p:spPr>
          <a:xfrm>
            <a:off x="358815" y="37386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94585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E6EB-9603-1347-136A-A1E5E6B3F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0A4FEB-EB7C-56E3-6FFC-461056A1009F}"/>
              </a:ext>
            </a:extLst>
          </p:cNvPr>
          <p:cNvSpPr/>
          <p:nvPr/>
        </p:nvSpPr>
        <p:spPr>
          <a:xfrm>
            <a:off x="1979271" y="1203767"/>
            <a:ext cx="7789762" cy="4234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F57712CD-F73C-4C39-7E72-EE2483FA774C}"/>
              </a:ext>
            </a:extLst>
          </p:cNvPr>
          <p:cNvSpPr/>
          <p:nvPr/>
        </p:nvSpPr>
        <p:spPr>
          <a:xfrm rot="5400000">
            <a:off x="5400788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11">
            <a:extLst>
              <a:ext uri="{FF2B5EF4-FFF2-40B4-BE49-F238E27FC236}">
                <a16:creationId xmlns:a16="http://schemas.microsoft.com/office/drawing/2014/main" id="{03AD4A04-4B03-58E1-491D-7B20AA10E39A}"/>
              </a:ext>
            </a:extLst>
          </p:cNvPr>
          <p:cNvSpPr/>
          <p:nvPr/>
        </p:nvSpPr>
        <p:spPr>
          <a:xfrm rot="5400000">
            <a:off x="5004684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63AEEDAB-BA79-CA7B-05FC-17B3F0CC3D0A}"/>
              </a:ext>
            </a:extLst>
          </p:cNvPr>
          <p:cNvSpPr/>
          <p:nvPr/>
        </p:nvSpPr>
        <p:spPr>
          <a:xfrm rot="5400000">
            <a:off x="4608579" y="228097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280F89-B555-E248-0BB1-658B240E7CCF}"/>
              </a:ext>
            </a:extLst>
          </p:cNvPr>
          <p:cNvSpPr/>
          <p:nvPr/>
        </p:nvSpPr>
        <p:spPr>
          <a:xfrm>
            <a:off x="5011522" y="258613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5AD80300-98C6-A7FC-3F3E-35AA646EA960}"/>
              </a:ext>
            </a:extLst>
          </p:cNvPr>
          <p:cNvSpPr/>
          <p:nvPr/>
        </p:nvSpPr>
        <p:spPr>
          <a:xfrm>
            <a:off x="5011522" y="225500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EFDDA679-9047-1797-4175-5C2FD6059617}"/>
              </a:ext>
            </a:extLst>
          </p:cNvPr>
          <p:cNvSpPr/>
          <p:nvPr/>
        </p:nvSpPr>
        <p:spPr>
          <a:xfrm>
            <a:off x="5011522" y="192388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0A4730B2-95E7-6E21-B686-A5FA13DD8C87}"/>
              </a:ext>
            </a:extLst>
          </p:cNvPr>
          <p:cNvSpPr/>
          <p:nvPr/>
        </p:nvSpPr>
        <p:spPr>
          <a:xfrm>
            <a:off x="5187564" y="1597755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18D449A8-1718-D7A0-DE64-1895BD80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307" y="2156142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785FA0EF-18C4-0E10-1FC6-7CBFC5A7A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540" y="1684654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C2CB94-9F32-D68F-9B83-9D2BF5DB46DF}"/>
              </a:ext>
            </a:extLst>
          </p:cNvPr>
          <p:cNvSpPr txBox="1"/>
          <p:nvPr/>
        </p:nvSpPr>
        <p:spPr>
          <a:xfrm>
            <a:off x="5107521" y="3159658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B23A4F-3E4D-CE1A-4C9B-6FCFC424737E}"/>
              </a:ext>
            </a:extLst>
          </p:cNvPr>
          <p:cNvSpPr txBox="1"/>
          <p:nvPr/>
        </p:nvSpPr>
        <p:spPr>
          <a:xfrm>
            <a:off x="1979271" y="4118573"/>
            <a:ext cx="7789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b="1"/>
              <a:t>THÔNG BÁO NHẬN HƯỚNG DẪN LUẬN VĂN ThS tại UIT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6BB16A-15A8-9188-A3BD-E1985B6B9F45}"/>
              </a:ext>
            </a:extLst>
          </p:cNvPr>
          <p:cNvSpPr txBox="1"/>
          <p:nvPr/>
        </p:nvSpPr>
        <p:spPr>
          <a:xfrm>
            <a:off x="358815" y="37386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651879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6D30-BC28-C537-840A-76EFF5A2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08BBA-D8A3-E724-1333-2BE7EF557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980" y="-14514"/>
            <a:ext cx="364515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0C2A09-37BC-D842-C1D8-4C7559E92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80" y="-133821"/>
            <a:ext cx="7772400" cy="4663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AA5BFB-F835-18EC-98EA-DBC34D9EB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42" y="4563551"/>
            <a:ext cx="3881738" cy="27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070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87543C-C299-8750-B403-B6DCB582C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12" y="-163151"/>
            <a:ext cx="539839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4DF883-5347-C892-34AB-4D7EEE70B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606" y="-163151"/>
            <a:ext cx="5398394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7543F9-E882-19AC-F4C2-698BC23DA148}"/>
              </a:ext>
            </a:extLst>
          </p:cNvPr>
          <p:cNvSpPr/>
          <p:nvPr/>
        </p:nvSpPr>
        <p:spPr>
          <a:xfrm>
            <a:off x="1395212" y="275573"/>
            <a:ext cx="5306213" cy="8517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76686-A533-6E7D-60E0-44DE44CA7BF6}"/>
              </a:ext>
            </a:extLst>
          </p:cNvPr>
          <p:cNvSpPr/>
          <p:nvPr/>
        </p:nvSpPr>
        <p:spPr>
          <a:xfrm>
            <a:off x="1395212" y="2745288"/>
            <a:ext cx="5306213" cy="5240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EF626-A24B-4E65-B137-615A95317469}"/>
              </a:ext>
            </a:extLst>
          </p:cNvPr>
          <p:cNvSpPr/>
          <p:nvPr/>
        </p:nvSpPr>
        <p:spPr>
          <a:xfrm>
            <a:off x="6793606" y="2959273"/>
            <a:ext cx="5306213" cy="5240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181568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58D3A7-79FF-7AB3-8E46-AC7031494152}"/>
              </a:ext>
            </a:extLst>
          </p:cNvPr>
          <p:cNvSpPr/>
          <p:nvPr/>
        </p:nvSpPr>
        <p:spPr>
          <a:xfrm>
            <a:off x="142960" y="990601"/>
            <a:ext cx="9356640" cy="5222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0BC45D-3C5A-2246-5252-C471C5743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5129" y="1146392"/>
            <a:ext cx="976228" cy="12711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4D18798-D101-F4FC-E995-4E47E4C734AC}"/>
              </a:ext>
            </a:extLst>
          </p:cNvPr>
          <p:cNvSpPr/>
          <p:nvPr/>
        </p:nvSpPr>
        <p:spPr>
          <a:xfrm>
            <a:off x="2780778" y="2041744"/>
            <a:ext cx="6718822" cy="11649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B399F4-3B0B-19B6-39AF-CE32462E57FE}"/>
              </a:ext>
            </a:extLst>
          </p:cNvPr>
          <p:cNvSpPr txBox="1"/>
          <p:nvPr/>
        </p:nvSpPr>
        <p:spPr>
          <a:xfrm>
            <a:off x="2918564" y="2104374"/>
            <a:ext cx="646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>
                <a:latin typeface="Aharoni" panose="02010803020104030203" pitchFamily="2" charset="-79"/>
                <a:cs typeface="Aharoni" panose="02010803020104030203" pitchFamily="2" charset="-79"/>
              </a:rPr>
              <a:t>Online seminar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CD185C-420B-AE53-F7A8-7DE0FBFB35FD}"/>
              </a:ext>
            </a:extLst>
          </p:cNvPr>
          <p:cNvSpPr txBox="1"/>
          <p:nvPr/>
        </p:nvSpPr>
        <p:spPr>
          <a:xfrm>
            <a:off x="3031299" y="2536336"/>
            <a:ext cx="646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VN" sz="3200">
                <a:latin typeface="Aharoni" panose="02010803020104030203" pitchFamily="2" charset="-79"/>
                <a:ea typeface="Bungee" pitchFamily="2" charset="77"/>
                <a:cs typeface="Aharoni" panose="02010803020104030203" pitchFamily="2" charset="-79"/>
              </a:rPr>
              <a:t>Quantum Process Tomography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5E26A-E48D-7EA6-FC61-510514DA5D3C}"/>
              </a:ext>
            </a:extLst>
          </p:cNvPr>
          <p:cNvSpPr/>
          <p:nvPr/>
        </p:nvSpPr>
        <p:spPr>
          <a:xfrm>
            <a:off x="3031298" y="2536336"/>
            <a:ext cx="150313" cy="5711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5BE6C8-49DC-1C72-5FBD-2645329B6044}"/>
              </a:ext>
            </a:extLst>
          </p:cNvPr>
          <p:cNvSpPr txBox="1"/>
          <p:nvPr/>
        </p:nvSpPr>
        <p:spPr>
          <a:xfrm>
            <a:off x="3371588" y="3231717"/>
            <a:ext cx="61280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VN" sz="2800" b="1">
                <a:latin typeface="Aharoni" panose="02010803020104030203" pitchFamily="2" charset="-79"/>
                <a:cs typeface="Aharoni" panose="02010803020104030203" pitchFamily="2" charset="-79"/>
              </a:rPr>
              <a:t>Speaker: Huynh Le Dan Linh</a:t>
            </a:r>
          </a:p>
          <a:p>
            <a:pPr algn="r"/>
            <a:r>
              <a:rPr lang="en-VN" sz="3600" b="1">
                <a:latin typeface="Aharoni" panose="02010803020104030203" pitchFamily="2" charset="-79"/>
                <a:cs typeface="Aharoni" panose="02010803020104030203" pitchFamily="2" charset="-79"/>
              </a:rPr>
              <a:t>20:00, 28/05/2026</a:t>
            </a:r>
          </a:p>
          <a:p>
            <a:pPr algn="r"/>
            <a:r>
              <a:rPr lang="en-VN" sz="2000" b="1">
                <a:latin typeface="Aharoni" panose="02010803020104030203" pitchFamily="2" charset="-79"/>
                <a:cs typeface="Aharoni" panose="02010803020104030203" pitchFamily="2" charset="-79"/>
              </a:rPr>
              <a:t>Registration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F79B415-50E4-CE0B-789A-C3916FA47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084" y="4661479"/>
            <a:ext cx="1329151" cy="132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nh họa về phương pháp chụp cắt lớp quá trình lượng tử dựa trên biên dịch CQPT.">
            <a:extLst>
              <a:ext uri="{FF2B5EF4-FFF2-40B4-BE49-F238E27FC236}">
                <a16:creationId xmlns:a16="http://schemas.microsoft.com/office/drawing/2014/main" id="{75E3F718-98F6-5A0E-22D6-7424E7925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29" y="3465391"/>
            <a:ext cx="3545561" cy="265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eet">
            <a:extLst>
              <a:ext uri="{FF2B5EF4-FFF2-40B4-BE49-F238E27FC236}">
                <a16:creationId xmlns:a16="http://schemas.microsoft.com/office/drawing/2014/main" id="{CB7FF578-B2CB-F5D8-B7CA-BC57B2F6D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411" y="3743805"/>
            <a:ext cx="546970" cy="54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716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5F12F-E3E0-EE9C-FBB3-336865A29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2" r="10053"/>
          <a:stretch>
            <a:fillRect/>
          </a:stretch>
        </p:blipFill>
        <p:spPr>
          <a:xfrm>
            <a:off x="4516341" y="1059829"/>
            <a:ext cx="3453015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6EF2AB-7FAE-9B3F-CC74-1A7593455DA6}"/>
              </a:ext>
            </a:extLst>
          </p:cNvPr>
          <p:cNvSpPr/>
          <p:nvPr/>
        </p:nvSpPr>
        <p:spPr>
          <a:xfrm>
            <a:off x="4587903" y="2767054"/>
            <a:ext cx="1288111" cy="468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600">
                <a:solidFill>
                  <a:schemeClr val="tx1"/>
                </a:solidFill>
              </a:rPr>
              <a:t>Researcher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44BF67-266E-A42E-2DBA-37422A4FBF30}"/>
              </a:ext>
            </a:extLst>
          </p:cNvPr>
          <p:cNvSpPr/>
          <p:nvPr/>
        </p:nvSpPr>
        <p:spPr>
          <a:xfrm>
            <a:off x="6567777" y="1736566"/>
            <a:ext cx="1313292" cy="4897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800">
                <a:solidFill>
                  <a:schemeClr val="tx1"/>
                </a:solidFill>
              </a:rPr>
              <a:t>Quantum machine learning, Quantum super intelligence, Quantum advantage ,,,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64E67-0154-EB80-2D56-3ABA1E2E0FB2}"/>
              </a:ext>
            </a:extLst>
          </p:cNvPr>
          <p:cNvSpPr txBox="1"/>
          <p:nvPr/>
        </p:nvSpPr>
        <p:spPr>
          <a:xfrm rot="1674792">
            <a:off x="5114230" y="4631623"/>
            <a:ext cx="15966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100">
                <a:solidFill>
                  <a:schemeClr val="bg1"/>
                </a:solidFill>
              </a:rPr>
              <a:t>Math: Linear algebra, Functional analysis,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BEBCA-188D-C4A6-82D7-17D10704481D}"/>
              </a:ext>
            </a:extLst>
          </p:cNvPr>
          <p:cNvSpPr txBox="1"/>
          <p:nvPr/>
        </p:nvSpPr>
        <p:spPr>
          <a:xfrm rot="1420880">
            <a:off x="5702811" y="4301088"/>
            <a:ext cx="19202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100">
                <a:solidFill>
                  <a:schemeClr val="bg1"/>
                </a:solidFill>
              </a:rPr>
              <a:t>Physic: classical mechanic, quantum mechanic, 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604FA-D89C-87D8-DC48-C85587C2D41C}"/>
              </a:ext>
            </a:extLst>
          </p:cNvPr>
          <p:cNvSpPr txBox="1"/>
          <p:nvPr/>
        </p:nvSpPr>
        <p:spPr>
          <a:xfrm rot="983633">
            <a:off x="5731157" y="3718144"/>
            <a:ext cx="23159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100">
                <a:solidFill>
                  <a:schemeClr val="bg1"/>
                </a:solidFill>
              </a:rPr>
              <a:t>CS: complexity theory, classical algorithm, data structure,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529003-9B3E-227D-1EBC-478CE69A4A80}"/>
              </a:ext>
            </a:extLst>
          </p:cNvPr>
          <p:cNvSpPr txBox="1"/>
          <p:nvPr/>
        </p:nvSpPr>
        <p:spPr>
          <a:xfrm rot="574151">
            <a:off x="5884969" y="3170408"/>
            <a:ext cx="1838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100">
                <a:solidFill>
                  <a:schemeClr val="bg1"/>
                </a:solidFill>
              </a:rPr>
              <a:t>Programming: OOP, FP, 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ECDBA2-DAA4-0B2D-202E-77884A265CB2}"/>
              </a:ext>
            </a:extLst>
          </p:cNvPr>
          <p:cNvSpPr txBox="1"/>
          <p:nvPr/>
        </p:nvSpPr>
        <p:spPr>
          <a:xfrm rot="574151">
            <a:off x="6167887" y="2727553"/>
            <a:ext cx="18382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100">
                <a:solidFill>
                  <a:schemeClr val="bg1"/>
                </a:solidFill>
              </a:rPr>
              <a:t>Introduction to </a:t>
            </a:r>
          </a:p>
          <a:p>
            <a:r>
              <a:rPr lang="en-VN" sz="1100">
                <a:solidFill>
                  <a:schemeClr val="bg1"/>
                </a:solidFill>
              </a:rPr>
              <a:t>Quantum computing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A0C401-67BD-48F5-84D7-CBE85C8ADC03}"/>
              </a:ext>
            </a:extLst>
          </p:cNvPr>
          <p:cNvSpPr txBox="1"/>
          <p:nvPr/>
        </p:nvSpPr>
        <p:spPr>
          <a:xfrm rot="357923">
            <a:off x="6406028" y="2445135"/>
            <a:ext cx="1479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100">
                <a:solidFill>
                  <a:schemeClr val="bg1"/>
                </a:solidFill>
              </a:rPr>
              <a:t>Quantum algorithms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31A3E-44E2-D967-5AD7-DA22BEFE7BCD}"/>
              </a:ext>
            </a:extLst>
          </p:cNvPr>
          <p:cNvCxnSpPr/>
          <p:nvPr/>
        </p:nvCxnSpPr>
        <p:spPr>
          <a:xfrm flipV="1">
            <a:off x="5876013" y="1860605"/>
            <a:ext cx="628154" cy="79513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D802D4-EF4A-D21B-9A7D-5521A8A7B023}"/>
              </a:ext>
            </a:extLst>
          </p:cNvPr>
          <p:cNvSpPr txBox="1"/>
          <p:nvPr/>
        </p:nvSpPr>
        <p:spPr>
          <a:xfrm rot="18579133">
            <a:off x="5316892" y="1802581"/>
            <a:ext cx="1479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100">
                <a:solidFill>
                  <a:schemeClr val="bg1"/>
                </a:solidFill>
              </a:rPr>
              <a:t>ChatGPT pro, Claude MAX, Gemini ULTRA</a:t>
            </a:r>
          </a:p>
        </p:txBody>
      </p:sp>
    </p:spTree>
    <p:extLst>
      <p:ext uri="{BB962C8B-B14F-4D97-AF65-F5344CB8AC3E}">
        <p14:creationId xmlns:p14="http://schemas.microsoft.com/office/powerpoint/2010/main" val="763283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54629</TotalTime>
  <Words>1723</Words>
  <Application>Microsoft Macintosh PowerPoint</Application>
  <PresentationFormat>Widescreen</PresentationFormat>
  <Paragraphs>383</Paragraphs>
  <Slides>46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60" baseType="lpstr">
      <vt:lpstr>Aharoni</vt:lpstr>
      <vt:lpstr>Andale Mono</vt:lpstr>
      <vt:lpstr>Aptos</vt:lpstr>
      <vt:lpstr>Aptos Display</vt:lpstr>
      <vt:lpstr>Arial</vt:lpstr>
      <vt:lpstr>Bahnschrift SemiLight Condensed</vt:lpstr>
      <vt:lpstr>Bungee</vt:lpstr>
      <vt:lpstr>Cambria Math</vt:lpstr>
      <vt:lpstr>Cochocib Script Latin Pro</vt:lpstr>
      <vt:lpstr>Corbel</vt:lpstr>
      <vt:lpstr>Segoe UI Historic</vt:lpstr>
      <vt:lpstr>system-ui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 Hai Vu</dc:creator>
  <cp:lastModifiedBy>Vũ Tuấn Hải</cp:lastModifiedBy>
  <cp:revision>32</cp:revision>
  <dcterms:created xsi:type="dcterms:W3CDTF">2025-08-09T01:51:01Z</dcterms:created>
  <dcterms:modified xsi:type="dcterms:W3CDTF">2026-10-13T07:19:59Z</dcterms:modified>
</cp:coreProperties>
</file>