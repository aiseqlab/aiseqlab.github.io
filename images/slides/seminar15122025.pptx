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371" r:id="rId2"/>
    <p:sldId id="288" r:id="rId3"/>
    <p:sldId id="293" r:id="rId4"/>
    <p:sldId id="265" r:id="rId5"/>
    <p:sldId id="305" r:id="rId6"/>
    <p:sldId id="264" r:id="rId7"/>
    <p:sldId id="259" r:id="rId8"/>
    <p:sldId id="302" r:id="rId9"/>
    <p:sldId id="304" r:id="rId10"/>
    <p:sldId id="267" r:id="rId11"/>
    <p:sldId id="303" r:id="rId12"/>
    <p:sldId id="268" r:id="rId13"/>
    <p:sldId id="269" r:id="rId14"/>
    <p:sldId id="317" r:id="rId15"/>
    <p:sldId id="270" r:id="rId16"/>
    <p:sldId id="272" r:id="rId17"/>
    <p:sldId id="273" r:id="rId18"/>
    <p:sldId id="274" r:id="rId19"/>
    <p:sldId id="318" r:id="rId20"/>
    <p:sldId id="275" r:id="rId21"/>
    <p:sldId id="345" r:id="rId22"/>
    <p:sldId id="358" r:id="rId23"/>
    <p:sldId id="359" r:id="rId24"/>
    <p:sldId id="360" r:id="rId25"/>
    <p:sldId id="361" r:id="rId26"/>
    <p:sldId id="362" r:id="rId27"/>
    <p:sldId id="368" r:id="rId28"/>
    <p:sldId id="366" r:id="rId29"/>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7"/>
  </p:normalViewPr>
  <p:slideViewPr>
    <p:cSldViewPr snapToGrid="0">
      <p:cViewPr varScale="1">
        <p:scale>
          <a:sx n="110" d="100"/>
          <a:sy n="110" d="100"/>
        </p:scale>
        <p:origin x="53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8AD4FC-0E07-0D4A-BD39-EC5CAE5B2633}" type="datetimeFigureOut">
              <a:t>15/12/25</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6DD357-430A-5740-9DBA-81B4A13A8F73}" type="slidenum">
              <a:t>‹#›</a:t>
            </a:fld>
            <a:endParaRPr lang="en-VN"/>
          </a:p>
        </p:txBody>
      </p:sp>
    </p:spTree>
    <p:extLst>
      <p:ext uri="{BB962C8B-B14F-4D97-AF65-F5344CB8AC3E}">
        <p14:creationId xmlns:p14="http://schemas.microsoft.com/office/powerpoint/2010/main" val="3625648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summarized my research’s contribution in this slides.</a:t>
            </a:r>
          </a:p>
          <a:p>
            <a:r>
              <a:rPr lang="en-US" dirty="0"/>
              <a:t>There are a five major simulation approaches but I only focus on state-vector and stabilizer formalism (the first three row).</a:t>
            </a:r>
          </a:p>
          <a:p>
            <a:r>
              <a:rPr lang="en-US" dirty="0"/>
              <a:t>Each approach have its advantage and disadvantage in different context and different usecase.</a:t>
            </a:r>
          </a:p>
          <a:p>
            <a:r>
              <a:rPr lang="en-US" dirty="0"/>
              <a:t>Currently, many works accelerate the processing on quantum simulation, almost from software side.</a:t>
            </a:r>
          </a:p>
          <a:p>
            <a:endParaRPr lang="en-US" dirty="0"/>
          </a:p>
          <a:p>
            <a:r>
              <a:rPr lang="en-US" dirty="0"/>
              <a:t>but none of them improve both theory, software and hardware design at the same time.</a:t>
            </a:r>
          </a:p>
          <a:p>
            <a:endParaRPr lang="en-US" dirty="0"/>
          </a:p>
          <a:p>
            <a:r>
              <a:rPr lang="en-US" dirty="0"/>
              <a:t>While my work has been improve all three aspects. The state-vector approach is implemented on FPGA ZCU102, stabilizer formalism is just done on rtx4060.</a:t>
            </a:r>
          </a:p>
        </p:txBody>
      </p:sp>
      <p:sp>
        <p:nvSpPr>
          <p:cNvPr id="4" name="Slide Number Placeholder 3"/>
          <p:cNvSpPr>
            <a:spLocks noGrp="1"/>
          </p:cNvSpPr>
          <p:nvPr>
            <p:ph type="sldNum" sz="quarter" idx="5"/>
          </p:nvPr>
        </p:nvSpPr>
        <p:spPr/>
        <p:txBody>
          <a:bodyPr/>
          <a:lstStyle/>
          <a:p>
            <a:fld id="{D5185723-9913-4F02-B630-868413D77CE4}" type="slidenum">
              <a:rPr lang="en-US" smtClean="0"/>
              <a:t>4</a:t>
            </a:fld>
            <a:endParaRPr lang="en-US"/>
          </a:p>
        </p:txBody>
      </p:sp>
    </p:spTree>
    <p:extLst>
      <p:ext uri="{BB962C8B-B14F-4D97-AF65-F5344CB8AC3E}">
        <p14:creationId xmlns:p14="http://schemas.microsoft.com/office/powerpoint/2010/main" val="122471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The main model conducted during my thesis is the quantum circuit model.</a:t>
            </a:r>
          </a:p>
          <a:p>
            <a:r>
              <a:rPr lang="en-VN"/>
              <a:t>Normally, the procedure is start with a initial state, then it is transformed by a series of unitary operator, then return the final or target state.</a:t>
            </a:r>
          </a:p>
          <a:p>
            <a:r>
              <a:rPr lang="en-VN"/>
              <a:t>An unitary operator is composed from many gate, the gates are classified as one-qubit gate or multiple qubit gate, it also has the position on circuit and parameter if applicable.</a:t>
            </a:r>
          </a:p>
          <a:p>
            <a:r>
              <a:rPr lang="en-VN"/>
              <a:t>In the other case, Instead of returning the whole target state, </a:t>
            </a:r>
            <a:r>
              <a:rPr lang="en-US"/>
              <a:t>I</a:t>
            </a:r>
            <a:r>
              <a:rPr lang="en-VN"/>
              <a:t> can also take only a part of them through the observables or decoder, but in this thesis, I eliminate them.</a:t>
            </a:r>
          </a:p>
        </p:txBody>
      </p:sp>
      <p:sp>
        <p:nvSpPr>
          <p:cNvPr id="4" name="Slide Number Placeholder 3"/>
          <p:cNvSpPr>
            <a:spLocks noGrp="1"/>
          </p:cNvSpPr>
          <p:nvPr>
            <p:ph type="sldNum" sz="quarter" idx="5"/>
          </p:nvPr>
        </p:nvSpPr>
        <p:spPr/>
        <p:txBody>
          <a:bodyPr/>
          <a:lstStyle/>
          <a:p>
            <a:fld id="{D5185723-9913-4F02-B630-868413D77CE4}" type="slidenum">
              <a:rPr lang="en-US" smtClean="0"/>
              <a:t>5</a:t>
            </a:fld>
            <a:endParaRPr lang="en-US"/>
          </a:p>
        </p:txBody>
      </p:sp>
    </p:spTree>
    <p:extLst>
      <p:ext uri="{BB962C8B-B14F-4D97-AF65-F5344CB8AC3E}">
        <p14:creationId xmlns:p14="http://schemas.microsoft.com/office/powerpoint/2010/main" val="1445295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gate and operator presented in the last slide can be viewed as vector and matrix in the state-vector approach.</a:t>
            </a:r>
          </a:p>
          <a:p>
            <a:endParaRPr lang="en-US" dirty="0"/>
          </a:p>
          <a:p>
            <a:r>
              <a:rPr lang="en-US" dirty="0"/>
              <a:t>A state is simply a normalized vector which has dimensional two exponential of n where n is the number of qubits.</a:t>
            </a:r>
          </a:p>
          <a:p>
            <a:r>
              <a:rPr lang="en-US" dirty="0"/>
              <a:t>Because the length of state is only 1, so each element on state always has the norm less or equal 1.</a:t>
            </a:r>
          </a:p>
          <a:p>
            <a:endParaRPr lang="en-US" dirty="0"/>
          </a:p>
          <a:p>
            <a:r>
              <a:rPr lang="en-US" dirty="0"/>
              <a:t>The gate and operator is actually the matrix which has the element is the complex number.</a:t>
            </a:r>
          </a:p>
          <a:p>
            <a:r>
              <a:rPr lang="en-US" dirty="0"/>
              <a:t>A operator can be reconstructed by tensor multiplication between gates.</a:t>
            </a:r>
          </a:p>
          <a:p>
            <a:endParaRPr lang="en-US" dirty="0"/>
          </a:p>
          <a:p>
            <a:r>
              <a:rPr lang="en-US" dirty="0"/>
              <a:t>And when a operator acts on a state as Eq 1.2, it is equivalent to a matrix-vector multiplication.</a:t>
            </a:r>
          </a:p>
          <a:p>
            <a:r>
              <a:rPr lang="en-US" dirty="0"/>
              <a:t>But note that the dimensional of both state and operator increase exponentially based on the number of qubits.</a:t>
            </a:r>
          </a:p>
          <a:p>
            <a:r>
              <a:rPr lang="en-US" dirty="0"/>
              <a:t>Computing this term is a hard problem.</a:t>
            </a:r>
          </a:p>
        </p:txBody>
      </p:sp>
      <p:sp>
        <p:nvSpPr>
          <p:cNvPr id="4" name="Slide Number Placeholder 3"/>
          <p:cNvSpPr>
            <a:spLocks noGrp="1"/>
          </p:cNvSpPr>
          <p:nvPr>
            <p:ph type="sldNum" sz="quarter" idx="5"/>
          </p:nvPr>
        </p:nvSpPr>
        <p:spPr/>
        <p:txBody>
          <a:bodyPr/>
          <a:lstStyle/>
          <a:p>
            <a:fld id="{D5185723-9913-4F02-B630-868413D77CE4}" type="slidenum">
              <a:rPr lang="en-US" smtClean="0"/>
              <a:t>6</a:t>
            </a:fld>
            <a:endParaRPr lang="en-US"/>
          </a:p>
        </p:txBody>
      </p:sp>
    </p:spTree>
    <p:extLst>
      <p:ext uri="{BB962C8B-B14F-4D97-AF65-F5344CB8AC3E}">
        <p14:creationId xmlns:p14="http://schemas.microsoft.com/office/powerpoint/2010/main" val="4002790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section, we present how the equation 1.2 is emulated on ZCU102 following wave function variant. This emulator is called </a:t>
            </a:r>
            <a:r>
              <a:rPr lang="en-US" dirty="0" err="1"/>
              <a:t>FQsun</a:t>
            </a:r>
            <a:r>
              <a:rPr lang="en-US" dirty="0"/>
              <a:t>. </a:t>
            </a:r>
          </a:p>
          <a:p>
            <a:endParaRPr lang="en-US" dirty="0"/>
          </a:p>
          <a:p>
            <a:r>
              <a:rPr lang="en-US" dirty="0"/>
              <a:t>Challenge (a): Quantum emulation requires managing and processing large memory, especially as the #Qubits increases, which dramatically expands memory demands. Efficient data handling and minimized memory access times are crucial to achieving high processing speeds without excessive energy consumption. </a:t>
            </a:r>
          </a:p>
          <a:p>
            <a:endParaRPr lang="en-US" dirty="0"/>
          </a:p>
          <a:p>
            <a:r>
              <a:rPr lang="en-US" dirty="0"/>
              <a:t>Challenge (b): Different quantum algorithms rely on a variety of quantum gates, but many emulators are constrained by limited gate support. To effectively execute diverse algorithms, an adaptable gate configuration system is needed to facilitate a wide range of computations with minimal hardware reconfiguration. </a:t>
            </a:r>
          </a:p>
          <a:p>
            <a:endParaRPr lang="en-US" dirty="0"/>
          </a:p>
          <a:p>
            <a:r>
              <a:rPr lang="en-US" dirty="0"/>
              <a:t>Challenge (c): Quantum emulators must execute sequential calculations, where delays in one step can impact the entire system’s performance. To avoid bottlenecks, the emulator requires an optimized scheduling mechanism to ensure continuous processing without latency, thus maximizing resource utilization and computation speed. </a:t>
            </a:r>
          </a:p>
          <a:p>
            <a:endParaRPr lang="en-US" dirty="0"/>
          </a:p>
          <a:p>
            <a:r>
              <a:rPr lang="en-US" dirty="0"/>
              <a:t>Challenge (d) Quantum algorithms often demand different levels of numerical precision, from FX to FP, depending on application requirements. Supporting various precision levels allows the emulator to balance accuracy with resource usage, adapting performance to meet the specific needs of each quantum task while minimizing computational overhead.</a:t>
            </a:r>
          </a:p>
        </p:txBody>
      </p:sp>
      <p:sp>
        <p:nvSpPr>
          <p:cNvPr id="4" name="Slide Number Placeholder 3"/>
          <p:cNvSpPr>
            <a:spLocks noGrp="1"/>
          </p:cNvSpPr>
          <p:nvPr>
            <p:ph type="sldNum" sz="quarter" idx="5"/>
          </p:nvPr>
        </p:nvSpPr>
        <p:spPr/>
        <p:txBody>
          <a:bodyPr/>
          <a:lstStyle/>
          <a:p>
            <a:fld id="{D5185723-9913-4F02-B630-868413D77CE4}" type="slidenum">
              <a:rPr lang="en-US" smtClean="0"/>
              <a:t>7</a:t>
            </a:fld>
            <a:endParaRPr lang="en-US"/>
          </a:p>
        </p:txBody>
      </p:sp>
    </p:spTree>
    <p:extLst>
      <p:ext uri="{BB962C8B-B14F-4D97-AF65-F5344CB8AC3E}">
        <p14:creationId xmlns:p14="http://schemas.microsoft.com/office/powerpoint/2010/main" val="2966924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MR12"/>
              </a:rPr>
              <a:t>As summarized in Table 2.1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MR12"/>
              </a:rPr>
              <a:t>Among existing quantum simulators, the most well-known include Qiskit, Pennylane, which are developed in Python. Other famous package can be found in my thesis.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CMR1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MR12"/>
              </a:rPr>
              <a:t>From the quantum emulator’s side, analog-based emulators, introduced in [56], use CMOS analog circuits to represent real numbers naturally, which are suitable for simulating quantum states. Although analog circuits achieve higher energy efficiency, scalability, and speed than software, they face limitations when they only support a single algorithm with lower fidelity.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MR12"/>
              </a:rPr>
              <a:t>In contrast, FPGA-based emulators offer a more practical and developable approach while still achieving high speed and energy efficiency. </a:t>
            </a:r>
            <a:endParaRPr lang="en-US"/>
          </a:p>
          <a:p>
            <a:endParaRPr lang="en-US" dirty="0"/>
          </a:p>
        </p:txBody>
      </p:sp>
      <p:sp>
        <p:nvSpPr>
          <p:cNvPr id="4" name="Slide Number Placeholder 3"/>
          <p:cNvSpPr>
            <a:spLocks noGrp="1"/>
          </p:cNvSpPr>
          <p:nvPr>
            <p:ph type="sldNum" sz="quarter" idx="5"/>
          </p:nvPr>
        </p:nvSpPr>
        <p:spPr/>
        <p:txBody>
          <a:bodyPr/>
          <a:lstStyle/>
          <a:p>
            <a:fld id="{D5185723-9913-4F02-B630-868413D77CE4}" type="slidenum">
              <a:rPr lang="en-US" smtClean="0"/>
              <a:t>8</a:t>
            </a:fld>
            <a:endParaRPr lang="en-US"/>
          </a:p>
        </p:txBody>
      </p:sp>
    </p:spTree>
    <p:extLst>
      <p:ext uri="{BB962C8B-B14F-4D97-AF65-F5344CB8AC3E}">
        <p14:creationId xmlns:p14="http://schemas.microsoft.com/office/powerpoint/2010/main" val="3572043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We can easily see that applying a operator on a n-qubit state has the complexity 2^2n because of the matrix-vector multiplcation.</a:t>
            </a:r>
          </a:p>
          <a:p>
            <a:r>
              <a:rPr lang="en-VN"/>
              <a:t> Instead of that, we design an algorithm that only traverse on the state vector, the action will be design by quantum gate and the ooerator will not be constructed.</a:t>
            </a:r>
          </a:p>
          <a:p>
            <a:r>
              <a:rPr lang="en-VN"/>
              <a:t>That help reduce both time and space complexity from 2^2n to 2^n.</a:t>
            </a:r>
          </a:p>
        </p:txBody>
      </p:sp>
      <p:sp>
        <p:nvSpPr>
          <p:cNvPr id="4" name="Slide Number Placeholder 3"/>
          <p:cNvSpPr>
            <a:spLocks noGrp="1"/>
          </p:cNvSpPr>
          <p:nvPr>
            <p:ph type="sldNum" sz="quarter" idx="5"/>
          </p:nvPr>
        </p:nvSpPr>
        <p:spPr/>
        <p:txBody>
          <a:bodyPr/>
          <a:lstStyle/>
          <a:p>
            <a:fld id="{D5185723-9913-4F02-B630-868413D77CE4}" type="slidenum">
              <a:rPr lang="en-US" smtClean="0"/>
              <a:t>9</a:t>
            </a:fld>
            <a:endParaRPr lang="en-US"/>
          </a:p>
        </p:txBody>
      </p:sp>
    </p:spTree>
    <p:extLst>
      <p:ext uri="{BB962C8B-B14F-4D97-AF65-F5344CB8AC3E}">
        <p14:creationId xmlns:p14="http://schemas.microsoft.com/office/powerpoint/2010/main" val="2529745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2.1 details the proposed </a:t>
            </a:r>
            <a:r>
              <a:rPr lang="en-US" dirty="0" err="1"/>
              <a:t>FQsun</a:t>
            </a:r>
            <a:r>
              <a:rPr lang="en-US" dirty="0"/>
              <a:t> architecture on an FPGA at the </a:t>
            </a:r>
            <a:r>
              <a:rPr lang="en-US" dirty="0" err="1"/>
              <a:t>systemon</a:t>
            </a:r>
            <a:r>
              <a:rPr lang="en-US" dirty="0"/>
              <a:t>-chip (SoC) level. The system comprises four components: </a:t>
            </a:r>
            <a:r>
              <a:rPr lang="en-US" dirty="0" err="1"/>
              <a:t>Qsun</a:t>
            </a:r>
            <a:r>
              <a:rPr lang="en-US" dirty="0"/>
              <a:t> Framework, </a:t>
            </a:r>
            <a:r>
              <a:rPr lang="en-US" dirty="0" err="1"/>
              <a:t>FQsun</a:t>
            </a:r>
            <a:r>
              <a:rPr lang="en-US" dirty="0"/>
              <a:t> Software, Processing System (PS), and </a:t>
            </a:r>
            <a:r>
              <a:rPr lang="en-US" dirty="0" err="1"/>
              <a:t>FQsun</a:t>
            </a:r>
            <a:r>
              <a:rPr lang="en-US" dirty="0"/>
              <a:t> in Programmable Logic (PL). </a:t>
            </a:r>
          </a:p>
          <a:p>
            <a:endParaRPr lang="en-US" dirty="0"/>
          </a:p>
          <a:p>
            <a:r>
              <a:rPr lang="en-US" dirty="0"/>
              <a:t>The </a:t>
            </a:r>
            <a:r>
              <a:rPr lang="en-US" dirty="0" err="1"/>
              <a:t>Qsun</a:t>
            </a:r>
            <a:r>
              <a:rPr lang="en-US" dirty="0"/>
              <a:t> Framework, implemented in Python, includes libraries and programs for quantum simulation. </a:t>
            </a:r>
          </a:p>
          <a:p>
            <a:r>
              <a:rPr lang="en-US" dirty="0"/>
              <a:t>These programs can instruct the hardware to execute gates through the </a:t>
            </a:r>
            <a:r>
              <a:rPr lang="en-US" dirty="0" err="1"/>
              <a:t>FQsun</a:t>
            </a:r>
            <a:r>
              <a:rPr lang="en-US" dirty="0"/>
              <a:t> C library in </a:t>
            </a:r>
            <a:r>
              <a:rPr lang="en-US" dirty="0" err="1"/>
              <a:t>FQsun</a:t>
            </a:r>
            <a:r>
              <a:rPr lang="en-US" dirty="0"/>
              <a:t> Software. </a:t>
            </a:r>
          </a:p>
          <a:p>
            <a:r>
              <a:rPr lang="en-US" dirty="0"/>
              <a:t>Within the PS, the embedded CPU runs software such as the </a:t>
            </a:r>
            <a:r>
              <a:rPr lang="en-US" dirty="0" err="1"/>
              <a:t>Qsun</a:t>
            </a:r>
            <a:r>
              <a:rPr lang="en-US" dirty="0"/>
              <a:t> Framework and </a:t>
            </a:r>
            <a:r>
              <a:rPr lang="en-US" dirty="0" err="1"/>
              <a:t>FQsun</a:t>
            </a:r>
            <a:r>
              <a:rPr lang="en-US" dirty="0"/>
              <a:t> Software to control </a:t>
            </a:r>
            <a:r>
              <a:rPr lang="en-US" dirty="0" err="1"/>
              <a:t>FQsun</a:t>
            </a:r>
            <a:r>
              <a:rPr lang="en-US" dirty="0"/>
              <a:t> in PL for executing quantum simulation tasks. </a:t>
            </a:r>
          </a:p>
          <a:p>
            <a:r>
              <a:rPr lang="en-US" dirty="0"/>
              <a:t>In the PL, it consists of four modules: AXI Mapper, memory system, </a:t>
            </a:r>
            <a:r>
              <a:rPr lang="en-US" dirty="0" err="1"/>
              <a:t>FQsun</a:t>
            </a:r>
            <a:r>
              <a:rPr lang="en-US" dirty="0"/>
              <a:t> controller, and QGU. </a:t>
            </a:r>
          </a:p>
          <a:p>
            <a:r>
              <a:rPr lang="en-US" dirty="0"/>
              <a:t>The AXI Mapper manages and routes data exchanged between the PS and the </a:t>
            </a:r>
            <a:r>
              <a:rPr lang="en-US" dirty="0" err="1"/>
              <a:t>FQsun</a:t>
            </a:r>
            <a:r>
              <a:rPr lang="en-US" dirty="0"/>
              <a:t> memory system. </a:t>
            </a:r>
          </a:p>
          <a:p>
            <a:endParaRPr lang="en-US" dirty="0"/>
          </a:p>
          <a:p>
            <a:r>
              <a:rPr lang="en-US" dirty="0"/>
              <a:t>The </a:t>
            </a:r>
            <a:r>
              <a:rPr lang="en-US" dirty="0" err="1"/>
              <a:t>FQsun</a:t>
            </a:r>
            <a:r>
              <a:rPr lang="en-US" dirty="0"/>
              <a:t> memory system comprises Control Buffers, Context Memory, and a pair of Ping/Pong Amplitude Memory modules. </a:t>
            </a:r>
          </a:p>
          <a:p>
            <a:endParaRPr lang="en-US" dirty="0"/>
          </a:p>
          <a:p>
            <a:r>
              <a:rPr lang="en-US" dirty="0"/>
              <a:t>Control Buffers store control signals for the host </a:t>
            </a:r>
            <a:r>
              <a:rPr lang="en-US" dirty="0" err="1"/>
              <a:t>FQsun</a:t>
            </a:r>
            <a:r>
              <a:rPr lang="en-US" dirty="0"/>
              <a:t> Controller.</a:t>
            </a:r>
          </a:p>
          <a:p>
            <a:r>
              <a:rPr lang="en-US" dirty="0"/>
              <a:t>Context Memory holds configuration information such as gate type, gate location (cut, sin(θ/2), cos(θ/2), w0, w1), and gate parameters. </a:t>
            </a:r>
          </a:p>
          <a:p>
            <a:r>
              <a:rPr lang="en-US" dirty="0"/>
              <a:t>Notably, the Ping/Pong Amplitude 2 ×2048 (KB) Memory is the largest memory unit designed to store {α (t) j } for QGU. Finally, QGU serves as the main processing unit of </a:t>
            </a:r>
            <a:r>
              <a:rPr lang="en-US" dirty="0" err="1"/>
              <a:t>FQsun</a:t>
            </a:r>
            <a:r>
              <a:rPr lang="en-US" dirty="0"/>
              <a:t>. </a:t>
            </a:r>
          </a:p>
          <a:p>
            <a:endParaRPr lang="en-US" dirty="0"/>
          </a:p>
          <a:p>
            <a:r>
              <a:rPr lang="en-US" dirty="0"/>
              <a:t>QGU contains six fundamental gate units: {H, S, CX, Rx, Ry, Rz}. These basic gates can be combined to implement most other gates, ensuring high flexibility. </a:t>
            </a:r>
          </a:p>
          <a:p>
            <a:endParaRPr lang="en-US" dirty="0"/>
          </a:p>
          <a:p>
            <a:endParaRPr lang="en-US" dirty="0"/>
          </a:p>
          <a:p>
            <a:r>
              <a:rPr lang="en-US" dirty="0"/>
              <a:t>The hardware platforms such as FPGAs are limited by storage resources. To support large #Qubits, the memory organization of </a:t>
            </a:r>
            <a:r>
              <a:rPr lang="en-US" dirty="0" err="1"/>
              <a:t>FQsun</a:t>
            </a:r>
            <a:r>
              <a:rPr lang="en-US" dirty="0"/>
              <a:t> must be optimized. </a:t>
            </a:r>
          </a:p>
          <a:p>
            <a:r>
              <a:rPr lang="en-US" dirty="0"/>
              <a:t>Figure 2.2 illustrates the memory organization. There are three types of memory: Control Buffers, Context Memory, and Ping/Pong Amplitude Memory.</a:t>
            </a:r>
          </a:p>
          <a:p>
            <a:endParaRPr lang="en-US" dirty="0"/>
          </a:p>
          <a:p>
            <a:endParaRPr lang="en-US" dirty="0"/>
          </a:p>
        </p:txBody>
      </p:sp>
      <p:sp>
        <p:nvSpPr>
          <p:cNvPr id="4" name="Slide Number Placeholder 3"/>
          <p:cNvSpPr>
            <a:spLocks noGrp="1"/>
          </p:cNvSpPr>
          <p:nvPr>
            <p:ph type="sldNum" sz="quarter" idx="5"/>
          </p:nvPr>
        </p:nvSpPr>
        <p:spPr/>
        <p:txBody>
          <a:bodyPr/>
          <a:lstStyle/>
          <a:p>
            <a:fld id="{D5185723-9913-4F02-B630-868413D77CE4}" type="slidenum">
              <a:rPr lang="en-US" smtClean="0"/>
              <a:t>10</a:t>
            </a:fld>
            <a:endParaRPr lang="en-US"/>
          </a:p>
        </p:txBody>
      </p:sp>
    </p:spTree>
    <p:extLst>
      <p:ext uri="{BB962C8B-B14F-4D97-AF65-F5344CB8AC3E}">
        <p14:creationId xmlns:p14="http://schemas.microsoft.com/office/powerpoint/2010/main" val="29121579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342E4-5723-DBAC-5F9F-0580D8901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9EF8F9-A89D-A76E-4D8C-A25E3E4129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70FAC2-638D-84B7-DC14-2FA6163E1CD0}"/>
              </a:ext>
            </a:extLst>
          </p:cNvPr>
          <p:cNvSpPr>
            <a:spLocks noGrp="1"/>
          </p:cNvSpPr>
          <p:nvPr>
            <p:ph type="body" idx="1"/>
          </p:nvPr>
        </p:nvSpPr>
        <p:spPr/>
        <p:txBody>
          <a:bodyPr/>
          <a:lstStyle/>
          <a:p>
            <a:pPr marL="171450" indent="-171450">
              <a:buFontTx/>
              <a:buChar char="-"/>
            </a:pPr>
            <a:r>
              <a:rPr lang="en-US" dirty="0"/>
              <a:t>Control Buffers: These buffers store 1-bit control signals such as load, start, done, and stop. The load signal is used by the host to indicate the state where it writes context and amplitude data. Additionally, the host uses a 5-bit signal to indicate #Qubits, which </a:t>
            </a:r>
            <a:r>
              <a:rPr lang="en-US" dirty="0" err="1"/>
              <a:t>FQsun</a:t>
            </a:r>
            <a:r>
              <a:rPr lang="en-US" dirty="0"/>
              <a:t> is supporting. After completing the load state, the host triggers the start signal to begin the session. The done signal is continuously read by the host to track the completion time of each gate operation. Finally, the stop signal is used to end the session by resetting the address register of the Context Memory. </a:t>
            </a:r>
          </a:p>
          <a:p>
            <a:pPr marL="171450" indent="-171450">
              <a:buFontTx/>
              <a:buChar char="-"/>
            </a:pPr>
            <a:r>
              <a:rPr lang="en-US" dirty="0"/>
              <a:t>Context Memory (16 KB): This memory stores configuration </a:t>
            </a:r>
            <a:r>
              <a:rPr lang="en-US" dirty="0" err="1"/>
              <a:t>dataand</a:t>
            </a:r>
            <a:r>
              <a:rPr lang="en-US" dirty="0"/>
              <a:t> has d = 2048. The configuration data includes a 3-bit gate opcode indicating the type of gate to be executed. The values sin(θ/2) and cos(θ/2), with a bit width of 16/24/32 depending on the precision type, are parameters for Ri , pre-computed by </a:t>
            </a:r>
            <a:r>
              <a:rPr lang="en-US" dirty="0" err="1"/>
              <a:t>FQsun</a:t>
            </a:r>
            <a:r>
              <a:rPr lang="en-US" dirty="0"/>
              <a:t> software to reduce hardware complexity. Additionally, parameters such as the 5-bit cut and gate positions {w0, w1} must also be stored.</a:t>
            </a:r>
          </a:p>
          <a:p>
            <a:endParaRPr lang="en-US" dirty="0"/>
          </a:p>
          <a:p>
            <a:endParaRPr lang="en-US" dirty="0"/>
          </a:p>
          <a:p>
            <a:r>
              <a:rPr lang="en-US" dirty="0"/>
              <a:t>Ping/Pong Amplitude Memory (2 MB): used to store {α (t) j } for QGU. </a:t>
            </a:r>
          </a:p>
          <a:p>
            <a:r>
              <a:rPr lang="en-US" dirty="0"/>
              <a:t>This memory must have a d = 2^17 or d = 2^18 to support up to 17 or 18 qubits for 16-bit precision or 32-bit precision, calibrated to fit the maximum BRAM (block ram) capacity of the Xilinx ZCU102. (5.3 Mb)</a:t>
            </a:r>
          </a:p>
          <a:p>
            <a:endParaRPr lang="en-US" dirty="0"/>
          </a:p>
          <a:p>
            <a:r>
              <a:rPr lang="en-US" dirty="0"/>
              <a:t>In case Ping/Pong Amplitude Memory is applied to FPGAs with more BRAM resources, such as the Alveo or Versal series, </a:t>
            </a:r>
            <a:r>
              <a:rPr lang="en-US" dirty="0" err="1"/>
              <a:t>FQsun</a:t>
            </a:r>
            <a:r>
              <a:rPr lang="en-US" dirty="0"/>
              <a:t> could support a larger #Qubits. </a:t>
            </a:r>
          </a:p>
          <a:p>
            <a:endParaRPr lang="en-US" dirty="0"/>
          </a:p>
          <a:p>
            <a:r>
              <a:rPr lang="en-US" dirty="0"/>
              <a:t>To enable amplitude updates as described in Algorithms 2.1, a dual-port Ping/Pong memory design is applied. </a:t>
            </a:r>
          </a:p>
          <a:p>
            <a:r>
              <a:rPr lang="en-US" dirty="0"/>
              <a:t>Specifically, if the ping memory holds the current amplitude {α (t) j }, the pong memory will store the new amplitude {α (t+1) j }, and vice versa. This design is essential on the grounds that, during the calculation of {α (t+1) </a:t>
            </a:r>
            <a:r>
              <a:rPr lang="en-US" dirty="0" err="1"/>
              <a:t>i+cut</a:t>
            </a:r>
            <a:r>
              <a:rPr lang="en-US" dirty="0"/>
              <a:t>} and {α (t+1) </a:t>
            </a:r>
            <a:r>
              <a:rPr lang="en-US" dirty="0" err="1"/>
              <a:t>i</a:t>
            </a:r>
            <a:r>
              <a:rPr lang="en-US" dirty="0"/>
              <a:t>−cut}, both the current and new amplitudes are needed.</a:t>
            </a:r>
          </a:p>
          <a:p>
            <a:endParaRPr lang="en-US" dirty="0"/>
          </a:p>
          <a:p>
            <a:endParaRPr lang="en-US" dirty="0"/>
          </a:p>
        </p:txBody>
      </p:sp>
      <p:sp>
        <p:nvSpPr>
          <p:cNvPr id="4" name="Slide Number Placeholder 3">
            <a:extLst>
              <a:ext uri="{FF2B5EF4-FFF2-40B4-BE49-F238E27FC236}">
                <a16:creationId xmlns:a16="http://schemas.microsoft.com/office/drawing/2014/main" id="{7C6AE271-F32A-DB38-D970-B52ADA9B3A28}"/>
              </a:ext>
            </a:extLst>
          </p:cNvPr>
          <p:cNvSpPr>
            <a:spLocks noGrp="1"/>
          </p:cNvSpPr>
          <p:nvPr>
            <p:ph type="sldNum" sz="quarter" idx="5"/>
          </p:nvPr>
        </p:nvSpPr>
        <p:spPr/>
        <p:txBody>
          <a:bodyPr/>
          <a:lstStyle/>
          <a:p>
            <a:fld id="{D5185723-9913-4F02-B630-868413D77CE4}" type="slidenum">
              <a:rPr lang="en-US" smtClean="0"/>
              <a:t>11</a:t>
            </a:fld>
            <a:endParaRPr lang="en-US"/>
          </a:p>
        </p:txBody>
      </p:sp>
    </p:spTree>
    <p:extLst>
      <p:ext uri="{BB962C8B-B14F-4D97-AF65-F5344CB8AC3E}">
        <p14:creationId xmlns:p14="http://schemas.microsoft.com/office/powerpoint/2010/main" val="728034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micro-architecture of the QGU consists of five main modules designed to perform six fundamental gates following software design. </a:t>
            </a:r>
          </a:p>
          <a:p>
            <a:r>
              <a:rPr lang="en-US" dirty="0"/>
              <a:t>The computational data for the QGU includes {α (t) j }, {α (t+1) j }, {α (t+1) </a:t>
            </a:r>
            <a:r>
              <a:rPr lang="en-US" dirty="0" err="1"/>
              <a:t>j±cut</a:t>
            </a:r>
            <a:r>
              <a:rPr lang="en-US" dirty="0"/>
              <a:t>}, and parameters (sin(θ/2) and cos(θ/2)) used by Ri . </a:t>
            </a:r>
          </a:p>
          <a:p>
            <a:r>
              <a:rPr lang="en-US" dirty="0"/>
              <a:t>Essentially, the operations of Rx and Ry are relatively similar; hence, they are implemented using a Unified Rx &amp; Ry Gate unit to conserve hardware resources. </a:t>
            </a:r>
          </a:p>
          <a:p>
            <a:r>
              <a:rPr lang="en-US" dirty="0"/>
              <a:t>To ensure proper execution of the if-else logic, a 2-to-1 multiplexer system controlled by the state value is used to select the output value. </a:t>
            </a:r>
          </a:p>
          <a:p>
            <a:r>
              <a:rPr lang="en-US" dirty="0"/>
              <a:t>Finally, a multiplexer controlled by the gate operation input is employed</a:t>
            </a:r>
          </a:p>
        </p:txBody>
      </p:sp>
      <p:sp>
        <p:nvSpPr>
          <p:cNvPr id="4" name="Slide Number Placeholder 3"/>
          <p:cNvSpPr>
            <a:spLocks noGrp="1"/>
          </p:cNvSpPr>
          <p:nvPr>
            <p:ph type="sldNum" sz="quarter" idx="5"/>
          </p:nvPr>
        </p:nvSpPr>
        <p:spPr/>
        <p:txBody>
          <a:bodyPr/>
          <a:lstStyle/>
          <a:p>
            <a:fld id="{D5185723-9913-4F02-B630-868413D77CE4}" type="slidenum">
              <a:rPr lang="en-US" smtClean="0"/>
              <a:t>12</a:t>
            </a:fld>
            <a:endParaRPr lang="en-US"/>
          </a:p>
        </p:txBody>
      </p:sp>
    </p:spTree>
    <p:extLst>
      <p:ext uri="{BB962C8B-B14F-4D97-AF65-F5344CB8AC3E}">
        <p14:creationId xmlns:p14="http://schemas.microsoft.com/office/powerpoint/2010/main" val="2378580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MR12"/>
              </a:rPr>
              <a:t>Almost all related work on emulators has primarily focused on performance evaluation while lacking criteria for accuracy.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MR12"/>
              </a:rPr>
              <a:t>I realize that lower precision while affect on the fidelity heavily.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MR12"/>
              </a:rPr>
              <a:t>So I designed with five configurations, each corresponding to a different precision on slides.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CMR1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CMR12"/>
            </a:endParaRPr>
          </a:p>
          <a:p>
            <a:r>
              <a:rPr lang="en-US" sz="1800">
                <a:effectLst/>
                <a:latin typeface="CMBX12"/>
              </a:rPr>
              <a:t>Pipeline and Complexity</a:t>
            </a:r>
            <a:r>
              <a:rPr lang="en-US" sz="1800">
                <a:effectLst/>
                <a:latin typeface="CMR12"/>
              </a:rPr>
              <a:t>: FP numbers utilize two pipeline stages for both the multiplier and the adder/subtractor units, while FX numbers require only two stages for the multiplier and one stage for the adder/subtractor. As a result, the latency of FX design is lower compared to FP design. </a:t>
            </a:r>
            <a:endParaRPr lang="en-US" sz="2800"/>
          </a:p>
          <a:p>
            <a:endParaRPr lang="en-US" sz="1800">
              <a:effectLst/>
              <a:latin typeface="CMBX12"/>
            </a:endParaRPr>
          </a:p>
          <a:p>
            <a:r>
              <a:rPr lang="en-US" sz="1800">
                <a:effectLst/>
                <a:latin typeface="CMBX12"/>
              </a:rPr>
              <a:t>Range and Precision</a:t>
            </a:r>
            <a:r>
              <a:rPr lang="en-US" sz="1800">
                <a:effectLst/>
                <a:latin typeface="CMR12"/>
              </a:rPr>
              <a:t>: following normalize condition, </a:t>
            </a:r>
            <a:r>
              <a:rPr lang="en-US" sz="1800">
                <a:effectLst/>
                <a:latin typeface="CMSY10"/>
              </a:rPr>
              <a:t>|</a:t>
            </a:r>
            <a:r>
              <a:rPr lang="el-GR" sz="1800">
                <a:effectLst/>
                <a:latin typeface="CMMI12"/>
              </a:rPr>
              <a:t>α</a:t>
            </a:r>
            <a:r>
              <a:rPr lang="vi-VN" sz="1800">
                <a:effectLst/>
                <a:latin typeface="CMMI12"/>
              </a:rPr>
              <a:t>_j</a:t>
            </a:r>
            <a:r>
              <a:rPr lang="en-US" sz="1800">
                <a:effectLst/>
                <a:latin typeface="CMSY10"/>
              </a:rPr>
              <a:t>| ∈ </a:t>
            </a:r>
            <a:r>
              <a:rPr lang="en-US" sz="1800">
                <a:effectLst/>
                <a:latin typeface="CMR12"/>
              </a:rPr>
              <a:t>[</a:t>
            </a:r>
            <a:r>
              <a:rPr lang="en-US" sz="1800">
                <a:effectLst/>
                <a:latin typeface="CMSY10"/>
              </a:rPr>
              <a:t>−</a:t>
            </a:r>
            <a:r>
              <a:rPr lang="en-US" sz="1800">
                <a:effectLst/>
                <a:latin typeface="CMR12"/>
              </a:rPr>
              <a:t>1</a:t>
            </a:r>
            <a:r>
              <a:rPr lang="en-US" sz="1800">
                <a:effectLst/>
                <a:latin typeface="CMMI12"/>
              </a:rPr>
              <a:t>, </a:t>
            </a:r>
            <a:r>
              <a:rPr lang="en-US" sz="1800">
                <a:effectLst/>
                <a:latin typeface="CMR12"/>
              </a:rPr>
              <a:t>1]; then, FX numbers used in FQsun are configured with 1 sign bit, 1 integer bit, and the remaining bits allocated to the fractional part</a:t>
            </a:r>
            <a:endParaRPr lang="en-US" sz="280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CMR1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MR12"/>
              </a:rPr>
              <a:t>Specifically, the PS consumes a maximum of 1</a:t>
            </a:r>
            <a:r>
              <a:rPr lang="en-US" sz="1800">
                <a:effectLst/>
                <a:latin typeface="CMMI12"/>
              </a:rPr>
              <a:t>.</a:t>
            </a:r>
            <a:r>
              <a:rPr lang="en-US" sz="1800">
                <a:effectLst/>
                <a:latin typeface="CMR12"/>
              </a:rPr>
              <a:t>84 (W) (with 0</a:t>
            </a:r>
            <a:r>
              <a:rPr lang="en-US" sz="1800">
                <a:effectLst/>
                <a:latin typeface="CMMI12"/>
              </a:rPr>
              <a:t>.</a:t>
            </a:r>
            <a:r>
              <a:rPr lang="en-US" sz="1800">
                <a:effectLst/>
                <a:latin typeface="CMR12"/>
              </a:rPr>
              <a:t>34 (W) dynamic power). The PL consumes a maximum of 0</a:t>
            </a:r>
            <a:r>
              <a:rPr lang="en-US" sz="1800">
                <a:effectLst/>
                <a:latin typeface="CMMI12"/>
              </a:rPr>
              <a:t>.</a:t>
            </a:r>
            <a:r>
              <a:rPr lang="en-US" sz="1800">
                <a:effectLst/>
                <a:latin typeface="CMR12"/>
              </a:rPr>
              <a:t>61 (W). The total power reaches a maximum of 2</a:t>
            </a:r>
            <a:r>
              <a:rPr lang="en-US" sz="1800">
                <a:effectLst/>
                <a:latin typeface="CMMI12"/>
              </a:rPr>
              <a:t>.</a:t>
            </a:r>
            <a:r>
              <a:rPr lang="en-US" sz="1800">
                <a:effectLst/>
                <a:latin typeface="CMR12"/>
              </a:rPr>
              <a:t>41 (W) (with 0</a:t>
            </a:r>
            <a:r>
              <a:rPr lang="en-US" sz="1800">
                <a:effectLst/>
                <a:latin typeface="CMMI12"/>
              </a:rPr>
              <a:t>.</a:t>
            </a:r>
            <a:r>
              <a:rPr lang="en-US" sz="1800">
                <a:effectLst/>
                <a:latin typeface="CMR12"/>
              </a:rPr>
              <a:t>23 (W) dynamic power). Accordingly, the power consumption for FQsun is determined by adding the total dynamic power to the maximum PL power, reaching 0</a:t>
            </a:r>
            <a:r>
              <a:rPr lang="en-US" sz="1800">
                <a:effectLst/>
                <a:latin typeface="CMMI12"/>
              </a:rPr>
              <a:t>.</a:t>
            </a:r>
            <a:r>
              <a:rPr lang="en-US" sz="1800">
                <a:effectLst/>
                <a:latin typeface="CMR12"/>
              </a:rPr>
              <a:t>81 (W). These power values are kept for all #Qubits. </a:t>
            </a:r>
            <a:endParaRPr lang="en-US" sz="280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CMR1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MR12"/>
              </a:rPr>
              <a:t>FFs: flip-flop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MR12"/>
              </a:rPr>
              <a:t>DSP: </a:t>
            </a:r>
            <a:r>
              <a:rPr lang="en-US" b="0" i="0">
                <a:solidFill>
                  <a:srgbClr val="474747"/>
                </a:solidFill>
                <a:effectLst/>
                <a:latin typeface="Arial" panose="020B0604020202020204" pitchFamily="34" charset="0"/>
              </a:rPr>
              <a:t>digital signal processor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474747"/>
                </a:solidFill>
                <a:effectLst/>
                <a:latin typeface="Arial" panose="020B0604020202020204" pitchFamily="34" charset="0"/>
              </a:rPr>
              <a:t>PS: processing system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474747"/>
                </a:solidFill>
                <a:effectLst/>
                <a:latin typeface="Arial" panose="020B0604020202020204" pitchFamily="34" charset="0"/>
              </a:rPr>
              <a:t>PL: programmable logic</a:t>
            </a:r>
            <a:endParaRPr lang="en-US"/>
          </a:p>
          <a:p>
            <a:endParaRPr lang="en-VN"/>
          </a:p>
        </p:txBody>
      </p:sp>
      <p:sp>
        <p:nvSpPr>
          <p:cNvPr id="4" name="Slide Number Placeholder 3"/>
          <p:cNvSpPr>
            <a:spLocks noGrp="1"/>
          </p:cNvSpPr>
          <p:nvPr>
            <p:ph type="sldNum" sz="quarter" idx="5"/>
          </p:nvPr>
        </p:nvSpPr>
        <p:spPr/>
        <p:txBody>
          <a:bodyPr/>
          <a:lstStyle/>
          <a:p>
            <a:fld id="{D5185723-9913-4F02-B630-868413D77CE4}" type="slidenum">
              <a:rPr lang="en-US" smtClean="0"/>
              <a:t>13</a:t>
            </a:fld>
            <a:endParaRPr lang="en-US"/>
          </a:p>
        </p:txBody>
      </p:sp>
    </p:spTree>
    <p:extLst>
      <p:ext uri="{BB962C8B-B14F-4D97-AF65-F5344CB8AC3E}">
        <p14:creationId xmlns:p14="http://schemas.microsoft.com/office/powerpoint/2010/main" val="29713618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We benchmark the F</a:t>
            </a:r>
            <a:r>
              <a:rPr lang="en-US"/>
              <a:t>q</a:t>
            </a:r>
            <a:r>
              <a:rPr lang="en-VN"/>
              <a:t>sun on three different quantum algorithms, each algorithms has the different gate organization and number of gates.</a:t>
            </a:r>
          </a:p>
        </p:txBody>
      </p:sp>
      <p:sp>
        <p:nvSpPr>
          <p:cNvPr id="4" name="Slide Number Placeholder 3"/>
          <p:cNvSpPr>
            <a:spLocks noGrp="1"/>
          </p:cNvSpPr>
          <p:nvPr>
            <p:ph type="sldNum" sz="quarter" idx="5"/>
          </p:nvPr>
        </p:nvSpPr>
        <p:spPr/>
        <p:txBody>
          <a:bodyPr/>
          <a:lstStyle/>
          <a:p>
            <a:fld id="{D5185723-9913-4F02-B630-868413D77CE4}" type="slidenum">
              <a:rPr lang="en-US" smtClean="0"/>
              <a:t>14</a:t>
            </a:fld>
            <a:endParaRPr lang="en-US"/>
          </a:p>
        </p:txBody>
      </p:sp>
    </p:spTree>
    <p:extLst>
      <p:ext uri="{BB962C8B-B14F-4D97-AF65-F5344CB8AC3E}">
        <p14:creationId xmlns:p14="http://schemas.microsoft.com/office/powerpoint/2010/main" val="4985173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We can see on all task, F</a:t>
            </a:r>
            <a:r>
              <a:rPr lang="en-US"/>
              <a:t>q</a:t>
            </a:r>
            <a:r>
              <a:rPr lang="en-VN"/>
              <a:t>sun nearly achieve the perfect MSE a</a:t>
            </a:r>
            <a:r>
              <a:rPr lang="en-US"/>
              <a:t>nd</a:t>
            </a:r>
            <a:r>
              <a:rPr lang="en-VN"/>
              <a:t> fidelity.</a:t>
            </a:r>
          </a:p>
          <a:p>
            <a:r>
              <a:rPr lang="en-VN"/>
              <a:t>Except the FP16 and FX16, it turn to be wrong on QFT because of not enough bit for fraction part.</a:t>
            </a:r>
          </a:p>
        </p:txBody>
      </p:sp>
      <p:sp>
        <p:nvSpPr>
          <p:cNvPr id="4" name="Slide Number Placeholder 3"/>
          <p:cNvSpPr>
            <a:spLocks noGrp="1"/>
          </p:cNvSpPr>
          <p:nvPr>
            <p:ph type="sldNum" sz="quarter" idx="5"/>
          </p:nvPr>
        </p:nvSpPr>
        <p:spPr/>
        <p:txBody>
          <a:bodyPr/>
          <a:lstStyle/>
          <a:p>
            <a:fld id="{D5185723-9913-4F02-B630-868413D77CE4}" type="slidenum">
              <a:rPr lang="en-US" smtClean="0"/>
              <a:t>15</a:t>
            </a:fld>
            <a:endParaRPr lang="en-US"/>
          </a:p>
        </p:txBody>
      </p:sp>
    </p:spTree>
    <p:extLst>
      <p:ext uri="{BB962C8B-B14F-4D97-AF65-F5344CB8AC3E}">
        <p14:creationId xmlns:p14="http://schemas.microsoft.com/office/powerpoint/2010/main" val="3484276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we compare the execution time and pdp (power delay product) = time x power between Fqsun and CPU/GPU</a:t>
            </a:r>
          </a:p>
          <a:p>
            <a:r>
              <a:rPr lang="en-US" dirty="0"/>
              <a:t>In almost case, Fqsun achieve the better exe time and superior PDP compared to all related works. </a:t>
            </a:r>
          </a:p>
          <a:p>
            <a:r>
              <a:rPr lang="en-US" dirty="0"/>
              <a:t>an exception at subfigure 2.10 (d), pennylane and qiskit faster than Fqsun due to the stabilizer rank (will be explain in the next slide and section 3)</a:t>
            </a:r>
          </a:p>
        </p:txBody>
      </p:sp>
      <p:sp>
        <p:nvSpPr>
          <p:cNvPr id="4" name="Slide Number Placeholder 3"/>
          <p:cNvSpPr>
            <a:spLocks noGrp="1"/>
          </p:cNvSpPr>
          <p:nvPr>
            <p:ph type="sldNum" sz="quarter" idx="5"/>
          </p:nvPr>
        </p:nvSpPr>
        <p:spPr/>
        <p:txBody>
          <a:bodyPr/>
          <a:lstStyle/>
          <a:p>
            <a:fld id="{D5185723-9913-4F02-B630-868413D77CE4}" type="slidenum">
              <a:rPr lang="en-US" smtClean="0"/>
              <a:t>16</a:t>
            </a:fld>
            <a:endParaRPr lang="en-US"/>
          </a:p>
        </p:txBody>
      </p:sp>
    </p:spTree>
    <p:extLst>
      <p:ext uri="{BB962C8B-B14F-4D97-AF65-F5344CB8AC3E}">
        <p14:creationId xmlns:p14="http://schemas.microsoft.com/office/powerpoint/2010/main" val="11417591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figure 2.10. d, qiskit faster than fqsun because it efficient simulate the low-rank stabilizer circuit.</a:t>
            </a:r>
          </a:p>
          <a:p>
            <a:r>
              <a:rPr lang="en-US" dirty="0"/>
              <a:t>I compare qiskit and FX32 from low to high stabilizer rank, we can see that the gap will be increase based on the stabilizer rank.</a:t>
            </a:r>
          </a:p>
          <a:p>
            <a:r>
              <a:rPr lang="en-US" dirty="0"/>
              <a:t>In the highest stabilizer rank, Fqsun faster than qiskit 10 times.</a:t>
            </a:r>
          </a:p>
        </p:txBody>
      </p:sp>
      <p:sp>
        <p:nvSpPr>
          <p:cNvPr id="4" name="Slide Number Placeholder 3"/>
          <p:cNvSpPr>
            <a:spLocks noGrp="1"/>
          </p:cNvSpPr>
          <p:nvPr>
            <p:ph type="sldNum" sz="quarter" idx="5"/>
          </p:nvPr>
        </p:nvSpPr>
        <p:spPr/>
        <p:txBody>
          <a:bodyPr/>
          <a:lstStyle/>
          <a:p>
            <a:fld id="{D5185723-9913-4F02-B630-868413D77CE4}" type="slidenum">
              <a:rPr lang="en-US" smtClean="0"/>
              <a:t>17</a:t>
            </a:fld>
            <a:endParaRPr lang="en-US"/>
          </a:p>
        </p:txBody>
      </p:sp>
    </p:spTree>
    <p:extLst>
      <p:ext uri="{BB962C8B-B14F-4D97-AF65-F5344CB8AC3E}">
        <p14:creationId xmlns:p14="http://schemas.microsoft.com/office/powerpoint/2010/main" val="2574119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effectLst/>
                <a:latin typeface="CMR12"/>
              </a:rPr>
              <a:t>Compared to other emulators [56,57,60–62], our emulator support various applications. The work [59/64] achieve the best normalized gate speed however, these designs support only the QFT circuit and then have no use case because they provide a fixed output. </a:t>
            </a:r>
          </a:p>
          <a:p>
            <a:endParaRPr lang="en-US"/>
          </a:p>
          <a:p>
            <a:r>
              <a:rPr lang="en-US" sz="1800">
                <a:effectLst/>
                <a:latin typeface="CMR12"/>
              </a:rPr>
              <a:t>For a fair comparison, FQsun is comparable to other flexible emulators that support a wide range of algorithms, including Arria 10AX115N4F45E3SG [2] and AMD Xilinx Zynq-7000 FPGA [63]. </a:t>
            </a:r>
          </a:p>
          <a:p>
            <a:r>
              <a:rPr lang="en-US" sz="1800">
                <a:effectLst/>
                <a:latin typeface="CMR12"/>
              </a:rPr>
              <a:t>Regarding execution time, </a:t>
            </a:r>
            <a:r>
              <a:rPr lang="en-US" sz="1800">
                <a:effectLst/>
                <a:latin typeface="CMBX12"/>
              </a:rPr>
              <a:t>FX32 </a:t>
            </a:r>
            <a:r>
              <a:rPr lang="en-US" sz="1800">
                <a:effectLst/>
                <a:latin typeface="CMR12"/>
              </a:rPr>
              <a:t>achieves a computation speed-up of </a:t>
            </a:r>
            <a:r>
              <a:rPr lang="en-US" sz="1800">
                <a:effectLst/>
                <a:latin typeface="CMBX12"/>
              </a:rPr>
              <a:t>17.9 </a:t>
            </a:r>
            <a:r>
              <a:rPr lang="en-US" sz="1800">
                <a:effectLst/>
                <a:latin typeface="CMR12"/>
              </a:rPr>
              <a:t>times and </a:t>
            </a:r>
            <a:r>
              <a:rPr lang="en-US" sz="1800">
                <a:effectLst/>
                <a:latin typeface="CMBX12"/>
              </a:rPr>
              <a:t>6.1 </a:t>
            </a:r>
            <a:r>
              <a:rPr lang="en-US" sz="1800">
                <a:effectLst/>
                <a:latin typeface="CMR12"/>
              </a:rPr>
              <a:t>times compared to [2] and [63], respectively. </a:t>
            </a:r>
          </a:p>
          <a:p>
            <a:r>
              <a:rPr lang="en-US" sz="1800">
                <a:effectLst/>
                <a:latin typeface="CMR12"/>
              </a:rPr>
              <a:t>Furthermore, FQsun supports computations across five precision types and offers different performance and accuracy. </a:t>
            </a:r>
            <a:endParaRPr lang="en-US"/>
          </a:p>
          <a:p>
            <a:endParaRPr lang="en-VN"/>
          </a:p>
        </p:txBody>
      </p:sp>
      <p:sp>
        <p:nvSpPr>
          <p:cNvPr id="4" name="Slide Number Placeholder 3"/>
          <p:cNvSpPr>
            <a:spLocks noGrp="1"/>
          </p:cNvSpPr>
          <p:nvPr>
            <p:ph type="sldNum" sz="quarter" idx="5"/>
          </p:nvPr>
        </p:nvSpPr>
        <p:spPr/>
        <p:txBody>
          <a:bodyPr/>
          <a:lstStyle/>
          <a:p>
            <a:fld id="{D5185723-9913-4F02-B630-868413D77CE4}" type="slidenum">
              <a:rPr lang="en-US" smtClean="0"/>
              <a:t>18</a:t>
            </a:fld>
            <a:endParaRPr lang="en-US"/>
          </a:p>
        </p:txBody>
      </p:sp>
    </p:spTree>
    <p:extLst>
      <p:ext uri="{BB962C8B-B14F-4D97-AF65-F5344CB8AC3E}">
        <p14:creationId xmlns:p14="http://schemas.microsoft.com/office/powerpoint/2010/main" val="15265694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Recently, I designed the parallel version of F</a:t>
            </a:r>
            <a:r>
              <a:rPr lang="en-US"/>
              <a:t>q</a:t>
            </a:r>
            <a:r>
              <a:rPr lang="en-VN"/>
              <a:t>sun, called WFQE which use multple QGU ínstead of one, each QGU  will handle a part of wave function.</a:t>
            </a:r>
          </a:p>
        </p:txBody>
      </p:sp>
      <p:sp>
        <p:nvSpPr>
          <p:cNvPr id="4" name="Slide Number Placeholder 3"/>
          <p:cNvSpPr>
            <a:spLocks noGrp="1"/>
          </p:cNvSpPr>
          <p:nvPr>
            <p:ph type="sldNum" sz="quarter" idx="5"/>
          </p:nvPr>
        </p:nvSpPr>
        <p:spPr/>
        <p:txBody>
          <a:bodyPr/>
          <a:lstStyle/>
          <a:p>
            <a:fld id="{D5185723-9913-4F02-B630-868413D77CE4}" type="slidenum">
              <a:rPr lang="en-US" smtClean="0"/>
              <a:t>19</a:t>
            </a:fld>
            <a:endParaRPr lang="en-US"/>
          </a:p>
        </p:txBody>
      </p:sp>
    </p:spTree>
    <p:extLst>
      <p:ext uri="{BB962C8B-B14F-4D97-AF65-F5344CB8AC3E}">
        <p14:creationId xmlns:p14="http://schemas.microsoft.com/office/powerpoint/2010/main" val="8351951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see that using multiple qgu will increase the throughput efficiently but there is a limit at qubit over 17.</a:t>
            </a:r>
          </a:p>
          <a:p>
            <a:r>
              <a:rPr lang="en-US" dirty="0"/>
              <a:t>Because at qubit equal to 17, 1-QGU throughput will be equal to DMA throughput, so it is meaningless if we use more QGU.</a:t>
            </a:r>
          </a:p>
        </p:txBody>
      </p:sp>
      <p:sp>
        <p:nvSpPr>
          <p:cNvPr id="4" name="Slide Number Placeholder 3"/>
          <p:cNvSpPr>
            <a:spLocks noGrp="1"/>
          </p:cNvSpPr>
          <p:nvPr>
            <p:ph type="sldNum" sz="quarter" idx="5"/>
          </p:nvPr>
        </p:nvSpPr>
        <p:spPr/>
        <p:txBody>
          <a:bodyPr/>
          <a:lstStyle/>
          <a:p>
            <a:fld id="{D5185723-9913-4F02-B630-868413D77CE4}" type="slidenum">
              <a:rPr lang="en-US" smtClean="0"/>
              <a:t>20</a:t>
            </a:fld>
            <a:endParaRPr lang="en-US"/>
          </a:p>
        </p:txBody>
      </p:sp>
    </p:spTree>
    <p:extLst>
      <p:ext uri="{BB962C8B-B14F-4D97-AF65-F5344CB8AC3E}">
        <p14:creationId xmlns:p14="http://schemas.microsoft.com/office/powerpoint/2010/main" val="15352872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gate and operator presented in the last slide can be viewed as vector and matrix in the state-vector approach.</a:t>
            </a:r>
          </a:p>
          <a:p>
            <a:endParaRPr lang="en-US" dirty="0"/>
          </a:p>
          <a:p>
            <a:r>
              <a:rPr lang="en-US" dirty="0"/>
              <a:t>A state is simply a normalized vector which has dimensional two exponential of n where n is the number of qubits.</a:t>
            </a:r>
          </a:p>
          <a:p>
            <a:r>
              <a:rPr lang="en-US" dirty="0"/>
              <a:t>Because the length of state is only 1, so each element on state always has the norm less or equal 1.</a:t>
            </a:r>
          </a:p>
          <a:p>
            <a:endParaRPr lang="en-US" dirty="0"/>
          </a:p>
          <a:p>
            <a:r>
              <a:rPr lang="en-US" dirty="0"/>
              <a:t>The gate and operator is actually the matrix which has the element is the complex number.</a:t>
            </a:r>
          </a:p>
          <a:p>
            <a:r>
              <a:rPr lang="en-US" dirty="0"/>
              <a:t>A operator can be reconstructed by tensor multiplication between gates.</a:t>
            </a:r>
          </a:p>
          <a:p>
            <a:endParaRPr lang="en-US" dirty="0"/>
          </a:p>
          <a:p>
            <a:r>
              <a:rPr lang="en-US" dirty="0"/>
              <a:t>And when a operator acts on a state as Eq 1.2, it is equivalent to a matrix-vector multiplication.</a:t>
            </a:r>
          </a:p>
          <a:p>
            <a:r>
              <a:rPr lang="en-US" dirty="0"/>
              <a:t>But note that the dimensional of both state and operator increase exponentially based on the number of qubits.</a:t>
            </a:r>
          </a:p>
          <a:p>
            <a:r>
              <a:rPr lang="en-US" dirty="0"/>
              <a:t>Computing this term is a hard problem.</a:t>
            </a:r>
          </a:p>
        </p:txBody>
      </p:sp>
      <p:sp>
        <p:nvSpPr>
          <p:cNvPr id="4" name="Slide Number Placeholder 3"/>
          <p:cNvSpPr>
            <a:spLocks noGrp="1"/>
          </p:cNvSpPr>
          <p:nvPr>
            <p:ph type="sldNum" sz="quarter" idx="5"/>
          </p:nvPr>
        </p:nvSpPr>
        <p:spPr/>
        <p:txBody>
          <a:bodyPr/>
          <a:lstStyle/>
          <a:p>
            <a:fld id="{D5185723-9913-4F02-B630-868413D77CE4}" type="slidenum">
              <a:rPr lang="en-US" smtClean="0"/>
              <a:t>22</a:t>
            </a:fld>
            <a:endParaRPr lang="en-US"/>
          </a:p>
        </p:txBody>
      </p:sp>
    </p:spTree>
    <p:extLst>
      <p:ext uri="{BB962C8B-B14F-4D97-AF65-F5344CB8AC3E}">
        <p14:creationId xmlns:p14="http://schemas.microsoft.com/office/powerpoint/2010/main" val="4002790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We can easily see that applying a operator on a n-qubit state has the complexity 2^2n because of the matrix-vector multiplcation.</a:t>
            </a:r>
          </a:p>
          <a:p>
            <a:r>
              <a:rPr lang="en-VN"/>
              <a:t> Instead of that, we design an algorithm that only traverse on the state vector, the action will be design by quantum gate and the ooerator will not be constructed.</a:t>
            </a:r>
          </a:p>
          <a:p>
            <a:r>
              <a:rPr lang="en-VN"/>
              <a:t>That help reduce both time and space complexity from 2^2n to 2^n.</a:t>
            </a:r>
          </a:p>
        </p:txBody>
      </p:sp>
      <p:sp>
        <p:nvSpPr>
          <p:cNvPr id="4" name="Slide Number Placeholder 3"/>
          <p:cNvSpPr>
            <a:spLocks noGrp="1"/>
          </p:cNvSpPr>
          <p:nvPr>
            <p:ph type="sldNum" sz="quarter" idx="5"/>
          </p:nvPr>
        </p:nvSpPr>
        <p:spPr/>
        <p:txBody>
          <a:bodyPr/>
          <a:lstStyle/>
          <a:p>
            <a:fld id="{D5185723-9913-4F02-B630-868413D77CE4}" type="slidenum">
              <a:rPr lang="en-US" smtClean="0"/>
              <a:t>23</a:t>
            </a:fld>
            <a:endParaRPr lang="en-US"/>
          </a:p>
        </p:txBody>
      </p:sp>
    </p:spTree>
    <p:extLst>
      <p:ext uri="{BB962C8B-B14F-4D97-AF65-F5344CB8AC3E}">
        <p14:creationId xmlns:p14="http://schemas.microsoft.com/office/powerpoint/2010/main" val="2529745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We come to the next approach, stabilizer formalism.</a:t>
            </a:r>
          </a:p>
          <a:p>
            <a:r>
              <a:rPr lang="en-VN"/>
              <a:t>Instead of reprenseting quantum system by state-vector, we can repres</a:t>
            </a:r>
            <a:r>
              <a:rPr lang="en-US"/>
              <a:t>e</a:t>
            </a:r>
            <a:r>
              <a:rPr lang="en-VN"/>
              <a:t>nt it as stabilizer generator. The stabilizer generator is the sum of Pauli strings and The number of generator will be equal to the number of qubits, the leng</a:t>
            </a:r>
            <a:r>
              <a:rPr lang="en-US"/>
              <a:t>th</a:t>
            </a:r>
            <a:r>
              <a:rPr lang="en-VN"/>
              <a:t> of each generator depend on the complexity of circuit.</a:t>
            </a:r>
          </a:p>
          <a:p>
            <a:endParaRPr lang="en-VN"/>
          </a:p>
          <a:p>
            <a:r>
              <a:rPr lang="en-VN"/>
              <a:t>Applying operator or gate on stabilizer generators will transform the pauli terms.</a:t>
            </a:r>
          </a:p>
        </p:txBody>
      </p:sp>
      <p:sp>
        <p:nvSpPr>
          <p:cNvPr id="4" name="Slide Number Placeholder 3"/>
          <p:cNvSpPr>
            <a:spLocks noGrp="1"/>
          </p:cNvSpPr>
          <p:nvPr>
            <p:ph type="sldNum" sz="quarter" idx="5"/>
          </p:nvPr>
        </p:nvSpPr>
        <p:spPr/>
        <p:txBody>
          <a:bodyPr/>
          <a:lstStyle/>
          <a:p>
            <a:fld id="{D5185723-9913-4F02-B630-868413D77CE4}" type="slidenum">
              <a:rPr lang="en-US" smtClean="0"/>
              <a:t>24</a:t>
            </a:fld>
            <a:endParaRPr lang="en-US"/>
          </a:p>
        </p:txBody>
      </p:sp>
    </p:spTree>
    <p:extLst>
      <p:ext uri="{BB962C8B-B14F-4D97-AF65-F5344CB8AC3E}">
        <p14:creationId xmlns:p14="http://schemas.microsoft.com/office/powerpoint/2010/main" val="37937902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Challenge (a) About the theory aspect, applying Clifford gate protect the stabilizer rank but non-Clifford gate will increase the stabilizer rank fastly as analysis in the previous section.</a:t>
            </a:r>
          </a:p>
          <a:p>
            <a:endParaRPr lang="en-VN"/>
          </a:p>
          <a:p>
            <a:r>
              <a:rPr lang="en-VN"/>
              <a:t>Challenge (b) The current version of stabilizer formalism package is that all of them are the sequential algorithm, not parallel, so it limit the power of GPU.</a:t>
            </a:r>
          </a:p>
        </p:txBody>
      </p:sp>
      <p:sp>
        <p:nvSpPr>
          <p:cNvPr id="4" name="Slide Number Placeholder 3"/>
          <p:cNvSpPr>
            <a:spLocks noGrp="1"/>
          </p:cNvSpPr>
          <p:nvPr>
            <p:ph type="sldNum" sz="quarter" idx="5"/>
          </p:nvPr>
        </p:nvSpPr>
        <p:spPr/>
        <p:txBody>
          <a:bodyPr/>
          <a:lstStyle/>
          <a:p>
            <a:fld id="{D5185723-9913-4F02-B630-868413D77CE4}" type="slidenum">
              <a:rPr lang="en-US" smtClean="0"/>
              <a:t>25</a:t>
            </a:fld>
            <a:endParaRPr lang="en-US"/>
          </a:p>
        </p:txBody>
      </p:sp>
    </p:spTree>
    <p:extLst>
      <p:ext uri="{BB962C8B-B14F-4D97-AF65-F5344CB8AC3E}">
        <p14:creationId xmlns:p14="http://schemas.microsoft.com/office/powerpoint/2010/main" val="2026736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BEB48-80D9-F7DE-DCDC-B437B1F15B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95F14411-5CCD-65B7-D27E-6EF27BC2B5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B9A3B587-A7F3-C788-8B6E-2324C95A39EB}"/>
              </a:ext>
            </a:extLst>
          </p:cNvPr>
          <p:cNvSpPr>
            <a:spLocks noGrp="1"/>
          </p:cNvSpPr>
          <p:nvPr>
            <p:ph type="dt" sz="half" idx="10"/>
          </p:nvPr>
        </p:nvSpPr>
        <p:spPr/>
        <p:txBody>
          <a:bodyPr/>
          <a:lstStyle/>
          <a:p>
            <a:fld id="{1B99E77A-87B9-A044-9411-EAADE78A584D}" type="datetimeFigureOut">
              <a:t>15/12/25</a:t>
            </a:fld>
            <a:endParaRPr lang="en-VN"/>
          </a:p>
        </p:txBody>
      </p:sp>
      <p:sp>
        <p:nvSpPr>
          <p:cNvPr id="5" name="Footer Placeholder 4">
            <a:extLst>
              <a:ext uri="{FF2B5EF4-FFF2-40B4-BE49-F238E27FC236}">
                <a16:creationId xmlns:a16="http://schemas.microsoft.com/office/drawing/2014/main" id="{54F5AB71-9923-024C-5B92-F9E1F2D60645}"/>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A392C652-7E37-C0BC-C3ED-0DCB5CACB80C}"/>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1612136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9F6FE-36B5-0736-36F6-16EAFE949CDF}"/>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6D7344FF-AF37-EA2E-F091-2C3202198D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386517F0-60F3-4813-F787-B7DC54B01CBF}"/>
              </a:ext>
            </a:extLst>
          </p:cNvPr>
          <p:cNvSpPr>
            <a:spLocks noGrp="1"/>
          </p:cNvSpPr>
          <p:nvPr>
            <p:ph type="dt" sz="half" idx="10"/>
          </p:nvPr>
        </p:nvSpPr>
        <p:spPr/>
        <p:txBody>
          <a:bodyPr/>
          <a:lstStyle/>
          <a:p>
            <a:fld id="{1B99E77A-87B9-A044-9411-EAADE78A584D}" type="datetimeFigureOut">
              <a:t>15/12/25</a:t>
            </a:fld>
            <a:endParaRPr lang="en-VN"/>
          </a:p>
        </p:txBody>
      </p:sp>
      <p:sp>
        <p:nvSpPr>
          <p:cNvPr id="5" name="Footer Placeholder 4">
            <a:extLst>
              <a:ext uri="{FF2B5EF4-FFF2-40B4-BE49-F238E27FC236}">
                <a16:creationId xmlns:a16="http://schemas.microsoft.com/office/drawing/2014/main" id="{035D409E-D8F4-BE4D-7A62-7B392CFE37C4}"/>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6450536C-BF2A-4D87-8EDB-971A1AAB04E0}"/>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3300519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AB36E-8E2A-8D83-C6EE-52C95645BC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527D8B81-43DE-8190-8698-76FB0A45F3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68814F-5EA6-8AF9-934F-2CF24E6F2852}"/>
              </a:ext>
            </a:extLst>
          </p:cNvPr>
          <p:cNvSpPr>
            <a:spLocks noGrp="1"/>
          </p:cNvSpPr>
          <p:nvPr>
            <p:ph type="dt" sz="half" idx="10"/>
          </p:nvPr>
        </p:nvSpPr>
        <p:spPr/>
        <p:txBody>
          <a:bodyPr/>
          <a:lstStyle/>
          <a:p>
            <a:fld id="{1B99E77A-87B9-A044-9411-EAADE78A584D}" type="datetimeFigureOut">
              <a:t>15/12/25</a:t>
            </a:fld>
            <a:endParaRPr lang="en-VN"/>
          </a:p>
        </p:txBody>
      </p:sp>
      <p:sp>
        <p:nvSpPr>
          <p:cNvPr id="5" name="Footer Placeholder 4">
            <a:extLst>
              <a:ext uri="{FF2B5EF4-FFF2-40B4-BE49-F238E27FC236}">
                <a16:creationId xmlns:a16="http://schemas.microsoft.com/office/drawing/2014/main" id="{8979B886-196D-ABB7-771B-141F1388B0DE}"/>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3BB4B08F-41E5-EB44-5AC0-84100A2FD5BB}"/>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1443191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F9CDC-1CE6-78F5-94F4-427BBF6B568F}"/>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6D98F19B-0FED-6690-5378-949ABCDF68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AFF53676-6752-E35E-E2EE-0E25B6B99E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00377250-67FD-E68A-E6CC-5D4DDF9FBCF1}"/>
              </a:ext>
            </a:extLst>
          </p:cNvPr>
          <p:cNvSpPr>
            <a:spLocks noGrp="1"/>
          </p:cNvSpPr>
          <p:nvPr>
            <p:ph type="dt" sz="half" idx="10"/>
          </p:nvPr>
        </p:nvSpPr>
        <p:spPr/>
        <p:txBody>
          <a:bodyPr/>
          <a:lstStyle/>
          <a:p>
            <a:fld id="{1B99E77A-87B9-A044-9411-EAADE78A584D}" type="datetimeFigureOut">
              <a:t>15/12/25</a:t>
            </a:fld>
            <a:endParaRPr lang="en-VN"/>
          </a:p>
        </p:txBody>
      </p:sp>
      <p:sp>
        <p:nvSpPr>
          <p:cNvPr id="6" name="Footer Placeholder 5">
            <a:extLst>
              <a:ext uri="{FF2B5EF4-FFF2-40B4-BE49-F238E27FC236}">
                <a16:creationId xmlns:a16="http://schemas.microsoft.com/office/drawing/2014/main" id="{C744AE5B-4414-CA15-2BC0-5F0CCDDE2EAF}"/>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61D56972-F14B-7804-CA5C-7339441A9549}"/>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2841884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97914-F968-765F-B0D6-9A48AA706B91}"/>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D55244A8-1C72-9AA4-E8B6-9D9A2DDB75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349445-44A6-B3CD-CF45-6241111A92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57991978-B60E-D76C-FBBB-659F7259D4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734C16-2C49-33CA-4F3F-3718D79CBC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2E6A070C-6114-F024-3E4E-948EED5FBDCD}"/>
              </a:ext>
            </a:extLst>
          </p:cNvPr>
          <p:cNvSpPr>
            <a:spLocks noGrp="1"/>
          </p:cNvSpPr>
          <p:nvPr>
            <p:ph type="dt" sz="half" idx="10"/>
          </p:nvPr>
        </p:nvSpPr>
        <p:spPr/>
        <p:txBody>
          <a:bodyPr/>
          <a:lstStyle/>
          <a:p>
            <a:fld id="{1B99E77A-87B9-A044-9411-EAADE78A584D}" type="datetimeFigureOut">
              <a:t>15/12/25</a:t>
            </a:fld>
            <a:endParaRPr lang="en-VN"/>
          </a:p>
        </p:txBody>
      </p:sp>
      <p:sp>
        <p:nvSpPr>
          <p:cNvPr id="8" name="Footer Placeholder 7">
            <a:extLst>
              <a:ext uri="{FF2B5EF4-FFF2-40B4-BE49-F238E27FC236}">
                <a16:creationId xmlns:a16="http://schemas.microsoft.com/office/drawing/2014/main" id="{CEF24E6F-E76D-97DB-0B5D-525666495730}"/>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24075F35-99E6-35ED-4FA0-E9438879EC00}"/>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1494674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48958-3074-FFC4-F0AF-276CCF58EF43}"/>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99EB9ED1-0F5B-DA25-58B1-7DEDA69F090C}"/>
              </a:ext>
            </a:extLst>
          </p:cNvPr>
          <p:cNvSpPr>
            <a:spLocks noGrp="1"/>
          </p:cNvSpPr>
          <p:nvPr>
            <p:ph type="dt" sz="half" idx="10"/>
          </p:nvPr>
        </p:nvSpPr>
        <p:spPr/>
        <p:txBody>
          <a:bodyPr/>
          <a:lstStyle/>
          <a:p>
            <a:fld id="{1B99E77A-87B9-A044-9411-EAADE78A584D}" type="datetimeFigureOut">
              <a:t>15/12/25</a:t>
            </a:fld>
            <a:endParaRPr lang="en-VN"/>
          </a:p>
        </p:txBody>
      </p:sp>
      <p:sp>
        <p:nvSpPr>
          <p:cNvPr id="4" name="Footer Placeholder 3">
            <a:extLst>
              <a:ext uri="{FF2B5EF4-FFF2-40B4-BE49-F238E27FC236}">
                <a16:creationId xmlns:a16="http://schemas.microsoft.com/office/drawing/2014/main" id="{EB0F2790-E832-EB92-735E-84301137854B}"/>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9C0FEDD6-05A5-64F8-F4C5-74C2B5103EED}"/>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720385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582B11-4023-9702-A37E-C9D41EEFF857}"/>
              </a:ext>
            </a:extLst>
          </p:cNvPr>
          <p:cNvSpPr>
            <a:spLocks noGrp="1"/>
          </p:cNvSpPr>
          <p:nvPr>
            <p:ph type="dt" sz="half" idx="10"/>
          </p:nvPr>
        </p:nvSpPr>
        <p:spPr/>
        <p:txBody>
          <a:bodyPr/>
          <a:lstStyle/>
          <a:p>
            <a:fld id="{1B99E77A-87B9-A044-9411-EAADE78A584D}" type="datetimeFigureOut">
              <a:t>15/12/25</a:t>
            </a:fld>
            <a:endParaRPr lang="en-VN"/>
          </a:p>
        </p:txBody>
      </p:sp>
      <p:sp>
        <p:nvSpPr>
          <p:cNvPr id="3" name="Footer Placeholder 2">
            <a:extLst>
              <a:ext uri="{FF2B5EF4-FFF2-40B4-BE49-F238E27FC236}">
                <a16:creationId xmlns:a16="http://schemas.microsoft.com/office/drawing/2014/main" id="{CA364DB2-8479-8931-3DAC-8925BE513F92}"/>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18A13B9A-9D4B-6C25-5826-9519F0F728FA}"/>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3327850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9EEC-4A0A-477E-C805-6483A0C839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291E0690-E27B-70A2-E361-9FB1AE24C8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7CE628AE-ADCA-3876-1FF1-B37744A1C8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885F97-CA7B-F020-4714-AAEE20902134}"/>
              </a:ext>
            </a:extLst>
          </p:cNvPr>
          <p:cNvSpPr>
            <a:spLocks noGrp="1"/>
          </p:cNvSpPr>
          <p:nvPr>
            <p:ph type="dt" sz="half" idx="10"/>
          </p:nvPr>
        </p:nvSpPr>
        <p:spPr/>
        <p:txBody>
          <a:bodyPr/>
          <a:lstStyle/>
          <a:p>
            <a:fld id="{1B99E77A-87B9-A044-9411-EAADE78A584D}" type="datetimeFigureOut">
              <a:t>15/12/25</a:t>
            </a:fld>
            <a:endParaRPr lang="en-VN"/>
          </a:p>
        </p:txBody>
      </p:sp>
      <p:sp>
        <p:nvSpPr>
          <p:cNvPr id="6" name="Footer Placeholder 5">
            <a:extLst>
              <a:ext uri="{FF2B5EF4-FFF2-40B4-BE49-F238E27FC236}">
                <a16:creationId xmlns:a16="http://schemas.microsoft.com/office/drawing/2014/main" id="{CEF11241-6CF5-D713-461C-DAA65A6E21BB}"/>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C135B709-E5CB-73C8-EE70-DD1502535F78}"/>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680055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4C8E5-10CF-A9CB-7916-EAC17741A0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30CA9C42-29CA-2505-075E-9D788176D5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FE0037E1-67EC-42FF-8F72-E561DF00A9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921D1B-467B-D936-A2B8-1BF94D2ADA70}"/>
              </a:ext>
            </a:extLst>
          </p:cNvPr>
          <p:cNvSpPr>
            <a:spLocks noGrp="1"/>
          </p:cNvSpPr>
          <p:nvPr>
            <p:ph type="dt" sz="half" idx="10"/>
          </p:nvPr>
        </p:nvSpPr>
        <p:spPr/>
        <p:txBody>
          <a:bodyPr/>
          <a:lstStyle/>
          <a:p>
            <a:fld id="{1B99E77A-87B9-A044-9411-EAADE78A584D}" type="datetimeFigureOut">
              <a:t>15/12/25</a:t>
            </a:fld>
            <a:endParaRPr lang="en-VN"/>
          </a:p>
        </p:txBody>
      </p:sp>
      <p:sp>
        <p:nvSpPr>
          <p:cNvPr id="6" name="Footer Placeholder 5">
            <a:extLst>
              <a:ext uri="{FF2B5EF4-FFF2-40B4-BE49-F238E27FC236}">
                <a16:creationId xmlns:a16="http://schemas.microsoft.com/office/drawing/2014/main" id="{786B7488-15B4-6F38-9B16-588B803DE1DC}"/>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67E77399-E7B2-F231-DB15-19BCBE6AC547}"/>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771189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EFFC5-0513-62D3-E241-11A50C8710D9}"/>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7615F34D-C6B0-5E37-F55C-8CBD0EBEAB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789685E5-08C9-D2DC-2918-9E8D1AD4D5A7}"/>
              </a:ext>
            </a:extLst>
          </p:cNvPr>
          <p:cNvSpPr>
            <a:spLocks noGrp="1"/>
          </p:cNvSpPr>
          <p:nvPr>
            <p:ph type="dt" sz="half" idx="10"/>
          </p:nvPr>
        </p:nvSpPr>
        <p:spPr/>
        <p:txBody>
          <a:bodyPr/>
          <a:lstStyle/>
          <a:p>
            <a:fld id="{1B99E77A-87B9-A044-9411-EAADE78A584D}" type="datetimeFigureOut">
              <a:t>15/12/25</a:t>
            </a:fld>
            <a:endParaRPr lang="en-VN"/>
          </a:p>
        </p:txBody>
      </p:sp>
      <p:sp>
        <p:nvSpPr>
          <p:cNvPr id="5" name="Footer Placeholder 4">
            <a:extLst>
              <a:ext uri="{FF2B5EF4-FFF2-40B4-BE49-F238E27FC236}">
                <a16:creationId xmlns:a16="http://schemas.microsoft.com/office/drawing/2014/main" id="{397FB83A-D558-98F9-468A-AFAC54D4CFFC}"/>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4422275D-B932-BFB9-12CB-9B27EB94FDC4}"/>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1848433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F72500-35A2-0DBA-614F-1CD89723C4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C62A4BD5-CF47-F5BA-84A6-D51E5598BF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27BB2263-38EB-5D8A-116A-01E2AFE381A4}"/>
              </a:ext>
            </a:extLst>
          </p:cNvPr>
          <p:cNvSpPr>
            <a:spLocks noGrp="1"/>
          </p:cNvSpPr>
          <p:nvPr>
            <p:ph type="dt" sz="half" idx="10"/>
          </p:nvPr>
        </p:nvSpPr>
        <p:spPr/>
        <p:txBody>
          <a:bodyPr/>
          <a:lstStyle/>
          <a:p>
            <a:fld id="{1B99E77A-87B9-A044-9411-EAADE78A584D}" type="datetimeFigureOut">
              <a:t>15/12/25</a:t>
            </a:fld>
            <a:endParaRPr lang="en-VN"/>
          </a:p>
        </p:txBody>
      </p:sp>
      <p:sp>
        <p:nvSpPr>
          <p:cNvPr id="5" name="Footer Placeholder 4">
            <a:extLst>
              <a:ext uri="{FF2B5EF4-FFF2-40B4-BE49-F238E27FC236}">
                <a16:creationId xmlns:a16="http://schemas.microsoft.com/office/drawing/2014/main" id="{0B6C4019-E332-594F-A1F6-4BD725278675}"/>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9AA91815-1C2A-AADF-9D3F-6EE0868E13F3}"/>
              </a:ext>
            </a:extLst>
          </p:cNvPr>
          <p:cNvSpPr>
            <a:spLocks noGrp="1"/>
          </p:cNvSpPr>
          <p:nvPr>
            <p:ph type="sldNum" sz="quarter" idx="12"/>
          </p:nvPr>
        </p:nvSpPr>
        <p:spPr/>
        <p:txBody>
          <a:bodyPr/>
          <a:lstStyle/>
          <a:p>
            <a:fld id="{3BA4BA02-2362-7A46-AF42-705C08376B0F}" type="slidenum">
              <a:t>‹#›</a:t>
            </a:fld>
            <a:endParaRPr lang="en-VN"/>
          </a:p>
        </p:txBody>
      </p:sp>
    </p:spTree>
    <p:extLst>
      <p:ext uri="{BB962C8B-B14F-4D97-AF65-F5344CB8AC3E}">
        <p14:creationId xmlns:p14="http://schemas.microsoft.com/office/powerpoint/2010/main" val="3231429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8508DC-72AA-791E-1876-BB499F351D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BCEDFA66-CBA2-9A7B-4666-E3132C2BE8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4BC8CFD7-3D21-550A-D9FD-FCB07C1173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99E77A-87B9-A044-9411-EAADE78A584D}" type="datetimeFigureOut">
              <a:t>15/12/25</a:t>
            </a:fld>
            <a:endParaRPr lang="en-VN"/>
          </a:p>
        </p:txBody>
      </p:sp>
      <p:sp>
        <p:nvSpPr>
          <p:cNvPr id="5" name="Footer Placeholder 4">
            <a:extLst>
              <a:ext uri="{FF2B5EF4-FFF2-40B4-BE49-F238E27FC236}">
                <a16:creationId xmlns:a16="http://schemas.microsoft.com/office/drawing/2014/main" id="{BBEF06A7-74AD-824B-1326-7B96409CFF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VN"/>
          </a:p>
        </p:txBody>
      </p:sp>
      <p:sp>
        <p:nvSpPr>
          <p:cNvPr id="6" name="Slide Number Placeholder 5">
            <a:extLst>
              <a:ext uri="{FF2B5EF4-FFF2-40B4-BE49-F238E27FC236}">
                <a16:creationId xmlns:a16="http://schemas.microsoft.com/office/drawing/2014/main" id="{00897ABC-4B19-0248-340A-7C86AB6422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A4BA02-2362-7A46-AF42-705C08376B0F}" type="slidenum">
              <a:t>‹#›</a:t>
            </a:fld>
            <a:endParaRPr lang="en-VN"/>
          </a:p>
        </p:txBody>
      </p:sp>
    </p:spTree>
    <p:extLst>
      <p:ext uri="{BB962C8B-B14F-4D97-AF65-F5344CB8AC3E}">
        <p14:creationId xmlns:p14="http://schemas.microsoft.com/office/powerpoint/2010/main" val="7296236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410.png"/><Relationship Id="rId3" Type="http://schemas.openxmlformats.org/officeDocument/2006/relationships/image" Target="../media/image911.png"/><Relationship Id="rId7" Type="http://schemas.openxmlformats.org/officeDocument/2006/relationships/image" Target="../media/image13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11.png"/><Relationship Id="rId5" Type="http://schemas.openxmlformats.org/officeDocument/2006/relationships/image" Target="../media/image1111.png"/><Relationship Id="rId10" Type="http://schemas.openxmlformats.org/officeDocument/2006/relationships/image" Target="../media/image16.png"/><Relationship Id="rId4" Type="http://schemas.openxmlformats.org/officeDocument/2006/relationships/image" Target="../media/image1110.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13.png"/><Relationship Id="rId18" Type="http://schemas.openxmlformats.org/officeDocument/2006/relationships/image" Target="../media/image40.png"/><Relationship Id="rId3" Type="http://schemas.openxmlformats.org/officeDocument/2006/relationships/image" Target="../media/image12.png"/><Relationship Id="rId7" Type="http://schemas.openxmlformats.org/officeDocument/2006/relationships/image" Target="../media/image29.png"/><Relationship Id="rId12" Type="http://schemas.openxmlformats.org/officeDocument/2006/relationships/image" Target="../media/image34.png"/><Relationship Id="rId17" Type="http://schemas.openxmlformats.org/officeDocument/2006/relationships/image" Target="../media/image39.png"/><Relationship Id="rId2" Type="http://schemas.openxmlformats.org/officeDocument/2006/relationships/notesSlide" Target="../notesSlides/notesSlide8.xml"/><Relationship Id="rId16"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5" Type="http://schemas.openxmlformats.org/officeDocument/2006/relationships/image" Target="../media/image37.png"/><Relationship Id="rId10" Type="http://schemas.openxmlformats.org/officeDocument/2006/relationships/image" Target="../media/image32.png"/><Relationship Id="rId19" Type="http://schemas.openxmlformats.org/officeDocument/2006/relationships/image" Target="../media/image41.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23.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80.png"/></Relationships>
</file>

<file path=ppt/slides/_rels/slide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5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59.png"/><Relationship Id="rId7" Type="http://schemas.openxmlformats.org/officeDocument/2006/relationships/image" Target="../media/image6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10" Type="http://schemas.openxmlformats.org/officeDocument/2006/relationships/image" Target="../media/image68.png"/><Relationship Id="rId4" Type="http://schemas.openxmlformats.org/officeDocument/2006/relationships/image" Target="../media/image60.png"/><Relationship Id="rId9" Type="http://schemas.openxmlformats.org/officeDocument/2006/relationships/image" Target="../media/image67.png"/></Relationships>
</file>

<file path=ppt/slides/_rels/slide23.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9.png"/><Relationship Id="rId7" Type="http://schemas.openxmlformats.org/officeDocument/2006/relationships/image" Target="../media/image7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 Id="rId9" Type="http://schemas.openxmlformats.org/officeDocument/2006/relationships/image" Target="../media/image74.png"/></Relationships>
</file>

<file path=ppt/slides/_rels/slide24.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2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2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27.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101.png"/><Relationship Id="rId3" Type="http://schemas.openxmlformats.org/officeDocument/2006/relationships/image" Target="../media/image91.png"/><Relationship Id="rId7" Type="http://schemas.openxmlformats.org/officeDocument/2006/relationships/image" Target="../media/image95.png"/><Relationship Id="rId12" Type="http://schemas.openxmlformats.org/officeDocument/2006/relationships/image" Target="../media/image100.png"/><Relationship Id="rId2" Type="http://schemas.openxmlformats.org/officeDocument/2006/relationships/image" Target="../media/image86.png"/><Relationship Id="rId16" Type="http://schemas.openxmlformats.org/officeDocument/2006/relationships/hyperlink" Target="https://arxiv.org/abs/0806.3719" TargetMode="External"/><Relationship Id="rId1" Type="http://schemas.openxmlformats.org/officeDocument/2006/relationships/slideLayout" Target="../slideLayouts/slideLayout2.xml"/><Relationship Id="rId6" Type="http://schemas.openxmlformats.org/officeDocument/2006/relationships/image" Target="../media/image94.png"/><Relationship Id="rId11" Type="http://schemas.openxmlformats.org/officeDocument/2006/relationships/image" Target="../media/image99.png"/><Relationship Id="rId5" Type="http://schemas.openxmlformats.org/officeDocument/2006/relationships/image" Target="../media/image93.png"/><Relationship Id="rId15" Type="http://schemas.openxmlformats.org/officeDocument/2006/relationships/hyperlink" Target="https://arxiv.org/abs/2309.15642" TargetMode="External"/><Relationship Id="rId10" Type="http://schemas.openxmlformats.org/officeDocument/2006/relationships/image" Target="../media/image98.png"/><Relationship Id="rId4" Type="http://schemas.openxmlformats.org/officeDocument/2006/relationships/image" Target="../media/image92.png"/><Relationship Id="rId9" Type="http://schemas.openxmlformats.org/officeDocument/2006/relationships/image" Target="../media/image97.png"/><Relationship Id="rId14" Type="http://schemas.openxmlformats.org/officeDocument/2006/relationships/image" Target="../media/image102.png"/></Relationships>
</file>

<file path=ppt/slides/_rels/slide2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 Id="rId5" Type="http://schemas.openxmlformats.org/officeDocument/2006/relationships/image" Target="../media/image106.png"/><Relationship Id="rId4" Type="http://schemas.openxmlformats.org/officeDocument/2006/relationships/image" Target="../media/image10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5A70F2C-E2C1-2B54-181C-8511E97DF0A1}"/>
              </a:ext>
            </a:extLst>
          </p:cNvPr>
          <p:cNvSpPr>
            <a:spLocks noGrp="1"/>
          </p:cNvSpPr>
          <p:nvPr>
            <p:ph type="sldNum" sz="quarter" idx="12"/>
          </p:nvPr>
        </p:nvSpPr>
        <p:spPr/>
        <p:txBody>
          <a:bodyPr/>
          <a:lstStyle/>
          <a:p>
            <a:fld id="{6A45828D-F580-42DE-B77E-860980F07F32}" type="slidenum">
              <a:rPr lang="vi-VN" smtClean="0"/>
              <a:t>1</a:t>
            </a:fld>
            <a:endParaRPr lang="vi-VN"/>
          </a:p>
        </p:txBody>
      </p:sp>
      <p:pic>
        <p:nvPicPr>
          <p:cNvPr id="4100" name="Picture 4" descr="May be an image of text that says &quot;Pham Hoai Professor Email luarıph Semiconductor itedu.vn LeVu Bui Cao Doanh Ca-Inwestigator, ratSE-UIT-VNLHCN Degree: lexpectedin 2026; bul.cac 4ISTinAl hD,NWNSTinSemicorduto hD,NAIST Semiconductor Emait duanglvt| atjuit.edu.vn TranLe Xuan Hieu CoInvestigator Degree:M lexpected n2027) NAIST Semiconductor Lecturer SE-UIT-VNUHON NAIST Quantum Emait hait[a Co-Investigator apoc n2025), NAIST Semicanductor Emait tranian duy.tuo [atjnaist.ac.jp Thanh Binh Co-Investigator Degree: lexpectedin 2027) NAIST inSemiconductor binh.xocn jnaistac.jp AI PhamAnh Kiet Co-Irwestigater Degree: (expectedi n2027), NAISTi inSericonductor Emait [at]naist.ac.jp Propose model Training on GPU uantum Semiconductor Inference model VIET NAM NATIONAL UNIVERSITY CITY RTL design Simulatingo FPGA Quantum Computing Fabricate chip algorithms AISeQ Simulating CPU/GPU/.. Deploy on quantum computer&quot;">
            <a:extLst>
              <a:ext uri="{FF2B5EF4-FFF2-40B4-BE49-F238E27FC236}">
                <a16:creationId xmlns:a16="http://schemas.microsoft.com/office/drawing/2014/main" id="{40948A3F-81FF-3216-F250-A2A13BCF626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999" y="136525"/>
            <a:ext cx="10503284" cy="652302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9A2590D8-2D2A-94E1-04F9-9502FF18615B}"/>
              </a:ext>
            </a:extLst>
          </p:cNvPr>
          <p:cNvSpPr/>
          <p:nvPr/>
        </p:nvSpPr>
        <p:spPr>
          <a:xfrm>
            <a:off x="7761109" y="776736"/>
            <a:ext cx="835379" cy="6706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9" name="Rectangle 8">
            <a:extLst>
              <a:ext uri="{FF2B5EF4-FFF2-40B4-BE49-F238E27FC236}">
                <a16:creationId xmlns:a16="http://schemas.microsoft.com/office/drawing/2014/main" id="{AFC92E76-1100-885F-3B02-2FE43B654FE0}"/>
              </a:ext>
            </a:extLst>
          </p:cNvPr>
          <p:cNvSpPr/>
          <p:nvPr/>
        </p:nvSpPr>
        <p:spPr>
          <a:xfrm>
            <a:off x="7928659" y="2087637"/>
            <a:ext cx="2847372" cy="20329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64715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B8CA5-BB6A-5EBC-38F7-2567029A8823}"/>
              </a:ext>
            </a:extLst>
          </p:cNvPr>
          <p:cNvSpPr>
            <a:spLocks noGrp="1"/>
          </p:cNvSpPr>
          <p:nvPr>
            <p:ph type="ctrTitle"/>
          </p:nvPr>
        </p:nvSpPr>
        <p:spPr>
          <a:xfrm>
            <a:off x="1524001" y="1122363"/>
            <a:ext cx="7485487" cy="2387600"/>
          </a:xfrm>
        </p:spPr>
        <p:txBody>
          <a:bodyPr>
            <a:normAutofit/>
          </a:bodyPr>
          <a:lstStyle/>
          <a:p>
            <a:pPr algn="l"/>
            <a:r>
              <a:rPr lang="en-US" b="1"/>
              <a:t>Accelerators for quantum computer</a:t>
            </a:r>
            <a:endParaRPr lang="en-VN"/>
          </a:p>
        </p:txBody>
      </p:sp>
      <p:sp>
        <p:nvSpPr>
          <p:cNvPr id="3" name="Subtitle 2">
            <a:extLst>
              <a:ext uri="{FF2B5EF4-FFF2-40B4-BE49-F238E27FC236}">
                <a16:creationId xmlns:a16="http://schemas.microsoft.com/office/drawing/2014/main" id="{CC9A6EE0-2E06-0718-5C73-69B07081863B}"/>
              </a:ext>
            </a:extLst>
          </p:cNvPr>
          <p:cNvSpPr>
            <a:spLocks noGrp="1"/>
          </p:cNvSpPr>
          <p:nvPr>
            <p:ph type="subTitle" idx="1"/>
          </p:nvPr>
        </p:nvSpPr>
        <p:spPr>
          <a:xfrm>
            <a:off x="1524000" y="3602037"/>
            <a:ext cx="9144000" cy="2848847"/>
          </a:xfrm>
        </p:spPr>
        <p:txBody>
          <a:bodyPr>
            <a:normAutofit/>
          </a:bodyPr>
          <a:lstStyle/>
          <a:p>
            <a:pPr algn="l"/>
            <a:r>
              <a:rPr lang="en-US"/>
              <a:t>HCMUS, 15-Dec-2025</a:t>
            </a:r>
          </a:p>
          <a:p>
            <a:pPr algn="l"/>
            <a:endParaRPr lang="en-US"/>
          </a:p>
          <a:p>
            <a:pPr algn="l"/>
            <a:r>
              <a:rPr lang="en-US"/>
              <a:t>PhD. </a:t>
            </a:r>
            <a:r>
              <a:rPr lang="en-VN"/>
              <a:t>Vu Tuan Hai</a:t>
            </a:r>
            <a:endParaRPr lang="en-US"/>
          </a:p>
          <a:p>
            <a:pPr algn="l"/>
            <a:r>
              <a:rPr lang="en-US"/>
              <a:t>Email: haivt@uit.edu.vn</a:t>
            </a:r>
          </a:p>
          <a:p>
            <a:pPr algn="l"/>
            <a:endParaRPr lang="en-US"/>
          </a:p>
        </p:txBody>
      </p:sp>
      <p:sp>
        <p:nvSpPr>
          <p:cNvPr id="4" name="Slide Number Placeholder 3">
            <a:extLst>
              <a:ext uri="{FF2B5EF4-FFF2-40B4-BE49-F238E27FC236}">
                <a16:creationId xmlns:a16="http://schemas.microsoft.com/office/drawing/2014/main" id="{6CBD1614-B956-B316-5EB9-69023E12316F}"/>
              </a:ext>
            </a:extLst>
          </p:cNvPr>
          <p:cNvSpPr>
            <a:spLocks noGrp="1"/>
          </p:cNvSpPr>
          <p:nvPr>
            <p:ph type="sldNum" sz="quarter" idx="12"/>
          </p:nvPr>
        </p:nvSpPr>
        <p:spPr/>
        <p:txBody>
          <a:bodyPr/>
          <a:lstStyle/>
          <a:p>
            <a:fld id="{4E9BB9E5-D81C-FE46-A488-49ADE3951462}" type="slidenum">
              <a:t>2</a:t>
            </a:fld>
            <a:endParaRPr lang="en-VN"/>
          </a:p>
        </p:txBody>
      </p:sp>
    </p:spTree>
    <p:extLst>
      <p:ext uri="{BB962C8B-B14F-4D97-AF65-F5344CB8AC3E}">
        <p14:creationId xmlns:p14="http://schemas.microsoft.com/office/powerpoint/2010/main" val="11195787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Quantum Computer Icon Stock Illustrations – 2,183 Quantum ...">
            <a:extLst>
              <a:ext uri="{FF2B5EF4-FFF2-40B4-BE49-F238E27FC236}">
                <a16:creationId xmlns:a16="http://schemas.microsoft.com/office/drawing/2014/main" id="{689EB9EE-E20A-C3B5-630A-89C021581E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526" t="11574" r="21131" b="11524"/>
          <a:stretch/>
        </p:blipFill>
        <p:spPr bwMode="auto">
          <a:xfrm>
            <a:off x="4219459" y="1694019"/>
            <a:ext cx="1482687" cy="198837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1410FAD-57A9-475B-6CA4-5A5CF0CD17EE}"/>
              </a:ext>
            </a:extLst>
          </p:cNvPr>
          <p:cNvSpPr txBox="1"/>
          <p:nvPr/>
        </p:nvSpPr>
        <p:spPr>
          <a:xfrm>
            <a:off x="4307358" y="3682393"/>
            <a:ext cx="1306888" cy="923330"/>
          </a:xfrm>
          <a:prstGeom prst="rect">
            <a:avLst/>
          </a:prstGeom>
          <a:noFill/>
        </p:spPr>
        <p:txBody>
          <a:bodyPr wrap="square" rtlCol="0">
            <a:spAutoFit/>
          </a:bodyPr>
          <a:lstStyle/>
          <a:p>
            <a:pPr algn="ctr"/>
            <a:r>
              <a:rPr lang="en-US" dirty="0"/>
              <a:t>Quantum Processing Unit </a:t>
            </a:r>
          </a:p>
        </p:txBody>
      </p:sp>
      <p:sp>
        <p:nvSpPr>
          <p:cNvPr id="7" name="Rectangle 6">
            <a:extLst>
              <a:ext uri="{FF2B5EF4-FFF2-40B4-BE49-F238E27FC236}">
                <a16:creationId xmlns:a16="http://schemas.microsoft.com/office/drawing/2014/main" id="{BE075B4C-EC20-EBAD-7510-D38D92979750}"/>
              </a:ext>
            </a:extLst>
          </p:cNvPr>
          <p:cNvSpPr/>
          <p:nvPr/>
        </p:nvSpPr>
        <p:spPr>
          <a:xfrm>
            <a:off x="4120309" y="1575409"/>
            <a:ext cx="1685581" cy="3128791"/>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A3B918F8-25BA-62DD-054A-76D41077AA62}"/>
              </a:ext>
            </a:extLst>
          </p:cNvPr>
          <p:cNvSpPr/>
          <p:nvPr/>
        </p:nvSpPr>
        <p:spPr>
          <a:xfrm>
            <a:off x="2161144" y="1432190"/>
            <a:ext cx="4272708" cy="4714837"/>
          </a:xfrm>
          <a:prstGeom prst="rect">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49A28BDA-1837-828E-15A2-33F01143EE19}"/>
              </a:ext>
            </a:extLst>
          </p:cNvPr>
          <p:cNvSpPr txBox="1"/>
          <p:nvPr/>
        </p:nvSpPr>
        <p:spPr>
          <a:xfrm>
            <a:off x="3767769" y="77758"/>
            <a:ext cx="3172858" cy="646331"/>
          </a:xfrm>
          <a:prstGeom prst="rect">
            <a:avLst/>
          </a:prstGeom>
          <a:noFill/>
        </p:spPr>
        <p:txBody>
          <a:bodyPr wrap="square" rtlCol="0">
            <a:spAutoFit/>
          </a:bodyPr>
          <a:lstStyle/>
          <a:p>
            <a:r>
              <a:rPr lang="en-VN">
                <a:solidFill>
                  <a:srgbClr val="FF0000"/>
                </a:solidFill>
              </a:rPr>
              <a:t>Heart of quantum computers, we </a:t>
            </a:r>
            <a:r>
              <a:rPr lang="en-VN" b="1">
                <a:solidFill>
                  <a:srgbClr val="FF0000"/>
                </a:solidFill>
              </a:rPr>
              <a:t>can not </a:t>
            </a:r>
            <a:r>
              <a:rPr lang="en-VN">
                <a:solidFill>
                  <a:srgbClr val="FF0000"/>
                </a:solidFill>
              </a:rPr>
              <a:t>cover this part!</a:t>
            </a:r>
          </a:p>
        </p:txBody>
      </p:sp>
      <p:cxnSp>
        <p:nvCxnSpPr>
          <p:cNvPr id="13" name="Elbow Connector 12">
            <a:extLst>
              <a:ext uri="{FF2B5EF4-FFF2-40B4-BE49-F238E27FC236}">
                <a16:creationId xmlns:a16="http://schemas.microsoft.com/office/drawing/2014/main" id="{C384BD78-6790-B0AA-41CE-BAC7EDDD7C71}"/>
              </a:ext>
            </a:extLst>
          </p:cNvPr>
          <p:cNvCxnSpPr>
            <a:stCxn id="7" idx="0"/>
            <a:endCxn id="9" idx="2"/>
          </p:cNvCxnSpPr>
          <p:nvPr/>
        </p:nvCxnSpPr>
        <p:spPr>
          <a:xfrm rot="5400000" flipH="1" flipV="1">
            <a:off x="4732989" y="954200"/>
            <a:ext cx="851320" cy="391098"/>
          </a:xfrm>
          <a:prstGeom prst="bent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cryogenic cooling system quantum computer color icon ...">
            <a:extLst>
              <a:ext uri="{FF2B5EF4-FFF2-40B4-BE49-F238E27FC236}">
                <a16:creationId xmlns:a16="http://schemas.microsoft.com/office/drawing/2014/main" id="{2E80E7F8-B2D8-C855-9A52-37A542F62C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512" t="13225" r="8892" b="14264"/>
          <a:stretch>
            <a:fillRect/>
          </a:stretch>
        </p:blipFill>
        <p:spPr bwMode="auto">
          <a:xfrm>
            <a:off x="2291506" y="1575409"/>
            <a:ext cx="1383536" cy="121461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0BBD8349-AB2F-5F56-9532-E41E81E73210}"/>
              </a:ext>
            </a:extLst>
          </p:cNvPr>
          <p:cNvSpPr txBox="1"/>
          <p:nvPr/>
        </p:nvSpPr>
        <p:spPr>
          <a:xfrm>
            <a:off x="2291506" y="2940500"/>
            <a:ext cx="1306888" cy="646331"/>
          </a:xfrm>
          <a:prstGeom prst="rect">
            <a:avLst/>
          </a:prstGeom>
          <a:noFill/>
        </p:spPr>
        <p:txBody>
          <a:bodyPr wrap="square" rtlCol="0">
            <a:spAutoFit/>
          </a:bodyPr>
          <a:lstStyle/>
          <a:p>
            <a:pPr algn="ctr"/>
            <a:r>
              <a:rPr lang="en-US" dirty="0"/>
              <a:t>Cryogenic system</a:t>
            </a:r>
          </a:p>
        </p:txBody>
      </p:sp>
      <p:cxnSp>
        <p:nvCxnSpPr>
          <p:cNvPr id="17" name="Curved Connector 16">
            <a:extLst>
              <a:ext uri="{FF2B5EF4-FFF2-40B4-BE49-F238E27FC236}">
                <a16:creationId xmlns:a16="http://schemas.microsoft.com/office/drawing/2014/main" id="{B53475C2-7D78-C307-0A7B-4DAA2D6877AC}"/>
              </a:ext>
            </a:extLst>
          </p:cNvPr>
          <p:cNvCxnSpPr>
            <a:stCxn id="1026" idx="3"/>
          </p:cNvCxnSpPr>
          <p:nvPr/>
        </p:nvCxnSpPr>
        <p:spPr>
          <a:xfrm>
            <a:off x="3675042" y="2182714"/>
            <a:ext cx="544417" cy="505492"/>
          </a:xfrm>
          <a:prstGeom prst="curvedConnector3">
            <a:avLst>
              <a:gd name="adj1" fmla="val 35835"/>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2D865B3-74AD-F176-BBF5-879EBBD2B27E}"/>
              </a:ext>
            </a:extLst>
          </p:cNvPr>
          <p:cNvSpPr txBox="1"/>
          <p:nvPr/>
        </p:nvSpPr>
        <p:spPr>
          <a:xfrm rot="3107445">
            <a:off x="3425324" y="2531815"/>
            <a:ext cx="852442" cy="215444"/>
          </a:xfrm>
          <a:prstGeom prst="rect">
            <a:avLst/>
          </a:prstGeom>
          <a:noFill/>
        </p:spPr>
        <p:txBody>
          <a:bodyPr wrap="square" rtlCol="0">
            <a:spAutoFit/>
          </a:bodyPr>
          <a:lstStyle/>
          <a:p>
            <a:pPr algn="ctr"/>
            <a:r>
              <a:rPr lang="en-US" sz="800" dirty="0">
                <a:solidFill>
                  <a:schemeClr val="accent1"/>
                </a:solidFill>
              </a:rPr>
              <a:t>Turn to ~ 0</a:t>
            </a:r>
            <a:r>
              <a:rPr lang="en-US" sz="800" baseline="30000" dirty="0">
                <a:solidFill>
                  <a:schemeClr val="accent1"/>
                </a:solidFill>
              </a:rPr>
              <a:t>o</a:t>
            </a:r>
            <a:r>
              <a:rPr lang="en-US" sz="800" dirty="0">
                <a:solidFill>
                  <a:schemeClr val="accent1"/>
                </a:solidFill>
              </a:rPr>
              <a:t>K</a:t>
            </a:r>
          </a:p>
        </p:txBody>
      </p:sp>
      <p:sp>
        <p:nvSpPr>
          <p:cNvPr id="21" name="TextBox 20">
            <a:extLst>
              <a:ext uri="{FF2B5EF4-FFF2-40B4-BE49-F238E27FC236}">
                <a16:creationId xmlns:a16="http://schemas.microsoft.com/office/drawing/2014/main" id="{3CEE1F09-DA37-A8ED-4CC0-36E5AFAA080F}"/>
              </a:ext>
            </a:extLst>
          </p:cNvPr>
          <p:cNvSpPr txBox="1"/>
          <p:nvPr/>
        </p:nvSpPr>
        <p:spPr>
          <a:xfrm>
            <a:off x="2291506" y="5114830"/>
            <a:ext cx="2015852" cy="646331"/>
          </a:xfrm>
          <a:prstGeom prst="rect">
            <a:avLst/>
          </a:prstGeom>
          <a:noFill/>
        </p:spPr>
        <p:txBody>
          <a:bodyPr wrap="square">
            <a:spAutoFit/>
          </a:bodyPr>
          <a:lstStyle/>
          <a:p>
            <a:r>
              <a:rPr lang="en-US"/>
              <a:t>Control Electronics</a:t>
            </a:r>
          </a:p>
          <a:p>
            <a:r>
              <a:rPr lang="en-US"/>
              <a:t>(FPGA/ASIC)</a:t>
            </a:r>
            <a:endParaRPr lang="en-VN"/>
          </a:p>
        </p:txBody>
      </p:sp>
      <p:pic>
        <p:nvPicPr>
          <p:cNvPr id="22" name="Picture 6" descr="Fpga Images - Free Download on Freepik">
            <a:extLst>
              <a:ext uri="{FF2B5EF4-FFF2-40B4-BE49-F238E27FC236}">
                <a16:creationId xmlns:a16="http://schemas.microsoft.com/office/drawing/2014/main" id="{D78EA29A-F5FE-F283-C670-42D3F4BE427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026" t="24120" r="23646" b="23350"/>
          <a:stretch/>
        </p:blipFill>
        <p:spPr bwMode="auto">
          <a:xfrm>
            <a:off x="2325435" y="3734847"/>
            <a:ext cx="1278423" cy="1283334"/>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Elbow Connector 22">
            <a:extLst>
              <a:ext uri="{FF2B5EF4-FFF2-40B4-BE49-F238E27FC236}">
                <a16:creationId xmlns:a16="http://schemas.microsoft.com/office/drawing/2014/main" id="{981A0A62-A412-E8FE-1C63-707C449955F0}"/>
              </a:ext>
            </a:extLst>
          </p:cNvPr>
          <p:cNvCxnSpPr>
            <a:cxnSpLocks/>
            <a:stCxn id="21" idx="1"/>
            <a:endCxn id="25" idx="2"/>
          </p:cNvCxnSpPr>
          <p:nvPr/>
        </p:nvCxnSpPr>
        <p:spPr>
          <a:xfrm rot="10800000">
            <a:off x="1128372" y="4561180"/>
            <a:ext cx="1163135" cy="876816"/>
          </a:xfrm>
          <a:prstGeom prst="bentConnector2">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2EFF444-494F-C5B8-F6C7-7758B2280ABA}"/>
              </a:ext>
            </a:extLst>
          </p:cNvPr>
          <p:cNvSpPr txBox="1"/>
          <p:nvPr/>
        </p:nvSpPr>
        <p:spPr>
          <a:xfrm>
            <a:off x="139548" y="4191848"/>
            <a:ext cx="1977646" cy="369332"/>
          </a:xfrm>
          <a:prstGeom prst="rect">
            <a:avLst/>
          </a:prstGeom>
          <a:noFill/>
        </p:spPr>
        <p:txBody>
          <a:bodyPr wrap="square" rtlCol="0">
            <a:spAutoFit/>
          </a:bodyPr>
          <a:lstStyle/>
          <a:p>
            <a:r>
              <a:rPr lang="en-VN">
                <a:solidFill>
                  <a:srgbClr val="00B050"/>
                </a:solidFill>
              </a:rPr>
              <a:t>We CAN cover this</a:t>
            </a:r>
          </a:p>
        </p:txBody>
      </p:sp>
      <p:cxnSp>
        <p:nvCxnSpPr>
          <p:cNvPr id="28" name="Curved Connector 27">
            <a:extLst>
              <a:ext uri="{FF2B5EF4-FFF2-40B4-BE49-F238E27FC236}">
                <a16:creationId xmlns:a16="http://schemas.microsoft.com/office/drawing/2014/main" id="{38B1A35C-C77E-B27B-6722-027A04C9D1EB}"/>
              </a:ext>
            </a:extLst>
          </p:cNvPr>
          <p:cNvCxnSpPr>
            <a:cxnSpLocks/>
            <a:stCxn id="22" idx="3"/>
            <a:endCxn id="7" idx="1"/>
          </p:cNvCxnSpPr>
          <p:nvPr/>
        </p:nvCxnSpPr>
        <p:spPr>
          <a:xfrm flipV="1">
            <a:off x="3603858" y="3139805"/>
            <a:ext cx="516451" cy="1236709"/>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98865C7-A074-9D1C-FA34-F2F7A4B60151}"/>
              </a:ext>
            </a:extLst>
          </p:cNvPr>
          <p:cNvSpPr txBox="1"/>
          <p:nvPr/>
        </p:nvSpPr>
        <p:spPr>
          <a:xfrm rot="16397374">
            <a:off x="3336464" y="3627126"/>
            <a:ext cx="852442" cy="215444"/>
          </a:xfrm>
          <a:prstGeom prst="rect">
            <a:avLst/>
          </a:prstGeom>
          <a:noFill/>
        </p:spPr>
        <p:txBody>
          <a:bodyPr wrap="square" rtlCol="0">
            <a:spAutoFit/>
          </a:bodyPr>
          <a:lstStyle/>
          <a:p>
            <a:pPr algn="ctr"/>
            <a:r>
              <a:rPr lang="en-US" sz="800" dirty="0">
                <a:solidFill>
                  <a:schemeClr val="accent1"/>
                </a:solidFill>
              </a:rPr>
              <a:t>Control</a:t>
            </a:r>
          </a:p>
        </p:txBody>
      </p:sp>
      <p:pic>
        <p:nvPicPr>
          <p:cNvPr id="1028" name="Picture 4" descr="Old computer - Free computer icons">
            <a:extLst>
              <a:ext uri="{FF2B5EF4-FFF2-40B4-BE49-F238E27FC236}">
                <a16:creationId xmlns:a16="http://schemas.microsoft.com/office/drawing/2014/main" id="{DBE0455D-DC0E-B8FD-0F29-B09C7BA411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21427" y="2212670"/>
            <a:ext cx="2180952" cy="218095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ox - Download free icons">
            <a:extLst>
              <a:ext uri="{FF2B5EF4-FFF2-40B4-BE49-F238E27FC236}">
                <a16:creationId xmlns:a16="http://schemas.microsoft.com/office/drawing/2014/main" id="{6FD200E8-058E-7724-EFD4-41655BF66A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42467" y="4641458"/>
            <a:ext cx="974217" cy="974217"/>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F5C872BF-55EE-9636-0CDA-F6B0F87C130D}"/>
              </a:ext>
            </a:extLst>
          </p:cNvPr>
          <p:cNvSpPr txBox="1"/>
          <p:nvPr/>
        </p:nvSpPr>
        <p:spPr>
          <a:xfrm>
            <a:off x="4170366" y="5468461"/>
            <a:ext cx="2263486" cy="646331"/>
          </a:xfrm>
          <a:prstGeom prst="rect">
            <a:avLst/>
          </a:prstGeom>
          <a:noFill/>
        </p:spPr>
        <p:txBody>
          <a:bodyPr wrap="square">
            <a:spAutoFit/>
          </a:bodyPr>
          <a:lstStyle/>
          <a:p>
            <a:r>
              <a:rPr lang="en-US"/>
              <a:t>Error correcting code device (FPGA/ASIC)</a:t>
            </a:r>
            <a:endParaRPr lang="en-VN"/>
          </a:p>
        </p:txBody>
      </p:sp>
      <p:cxnSp>
        <p:nvCxnSpPr>
          <p:cNvPr id="33" name="Curved Connector 32">
            <a:extLst>
              <a:ext uri="{FF2B5EF4-FFF2-40B4-BE49-F238E27FC236}">
                <a16:creationId xmlns:a16="http://schemas.microsoft.com/office/drawing/2014/main" id="{7034EB39-F909-A510-54E3-AD7CD628C05D}"/>
              </a:ext>
            </a:extLst>
          </p:cNvPr>
          <p:cNvCxnSpPr>
            <a:cxnSpLocks/>
            <a:stCxn id="1030" idx="3"/>
            <a:endCxn id="5" idx="3"/>
          </p:cNvCxnSpPr>
          <p:nvPr/>
        </p:nvCxnSpPr>
        <p:spPr>
          <a:xfrm flipV="1">
            <a:off x="5516684" y="2688206"/>
            <a:ext cx="185462" cy="2440361"/>
          </a:xfrm>
          <a:prstGeom prst="curvedConnector3">
            <a:avLst>
              <a:gd name="adj1" fmla="val 312363"/>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DF2D0B98-8930-C410-7FCC-B6E5C3CADF84}"/>
              </a:ext>
            </a:extLst>
          </p:cNvPr>
          <p:cNvSpPr txBox="1"/>
          <p:nvPr/>
        </p:nvSpPr>
        <p:spPr>
          <a:xfrm rot="16200000">
            <a:off x="5696818" y="3808894"/>
            <a:ext cx="1035603" cy="215444"/>
          </a:xfrm>
          <a:prstGeom prst="rect">
            <a:avLst/>
          </a:prstGeom>
          <a:noFill/>
        </p:spPr>
        <p:txBody>
          <a:bodyPr wrap="square" rtlCol="0">
            <a:spAutoFit/>
          </a:bodyPr>
          <a:lstStyle/>
          <a:p>
            <a:pPr algn="ctr"/>
            <a:r>
              <a:rPr lang="en-US" sz="800" dirty="0">
                <a:solidFill>
                  <a:schemeClr val="accent1"/>
                </a:solidFill>
              </a:rPr>
              <a:t>Noise mitigation</a:t>
            </a:r>
          </a:p>
        </p:txBody>
      </p:sp>
      <p:cxnSp>
        <p:nvCxnSpPr>
          <p:cNvPr id="38" name="Elbow Connector 37">
            <a:extLst>
              <a:ext uri="{FF2B5EF4-FFF2-40B4-BE49-F238E27FC236}">
                <a16:creationId xmlns:a16="http://schemas.microsoft.com/office/drawing/2014/main" id="{1AF1C3CD-C2B5-F191-2D21-13387C3A68B7}"/>
              </a:ext>
            </a:extLst>
          </p:cNvPr>
          <p:cNvCxnSpPr>
            <a:cxnSpLocks/>
            <a:stCxn id="32" idx="3"/>
            <a:endCxn id="39" idx="2"/>
          </p:cNvCxnSpPr>
          <p:nvPr/>
        </p:nvCxnSpPr>
        <p:spPr>
          <a:xfrm flipV="1">
            <a:off x="6433852" y="5599417"/>
            <a:ext cx="1502229" cy="192210"/>
          </a:xfrm>
          <a:prstGeom prst="bentConnector2">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DD2233A-7B2E-14FA-4E26-FFF1B9ACB875}"/>
              </a:ext>
            </a:extLst>
          </p:cNvPr>
          <p:cNvSpPr txBox="1"/>
          <p:nvPr/>
        </p:nvSpPr>
        <p:spPr>
          <a:xfrm>
            <a:off x="6804338" y="5230085"/>
            <a:ext cx="2263485" cy="369332"/>
          </a:xfrm>
          <a:prstGeom prst="rect">
            <a:avLst/>
          </a:prstGeom>
          <a:noFill/>
        </p:spPr>
        <p:txBody>
          <a:bodyPr wrap="square" rtlCol="0">
            <a:spAutoFit/>
          </a:bodyPr>
          <a:lstStyle/>
          <a:p>
            <a:r>
              <a:rPr lang="en-VN">
                <a:solidFill>
                  <a:srgbClr val="00B050"/>
                </a:solidFill>
              </a:rPr>
              <a:t>We CAN cover this</a:t>
            </a:r>
          </a:p>
        </p:txBody>
      </p:sp>
      <p:sp>
        <p:nvSpPr>
          <p:cNvPr id="42" name="TextBox 41">
            <a:extLst>
              <a:ext uri="{FF2B5EF4-FFF2-40B4-BE49-F238E27FC236}">
                <a16:creationId xmlns:a16="http://schemas.microsoft.com/office/drawing/2014/main" id="{D117F73C-34DD-CF5E-F494-61FC3429DE74}"/>
              </a:ext>
            </a:extLst>
          </p:cNvPr>
          <p:cNvSpPr txBox="1"/>
          <p:nvPr/>
        </p:nvSpPr>
        <p:spPr>
          <a:xfrm>
            <a:off x="3024801" y="6516011"/>
            <a:ext cx="2545391" cy="369332"/>
          </a:xfrm>
          <a:prstGeom prst="rect">
            <a:avLst/>
          </a:prstGeom>
          <a:noFill/>
        </p:spPr>
        <p:txBody>
          <a:bodyPr wrap="square" rtlCol="0">
            <a:spAutoFit/>
          </a:bodyPr>
          <a:lstStyle/>
          <a:p>
            <a:pPr algn="ctr"/>
            <a:r>
              <a:rPr lang="en-US" b="1" dirty="0"/>
              <a:t>Quantum Computer</a:t>
            </a:r>
          </a:p>
        </p:txBody>
      </p:sp>
      <p:sp>
        <p:nvSpPr>
          <p:cNvPr id="43" name="Left Brace 42">
            <a:extLst>
              <a:ext uri="{FF2B5EF4-FFF2-40B4-BE49-F238E27FC236}">
                <a16:creationId xmlns:a16="http://schemas.microsoft.com/office/drawing/2014/main" id="{BE938957-4FA9-32B4-C85A-BAA50BA5521D}"/>
              </a:ext>
            </a:extLst>
          </p:cNvPr>
          <p:cNvSpPr/>
          <p:nvPr/>
        </p:nvSpPr>
        <p:spPr>
          <a:xfrm rot="16200000">
            <a:off x="4161211" y="4228533"/>
            <a:ext cx="272573" cy="4272708"/>
          </a:xfrm>
          <a:prstGeom prst="leftBrace">
            <a:avLst>
              <a:gd name="adj1" fmla="val 49404"/>
              <a:gd name="adj2" fmla="val 50000"/>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pic>
        <p:nvPicPr>
          <p:cNvPr id="1032" name="Picture 8" descr="FPGA Icons - Free SVG &amp; PNG FPGA Images - Noun Project">
            <a:extLst>
              <a:ext uri="{FF2B5EF4-FFF2-40B4-BE49-F238E27FC236}">
                <a16:creationId xmlns:a16="http://schemas.microsoft.com/office/drawing/2014/main" id="{8023E64E-B5F9-153B-5C01-1B0C6152021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2106" y="2332062"/>
            <a:ext cx="1071608" cy="1071608"/>
          </a:xfrm>
          <a:prstGeom prst="rect">
            <a:avLst/>
          </a:prstGeom>
          <a:noFill/>
          <a:extLst>
            <a:ext uri="{909E8E84-426E-40DD-AFC4-6F175D3DCCD1}">
              <a14:hiddenFill xmlns:a14="http://schemas.microsoft.com/office/drawing/2010/main">
                <a:solidFill>
                  <a:srgbClr val="FFFFFF"/>
                </a:solidFill>
              </a14:hiddenFill>
            </a:ext>
          </a:extLst>
        </p:spPr>
      </p:pic>
      <p:cxnSp>
        <p:nvCxnSpPr>
          <p:cNvPr id="44" name="Curved Connector 43">
            <a:extLst>
              <a:ext uri="{FF2B5EF4-FFF2-40B4-BE49-F238E27FC236}">
                <a16:creationId xmlns:a16="http://schemas.microsoft.com/office/drawing/2014/main" id="{F36AD5A7-3018-38C6-0B18-D4D1412A89F0}"/>
              </a:ext>
            </a:extLst>
          </p:cNvPr>
          <p:cNvCxnSpPr>
            <a:cxnSpLocks/>
            <a:stCxn id="1028" idx="0"/>
            <a:endCxn id="8" idx="0"/>
          </p:cNvCxnSpPr>
          <p:nvPr/>
        </p:nvCxnSpPr>
        <p:spPr>
          <a:xfrm rot="16200000" flipV="1">
            <a:off x="7114461" y="-1384773"/>
            <a:ext cx="780480" cy="6414405"/>
          </a:xfrm>
          <a:prstGeom prst="curvedConnector3">
            <a:avLst>
              <a:gd name="adj1" fmla="val 125990"/>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50FCE5C4-3913-C54F-39C1-2CFB539CC0DB}"/>
              </a:ext>
            </a:extLst>
          </p:cNvPr>
          <p:cNvSpPr txBox="1"/>
          <p:nvPr/>
        </p:nvSpPr>
        <p:spPr>
          <a:xfrm>
            <a:off x="5796359" y="858908"/>
            <a:ext cx="4078161" cy="307777"/>
          </a:xfrm>
          <a:prstGeom prst="rect">
            <a:avLst/>
          </a:prstGeom>
          <a:noFill/>
        </p:spPr>
        <p:txBody>
          <a:bodyPr wrap="square" rtlCol="0">
            <a:spAutoFit/>
          </a:bodyPr>
          <a:lstStyle/>
          <a:p>
            <a:pPr algn="ctr"/>
            <a:r>
              <a:rPr lang="en-US" sz="1400" dirty="0">
                <a:solidFill>
                  <a:schemeClr val="accent1"/>
                </a:solidFill>
              </a:rPr>
              <a:t>(3) Control and deploy on real quantum computers</a:t>
            </a:r>
          </a:p>
        </p:txBody>
      </p:sp>
      <p:sp>
        <p:nvSpPr>
          <p:cNvPr id="48" name="TextBox 47">
            <a:extLst>
              <a:ext uri="{FF2B5EF4-FFF2-40B4-BE49-F238E27FC236}">
                <a16:creationId xmlns:a16="http://schemas.microsoft.com/office/drawing/2014/main" id="{0CE8EFE8-8188-2D85-7229-291883B45E61}"/>
              </a:ext>
            </a:extLst>
          </p:cNvPr>
          <p:cNvSpPr txBox="1"/>
          <p:nvPr/>
        </p:nvSpPr>
        <p:spPr>
          <a:xfrm>
            <a:off x="6485377" y="3429000"/>
            <a:ext cx="2180952" cy="646331"/>
          </a:xfrm>
          <a:prstGeom prst="rect">
            <a:avLst/>
          </a:prstGeom>
          <a:noFill/>
        </p:spPr>
        <p:txBody>
          <a:bodyPr wrap="square" rtlCol="0">
            <a:spAutoFit/>
          </a:bodyPr>
          <a:lstStyle/>
          <a:p>
            <a:pPr algn="ctr"/>
            <a:r>
              <a:rPr lang="en-US" b="1" dirty="0"/>
              <a:t>Quantum Emulator</a:t>
            </a:r>
          </a:p>
          <a:p>
            <a:pPr algn="ctr"/>
            <a:r>
              <a:rPr lang="en-US" b="1" dirty="0"/>
              <a:t>(GPU/FPGA/ASIC)</a:t>
            </a:r>
          </a:p>
        </p:txBody>
      </p:sp>
      <p:cxnSp>
        <p:nvCxnSpPr>
          <p:cNvPr id="49" name="Elbow Connector 48">
            <a:extLst>
              <a:ext uri="{FF2B5EF4-FFF2-40B4-BE49-F238E27FC236}">
                <a16:creationId xmlns:a16="http://schemas.microsoft.com/office/drawing/2014/main" id="{E93CEE10-7A3C-E885-8629-1697F34D9DA4}"/>
              </a:ext>
            </a:extLst>
          </p:cNvPr>
          <p:cNvCxnSpPr>
            <a:cxnSpLocks/>
            <a:stCxn id="48" idx="2"/>
            <a:endCxn id="39" idx="0"/>
          </p:cNvCxnSpPr>
          <p:nvPr/>
        </p:nvCxnSpPr>
        <p:spPr>
          <a:xfrm rot="16200000" flipH="1">
            <a:off x="7178590" y="4472594"/>
            <a:ext cx="1154754" cy="360228"/>
          </a:xfrm>
          <a:prstGeom prst="bentConnector3">
            <a:avLst>
              <a:gd name="adj1" fmla="val 50000"/>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urved Connector 52">
            <a:extLst>
              <a:ext uri="{FF2B5EF4-FFF2-40B4-BE49-F238E27FC236}">
                <a16:creationId xmlns:a16="http://schemas.microsoft.com/office/drawing/2014/main" id="{17A5AF79-2189-C669-1654-6CAD274702FA}"/>
              </a:ext>
            </a:extLst>
          </p:cNvPr>
          <p:cNvCxnSpPr>
            <a:cxnSpLocks/>
            <a:stCxn id="1028" idx="0"/>
            <a:endCxn id="1032" idx="0"/>
          </p:cNvCxnSpPr>
          <p:nvPr/>
        </p:nvCxnSpPr>
        <p:spPr>
          <a:xfrm rot="16200000" flipH="1" flipV="1">
            <a:off x="9035211" y="655369"/>
            <a:ext cx="119392" cy="3233993"/>
          </a:xfrm>
          <a:prstGeom prst="curvedConnector3">
            <a:avLst>
              <a:gd name="adj1" fmla="val -191470"/>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56724913-080A-7E70-4025-D644FCC7F41D}"/>
              </a:ext>
            </a:extLst>
          </p:cNvPr>
          <p:cNvSpPr txBox="1"/>
          <p:nvPr/>
        </p:nvSpPr>
        <p:spPr>
          <a:xfrm>
            <a:off x="6683521" y="1665608"/>
            <a:ext cx="3559003" cy="523220"/>
          </a:xfrm>
          <a:prstGeom prst="rect">
            <a:avLst/>
          </a:prstGeom>
          <a:noFill/>
        </p:spPr>
        <p:txBody>
          <a:bodyPr wrap="square" rtlCol="0">
            <a:spAutoFit/>
          </a:bodyPr>
          <a:lstStyle/>
          <a:p>
            <a:pPr algn="ctr"/>
            <a:r>
              <a:rPr lang="en-US" sz="1400" dirty="0">
                <a:solidFill>
                  <a:schemeClr val="accent1"/>
                </a:solidFill>
              </a:rPr>
              <a:t>(1) Deploy quantum programs at small scale</a:t>
            </a:r>
          </a:p>
          <a:p>
            <a:pPr algn="ctr"/>
            <a:endParaRPr lang="en-US" sz="1400" dirty="0">
              <a:solidFill>
                <a:schemeClr val="accent1"/>
              </a:solidFill>
            </a:endParaRPr>
          </a:p>
        </p:txBody>
      </p:sp>
      <p:cxnSp>
        <p:nvCxnSpPr>
          <p:cNvPr id="57" name="Curved Connector 56">
            <a:extLst>
              <a:ext uri="{FF2B5EF4-FFF2-40B4-BE49-F238E27FC236}">
                <a16:creationId xmlns:a16="http://schemas.microsoft.com/office/drawing/2014/main" id="{F340BFD3-FA13-972F-5707-CFE231A311DF}"/>
              </a:ext>
            </a:extLst>
          </p:cNvPr>
          <p:cNvCxnSpPr>
            <a:cxnSpLocks/>
            <a:stCxn id="1032" idx="3"/>
            <a:endCxn id="1028" idx="1"/>
          </p:cNvCxnSpPr>
          <p:nvPr/>
        </p:nvCxnSpPr>
        <p:spPr>
          <a:xfrm>
            <a:off x="8013714" y="2867866"/>
            <a:ext cx="1607713" cy="435280"/>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3F7F188C-5CF2-F268-3780-410C4062AF13}"/>
              </a:ext>
            </a:extLst>
          </p:cNvPr>
          <p:cNvSpPr txBox="1"/>
          <p:nvPr/>
        </p:nvSpPr>
        <p:spPr>
          <a:xfrm>
            <a:off x="8013714" y="2129202"/>
            <a:ext cx="1828264" cy="738664"/>
          </a:xfrm>
          <a:prstGeom prst="rect">
            <a:avLst/>
          </a:prstGeom>
          <a:noFill/>
        </p:spPr>
        <p:txBody>
          <a:bodyPr wrap="square" rtlCol="0">
            <a:spAutoFit/>
          </a:bodyPr>
          <a:lstStyle/>
          <a:p>
            <a:r>
              <a:rPr lang="en-US" sz="1400" dirty="0">
                <a:solidFill>
                  <a:schemeClr val="accent1"/>
                </a:solidFill>
              </a:rPr>
              <a:t>(2) Pass all test cases?</a:t>
            </a:r>
          </a:p>
          <a:p>
            <a:r>
              <a:rPr lang="en-US" sz="1400" dirty="0">
                <a:solidFill>
                  <a:schemeClr val="accent1"/>
                </a:solidFill>
              </a:rPr>
              <a:t>Then deploy on real quantum computers</a:t>
            </a:r>
          </a:p>
        </p:txBody>
      </p:sp>
      <p:sp>
        <p:nvSpPr>
          <p:cNvPr id="62" name="TextBox 61">
            <a:extLst>
              <a:ext uri="{FF2B5EF4-FFF2-40B4-BE49-F238E27FC236}">
                <a16:creationId xmlns:a16="http://schemas.microsoft.com/office/drawing/2014/main" id="{E94BB4D1-C45D-93D3-F071-B61403DD10F7}"/>
              </a:ext>
            </a:extLst>
          </p:cNvPr>
          <p:cNvSpPr txBox="1"/>
          <p:nvPr/>
        </p:nvSpPr>
        <p:spPr>
          <a:xfrm>
            <a:off x="9851272" y="4381229"/>
            <a:ext cx="2151976" cy="646331"/>
          </a:xfrm>
          <a:prstGeom prst="rect">
            <a:avLst/>
          </a:prstGeom>
          <a:noFill/>
        </p:spPr>
        <p:txBody>
          <a:bodyPr wrap="square">
            <a:spAutoFit/>
          </a:bodyPr>
          <a:lstStyle/>
          <a:p>
            <a:r>
              <a:rPr lang="en-US"/>
              <a:t>Classical computer</a:t>
            </a:r>
          </a:p>
          <a:p>
            <a:r>
              <a:rPr lang="en-US"/>
              <a:t>(Your computer)</a:t>
            </a:r>
            <a:endParaRPr lang="en-VN"/>
          </a:p>
        </p:txBody>
      </p:sp>
    </p:spTree>
    <p:extLst>
      <p:ext uri="{BB962C8B-B14F-4D97-AF65-F5344CB8AC3E}">
        <p14:creationId xmlns:p14="http://schemas.microsoft.com/office/powerpoint/2010/main" val="763241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5A3FC-C78A-4A81-F1C8-CE806553E5E3}"/>
              </a:ext>
            </a:extLst>
          </p:cNvPr>
          <p:cNvSpPr>
            <a:spLocks noGrp="1"/>
          </p:cNvSpPr>
          <p:nvPr>
            <p:ph type="title"/>
          </p:nvPr>
        </p:nvSpPr>
        <p:spPr>
          <a:xfrm>
            <a:off x="732889" y="1"/>
            <a:ext cx="10620911" cy="1240535"/>
          </a:xfrm>
        </p:spPr>
        <p:txBody>
          <a:bodyPr>
            <a:normAutofit/>
          </a:bodyPr>
          <a:lstStyle/>
          <a:p>
            <a:r>
              <a:rPr lang="en-US" sz="3200" dirty="0"/>
              <a:t>1.1. Quantum simulation approach</a:t>
            </a:r>
          </a:p>
        </p:txBody>
      </p:sp>
      <p:graphicFrame>
        <p:nvGraphicFramePr>
          <p:cNvPr id="5" name="Content Placeholder 4">
            <a:extLst>
              <a:ext uri="{FF2B5EF4-FFF2-40B4-BE49-F238E27FC236}">
                <a16:creationId xmlns:a16="http://schemas.microsoft.com/office/drawing/2014/main" id="{72BE2AC1-1666-AECA-F1CD-9B93FED96CF4}"/>
              </a:ext>
            </a:extLst>
          </p:cNvPr>
          <p:cNvGraphicFramePr>
            <a:graphicFrameLocks noGrp="1"/>
          </p:cNvGraphicFramePr>
          <p:nvPr>
            <p:ph idx="1"/>
          </p:nvPr>
        </p:nvGraphicFramePr>
        <p:xfrm>
          <a:off x="838200" y="1609868"/>
          <a:ext cx="10800993" cy="3710400"/>
        </p:xfrm>
        <a:graphic>
          <a:graphicData uri="http://schemas.openxmlformats.org/drawingml/2006/table">
            <a:tbl>
              <a:tblPr firstRow="1" bandRow="1">
                <a:tableStyleId>{5940675A-B579-460E-94D1-54222C63F5DA}</a:tableStyleId>
              </a:tblPr>
              <a:tblGrid>
                <a:gridCol w="2757755">
                  <a:extLst>
                    <a:ext uri="{9D8B030D-6E8A-4147-A177-3AD203B41FA5}">
                      <a16:colId xmlns:a16="http://schemas.microsoft.com/office/drawing/2014/main" val="4132432325"/>
                    </a:ext>
                  </a:extLst>
                </a:gridCol>
                <a:gridCol w="1895582">
                  <a:extLst>
                    <a:ext uri="{9D8B030D-6E8A-4147-A177-3AD203B41FA5}">
                      <a16:colId xmlns:a16="http://schemas.microsoft.com/office/drawing/2014/main" val="2663558509"/>
                    </a:ext>
                  </a:extLst>
                </a:gridCol>
                <a:gridCol w="1325366">
                  <a:extLst>
                    <a:ext uri="{9D8B030D-6E8A-4147-A177-3AD203B41FA5}">
                      <a16:colId xmlns:a16="http://schemas.microsoft.com/office/drawing/2014/main" val="2510835557"/>
                    </a:ext>
                  </a:extLst>
                </a:gridCol>
                <a:gridCol w="1607430">
                  <a:extLst>
                    <a:ext uri="{9D8B030D-6E8A-4147-A177-3AD203B41FA5}">
                      <a16:colId xmlns:a16="http://schemas.microsoft.com/office/drawing/2014/main" val="3060698777"/>
                    </a:ext>
                  </a:extLst>
                </a:gridCol>
                <a:gridCol w="1607430">
                  <a:extLst>
                    <a:ext uri="{9D8B030D-6E8A-4147-A177-3AD203B41FA5}">
                      <a16:colId xmlns:a16="http://schemas.microsoft.com/office/drawing/2014/main" val="3166617795"/>
                    </a:ext>
                  </a:extLst>
                </a:gridCol>
                <a:gridCol w="1607430">
                  <a:extLst>
                    <a:ext uri="{9D8B030D-6E8A-4147-A177-3AD203B41FA5}">
                      <a16:colId xmlns:a16="http://schemas.microsoft.com/office/drawing/2014/main" val="1164519155"/>
                    </a:ext>
                  </a:extLst>
                </a:gridCol>
              </a:tblGrid>
              <a:tr h="517134">
                <a:tc>
                  <a:txBody>
                    <a:bodyPr/>
                    <a:lstStyle/>
                    <a:p>
                      <a:r>
                        <a:rPr lang="en-US" sz="2000" b="1" dirty="0"/>
                        <a:t>Approach</a:t>
                      </a:r>
                      <a:endParaRPr lang="en-US" sz="2000" b="1" dirty="0">
                        <a:solidFill>
                          <a:schemeClr val="tx1"/>
                        </a:solidFill>
                      </a:endParaRPr>
                    </a:p>
                  </a:txBody>
                  <a:tcPr anchor="ctr"/>
                </a:tc>
                <a:tc>
                  <a:txBody>
                    <a:bodyPr/>
                    <a:lstStyle/>
                    <a:p>
                      <a:r>
                        <a:rPr lang="en-US" sz="2000" b="1" dirty="0"/>
                        <a:t>Device</a:t>
                      </a:r>
                      <a:endParaRPr lang="en-US" sz="2000" b="1" dirty="0">
                        <a:solidFill>
                          <a:schemeClr val="tx1"/>
                        </a:solidFill>
                      </a:endParaRPr>
                    </a:p>
                  </a:txBody>
                  <a:tcPr anchor="ctr"/>
                </a:tc>
                <a:tc>
                  <a:txBody>
                    <a:bodyPr/>
                    <a:lstStyle/>
                    <a:p>
                      <a:r>
                        <a:rPr lang="en-US" sz="2000" b="1" dirty="0">
                          <a:solidFill>
                            <a:schemeClr val="tx1"/>
                          </a:solidFill>
                        </a:rPr>
                        <a:t>Type</a:t>
                      </a:r>
                    </a:p>
                  </a:txBody>
                  <a:tcPr anchor="ctr"/>
                </a:tc>
                <a:tc>
                  <a:txBody>
                    <a:bodyPr/>
                    <a:lstStyle/>
                    <a:p>
                      <a:r>
                        <a:rPr lang="en-US" sz="2000" b="1" dirty="0"/>
                        <a:t>Theory analysis</a:t>
                      </a:r>
                      <a:endParaRPr lang="en-US" sz="2000" b="1" dirty="0">
                        <a:solidFill>
                          <a:schemeClr val="tx1"/>
                        </a:solidFill>
                      </a:endParaRPr>
                    </a:p>
                  </a:txBody>
                  <a:tcPr anchor="ctr"/>
                </a:tc>
                <a:tc>
                  <a:txBody>
                    <a:bodyPr/>
                    <a:lstStyle/>
                    <a:p>
                      <a:r>
                        <a:rPr lang="en-US" sz="2000" b="1" dirty="0"/>
                        <a:t>Software design</a:t>
                      </a:r>
                      <a:endParaRPr lang="en-US" sz="2000" b="1" dirty="0">
                        <a:solidFill>
                          <a:schemeClr val="tx1"/>
                        </a:solidFill>
                      </a:endParaRPr>
                    </a:p>
                  </a:txBody>
                  <a:tcPr anchor="ctr"/>
                </a:tc>
                <a:tc>
                  <a:txBody>
                    <a:bodyPr/>
                    <a:lstStyle/>
                    <a:p>
                      <a:r>
                        <a:rPr lang="en-US" sz="2000" b="1" dirty="0"/>
                        <a:t>Hardware design</a:t>
                      </a:r>
                      <a:endParaRPr lang="en-US" sz="2000" b="1" dirty="0">
                        <a:solidFill>
                          <a:schemeClr val="tx1"/>
                        </a:solidFill>
                      </a:endParaRPr>
                    </a:p>
                  </a:txBody>
                  <a:tcPr anchor="ctr"/>
                </a:tc>
                <a:extLst>
                  <a:ext uri="{0D108BD9-81ED-4DB2-BD59-A6C34878D82A}">
                    <a16:rowId xmlns:a16="http://schemas.microsoft.com/office/drawing/2014/main" val="4193280095"/>
                  </a:ext>
                </a:extLst>
              </a:tr>
              <a:tr h="517134">
                <a:tc>
                  <a:txBody>
                    <a:bodyPr/>
                    <a:lstStyle/>
                    <a:p>
                      <a:r>
                        <a:rPr lang="en-US" sz="2000" dirty="0">
                          <a:solidFill>
                            <a:schemeClr val="tx1"/>
                          </a:solidFill>
                        </a:rPr>
                        <a:t>Density matrix variant (state vector) [2]</a:t>
                      </a:r>
                    </a:p>
                  </a:txBody>
                  <a:tcPr anchor="ctr"/>
                </a:tc>
                <a:tc>
                  <a:txBody>
                    <a:bodyPr/>
                    <a:lstStyle/>
                    <a:p>
                      <a:r>
                        <a:rPr lang="en-US" sz="2000" dirty="0"/>
                        <a:t>FPGA ZCU102</a:t>
                      </a:r>
                      <a:endParaRPr lang="en-US" sz="2000" dirty="0">
                        <a:solidFill>
                          <a:schemeClr val="tx1"/>
                        </a:solidFill>
                      </a:endParaRPr>
                    </a:p>
                  </a:txBody>
                  <a:tcPr anchor="ctr"/>
                </a:tc>
                <a:tc>
                  <a:txBody>
                    <a:bodyPr/>
                    <a:lstStyle/>
                    <a:p>
                      <a:r>
                        <a:rPr lang="en-US" sz="2000" dirty="0">
                          <a:solidFill>
                            <a:schemeClr val="tx1"/>
                          </a:solidFill>
                        </a:rPr>
                        <a:t>Emulator</a:t>
                      </a:r>
                    </a:p>
                  </a:txBody>
                  <a:tcPr anchor="ctr"/>
                </a:tc>
                <a:tc>
                  <a:txBody>
                    <a:bodyPr/>
                    <a:lstStyle/>
                    <a:p>
                      <a:r>
                        <a:rPr lang="en-US" sz="3200" dirty="0">
                          <a:solidFill>
                            <a:schemeClr val="tx1"/>
                          </a:solidFill>
                        </a:rPr>
                        <a:t>◎</a:t>
                      </a:r>
                    </a:p>
                  </a:txBody>
                  <a:tcPr anchor="ctr"/>
                </a:tc>
                <a:tc>
                  <a:txBody>
                    <a:bodyPr/>
                    <a:lstStyle/>
                    <a:p>
                      <a:r>
                        <a:rPr lang="en-US" sz="3200" dirty="0">
                          <a:solidFill>
                            <a:schemeClr val="tx1"/>
                          </a:solidFill>
                        </a:rPr>
                        <a:t>○</a:t>
                      </a:r>
                    </a:p>
                  </a:txBody>
                  <a:tcPr anchor="ctr"/>
                </a:tc>
                <a:tc>
                  <a:txBody>
                    <a:bodyPr/>
                    <a:lstStyle/>
                    <a:p>
                      <a:r>
                        <a:rPr lang="en-US" sz="3200" dirty="0">
                          <a:solidFill>
                            <a:schemeClr val="tx1"/>
                          </a:solidFill>
                        </a:rPr>
                        <a:t>◎</a:t>
                      </a:r>
                    </a:p>
                  </a:txBody>
                  <a:tcPr anchor="ctr"/>
                </a:tc>
                <a:extLst>
                  <a:ext uri="{0D108BD9-81ED-4DB2-BD59-A6C34878D82A}">
                    <a16:rowId xmlns:a16="http://schemas.microsoft.com/office/drawing/2014/main" val="699590270"/>
                  </a:ext>
                </a:extLst>
              </a:tr>
              <a:tr h="517134">
                <a:tc>
                  <a:txBody>
                    <a:bodyPr/>
                    <a:lstStyle/>
                    <a:p>
                      <a:r>
                        <a:rPr lang="en-US" sz="2000" dirty="0">
                          <a:solidFill>
                            <a:schemeClr val="tx1"/>
                          </a:solidFill>
                        </a:rPr>
                        <a:t>Wave function variant (state vector) [3]</a:t>
                      </a:r>
                    </a:p>
                  </a:txBody>
                  <a:tcPr anchor="ctr"/>
                </a:tc>
                <a:tc>
                  <a:txBody>
                    <a:bodyPr/>
                    <a:lstStyle/>
                    <a:p>
                      <a:r>
                        <a:rPr lang="en-US" sz="2000" dirty="0"/>
                        <a:t>FPGA ZCU102</a:t>
                      </a:r>
                      <a:endParaRPr lang="en-US" sz="2000" dirty="0">
                        <a:solidFill>
                          <a:schemeClr val="tx1"/>
                        </a:solidFill>
                      </a:endParaRPr>
                    </a:p>
                  </a:txBody>
                  <a:tcPr anchor="ctr"/>
                </a:tc>
                <a:tc>
                  <a:txBody>
                    <a:bodyPr/>
                    <a:lstStyle/>
                    <a:p>
                      <a:r>
                        <a:rPr lang="en-US" sz="2000" dirty="0">
                          <a:solidFill>
                            <a:schemeClr val="tx1"/>
                          </a:solidFill>
                        </a:rPr>
                        <a:t>Emulator</a:t>
                      </a:r>
                    </a:p>
                  </a:txBody>
                  <a:tcPr anchor="ctr"/>
                </a:tc>
                <a:tc>
                  <a:txBody>
                    <a:bodyPr/>
                    <a:lstStyle/>
                    <a:p>
                      <a:r>
                        <a:rPr lang="en-US" sz="3200">
                          <a:solidFill>
                            <a:schemeClr val="tx1"/>
                          </a:solidFill>
                        </a:rPr>
                        <a:t>◎</a:t>
                      </a:r>
                      <a:endParaRPr lang="en-US" sz="3200" dirty="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chemeClr val="tx1"/>
                          </a:solidFill>
                        </a:rPr>
                        <a:t>○</a:t>
                      </a:r>
                    </a:p>
                  </a:txBody>
                  <a:tcPr anchor="ctr"/>
                </a:tc>
                <a:tc>
                  <a:txBody>
                    <a:bodyPr/>
                    <a:lstStyle/>
                    <a:p>
                      <a:r>
                        <a:rPr lang="en-US" sz="3200" dirty="0">
                          <a:solidFill>
                            <a:schemeClr val="tx1"/>
                          </a:solidFill>
                        </a:rPr>
                        <a:t>◎</a:t>
                      </a:r>
                    </a:p>
                  </a:txBody>
                  <a:tcPr anchor="ctr"/>
                </a:tc>
                <a:extLst>
                  <a:ext uri="{0D108BD9-81ED-4DB2-BD59-A6C34878D82A}">
                    <a16:rowId xmlns:a16="http://schemas.microsoft.com/office/drawing/2014/main" val="1727279692"/>
                  </a:ext>
                </a:extLst>
              </a:tr>
              <a:tr h="453120">
                <a:tc>
                  <a:txBody>
                    <a:bodyPr/>
                    <a:lstStyle/>
                    <a:p>
                      <a:r>
                        <a:rPr lang="en-US" sz="2000" dirty="0">
                          <a:solidFill>
                            <a:schemeClr val="tx1"/>
                          </a:solidFill>
                        </a:rPr>
                        <a:t>Extended stabilizer formalism [4]</a:t>
                      </a:r>
                    </a:p>
                  </a:txBody>
                  <a:tcPr anchor="ctr"/>
                </a:tc>
                <a:tc>
                  <a:txBody>
                    <a:bodyPr/>
                    <a:lstStyle/>
                    <a:p>
                      <a:r>
                        <a:rPr lang="en-US" sz="2000" dirty="0"/>
                        <a:t>GPU RTX4090</a:t>
                      </a:r>
                      <a:endParaRPr lang="en-US" sz="2000" dirty="0">
                        <a:solidFill>
                          <a:schemeClr val="tx1"/>
                        </a:solidFill>
                      </a:endParaRPr>
                    </a:p>
                  </a:txBody>
                  <a:tcPr anchor="ctr"/>
                </a:tc>
                <a:tc>
                  <a:txBody>
                    <a:bodyPr/>
                    <a:lstStyle/>
                    <a:p>
                      <a:r>
                        <a:rPr lang="en-US" sz="2000" dirty="0">
                          <a:solidFill>
                            <a:schemeClr val="tx1"/>
                          </a:solidFill>
                        </a:rPr>
                        <a:t>Simulator</a:t>
                      </a:r>
                    </a:p>
                  </a:txBody>
                  <a:tcPr anchor="ctr"/>
                </a:tc>
                <a:tc>
                  <a:txBody>
                    <a:bodyPr/>
                    <a:lstStyle/>
                    <a:p>
                      <a:r>
                        <a:rPr lang="en-US" sz="3200" dirty="0">
                          <a:solidFill>
                            <a:schemeClr val="tx1"/>
                          </a:solidFill>
                        </a:rPr>
                        <a:t>◎</a:t>
                      </a:r>
                    </a:p>
                  </a:txBody>
                  <a:tcPr anchor="ctr"/>
                </a:tc>
                <a:tc>
                  <a:txBody>
                    <a:bodyPr/>
                    <a:lstStyle/>
                    <a:p>
                      <a:r>
                        <a:rPr lang="en-US" sz="3200" dirty="0">
                          <a:solidFill>
                            <a:schemeClr val="tx1"/>
                          </a:solidFill>
                        </a:rPr>
                        <a:t>◎</a:t>
                      </a:r>
                    </a:p>
                  </a:txBody>
                  <a:tcPr anchor="ctr"/>
                </a:tc>
                <a:tc>
                  <a:txBody>
                    <a:bodyPr/>
                    <a:lstStyle/>
                    <a:p>
                      <a:r>
                        <a:rPr lang="en-US" sz="3200" dirty="0">
                          <a:solidFill>
                            <a:schemeClr val="tx1"/>
                          </a:solidFill>
                        </a:rPr>
                        <a:t>△</a:t>
                      </a:r>
                    </a:p>
                  </a:txBody>
                  <a:tcPr anchor="ctr"/>
                </a:tc>
                <a:extLst>
                  <a:ext uri="{0D108BD9-81ED-4DB2-BD59-A6C34878D82A}">
                    <a16:rowId xmlns:a16="http://schemas.microsoft.com/office/drawing/2014/main" val="263948011"/>
                  </a:ext>
                </a:extLst>
              </a:tr>
              <a:tr h="453120">
                <a:tc>
                  <a:txBody>
                    <a:bodyPr/>
                    <a:lstStyle/>
                    <a:p>
                      <a:r>
                        <a:rPr lang="en-US" sz="2000" dirty="0">
                          <a:solidFill>
                            <a:schemeClr val="tx1"/>
                          </a:solidFill>
                        </a:rPr>
                        <a:t>Tensor-network [5]</a:t>
                      </a:r>
                    </a:p>
                  </a:txBody>
                  <a:tcPr anchor="ctr"/>
                </a:tc>
                <a:tc rowSpan="2" gridSpan="5">
                  <a:txBody>
                    <a:bodyPr/>
                    <a:lstStyle/>
                    <a:p>
                      <a:endParaRPr lang="en-US" sz="2000" dirty="0">
                        <a:solidFill>
                          <a:schemeClr val="tx1"/>
                        </a:solidFill>
                      </a:endParaRPr>
                    </a:p>
                  </a:txBody>
                  <a:tcPr anchor="ctr"/>
                </a:tc>
                <a:tc rowSpan="2" hMerge="1">
                  <a:txBody>
                    <a:bodyPr/>
                    <a:lstStyle/>
                    <a:p>
                      <a:endParaRPr lang="en-US" sz="2000" dirty="0">
                        <a:solidFill>
                          <a:schemeClr val="tx1"/>
                        </a:solidFill>
                      </a:endParaRPr>
                    </a:p>
                  </a:txBody>
                  <a:tcPr anchor="ctr"/>
                </a:tc>
                <a:tc rowSpan="2"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solidFill>
                          <a:schemeClr val="tx1"/>
                        </a:solidFill>
                      </a:endParaRPr>
                    </a:p>
                  </a:txBody>
                  <a:tcPr anchor="ctr"/>
                </a:tc>
                <a:tc rowSpan="2" hMerge="1">
                  <a:txBody>
                    <a:bodyPr/>
                    <a:lstStyle/>
                    <a:p>
                      <a:endParaRPr lang="en-US" dirty="0">
                        <a:solidFill>
                          <a:schemeClr val="tx1"/>
                        </a:solidFill>
                      </a:endParaRPr>
                    </a:p>
                  </a:txBody>
                  <a:tcPr anchor="ctr"/>
                </a:tc>
                <a:tc rowSpan="2" hMerge="1">
                  <a:txBody>
                    <a:bodyPr/>
                    <a:lstStyle/>
                    <a:p>
                      <a:endParaRPr lang="en-US" dirty="0">
                        <a:solidFill>
                          <a:schemeClr val="tx1"/>
                        </a:solidFill>
                      </a:endParaRPr>
                    </a:p>
                  </a:txBody>
                  <a:tcPr anchor="ctr"/>
                </a:tc>
                <a:extLst>
                  <a:ext uri="{0D108BD9-81ED-4DB2-BD59-A6C34878D82A}">
                    <a16:rowId xmlns:a16="http://schemas.microsoft.com/office/drawing/2014/main" val="280984563"/>
                  </a:ext>
                </a:extLst>
              </a:tr>
              <a:tr h="453120">
                <a:tc>
                  <a:txBody>
                    <a:bodyPr/>
                    <a:lstStyle/>
                    <a:p>
                      <a:r>
                        <a:rPr lang="en-US" sz="2000" dirty="0">
                          <a:solidFill>
                            <a:schemeClr val="tx1"/>
                          </a:solidFill>
                        </a:rPr>
                        <a:t>Decision diagram [6]</a:t>
                      </a:r>
                    </a:p>
                  </a:txBody>
                  <a:tcPr anchor="ctr"/>
                </a:tc>
                <a:tc gridSpan="5" vMerge="1">
                  <a:txBody>
                    <a:bodyPr/>
                    <a:lstStyle/>
                    <a:p>
                      <a:endParaRPr lang="en-US" sz="2000">
                        <a:solidFill>
                          <a:schemeClr val="tx1"/>
                        </a:solidFill>
                      </a:endParaRPr>
                    </a:p>
                  </a:txBody>
                  <a:tcPr anchor="ctr"/>
                </a:tc>
                <a:tc hMerge="1" vMerge="1">
                  <a:txBody>
                    <a:bodyPr/>
                    <a:lstStyle/>
                    <a:p>
                      <a:endParaRPr lang="en-US" sz="2000" dirty="0">
                        <a:solidFill>
                          <a:schemeClr val="tx1"/>
                        </a:solidFill>
                      </a:endParaRPr>
                    </a:p>
                  </a:txBody>
                  <a:tcPr anchor="ctr"/>
                </a:tc>
                <a:tc hMerge="1" vMerge="1">
                  <a:txBody>
                    <a:bodyPr/>
                    <a:lstStyle/>
                    <a:p>
                      <a:endParaRPr lang="en-US" dirty="0">
                        <a:solidFill>
                          <a:schemeClr val="tx1"/>
                        </a:solidFill>
                      </a:endParaRPr>
                    </a:p>
                  </a:txBody>
                  <a:tcPr anchor="ctr"/>
                </a:tc>
                <a:tc hMerge="1" vMerge="1">
                  <a:txBody>
                    <a:bodyPr/>
                    <a:lstStyle/>
                    <a:p>
                      <a:endParaRPr lang="en-US" dirty="0">
                        <a:solidFill>
                          <a:schemeClr val="tx1"/>
                        </a:solidFill>
                      </a:endParaRPr>
                    </a:p>
                  </a:txBody>
                  <a:tcPr anchor="ctr"/>
                </a:tc>
                <a:tc hMerge="1" vMerge="1">
                  <a:txBody>
                    <a:bodyPr/>
                    <a:lstStyle/>
                    <a:p>
                      <a:endParaRPr lang="en-US" dirty="0">
                        <a:solidFill>
                          <a:schemeClr val="tx1"/>
                        </a:solidFill>
                      </a:endParaRPr>
                    </a:p>
                  </a:txBody>
                  <a:tcPr anchor="ctr"/>
                </a:tc>
                <a:extLst>
                  <a:ext uri="{0D108BD9-81ED-4DB2-BD59-A6C34878D82A}">
                    <a16:rowId xmlns:a16="http://schemas.microsoft.com/office/drawing/2014/main" val="20465681"/>
                  </a:ext>
                </a:extLst>
              </a:tr>
            </a:tbl>
          </a:graphicData>
        </a:graphic>
      </p:graphicFrame>
      <p:sp>
        <p:nvSpPr>
          <p:cNvPr id="4" name="Slide Number Placeholder 3">
            <a:extLst>
              <a:ext uri="{FF2B5EF4-FFF2-40B4-BE49-F238E27FC236}">
                <a16:creationId xmlns:a16="http://schemas.microsoft.com/office/drawing/2014/main" id="{357C4283-0DD2-46C0-6A24-E5389849C3D9}"/>
              </a:ext>
            </a:extLst>
          </p:cNvPr>
          <p:cNvSpPr>
            <a:spLocks noGrp="1"/>
          </p:cNvSpPr>
          <p:nvPr>
            <p:ph type="sldNum" sz="quarter" idx="12"/>
          </p:nvPr>
        </p:nvSpPr>
        <p:spPr>
          <a:xfrm>
            <a:off x="11281024" y="6356350"/>
            <a:ext cx="518845" cy="365125"/>
          </a:xfrm>
        </p:spPr>
        <p:txBody>
          <a:bodyPr/>
          <a:lstStyle/>
          <a:p>
            <a:fld id="{3C0C221A-CB66-4297-9A52-937C35126D0C}" type="slidenum">
              <a:rPr lang="en-US" smtClean="0"/>
              <a:t>4</a:t>
            </a:fld>
            <a:endParaRPr lang="en-US"/>
          </a:p>
        </p:txBody>
      </p:sp>
      <p:sp>
        <p:nvSpPr>
          <p:cNvPr id="7" name="TextBox 6">
            <a:extLst>
              <a:ext uri="{FF2B5EF4-FFF2-40B4-BE49-F238E27FC236}">
                <a16:creationId xmlns:a16="http://schemas.microsoft.com/office/drawing/2014/main" id="{52FEAF69-DBDF-F5E1-4408-51D003089334}"/>
              </a:ext>
            </a:extLst>
          </p:cNvPr>
          <p:cNvSpPr txBox="1"/>
          <p:nvPr/>
        </p:nvSpPr>
        <p:spPr>
          <a:xfrm>
            <a:off x="732889" y="1204621"/>
            <a:ext cx="8986464" cy="400110"/>
          </a:xfrm>
          <a:prstGeom prst="rect">
            <a:avLst/>
          </a:prstGeom>
          <a:noFill/>
        </p:spPr>
        <p:txBody>
          <a:bodyPr wrap="square">
            <a:spAutoFit/>
          </a:bodyPr>
          <a:lstStyle/>
          <a:p>
            <a:pPr>
              <a:defRPr/>
            </a:pPr>
            <a:r>
              <a:rPr kumimoji="1" lang="en-US" altLang="ja-JP" sz="2000" b="1" dirty="0">
                <a:latin typeface="Arial" panose="020B0604020202020204" pitchFamily="34" charset="0"/>
                <a:cs typeface="Arial" panose="020B0604020202020204" pitchFamily="34" charset="0"/>
              </a:rPr>
              <a:t>Note: </a:t>
            </a:r>
            <a:r>
              <a:rPr kumimoji="1" lang="en-US" altLang="ja-JP" sz="2000" dirty="0">
                <a:latin typeface="Arial" panose="020B0604020202020204" pitchFamily="34" charset="0"/>
                <a:cs typeface="Arial" panose="020B0604020202020204" pitchFamily="34" charset="0"/>
              </a:rPr>
              <a:t>	</a:t>
            </a:r>
            <a:r>
              <a:rPr lang="en-US" sz="2000" dirty="0">
                <a:solidFill>
                  <a:schemeClr val="tx1"/>
                </a:solidFill>
              </a:rPr>
              <a:t>△</a:t>
            </a:r>
            <a:r>
              <a:rPr kumimoji="1" lang="en-US" altLang="ja-JP" sz="2000" b="1" dirty="0">
                <a:latin typeface="Arial" panose="020B0604020202020204" pitchFamily="34" charset="0"/>
                <a:cs typeface="Arial" panose="020B0604020202020204" pitchFamily="34" charset="0"/>
              </a:rPr>
              <a:t>:</a:t>
            </a:r>
            <a:r>
              <a:rPr kumimoji="1" lang="ja-JP" altLang="en-US" sz="2000" b="1" dirty="0">
                <a:latin typeface="Arial" panose="020B0604020202020204" pitchFamily="34" charset="0"/>
                <a:cs typeface="Arial" panose="020B0604020202020204" pitchFamily="34" charset="0"/>
              </a:rPr>
              <a:t> </a:t>
            </a:r>
            <a:r>
              <a:rPr kumimoji="1" lang="en-US" altLang="ja-JP" sz="2000" dirty="0">
                <a:latin typeface="Arial" panose="020B0604020202020204" pitchFamily="34" charset="0"/>
                <a:cs typeface="Arial" panose="020B0604020202020204" pitchFamily="34" charset="0"/>
              </a:rPr>
              <a:t>Not implemented</a:t>
            </a:r>
            <a:r>
              <a:rPr kumimoji="1" lang="ja-JP" altLang="en-US" sz="2000" dirty="0">
                <a:latin typeface="Arial" panose="020B0604020202020204" pitchFamily="34" charset="0"/>
                <a:cs typeface="Arial" panose="020B0604020202020204" pitchFamily="34" charset="0"/>
              </a:rPr>
              <a:t> </a:t>
            </a:r>
            <a:r>
              <a:rPr lang="en-US" sz="2000" dirty="0">
                <a:solidFill>
                  <a:schemeClr val="tx1"/>
                </a:solidFill>
              </a:rPr>
              <a:t>○</a:t>
            </a:r>
            <a:r>
              <a:rPr kumimoji="1" lang="en-US" altLang="ja-JP" sz="2000" dirty="0">
                <a:latin typeface="Arial" panose="020B0604020202020204" pitchFamily="34" charset="0"/>
                <a:cs typeface="Arial" panose="020B0604020202020204" pitchFamily="34" charset="0"/>
              </a:rPr>
              <a:t>:</a:t>
            </a:r>
            <a:r>
              <a:rPr kumimoji="1" lang="ja-JP" altLang="en-US" sz="2000" dirty="0">
                <a:latin typeface="Arial" panose="020B0604020202020204" pitchFamily="34" charset="0"/>
                <a:cs typeface="Arial" panose="020B0604020202020204" pitchFamily="34" charset="0"/>
              </a:rPr>
              <a:t> </a:t>
            </a:r>
            <a:r>
              <a:rPr kumimoji="1" lang="en-US" altLang="ja-JP" sz="2000" dirty="0">
                <a:latin typeface="Arial" panose="020B0604020202020204" pitchFamily="34" charset="0"/>
                <a:cs typeface="Arial" panose="020B0604020202020204" pitchFamily="34" charset="0"/>
              </a:rPr>
              <a:t>Implemented/Available </a:t>
            </a:r>
            <a:r>
              <a:rPr lang="en-US" sz="2000" dirty="0">
                <a:solidFill>
                  <a:schemeClr val="tx1"/>
                </a:solidFill>
              </a:rPr>
              <a:t>◎</a:t>
            </a:r>
            <a:r>
              <a:rPr kumimoji="1" lang="en-US" altLang="ja-JP" sz="2000" b="1" dirty="0">
                <a:latin typeface="Arial" panose="020B0604020202020204" pitchFamily="34" charset="0"/>
                <a:cs typeface="Arial" panose="020B0604020202020204" pitchFamily="34" charset="0"/>
              </a:rPr>
              <a:t>:</a:t>
            </a:r>
            <a:r>
              <a:rPr kumimoji="1" lang="ja-JP" altLang="en-US" sz="2000" b="1" dirty="0">
                <a:latin typeface="Arial" panose="020B0604020202020204" pitchFamily="34" charset="0"/>
                <a:cs typeface="Arial" panose="020B0604020202020204" pitchFamily="34" charset="0"/>
              </a:rPr>
              <a:t> </a:t>
            </a:r>
            <a:r>
              <a:rPr kumimoji="1" lang="en-US" altLang="ja-JP" sz="2000" dirty="0">
                <a:latin typeface="Arial" panose="020B0604020202020204" pitchFamily="34" charset="0"/>
                <a:cs typeface="Arial" panose="020B0604020202020204" pitchFamily="34" charset="0"/>
              </a:rPr>
              <a:t>Improved       </a:t>
            </a:r>
            <a:endParaRPr kumimoji="1" lang="ja-JP" altLang="en-US" sz="20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F3C627E3-5762-C518-FF8D-B666A72D65F2}"/>
              </a:ext>
            </a:extLst>
          </p:cNvPr>
          <p:cNvSpPr txBox="1"/>
          <p:nvPr/>
        </p:nvSpPr>
        <p:spPr>
          <a:xfrm>
            <a:off x="732889" y="5325405"/>
            <a:ext cx="10793860" cy="1569660"/>
          </a:xfrm>
          <a:prstGeom prst="rect">
            <a:avLst/>
          </a:prstGeom>
          <a:noFill/>
        </p:spPr>
        <p:txBody>
          <a:bodyPr wrap="square" rtlCol="0">
            <a:spAutoFit/>
          </a:bodyPr>
          <a:lstStyle/>
          <a:p>
            <a:r>
              <a:rPr lang="en-US" sz="1200" dirty="0"/>
              <a:t>[2] Ali Javadi-Abhari,, et al. Quantum computing with </a:t>
            </a:r>
            <a:r>
              <a:rPr lang="en-US" sz="1200" dirty="0" err="1"/>
              <a:t>Qiskit</a:t>
            </a:r>
            <a:r>
              <a:rPr lang="en-US" sz="1200" dirty="0"/>
              <a:t>. </a:t>
            </a:r>
            <a:r>
              <a:rPr lang="en-US" sz="1200" dirty="0" err="1"/>
              <a:t>arXiv</a:t>
            </a:r>
            <a:r>
              <a:rPr lang="en-US" sz="1200" dirty="0"/>
              <a:t> preprint arXiv:2405.08810, 2024.</a:t>
            </a:r>
          </a:p>
          <a:p>
            <a:r>
              <a:rPr lang="en-US" sz="1200" dirty="0"/>
              <a:t>[3] Nguyen et al. </a:t>
            </a:r>
            <a:r>
              <a:rPr lang="en-US" sz="1200" dirty="0" err="1"/>
              <a:t>Qsun</a:t>
            </a:r>
            <a:r>
              <a:rPr lang="en-US" sz="1200" dirty="0"/>
              <a:t>: an open-source platform towards practical quantum machine learning applications. Machine Learning: Science and Technology, 3(1):015034, 2022.</a:t>
            </a:r>
          </a:p>
          <a:p>
            <a:r>
              <a:rPr lang="en-US" sz="1200" dirty="0"/>
              <a:t>[4] Andi Gu, Salvatore F. E. Oliviero, and Lorenzo Leone. Doped stabilizer states in many-body physics and where to find them. Phys. Rev. A, 110:062427, Dec 2024</a:t>
            </a:r>
          </a:p>
          <a:p>
            <a:r>
              <a:rPr lang="en-US" sz="1200" dirty="0"/>
              <a:t>[5] Feng Pan, </a:t>
            </a:r>
            <a:r>
              <a:rPr lang="en-US" sz="1200" dirty="0" err="1"/>
              <a:t>Hanfeng</a:t>
            </a:r>
            <a:r>
              <a:rPr lang="en-US" sz="1200" dirty="0"/>
              <a:t> Gu, </a:t>
            </a:r>
            <a:r>
              <a:rPr lang="en-US" sz="1200" dirty="0" err="1"/>
              <a:t>Lvlin</a:t>
            </a:r>
            <a:r>
              <a:rPr lang="en-US" sz="1200" dirty="0"/>
              <a:t> Kuang, Bing Liu, and Pan Zhang. Efficient quantum circuit simulation by tensor network methods on modern </a:t>
            </a:r>
            <a:r>
              <a:rPr lang="en-US" sz="1200" dirty="0" err="1"/>
              <a:t>gpus</a:t>
            </a:r>
            <a:r>
              <a:rPr lang="en-US" sz="1200" dirty="0"/>
              <a:t>. ACM Transactions on Quantum Computing, 5(4), November 2024. </a:t>
            </a:r>
          </a:p>
          <a:p>
            <a:r>
              <a:rPr lang="en-US" sz="1200" dirty="0"/>
              <a:t>[6] Thomas </a:t>
            </a:r>
            <a:r>
              <a:rPr lang="en-US" sz="1200" dirty="0" err="1"/>
              <a:t>Grurl</a:t>
            </a:r>
            <a:r>
              <a:rPr lang="en-US" sz="1200" dirty="0"/>
              <a:t> and et al. Arrays vs. Decision Diagrams: A Case Study on Quantum Circuit Simulators. In 2020 IEEE 50th International Symposium on Multiple-Valued Logic (ISMVL), pages 176–181, 2020. </a:t>
            </a:r>
          </a:p>
        </p:txBody>
      </p:sp>
      <p:sp>
        <p:nvSpPr>
          <p:cNvPr id="10" name="Rectangle 9">
            <a:extLst>
              <a:ext uri="{FF2B5EF4-FFF2-40B4-BE49-F238E27FC236}">
                <a16:creationId xmlns:a16="http://schemas.microsoft.com/office/drawing/2014/main" id="{62D538AA-9EAD-1534-D2DB-5100E3AE0181}"/>
              </a:ext>
            </a:extLst>
          </p:cNvPr>
          <p:cNvSpPr/>
          <p:nvPr/>
        </p:nvSpPr>
        <p:spPr>
          <a:xfrm>
            <a:off x="6775806" y="1577878"/>
            <a:ext cx="4911047" cy="2870832"/>
          </a:xfrm>
          <a:prstGeom prst="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17D28CA-14CF-0774-4C80-7056656C7F8A}"/>
              </a:ext>
            </a:extLst>
          </p:cNvPr>
          <p:cNvSpPr txBox="1"/>
          <p:nvPr/>
        </p:nvSpPr>
        <p:spPr>
          <a:xfrm>
            <a:off x="6775806" y="4536261"/>
            <a:ext cx="4750942" cy="707886"/>
          </a:xfrm>
          <a:prstGeom prst="rect">
            <a:avLst/>
          </a:prstGeom>
          <a:noFill/>
        </p:spPr>
        <p:txBody>
          <a:bodyPr wrap="square" rtlCol="0">
            <a:spAutoFit/>
          </a:bodyPr>
          <a:lstStyle/>
          <a:p>
            <a:r>
              <a:rPr lang="en-US" sz="2000" dirty="0">
                <a:solidFill>
                  <a:srgbClr val="FF0000"/>
                </a:solidFill>
              </a:rPr>
              <a:t>All related works are only focus on one of these aspects!</a:t>
            </a:r>
          </a:p>
        </p:txBody>
      </p:sp>
      <p:sp>
        <p:nvSpPr>
          <p:cNvPr id="12" name="TextBox 11">
            <a:extLst>
              <a:ext uri="{FF2B5EF4-FFF2-40B4-BE49-F238E27FC236}">
                <a16:creationId xmlns:a16="http://schemas.microsoft.com/office/drawing/2014/main" id="{B4932F5E-9ABA-EFD5-D7B8-C05CF4CB702F}"/>
              </a:ext>
            </a:extLst>
          </p:cNvPr>
          <p:cNvSpPr txBox="1"/>
          <p:nvPr/>
        </p:nvSpPr>
        <p:spPr>
          <a:xfrm>
            <a:off x="732889" y="891772"/>
            <a:ext cx="8986464" cy="400110"/>
          </a:xfrm>
          <a:prstGeom prst="rect">
            <a:avLst/>
          </a:prstGeom>
          <a:noFill/>
        </p:spPr>
        <p:txBody>
          <a:bodyPr wrap="square">
            <a:spAutoFit/>
          </a:bodyPr>
          <a:lstStyle/>
          <a:p>
            <a:pPr>
              <a:defRPr/>
            </a:pPr>
            <a:r>
              <a:rPr kumimoji="1" lang="en-US" altLang="ja-JP" sz="2000" b="1" dirty="0">
                <a:solidFill>
                  <a:srgbClr val="FF0000"/>
                </a:solidFill>
                <a:latin typeface="Arial" panose="020B0604020202020204" pitchFamily="34" charset="0"/>
                <a:cs typeface="Arial" panose="020B0604020202020204" pitchFamily="34" charset="0"/>
              </a:rPr>
              <a:t>Table 1.1.</a:t>
            </a:r>
            <a:r>
              <a:rPr kumimoji="1" lang="en-US" altLang="ja-JP" sz="2000" dirty="0">
                <a:latin typeface="Arial" panose="020B0604020202020204" pitchFamily="34" charset="0"/>
                <a:cs typeface="Arial" panose="020B0604020202020204" pitchFamily="34" charset="0"/>
              </a:rPr>
              <a:t> My research’s contribution.</a:t>
            </a:r>
            <a:endParaRPr kumimoji="1" lang="ja-JP"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8888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950F9-F77B-6B47-CE47-3CC15B1A6B20}"/>
              </a:ext>
            </a:extLst>
          </p:cNvPr>
          <p:cNvSpPr>
            <a:spLocks noGrp="1"/>
          </p:cNvSpPr>
          <p:nvPr>
            <p:ph type="title"/>
          </p:nvPr>
        </p:nvSpPr>
        <p:spPr/>
        <p:txBody>
          <a:bodyPr>
            <a:normAutofit/>
          </a:bodyPr>
          <a:lstStyle/>
          <a:p>
            <a:r>
              <a:rPr lang="en-US" sz="3200" dirty="0"/>
              <a:t>1.2. Quantum circuit model</a:t>
            </a:r>
          </a:p>
        </p:txBody>
      </p:sp>
      <p:sp>
        <p:nvSpPr>
          <p:cNvPr id="4" name="Slide Number Placeholder 3">
            <a:extLst>
              <a:ext uri="{FF2B5EF4-FFF2-40B4-BE49-F238E27FC236}">
                <a16:creationId xmlns:a16="http://schemas.microsoft.com/office/drawing/2014/main" id="{CB3C583E-2BCB-971A-00DF-62DF6CFEF676}"/>
              </a:ext>
            </a:extLst>
          </p:cNvPr>
          <p:cNvSpPr>
            <a:spLocks noGrp="1"/>
          </p:cNvSpPr>
          <p:nvPr>
            <p:ph type="sldNum" sz="quarter" idx="12"/>
          </p:nvPr>
        </p:nvSpPr>
        <p:spPr/>
        <p:txBody>
          <a:bodyPr/>
          <a:lstStyle/>
          <a:p>
            <a:fld id="{3C0C221A-CB66-4297-9A52-937C35126D0C}" type="slidenum">
              <a:rPr lang="en-US" smtClean="0"/>
              <a:t>5</a:t>
            </a:fld>
            <a:endParaRPr lang="en-US"/>
          </a:p>
        </p:txBody>
      </p:sp>
      <p:pic>
        <p:nvPicPr>
          <p:cNvPr id="83" name="Picture 82" descr="A white paper with blue squares and black text&#10;&#10;AI-generated content may be incorrect.">
            <a:extLst>
              <a:ext uri="{FF2B5EF4-FFF2-40B4-BE49-F238E27FC236}">
                <a16:creationId xmlns:a16="http://schemas.microsoft.com/office/drawing/2014/main" id="{BB475175-48B8-9BFF-2114-09F3EB6F99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8967" y="1498364"/>
            <a:ext cx="7062888" cy="2743436"/>
          </a:xfrm>
          <a:prstGeom prst="rect">
            <a:avLst/>
          </a:prstGeom>
        </p:spPr>
      </p:pic>
      <p:cxnSp>
        <p:nvCxnSpPr>
          <p:cNvPr id="84" name="Straight Arrow Connector 83">
            <a:extLst>
              <a:ext uri="{FF2B5EF4-FFF2-40B4-BE49-F238E27FC236}">
                <a16:creationId xmlns:a16="http://schemas.microsoft.com/office/drawing/2014/main" id="{F52F4758-C089-4654-650C-D75F0DD2A95D}"/>
              </a:ext>
            </a:extLst>
          </p:cNvPr>
          <p:cNvCxnSpPr>
            <a:cxnSpLocks/>
            <a:stCxn id="85" idx="0"/>
          </p:cNvCxnSpPr>
          <p:nvPr/>
        </p:nvCxnSpPr>
        <p:spPr>
          <a:xfrm flipV="1">
            <a:off x="3315424" y="4146550"/>
            <a:ext cx="0" cy="36362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8557FADF-6BF2-3A70-A3C6-4018CDEA7359}"/>
              </a:ext>
            </a:extLst>
          </p:cNvPr>
          <p:cNvSpPr txBox="1"/>
          <p:nvPr/>
        </p:nvSpPr>
        <p:spPr>
          <a:xfrm>
            <a:off x="1943823" y="4510179"/>
            <a:ext cx="2743201" cy="523220"/>
          </a:xfrm>
          <a:prstGeom prst="rect">
            <a:avLst/>
          </a:prstGeom>
          <a:noFill/>
        </p:spPr>
        <p:txBody>
          <a:bodyPr wrap="square" rtlCol="0">
            <a:spAutoFit/>
          </a:bodyPr>
          <a:lstStyle/>
          <a:p>
            <a:r>
              <a:rPr lang="en-VN" sz="2800" dirty="0">
                <a:solidFill>
                  <a:srgbClr val="FF0000"/>
                </a:solidFill>
              </a:rPr>
              <a:t>Circuit/Operator</a:t>
            </a:r>
          </a:p>
        </p:txBody>
      </p:sp>
      <p:cxnSp>
        <p:nvCxnSpPr>
          <p:cNvPr id="86" name="Straight Arrow Connector 85">
            <a:extLst>
              <a:ext uri="{FF2B5EF4-FFF2-40B4-BE49-F238E27FC236}">
                <a16:creationId xmlns:a16="http://schemas.microsoft.com/office/drawing/2014/main" id="{A9939EF5-995F-3AF8-9A2D-0AD6524736D5}"/>
              </a:ext>
            </a:extLst>
          </p:cNvPr>
          <p:cNvCxnSpPr>
            <a:cxnSpLocks/>
            <a:stCxn id="87" idx="0"/>
          </p:cNvCxnSpPr>
          <p:nvPr/>
        </p:nvCxnSpPr>
        <p:spPr>
          <a:xfrm flipV="1">
            <a:off x="7233215" y="4146550"/>
            <a:ext cx="0" cy="36362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B15731C6-677B-1C70-B2B0-FC9B45C2A36D}"/>
              </a:ext>
            </a:extLst>
          </p:cNvPr>
          <p:cNvSpPr txBox="1"/>
          <p:nvPr/>
        </p:nvSpPr>
        <p:spPr>
          <a:xfrm>
            <a:off x="6442761" y="4510179"/>
            <a:ext cx="1580907" cy="523220"/>
          </a:xfrm>
          <a:prstGeom prst="rect">
            <a:avLst/>
          </a:prstGeom>
          <a:noFill/>
        </p:spPr>
        <p:txBody>
          <a:bodyPr wrap="square" rtlCol="0">
            <a:spAutoFit/>
          </a:bodyPr>
          <a:lstStyle/>
          <a:p>
            <a:r>
              <a:rPr lang="en-VN" sz="2800" dirty="0">
                <a:solidFill>
                  <a:srgbClr val="FF0000"/>
                </a:solidFill>
              </a:rPr>
              <a:t>Decoder</a:t>
            </a:r>
          </a:p>
        </p:txBody>
      </p:sp>
      <p:cxnSp>
        <p:nvCxnSpPr>
          <p:cNvPr id="94" name="Straight Arrow Connector 93">
            <a:extLst>
              <a:ext uri="{FF2B5EF4-FFF2-40B4-BE49-F238E27FC236}">
                <a16:creationId xmlns:a16="http://schemas.microsoft.com/office/drawing/2014/main" id="{6DBAAAA0-56DD-9FDA-14FC-623010445188}"/>
              </a:ext>
            </a:extLst>
          </p:cNvPr>
          <p:cNvCxnSpPr>
            <a:cxnSpLocks/>
            <a:stCxn id="95" idx="0"/>
          </p:cNvCxnSpPr>
          <p:nvPr/>
        </p:nvCxnSpPr>
        <p:spPr>
          <a:xfrm flipV="1">
            <a:off x="1213734" y="4146550"/>
            <a:ext cx="0" cy="36362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BE66AD93-6F76-63C1-942A-AA262D3DFE16}"/>
              </a:ext>
            </a:extLst>
          </p:cNvPr>
          <p:cNvSpPr txBox="1"/>
          <p:nvPr/>
        </p:nvSpPr>
        <p:spPr>
          <a:xfrm>
            <a:off x="423280" y="4510179"/>
            <a:ext cx="1580907" cy="523220"/>
          </a:xfrm>
          <a:prstGeom prst="rect">
            <a:avLst/>
          </a:prstGeom>
          <a:noFill/>
        </p:spPr>
        <p:txBody>
          <a:bodyPr wrap="square" rtlCol="0">
            <a:spAutoFit/>
          </a:bodyPr>
          <a:lstStyle/>
          <a:p>
            <a:pPr algn="ctr"/>
            <a:r>
              <a:rPr lang="en-US" sz="2800" dirty="0">
                <a:solidFill>
                  <a:srgbClr val="FF0000"/>
                </a:solidFill>
              </a:rPr>
              <a:t>Init state</a:t>
            </a:r>
            <a:endParaRPr lang="en-VN" sz="2800" dirty="0">
              <a:solidFill>
                <a:srgbClr val="FF0000"/>
              </a:solidFill>
            </a:endParaRPr>
          </a:p>
        </p:txBody>
      </p:sp>
      <mc:AlternateContent xmlns:mc="http://schemas.openxmlformats.org/markup-compatibility/2006" xmlns:a14="http://schemas.microsoft.com/office/drawing/2010/main">
        <mc:Choice Requires="a14">
          <p:sp>
            <p:nvSpPr>
              <p:cNvPr id="97" name="Content Placeholder 2">
                <a:extLst>
                  <a:ext uri="{FF2B5EF4-FFF2-40B4-BE49-F238E27FC236}">
                    <a16:creationId xmlns:a16="http://schemas.microsoft.com/office/drawing/2014/main" id="{31D736B0-5CB2-8586-4146-46B5FE3C9277}"/>
                  </a:ext>
                </a:extLst>
              </p:cNvPr>
              <p:cNvSpPr>
                <a:spLocks noGrp="1"/>
              </p:cNvSpPr>
              <p:nvPr>
                <p:ph idx="1"/>
              </p:nvPr>
            </p:nvSpPr>
            <p:spPr>
              <a:xfrm>
                <a:off x="728967" y="5033399"/>
                <a:ext cx="5869417" cy="369332"/>
              </a:xfrm>
            </p:spPr>
            <p:txBody>
              <a:bodyPr>
                <a:noAutofit/>
              </a:bodyPr>
              <a:lstStyle/>
              <a:p>
                <a:pPr marL="0" indent="0" algn="just">
                  <a:buNone/>
                </a:pPr>
                <a:r>
                  <a:rPr lang="en-US" sz="1800" b="1" dirty="0">
                    <a:solidFill>
                      <a:srgbClr val="FF0000"/>
                    </a:solidFill>
                  </a:rPr>
                  <a:t>Figure 1.1</a:t>
                </a:r>
                <a:r>
                  <a:rPr lang="en-US" sz="1800" dirty="0"/>
                  <a:t>. A </a:t>
                </a:r>
                <a14:m>
                  <m:oMath xmlns:m="http://schemas.openxmlformats.org/officeDocument/2006/math">
                    <m:r>
                      <a:rPr lang="en-US" sz="1800" i="1" dirty="0">
                        <a:latin typeface="Cambria Math" panose="02040503050406030204" pitchFamily="18" charset="0"/>
                      </a:rPr>
                      <m:t>𝑛</m:t>
                    </m:r>
                  </m:oMath>
                </a14:m>
                <a:r>
                  <a:rPr lang="en-US" sz="1800" dirty="0"/>
                  <a:t> – qubit quantum circuit.</a:t>
                </a:r>
              </a:p>
            </p:txBody>
          </p:sp>
        </mc:Choice>
        <mc:Fallback xmlns="">
          <p:sp>
            <p:nvSpPr>
              <p:cNvPr id="97" name="Content Placeholder 2">
                <a:extLst>
                  <a:ext uri="{FF2B5EF4-FFF2-40B4-BE49-F238E27FC236}">
                    <a16:creationId xmlns:a16="http://schemas.microsoft.com/office/drawing/2014/main" id="{31D736B0-5CB2-8586-4146-46B5FE3C9277}"/>
                  </a:ext>
                </a:extLst>
              </p:cNvPr>
              <p:cNvSpPr>
                <a:spLocks noGrp="1" noRot="1" noChangeAspect="1" noMove="1" noResize="1" noEditPoints="1" noAdjustHandles="1" noChangeArrowheads="1" noChangeShapeType="1" noTextEdit="1"/>
              </p:cNvSpPr>
              <p:nvPr>
                <p:ph idx="1"/>
              </p:nvPr>
            </p:nvSpPr>
            <p:spPr>
              <a:xfrm>
                <a:off x="728967" y="5033399"/>
                <a:ext cx="5869417" cy="369332"/>
              </a:xfrm>
              <a:blipFill>
                <a:blip r:embed="rId4"/>
                <a:stretch>
                  <a:fillRect l="-936" t="-16667"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AF23AA14-06F5-CEAD-34C3-2ABFB5C59375}"/>
                  </a:ext>
                </a:extLst>
              </p:cNvPr>
              <p:cNvSpPr txBox="1"/>
              <p:nvPr/>
            </p:nvSpPr>
            <p:spPr>
              <a:xfrm>
                <a:off x="728967" y="5402731"/>
                <a:ext cx="6891033" cy="734240"/>
              </a:xfrm>
              <a:prstGeom prst="rect">
                <a:avLst/>
              </a:prstGeom>
              <a:noFill/>
            </p:spPr>
            <p:txBody>
              <a:bodyPr wrap="square" rtlCol="0">
                <a:spAutoFit/>
              </a:bodyPr>
              <a:lstStyle/>
              <a:p>
                <a:r>
                  <a:rPr lang="en-US" sz="2000" dirty="0"/>
                  <a:t>A quantum gate (gate) </a:t>
                </a:r>
                <a14:m>
                  <m:oMath xmlns:m="http://schemas.openxmlformats.org/officeDocument/2006/math">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𝑤</m:t>
                        </m:r>
                        <m:r>
                          <a:rPr lang="en-US" sz="2000" b="0" i="1" smtClean="0">
                            <a:latin typeface="Cambria Math" panose="02040503050406030204" pitchFamily="18" charset="0"/>
                          </a:rPr>
                          <m:t>,</m:t>
                        </m:r>
                        <m:r>
                          <a:rPr lang="en-US" sz="2000" b="0" i="1" smtClean="0">
                            <a:latin typeface="Cambria Math" panose="02040503050406030204" pitchFamily="18" charset="0"/>
                          </a:rPr>
                          <m:t>𝜃</m:t>
                        </m:r>
                      </m:e>
                    </m:d>
                  </m:oMath>
                </a14:m>
                <a:r>
                  <a:rPr lang="en-US" sz="2000" dirty="0"/>
                  <a:t> act on single wire (1-qubit) or multiple wires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2</m:t>
                        </m:r>
                      </m:e>
                      <m:sup>
                        <m:r>
                          <a:rPr lang="en-US" sz="2000" b="0" i="1" smtClean="0">
                            <a:latin typeface="Cambria Math" panose="02040503050406030204" pitchFamily="18" charset="0"/>
                          </a:rPr>
                          <m:t>+</m:t>
                        </m:r>
                      </m:sup>
                    </m:sSup>
                  </m:oMath>
                </a14:m>
                <a:r>
                  <a:rPr lang="en-US" sz="2000" dirty="0"/>
                  <a:t>-qubit) </a:t>
                </a:r>
                <a14:m>
                  <m:oMath xmlns:m="http://schemas.openxmlformats.org/officeDocument/2006/math">
                    <m:r>
                      <a:rPr lang="en-US" sz="2000" b="0" i="1" smtClean="0">
                        <a:latin typeface="Cambria Math" panose="02040503050406030204" pitchFamily="18" charset="0"/>
                      </a:rPr>
                      <m:t>𝑤</m:t>
                    </m:r>
                  </m:oMath>
                </a14:m>
                <a:r>
                  <a:rPr lang="en-US" sz="2000" dirty="0"/>
                  <a:t> with parameter </a:t>
                </a:r>
                <a14:m>
                  <m:oMath xmlns:m="http://schemas.openxmlformats.org/officeDocument/2006/math">
                    <m:r>
                      <a:rPr lang="en-US" sz="2000" i="1">
                        <a:latin typeface="Cambria Math" panose="02040503050406030204" pitchFamily="18" charset="0"/>
                      </a:rPr>
                      <m:t>𝜃</m:t>
                    </m:r>
                  </m:oMath>
                </a14:m>
                <a:r>
                  <a:rPr lang="en-US" sz="2000" dirty="0"/>
                  <a:t> (if applicable).</a:t>
                </a:r>
                <a:endParaRPr lang="en-VN" sz="2000" dirty="0"/>
              </a:p>
            </p:txBody>
          </p:sp>
        </mc:Choice>
        <mc:Fallback xmlns="">
          <p:sp>
            <p:nvSpPr>
              <p:cNvPr id="98" name="TextBox 97">
                <a:extLst>
                  <a:ext uri="{FF2B5EF4-FFF2-40B4-BE49-F238E27FC236}">
                    <a16:creationId xmlns:a16="http://schemas.microsoft.com/office/drawing/2014/main" id="{AF23AA14-06F5-CEAD-34C3-2ABFB5C59375}"/>
                  </a:ext>
                </a:extLst>
              </p:cNvPr>
              <p:cNvSpPr txBox="1">
                <a:spLocks noRot="1" noChangeAspect="1" noMove="1" noResize="1" noEditPoints="1" noAdjustHandles="1" noChangeArrowheads="1" noChangeShapeType="1" noTextEdit="1"/>
              </p:cNvSpPr>
              <p:nvPr/>
            </p:nvSpPr>
            <p:spPr>
              <a:xfrm>
                <a:off x="728967" y="5402731"/>
                <a:ext cx="6891033" cy="734240"/>
              </a:xfrm>
              <a:prstGeom prst="rect">
                <a:avLst/>
              </a:prstGeom>
              <a:blipFill>
                <a:blip r:embed="rId5"/>
                <a:stretch>
                  <a:fillRect l="-921" t="-3390" b="-11864"/>
                </a:stretch>
              </a:blipFill>
            </p:spPr>
            <p:txBody>
              <a:bodyPr/>
              <a:lstStyle/>
              <a:p>
                <a:r>
                  <a:rPr lang="en-VN">
                    <a:noFill/>
                  </a:rPr>
                  <a:t> </a:t>
                </a:r>
              </a:p>
            </p:txBody>
          </p:sp>
        </mc:Fallback>
      </mc:AlternateContent>
      <p:sp>
        <p:nvSpPr>
          <p:cNvPr id="99" name="Rectangle 98">
            <a:extLst>
              <a:ext uri="{FF2B5EF4-FFF2-40B4-BE49-F238E27FC236}">
                <a16:creationId xmlns:a16="http://schemas.microsoft.com/office/drawing/2014/main" id="{049E1749-B92C-7A47-414E-1D4835DE7DFE}"/>
              </a:ext>
            </a:extLst>
          </p:cNvPr>
          <p:cNvSpPr/>
          <p:nvPr/>
        </p:nvSpPr>
        <p:spPr>
          <a:xfrm>
            <a:off x="885433" y="1621658"/>
            <a:ext cx="632214" cy="2524892"/>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0" name="Straight Arrow Connector 99">
            <a:extLst>
              <a:ext uri="{FF2B5EF4-FFF2-40B4-BE49-F238E27FC236}">
                <a16:creationId xmlns:a16="http://schemas.microsoft.com/office/drawing/2014/main" id="{B4C96566-A22F-5269-E44C-21BBCFB0276C}"/>
              </a:ext>
            </a:extLst>
          </p:cNvPr>
          <p:cNvCxnSpPr>
            <a:cxnSpLocks/>
            <a:stCxn id="101" idx="0"/>
          </p:cNvCxnSpPr>
          <p:nvPr/>
        </p:nvCxnSpPr>
        <p:spPr>
          <a:xfrm flipV="1">
            <a:off x="5412613" y="4140200"/>
            <a:ext cx="0" cy="36362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9AD3268B-2A61-669B-7B34-FDE3D639B06F}"/>
              </a:ext>
            </a:extLst>
          </p:cNvPr>
          <p:cNvSpPr txBox="1"/>
          <p:nvPr/>
        </p:nvSpPr>
        <p:spPr>
          <a:xfrm>
            <a:off x="4622159" y="4503829"/>
            <a:ext cx="1580907" cy="523220"/>
          </a:xfrm>
          <a:prstGeom prst="rect">
            <a:avLst/>
          </a:prstGeom>
          <a:noFill/>
        </p:spPr>
        <p:txBody>
          <a:bodyPr wrap="square" rtlCol="0">
            <a:spAutoFit/>
          </a:bodyPr>
          <a:lstStyle/>
          <a:p>
            <a:pPr algn="ctr"/>
            <a:r>
              <a:rPr lang="en-US" sz="2800" dirty="0">
                <a:solidFill>
                  <a:srgbClr val="FF0000"/>
                </a:solidFill>
              </a:rPr>
              <a:t>Gate</a:t>
            </a:r>
            <a:endParaRPr lang="en-VN" sz="2800" dirty="0">
              <a:solidFill>
                <a:srgbClr val="FF0000"/>
              </a:solidFill>
            </a:endParaRPr>
          </a:p>
        </p:txBody>
      </p:sp>
      <p:sp>
        <p:nvSpPr>
          <p:cNvPr id="102" name="Rectangle 101">
            <a:extLst>
              <a:ext uri="{FF2B5EF4-FFF2-40B4-BE49-F238E27FC236}">
                <a16:creationId xmlns:a16="http://schemas.microsoft.com/office/drawing/2014/main" id="{5F3C4E0C-756E-558F-4259-D7DF28398639}"/>
              </a:ext>
            </a:extLst>
          </p:cNvPr>
          <p:cNvSpPr/>
          <p:nvPr/>
        </p:nvSpPr>
        <p:spPr>
          <a:xfrm>
            <a:off x="6829032" y="1511326"/>
            <a:ext cx="771911" cy="2743173"/>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a:extLst>
              <a:ext uri="{FF2B5EF4-FFF2-40B4-BE49-F238E27FC236}">
                <a16:creationId xmlns:a16="http://schemas.microsoft.com/office/drawing/2014/main" id="{B088A428-9CAD-C857-7078-28888158088B}"/>
              </a:ext>
            </a:extLst>
          </p:cNvPr>
          <p:cNvSpPr txBox="1"/>
          <p:nvPr/>
        </p:nvSpPr>
        <p:spPr>
          <a:xfrm>
            <a:off x="709910" y="6075831"/>
            <a:ext cx="6891033" cy="400110"/>
          </a:xfrm>
          <a:prstGeom prst="rect">
            <a:avLst/>
          </a:prstGeom>
          <a:noFill/>
        </p:spPr>
        <p:txBody>
          <a:bodyPr wrap="square" rtlCol="0">
            <a:spAutoFit/>
          </a:bodyPr>
          <a:lstStyle/>
          <a:p>
            <a:r>
              <a:rPr lang="en-US" sz="2000" dirty="0"/>
              <a:t>Decoder (Observable) return the measurement values. </a:t>
            </a:r>
            <a:endParaRPr lang="en-VN" sz="2000" dirty="0"/>
          </a:p>
        </p:txBody>
      </p:sp>
    </p:spTree>
    <p:extLst>
      <p:ext uri="{BB962C8B-B14F-4D97-AF65-F5344CB8AC3E}">
        <p14:creationId xmlns:p14="http://schemas.microsoft.com/office/powerpoint/2010/main" val="2289127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01967-6DAB-FCF8-45CF-36F4C1E6C286}"/>
              </a:ext>
            </a:extLst>
          </p:cNvPr>
          <p:cNvSpPr>
            <a:spLocks noGrp="1"/>
          </p:cNvSpPr>
          <p:nvPr>
            <p:ph type="title"/>
          </p:nvPr>
        </p:nvSpPr>
        <p:spPr/>
        <p:txBody>
          <a:bodyPr>
            <a:normAutofit/>
          </a:bodyPr>
          <a:lstStyle/>
          <a:p>
            <a:r>
              <a:rPr lang="en-US" sz="3200" dirty="0"/>
              <a:t>1.3. Representation of state &amp; gate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7F6365-A6A1-F53A-3A7F-14801FA12829}"/>
                  </a:ext>
                </a:extLst>
              </p:cNvPr>
              <p:cNvSpPr>
                <a:spLocks noGrp="1"/>
              </p:cNvSpPr>
              <p:nvPr>
                <p:ph idx="1"/>
              </p:nvPr>
            </p:nvSpPr>
            <p:spPr>
              <a:xfrm>
                <a:off x="838200" y="1342299"/>
                <a:ext cx="5603697" cy="1545881"/>
              </a:xfrm>
            </p:spPr>
            <p:txBody>
              <a:bodyPr>
                <a:normAutofit/>
              </a:bodyPr>
              <a:lstStyle/>
              <a:p>
                <a:pPr marL="0" indent="0">
                  <a:buNone/>
                </a:pPr>
                <a:r>
                  <a:rPr lang="en-US" sz="2000" dirty="0"/>
                  <a:t>A </a:t>
                </a:r>
                <a14:m>
                  <m:oMath xmlns:m="http://schemas.openxmlformats.org/officeDocument/2006/math">
                    <m:r>
                      <a:rPr lang="en-US" sz="2000" b="0" i="1" smtClean="0">
                        <a:latin typeface="Cambria Math" panose="02040503050406030204" pitchFamily="18" charset="0"/>
                      </a:rPr>
                      <m:t>𝑛</m:t>
                    </m:r>
                  </m:oMath>
                </a14:m>
                <a:r>
                  <a:rPr lang="en-US" sz="2000" dirty="0"/>
                  <a:t> – qubit quantum state can be in the form:</a:t>
                </a:r>
              </a:p>
              <a:p>
                <a:pPr marL="457200" lvl="1" indent="0">
                  <a:buNone/>
                </a:pPr>
                <a14:m>
                  <m:oMath xmlns:m="http://schemas.openxmlformats.org/officeDocument/2006/math">
                    <m:d>
                      <m:dPr>
                        <m:begChr m:val="|"/>
                        <m:endChr m:val="⟩"/>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𝜓</m:t>
                            </m:r>
                          </m:e>
                          <m: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sup>
                        </m:sSup>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m>
                          <m:mPr>
                            <m:mcs>
                              <m:mc>
                                <m:mcPr>
                                  <m:count m:val="1"/>
                                  <m:mcJc m:val="center"/>
                                </m:mcPr>
                              </m:mc>
                            </m:mcs>
                            <m:ctrlPr>
                              <a:rPr lang="en-US" sz="2000" i="1">
                                <a:latin typeface="Cambria Math" panose="02040503050406030204" pitchFamily="18" charset="0"/>
                              </a:rPr>
                            </m:ctrlPr>
                          </m:mPr>
                          <m:mr>
                            <m:e>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𝛼</m:t>
                                  </m:r>
                                </m:e>
                                <m:sub>
                                  <m:r>
                                    <a:rPr lang="en-US" sz="2000" b="0" i="1" smtClean="0">
                                      <a:latin typeface="Cambria Math" panose="02040503050406030204" pitchFamily="18" charset="0"/>
                                    </a:rPr>
                                    <m:t>0</m:t>
                                  </m:r>
                                </m:sub>
                                <m:sup>
                                  <m:d>
                                    <m:dPr>
                                      <m:ctrlPr>
                                        <a:rPr lang="en-US" sz="2000" i="1">
                                          <a:latin typeface="Cambria Math" panose="02040503050406030204" pitchFamily="18" charset="0"/>
                                        </a:rPr>
                                      </m:ctrlPr>
                                    </m:dPr>
                                    <m:e>
                                      <m:r>
                                        <a:rPr lang="en-US" sz="2000" i="1">
                                          <a:latin typeface="Cambria Math" panose="02040503050406030204" pitchFamily="18" charset="0"/>
                                        </a:rPr>
                                        <m:t>𝑡</m:t>
                                      </m:r>
                                    </m:e>
                                  </m:d>
                                </m:sup>
                              </m:sSubSup>
                            </m:e>
                          </m:mr>
                          <m:mr>
                            <m:e>
                              <m:r>
                                <a:rPr lang="en-US" sz="2000" i="1" smtClean="0">
                                  <a:latin typeface="Cambria Math" panose="02040503050406030204" pitchFamily="18" charset="0"/>
                                  <a:ea typeface="Cambria Math" panose="02040503050406030204" pitchFamily="18" charset="0"/>
                                </a:rPr>
                                <m:t>⋮</m:t>
                              </m:r>
                            </m:e>
                          </m:mr>
                          <m:mr>
                            <m:e>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𝛼</m:t>
                                  </m:r>
                                </m:e>
                                <m:sub>
                                  <m:r>
                                    <a:rPr lang="en-US" sz="2000" b="0" i="1" smtClean="0">
                                      <a:latin typeface="Cambria Math" panose="02040503050406030204" pitchFamily="18" charset="0"/>
                                    </a:rPr>
                                    <m:t>𝑁</m:t>
                                  </m:r>
                                  <m:r>
                                    <a:rPr lang="en-US" sz="2000" b="0" i="1" smtClean="0">
                                      <a:latin typeface="Cambria Math" panose="02040503050406030204" pitchFamily="18" charset="0"/>
                                    </a:rPr>
                                    <m:t>−1</m:t>
                                  </m:r>
                                </m:sub>
                                <m:sup>
                                  <m:d>
                                    <m:dPr>
                                      <m:ctrlPr>
                                        <a:rPr lang="en-US" sz="2000" i="1">
                                          <a:latin typeface="Cambria Math" panose="02040503050406030204" pitchFamily="18" charset="0"/>
                                        </a:rPr>
                                      </m:ctrlPr>
                                    </m:dPr>
                                    <m:e>
                                      <m:r>
                                        <a:rPr lang="en-US" sz="2000" i="1">
                                          <a:latin typeface="Cambria Math" panose="02040503050406030204" pitchFamily="18" charset="0"/>
                                        </a:rPr>
                                        <m:t>𝑡</m:t>
                                      </m:r>
                                    </m:e>
                                  </m:d>
                                </m:sup>
                              </m:sSubSup>
                            </m:e>
                          </m:mr>
                        </m:m>
                      </m:e>
                    </m:d>
                  </m:oMath>
                </a14:m>
                <a:r>
                  <a:rPr lang="en-US" sz="2000" dirty="0"/>
                  <a:t>  where </a:t>
                </a:r>
                <a14:m>
                  <m:oMath xmlns:m="http://schemas.openxmlformats.org/officeDocument/2006/math">
                    <m:r>
                      <a:rPr lang="en-US" sz="2000" b="0" i="1" smtClean="0">
                        <a:latin typeface="Cambria Math" panose="02040503050406030204" pitchFamily="18" charset="0"/>
                      </a:rPr>
                      <m:t>𝑁</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2</m:t>
                        </m:r>
                      </m:e>
                      <m:sup>
                        <m:r>
                          <a:rPr lang="en-US" sz="2000" b="0" i="1" smtClean="0">
                            <a:latin typeface="Cambria Math" panose="02040503050406030204" pitchFamily="18" charset="0"/>
                          </a:rPr>
                          <m:t>𝑛</m:t>
                        </m:r>
                      </m:sup>
                    </m:sSup>
                  </m:oMath>
                </a14:m>
                <a:r>
                  <a:rPr lang="en-US" sz="2000" dirty="0"/>
                  <a:t> and </a:t>
                </a:r>
                <a14:m>
                  <m:oMath xmlns:m="http://schemas.openxmlformats.org/officeDocument/2006/math">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𝛼</m:t>
                        </m:r>
                      </m:e>
                      <m:sub>
                        <m:r>
                          <a:rPr lang="en-US" sz="2000" b="0" i="1" smtClean="0">
                            <a:latin typeface="Cambria Math" panose="02040503050406030204" pitchFamily="18" charset="0"/>
                          </a:rPr>
                          <m:t>𝑗</m:t>
                        </m:r>
                      </m:sub>
                      <m:sup>
                        <m:d>
                          <m:dPr>
                            <m:ctrlPr>
                              <a:rPr lang="en-US" sz="2000" i="1">
                                <a:latin typeface="Cambria Math" panose="02040503050406030204" pitchFamily="18" charset="0"/>
                              </a:rPr>
                            </m:ctrlPr>
                          </m:dPr>
                          <m:e>
                            <m:r>
                              <a:rPr lang="en-US" sz="2000" i="1">
                                <a:latin typeface="Cambria Math" panose="02040503050406030204" pitchFamily="18" charset="0"/>
                              </a:rPr>
                              <m:t>𝑡</m:t>
                            </m:r>
                          </m:e>
                        </m:d>
                      </m:sup>
                    </m:sSubSup>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ℂ</m:t>
                    </m:r>
                  </m:oMath>
                </a14:m>
                <a:r>
                  <a:rPr lang="en-US" sz="2000" dirty="0"/>
                  <a:t> </a:t>
                </a:r>
              </a:p>
            </p:txBody>
          </p:sp>
        </mc:Choice>
        <mc:Fallback xmlns="">
          <p:sp>
            <p:nvSpPr>
              <p:cNvPr id="3" name="Content Placeholder 2">
                <a:extLst>
                  <a:ext uri="{FF2B5EF4-FFF2-40B4-BE49-F238E27FC236}">
                    <a16:creationId xmlns:a16="http://schemas.microsoft.com/office/drawing/2014/main" id="{AF7F6365-A6A1-F53A-3A7F-14801FA12829}"/>
                  </a:ext>
                </a:extLst>
              </p:cNvPr>
              <p:cNvSpPr>
                <a:spLocks noGrp="1" noRot="1" noChangeAspect="1" noMove="1" noResize="1" noEditPoints="1" noAdjustHandles="1" noChangeArrowheads="1" noChangeShapeType="1" noTextEdit="1"/>
              </p:cNvSpPr>
              <p:nvPr>
                <p:ph idx="1"/>
              </p:nvPr>
            </p:nvSpPr>
            <p:spPr>
              <a:xfrm>
                <a:off x="838200" y="1342299"/>
                <a:ext cx="5603697" cy="1545881"/>
              </a:xfrm>
              <a:blipFill>
                <a:blip r:embed="rId3"/>
                <a:stretch>
                  <a:fillRect l="-1357" t="-3252"/>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FA9173CE-5AF2-DEF6-8117-C2B6515361C4}"/>
              </a:ext>
            </a:extLst>
          </p:cNvPr>
          <p:cNvSpPr>
            <a:spLocks noGrp="1"/>
          </p:cNvSpPr>
          <p:nvPr>
            <p:ph type="sldNum" sz="quarter" idx="12"/>
          </p:nvPr>
        </p:nvSpPr>
        <p:spPr/>
        <p:txBody>
          <a:bodyPr/>
          <a:lstStyle/>
          <a:p>
            <a:fld id="{3C0C221A-CB66-4297-9A52-937C35126D0C}" type="slidenum">
              <a:rPr lang="en-US" smtClean="0"/>
              <a:t>6</a:t>
            </a:fld>
            <a:endParaRPr lang="en-US"/>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91182476-AA37-AC95-3300-450EDDAB95AB}"/>
                  </a:ext>
                </a:extLst>
              </p:cNvPr>
              <p:cNvGraphicFramePr>
                <a:graphicFrameLocks noGrp="1"/>
              </p:cNvGraphicFramePr>
              <p:nvPr/>
            </p:nvGraphicFramePr>
            <p:xfrm>
              <a:off x="838200" y="3498907"/>
              <a:ext cx="4519773" cy="544894"/>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1848615564"/>
                        </a:ext>
                      </a:extLst>
                    </a:gridCol>
                    <a:gridCol w="900273">
                      <a:extLst>
                        <a:ext uri="{9D8B030D-6E8A-4147-A177-3AD203B41FA5}">
                          <a16:colId xmlns:a16="http://schemas.microsoft.com/office/drawing/2014/main" val="1798586957"/>
                        </a:ext>
                      </a:extLst>
                    </a:gridCol>
                  </a:tblGrid>
                  <a:tr h="314624">
                    <a:tc>
                      <a:txBody>
                        <a:bodyPr/>
                        <a:lstStyle/>
                        <a:p>
                          <a:pPr marL="0" indent="0">
                            <a:buNone/>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𝑔</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𝑤</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𝜃</m:t>
                                    </m:r>
                                  </m:e>
                                </m:d>
                                <m:r>
                                  <a:rPr lang="en-US" sz="2000" b="0" i="1" smtClean="0">
                                    <a:solidFill>
                                      <a:schemeClr val="tx1"/>
                                    </a:solidFill>
                                    <a:latin typeface="Cambria Math" panose="02040503050406030204" pitchFamily="18" charset="0"/>
                                  </a:rPr>
                                  <m:t>:</m:t>
                                </m:r>
                                <m:d>
                                  <m:dPr>
                                    <m:begChr m:val="{"/>
                                    <m:endChr m:val="}"/>
                                    <m:ctrlPr>
                                      <a:rPr lang="en-US" sz="2000" i="1">
                                        <a:solidFill>
                                          <a:schemeClr val="tx1"/>
                                        </a:solidFill>
                                        <a:latin typeface="Cambria Math" panose="02040503050406030204" pitchFamily="18" charset="0"/>
                                      </a:rPr>
                                    </m:ctrlPr>
                                  </m:dPr>
                                  <m:e>
                                    <m:sSubSup>
                                      <m:sSubSupPr>
                                        <m:ctrlPr>
                                          <a:rPr lang="en-US" sz="2000" i="1">
                                            <a:solidFill>
                                              <a:schemeClr val="tx1"/>
                                            </a:solidFill>
                                            <a:latin typeface="Cambria Math" panose="02040503050406030204" pitchFamily="18" charset="0"/>
                                          </a:rPr>
                                        </m:ctrlPr>
                                      </m:sSubSupPr>
                                      <m:e>
                                        <m:r>
                                          <a:rPr lang="en-US" sz="2000" i="1">
                                            <a:solidFill>
                                              <a:schemeClr val="tx1"/>
                                            </a:solidFill>
                                            <a:latin typeface="Cambria Math" panose="02040503050406030204" pitchFamily="18" charset="0"/>
                                          </a:rPr>
                                          <m:t>𝛼</m:t>
                                        </m:r>
                                      </m:e>
                                      <m:sub>
                                        <m:r>
                                          <a:rPr lang="en-US" sz="2000" i="1">
                                            <a:solidFill>
                                              <a:schemeClr val="tx1"/>
                                            </a:solidFill>
                                            <a:latin typeface="Cambria Math" panose="02040503050406030204" pitchFamily="18" charset="0"/>
                                          </a:rPr>
                                          <m:t>𝑗</m:t>
                                        </m:r>
                                      </m:sub>
                                      <m:sup>
                                        <m:d>
                                          <m:dPr>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𝑡</m:t>
                                            </m:r>
                                          </m:e>
                                        </m:d>
                                      </m:sup>
                                    </m:sSubSup>
                                  </m:e>
                                </m:d>
                                <m:r>
                                  <a:rPr lang="en-US" sz="2000" b="0" i="0" smtClean="0">
                                    <a:solidFill>
                                      <a:schemeClr val="tx1"/>
                                    </a:solidFill>
                                    <a:latin typeface="Cambria Math" panose="02040503050406030204" pitchFamily="18" charset="0"/>
                                  </a:rPr>
                                  <m:t>→</m:t>
                                </m:r>
                                <m:d>
                                  <m:dPr>
                                    <m:begChr m:val="{"/>
                                    <m:endChr m:val="}"/>
                                    <m:ctrlPr>
                                      <a:rPr lang="en-US" sz="2000" i="1">
                                        <a:solidFill>
                                          <a:schemeClr val="tx1"/>
                                        </a:solidFill>
                                        <a:latin typeface="Cambria Math" panose="02040503050406030204" pitchFamily="18" charset="0"/>
                                      </a:rPr>
                                    </m:ctrlPr>
                                  </m:dPr>
                                  <m:e>
                                    <m:sSubSup>
                                      <m:sSubSupPr>
                                        <m:ctrlPr>
                                          <a:rPr lang="en-US" sz="2000" i="1">
                                            <a:solidFill>
                                              <a:schemeClr val="tx1"/>
                                            </a:solidFill>
                                            <a:latin typeface="Cambria Math" panose="02040503050406030204" pitchFamily="18" charset="0"/>
                                          </a:rPr>
                                        </m:ctrlPr>
                                      </m:sSubSupPr>
                                      <m:e>
                                        <m:r>
                                          <a:rPr lang="en-US" sz="2000" i="1">
                                            <a:solidFill>
                                              <a:schemeClr val="tx1"/>
                                            </a:solidFill>
                                            <a:latin typeface="Cambria Math" panose="02040503050406030204" pitchFamily="18" charset="0"/>
                                          </a:rPr>
                                          <m:t>𝛼</m:t>
                                        </m:r>
                                      </m:e>
                                      <m:sub>
                                        <m:r>
                                          <a:rPr lang="en-US" sz="2000" i="1">
                                            <a:solidFill>
                                              <a:schemeClr val="tx1"/>
                                            </a:solidFill>
                                            <a:latin typeface="Cambria Math" panose="02040503050406030204" pitchFamily="18" charset="0"/>
                                          </a:rPr>
                                          <m:t>𝑗</m:t>
                                        </m:r>
                                      </m:sub>
                                      <m:sup>
                                        <m:d>
                                          <m:dPr>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e>
                                        </m:d>
                                      </m:sup>
                                    </m:sSubSup>
                                  </m:e>
                                </m:d>
                              </m:oMath>
                            </m:oMathPara>
                          </a14:m>
                          <a:endParaRPr lang="en-US"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2000" b="0" dirty="0">
                              <a:solidFill>
                                <a:schemeClr val="tx1"/>
                              </a:solidFill>
                            </a:rPr>
                            <a:t>(1.1)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Choice>
        <mc:Fallback xmlns="">
          <p:graphicFrame>
            <p:nvGraphicFramePr>
              <p:cNvPr id="5" name="Table 4">
                <a:extLst>
                  <a:ext uri="{FF2B5EF4-FFF2-40B4-BE49-F238E27FC236}">
                    <a16:creationId xmlns:a16="http://schemas.microsoft.com/office/drawing/2014/main" id="{91182476-AA37-AC95-3300-450EDDAB95AB}"/>
                  </a:ext>
                </a:extLst>
              </p:cNvPr>
              <p:cNvGraphicFramePr>
                <a:graphicFrameLocks noGrp="1"/>
              </p:cNvGraphicFramePr>
              <p:nvPr>
                <p:extLst>
                  <p:ext uri="{D42A27DB-BD31-4B8C-83A1-F6EECF244321}">
                    <p14:modId xmlns:p14="http://schemas.microsoft.com/office/powerpoint/2010/main" val="3482652502"/>
                  </p:ext>
                </p:extLst>
              </p:nvPr>
            </p:nvGraphicFramePr>
            <p:xfrm>
              <a:off x="838200" y="3498907"/>
              <a:ext cx="4519773" cy="544894"/>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1848615564"/>
                        </a:ext>
                      </a:extLst>
                    </a:gridCol>
                    <a:gridCol w="900273">
                      <a:extLst>
                        <a:ext uri="{9D8B030D-6E8A-4147-A177-3AD203B41FA5}">
                          <a16:colId xmlns:a16="http://schemas.microsoft.com/office/drawing/2014/main" val="1798586957"/>
                        </a:ext>
                      </a:extLst>
                    </a:gridCol>
                  </a:tblGrid>
                  <a:tr h="544894">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r="-24916" b="-5495"/>
                          </a:stretch>
                        </a:blipFill>
                      </a:tcPr>
                    </a:tc>
                    <a:tc>
                      <a:txBody>
                        <a:bodyPr/>
                        <a:lstStyle/>
                        <a:p>
                          <a:pPr algn="r"/>
                          <a:r>
                            <a:rPr lang="en-US" sz="2000" b="0" dirty="0">
                              <a:solidFill>
                                <a:schemeClr val="tx1"/>
                              </a:solidFill>
                            </a:rPr>
                            <a:t>(1.1)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F29AD60-6F1B-2BA1-6A04-EC40BE6F8E46}"/>
                  </a:ext>
                </a:extLst>
              </p:cNvPr>
              <p:cNvSpPr txBox="1"/>
              <p:nvPr/>
            </p:nvSpPr>
            <p:spPr>
              <a:xfrm>
                <a:off x="838201" y="4089231"/>
                <a:ext cx="6199598" cy="400110"/>
              </a:xfrm>
              <a:prstGeom prst="rect">
                <a:avLst/>
              </a:prstGeom>
              <a:noFill/>
            </p:spPr>
            <p:txBody>
              <a:bodyPr wrap="square" rtlCol="0">
                <a:spAutoFit/>
              </a:bodyPr>
              <a:lstStyle/>
              <a:p>
                <a:r>
                  <a:rPr lang="en-US" sz="2000" dirty="0"/>
                  <a:t>where </a:t>
                </a:r>
                <a14:m>
                  <m:oMath xmlns:m="http://schemas.openxmlformats.org/officeDocument/2006/math">
                    <m:r>
                      <a:rPr lang="en-US" sz="2000" b="0" i="1" smtClean="0">
                        <a:latin typeface="Cambria Math" panose="02040503050406030204" pitchFamily="18" charset="0"/>
                      </a:rPr>
                      <m:t>𝑤</m:t>
                    </m:r>
                  </m:oMath>
                </a14:m>
                <a:r>
                  <a:rPr lang="en-US" sz="2000" dirty="0"/>
                  <a:t> and </a:t>
                </a:r>
                <a14:m>
                  <m:oMath xmlns:m="http://schemas.openxmlformats.org/officeDocument/2006/math">
                    <m:r>
                      <a:rPr lang="en-US" sz="2000" b="0" i="1" smtClean="0">
                        <a:latin typeface="Cambria Math" panose="02040503050406030204" pitchFamily="18" charset="0"/>
                      </a:rPr>
                      <m:t>𝜃</m:t>
                    </m:r>
                  </m:oMath>
                </a14:m>
                <a:r>
                  <a:rPr lang="en-US" sz="2000" dirty="0"/>
                  <a:t> are wires and parameter (if applicable).</a:t>
                </a:r>
              </a:p>
            </p:txBody>
          </p:sp>
        </mc:Choice>
        <mc:Fallback xmlns="">
          <p:sp>
            <p:nvSpPr>
              <p:cNvPr id="6" name="TextBox 5">
                <a:extLst>
                  <a:ext uri="{FF2B5EF4-FFF2-40B4-BE49-F238E27FC236}">
                    <a16:creationId xmlns:a16="http://schemas.microsoft.com/office/drawing/2014/main" id="{BF29AD60-6F1B-2BA1-6A04-EC40BE6F8E46}"/>
                  </a:ext>
                </a:extLst>
              </p:cNvPr>
              <p:cNvSpPr txBox="1">
                <a:spLocks noRot="1" noChangeAspect="1" noMove="1" noResize="1" noEditPoints="1" noAdjustHandles="1" noChangeArrowheads="1" noChangeShapeType="1" noTextEdit="1"/>
              </p:cNvSpPr>
              <p:nvPr/>
            </p:nvSpPr>
            <p:spPr>
              <a:xfrm>
                <a:off x="838201" y="4089231"/>
                <a:ext cx="6199598" cy="400110"/>
              </a:xfrm>
              <a:prstGeom prst="rect">
                <a:avLst/>
              </a:prstGeom>
              <a:blipFill>
                <a:blip r:embed="rId5"/>
                <a:stretch>
                  <a:fillRect l="-1230" t="-6250" b="-28125"/>
                </a:stretch>
              </a:blipFill>
            </p:spPr>
            <p:txBody>
              <a:bodyPr/>
              <a:lstStyle/>
              <a:p>
                <a:r>
                  <a:rPr lang="en-VN">
                    <a:noFill/>
                  </a:rPr>
                  <a:t> </a:t>
                </a:r>
              </a:p>
            </p:txBody>
          </p:sp>
        </mc:Fallback>
      </mc:AlternateContent>
      <p:sp>
        <p:nvSpPr>
          <p:cNvPr id="7" name="TextBox 6">
            <a:extLst>
              <a:ext uri="{FF2B5EF4-FFF2-40B4-BE49-F238E27FC236}">
                <a16:creationId xmlns:a16="http://schemas.microsoft.com/office/drawing/2014/main" id="{D645D380-5E49-5FC1-893B-5FC4A77F7395}"/>
              </a:ext>
            </a:extLst>
          </p:cNvPr>
          <p:cNvSpPr txBox="1"/>
          <p:nvPr/>
        </p:nvSpPr>
        <p:spPr>
          <a:xfrm>
            <a:off x="838201" y="4489341"/>
            <a:ext cx="5999252" cy="400110"/>
          </a:xfrm>
          <a:prstGeom prst="rect">
            <a:avLst/>
          </a:prstGeom>
          <a:noFill/>
        </p:spPr>
        <p:txBody>
          <a:bodyPr wrap="square" rtlCol="0">
            <a:spAutoFit/>
          </a:bodyPr>
          <a:lstStyle/>
          <a:p>
            <a:r>
              <a:rPr lang="en-US" sz="2000" dirty="0"/>
              <a:t>Our target is to compute the evolved (final) state:</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8484D538-63FA-2038-ACDA-CEFDB6C05633}"/>
                  </a:ext>
                </a:extLst>
              </p:cNvPr>
              <p:cNvGraphicFramePr>
                <a:graphicFrameLocks noGrp="1"/>
              </p:cNvGraphicFramePr>
              <p:nvPr/>
            </p:nvGraphicFramePr>
            <p:xfrm>
              <a:off x="838200" y="4927388"/>
              <a:ext cx="4519773" cy="441325"/>
            </p:xfrm>
            <a:graphic>
              <a:graphicData uri="http://schemas.openxmlformats.org/drawingml/2006/table">
                <a:tbl>
                  <a:tblPr firstRow="1" bandRow="1">
                    <a:tableStyleId>{5C22544A-7EE6-4342-B048-85BDC9FD1C3A}</a:tableStyleId>
                  </a:tblPr>
                  <a:tblGrid>
                    <a:gridCol w="3420438">
                      <a:extLst>
                        <a:ext uri="{9D8B030D-6E8A-4147-A177-3AD203B41FA5}">
                          <a16:colId xmlns:a16="http://schemas.microsoft.com/office/drawing/2014/main" val="1848615564"/>
                        </a:ext>
                      </a:extLst>
                    </a:gridCol>
                    <a:gridCol w="1099335">
                      <a:extLst>
                        <a:ext uri="{9D8B030D-6E8A-4147-A177-3AD203B41FA5}">
                          <a16:colId xmlns:a16="http://schemas.microsoft.com/office/drawing/2014/main" val="1798586957"/>
                        </a:ext>
                      </a:extLst>
                    </a:gridCol>
                  </a:tblGrid>
                  <a:tr h="314624">
                    <a:tc>
                      <a:txBody>
                        <a:bodyPr/>
                        <a:lstStyle/>
                        <a:p>
                          <a:pPr marL="0" indent="0">
                            <a:buNone/>
                          </a:pPr>
                          <a14:m>
                            <m:oMathPara xmlns:m="http://schemas.openxmlformats.org/officeDocument/2006/math">
                              <m:oMathParaPr>
                                <m:jc m:val="centerGroup"/>
                              </m:oMathParaPr>
                              <m:oMath xmlns:m="http://schemas.openxmlformats.org/officeDocument/2006/math">
                                <m:d>
                                  <m:dPr>
                                    <m:begChr m:val="|"/>
                                    <m:endChr m:val="⟩"/>
                                    <m:ctrlPr>
                                      <a:rPr lang="en-US" sz="2000" b="0" i="1" smtClean="0">
                                        <a:solidFill>
                                          <a:schemeClr val="tx1"/>
                                        </a:solidFill>
                                        <a:latin typeface="Cambria Math" panose="02040503050406030204" pitchFamily="18" charset="0"/>
                                      </a:rPr>
                                    </m:ctrlPr>
                                  </m:dPr>
                                  <m:e>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𝜓</m:t>
                                        </m:r>
                                      </m:e>
                                      <m:sup>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𝑚</m:t>
                                            </m:r>
                                          </m:e>
                                        </m:d>
                                      </m:sup>
                                    </m:sSup>
                                  </m:e>
                                </m:d>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𝑈</m:t>
                                </m:r>
                                <m:d>
                                  <m:dPr>
                                    <m:ctrlPr>
                                      <a:rPr lang="en-US" sz="2000" b="0" i="1" smtClean="0">
                                        <a:solidFill>
                                          <a:schemeClr val="tx1"/>
                                        </a:solidFill>
                                        <a:latin typeface="Cambria Math" panose="02040503050406030204" pitchFamily="18" charset="0"/>
                                      </a:rPr>
                                    </m:ctrlPr>
                                  </m:dPr>
                                  <m:e>
                                    <m:r>
                                      <a:rPr lang="en-US" sz="2000" b="1" i="1" smtClean="0">
                                        <a:solidFill>
                                          <a:schemeClr val="tx1"/>
                                        </a:solidFill>
                                        <a:latin typeface="Cambria Math" panose="02040503050406030204" pitchFamily="18" charset="0"/>
                                      </a:rPr>
                                      <m:t>𝜽</m:t>
                                    </m:r>
                                  </m:e>
                                </m:d>
                                <m:r>
                                  <a:rPr lang="en-US" sz="2000" b="0" i="1" smtClean="0">
                                    <a:solidFill>
                                      <a:schemeClr val="tx1"/>
                                    </a:solidFill>
                                    <a:latin typeface="Cambria Math" panose="02040503050406030204" pitchFamily="18" charset="0"/>
                                  </a:rPr>
                                  <m:t>|</m:t>
                                </m:r>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𝜓</m:t>
                                    </m:r>
                                  </m:e>
                                  <m:sup>
                                    <m:r>
                                      <a:rPr lang="en-US" sz="2000" b="0" i="1" smtClean="0">
                                        <a:solidFill>
                                          <a:schemeClr val="tx1"/>
                                        </a:solidFill>
                                        <a:latin typeface="Cambria Math" panose="02040503050406030204" pitchFamily="18" charset="0"/>
                                      </a:rPr>
                                      <m:t>(0)</m:t>
                                    </m:r>
                                  </m:sup>
                                </m:sSup>
                                <m:r>
                                  <a:rPr lang="en-US" sz="2000" b="0" i="1" smtClean="0">
                                    <a:solidFill>
                                      <a:schemeClr val="tx1"/>
                                    </a:solidFill>
                                    <a:latin typeface="Cambria Math" panose="02040503050406030204" pitchFamily="18" charset="0"/>
                                  </a:rPr>
                                  <m:t>⟩</m:t>
                                </m:r>
                              </m:oMath>
                            </m:oMathPara>
                          </a14:m>
                          <a:endParaRPr lang="en-US" sz="2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2000" b="0" dirty="0">
                              <a:solidFill>
                                <a:schemeClr val="tx1"/>
                              </a:solidFill>
                            </a:rPr>
                            <a:t>(1.2)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Choice>
        <mc:Fallback xmlns="">
          <p:graphicFrame>
            <p:nvGraphicFramePr>
              <p:cNvPr id="8" name="Table 7">
                <a:extLst>
                  <a:ext uri="{FF2B5EF4-FFF2-40B4-BE49-F238E27FC236}">
                    <a16:creationId xmlns:a16="http://schemas.microsoft.com/office/drawing/2014/main" id="{8484D538-63FA-2038-ACDA-CEFDB6C05633}"/>
                  </a:ext>
                </a:extLst>
              </p:cNvPr>
              <p:cNvGraphicFramePr>
                <a:graphicFrameLocks noGrp="1"/>
              </p:cNvGraphicFramePr>
              <p:nvPr>
                <p:extLst>
                  <p:ext uri="{D42A27DB-BD31-4B8C-83A1-F6EECF244321}">
                    <p14:modId xmlns:p14="http://schemas.microsoft.com/office/powerpoint/2010/main" val="780019310"/>
                  </p:ext>
                </p:extLst>
              </p:nvPr>
            </p:nvGraphicFramePr>
            <p:xfrm>
              <a:off x="838200" y="4927388"/>
              <a:ext cx="4519773" cy="441325"/>
            </p:xfrm>
            <a:graphic>
              <a:graphicData uri="http://schemas.openxmlformats.org/drawingml/2006/table">
                <a:tbl>
                  <a:tblPr firstRow="1" bandRow="1">
                    <a:tableStyleId>{5C22544A-7EE6-4342-B048-85BDC9FD1C3A}</a:tableStyleId>
                  </a:tblPr>
                  <a:tblGrid>
                    <a:gridCol w="3420438">
                      <a:extLst>
                        <a:ext uri="{9D8B030D-6E8A-4147-A177-3AD203B41FA5}">
                          <a16:colId xmlns:a16="http://schemas.microsoft.com/office/drawing/2014/main" val="1848615564"/>
                        </a:ext>
                      </a:extLst>
                    </a:gridCol>
                    <a:gridCol w="1099335">
                      <a:extLst>
                        <a:ext uri="{9D8B030D-6E8A-4147-A177-3AD203B41FA5}">
                          <a16:colId xmlns:a16="http://schemas.microsoft.com/office/drawing/2014/main" val="1798586957"/>
                        </a:ext>
                      </a:extLst>
                    </a:gridCol>
                  </a:tblGrid>
                  <a:tr h="441325">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t="-2740" r="-32028" b="-19178"/>
                          </a:stretch>
                        </a:blipFill>
                      </a:tcPr>
                    </a:tc>
                    <a:tc>
                      <a:txBody>
                        <a:bodyPr/>
                        <a:lstStyle/>
                        <a:p>
                          <a:pPr algn="r"/>
                          <a:r>
                            <a:rPr lang="en-US" sz="2000" b="0" dirty="0">
                              <a:solidFill>
                                <a:schemeClr val="tx1"/>
                              </a:solidFill>
                            </a:rPr>
                            <a:t>(1.2)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CA42852-9ED7-46E3-2B48-7240CC4A85CD}"/>
                  </a:ext>
                </a:extLst>
              </p:cNvPr>
              <p:cNvSpPr txBox="1"/>
              <p:nvPr/>
            </p:nvSpPr>
            <p:spPr>
              <a:xfrm>
                <a:off x="838200" y="5461179"/>
                <a:ext cx="6199599" cy="707886"/>
              </a:xfrm>
              <a:prstGeom prst="rect">
                <a:avLst/>
              </a:prstGeom>
              <a:noFill/>
            </p:spPr>
            <p:txBody>
              <a:bodyPr wrap="square" rtlCol="0">
                <a:spAutoFit/>
              </a:bodyPr>
              <a:lstStyle/>
              <a:p>
                <a:r>
                  <a:rPr lang="en-US" sz="2000" dirty="0"/>
                  <a:t>under unitary </a:t>
                </a:r>
                <a14:m>
                  <m:oMath xmlns:m="http://schemas.openxmlformats.org/officeDocument/2006/math">
                    <m:r>
                      <a:rPr lang="en-US" sz="2000" b="0" i="1" smtClean="0">
                        <a:latin typeface="Cambria Math" panose="02040503050406030204" pitchFamily="18" charset="0"/>
                      </a:rPr>
                      <m:t>𝑈</m:t>
                    </m:r>
                  </m:oMath>
                </a14:m>
                <a:r>
                  <a:rPr lang="en-US" sz="2000" dirty="0"/>
                  <a:t>. </a:t>
                </a:r>
                <a14:m>
                  <m:oMath xmlns:m="http://schemas.openxmlformats.org/officeDocument/2006/math">
                    <m:r>
                      <a:rPr lang="en-US" sz="2000" b="0" i="1" smtClean="0">
                        <a:latin typeface="Cambria Math" panose="02040503050406030204" pitchFamily="18" charset="0"/>
                      </a:rPr>
                      <m:t>𝑈</m:t>
                    </m:r>
                  </m:oMath>
                </a14:m>
                <a:r>
                  <a:rPr lang="en-US" sz="2000" dirty="0"/>
                  <a:t> is composed from gates or sub-operators via tensor product/matrix multiplication</a:t>
                </a:r>
              </a:p>
            </p:txBody>
          </p:sp>
        </mc:Choice>
        <mc:Fallback xmlns="">
          <p:sp>
            <p:nvSpPr>
              <p:cNvPr id="9" name="TextBox 8">
                <a:extLst>
                  <a:ext uri="{FF2B5EF4-FFF2-40B4-BE49-F238E27FC236}">
                    <a16:creationId xmlns:a16="http://schemas.microsoft.com/office/drawing/2014/main" id="{7CA42852-9ED7-46E3-2B48-7240CC4A85CD}"/>
                  </a:ext>
                </a:extLst>
              </p:cNvPr>
              <p:cNvSpPr txBox="1">
                <a:spLocks noRot="1" noChangeAspect="1" noMove="1" noResize="1" noEditPoints="1" noAdjustHandles="1" noChangeArrowheads="1" noChangeShapeType="1" noTextEdit="1"/>
              </p:cNvSpPr>
              <p:nvPr/>
            </p:nvSpPr>
            <p:spPr>
              <a:xfrm>
                <a:off x="838200" y="5461179"/>
                <a:ext cx="6199599" cy="707886"/>
              </a:xfrm>
              <a:prstGeom prst="rect">
                <a:avLst/>
              </a:prstGeom>
              <a:blipFill>
                <a:blip r:embed="rId7"/>
                <a:stretch>
                  <a:fillRect l="-1230" t="-3571" b="-14286"/>
                </a:stretch>
              </a:blipFill>
            </p:spPr>
            <p:txBody>
              <a:bodyPr/>
              <a:lstStyle/>
              <a:p>
                <a:r>
                  <a:rPr lang="en-VN">
                    <a:noFill/>
                  </a:rPr>
                  <a:t> </a:t>
                </a:r>
              </a:p>
            </p:txBody>
          </p:sp>
        </mc:Fallback>
      </mc:AlternateContent>
      <p:sp>
        <p:nvSpPr>
          <p:cNvPr id="10" name="Rectangle 9">
            <a:extLst>
              <a:ext uri="{FF2B5EF4-FFF2-40B4-BE49-F238E27FC236}">
                <a16:creationId xmlns:a16="http://schemas.microsoft.com/office/drawing/2014/main" id="{7178EF51-E299-E47D-551E-6A111826D439}"/>
              </a:ext>
            </a:extLst>
          </p:cNvPr>
          <p:cNvSpPr/>
          <p:nvPr/>
        </p:nvSpPr>
        <p:spPr>
          <a:xfrm>
            <a:off x="3107933" y="1931100"/>
            <a:ext cx="3221376" cy="9858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9823E5C-D5B2-3403-ADC2-4A2862C2BAE6}"/>
              </a:ext>
            </a:extLst>
          </p:cNvPr>
          <p:cNvSpPr txBox="1"/>
          <p:nvPr/>
        </p:nvSpPr>
        <p:spPr>
          <a:xfrm>
            <a:off x="6329309" y="2108501"/>
            <a:ext cx="3477374" cy="646331"/>
          </a:xfrm>
          <a:prstGeom prst="rect">
            <a:avLst/>
          </a:prstGeom>
          <a:noFill/>
        </p:spPr>
        <p:txBody>
          <a:bodyPr wrap="square" rtlCol="0" anchor="ctr">
            <a:spAutoFit/>
          </a:bodyPr>
          <a:lstStyle/>
          <a:p>
            <a:r>
              <a:rPr lang="en-US" dirty="0">
                <a:solidFill>
                  <a:srgbClr val="FF0000"/>
                </a:solidFill>
              </a:rPr>
              <a:t>The number of amplitudes grows exponentially based on #Qubits</a:t>
            </a:r>
          </a:p>
        </p:txBody>
      </p:sp>
      <p:sp>
        <p:nvSpPr>
          <p:cNvPr id="12" name="Rectangle 11">
            <a:extLst>
              <a:ext uri="{FF2B5EF4-FFF2-40B4-BE49-F238E27FC236}">
                <a16:creationId xmlns:a16="http://schemas.microsoft.com/office/drawing/2014/main" id="{F78A8F11-5D99-B60E-D80B-3645A062F90B}"/>
              </a:ext>
            </a:extLst>
          </p:cNvPr>
          <p:cNvSpPr/>
          <p:nvPr/>
        </p:nvSpPr>
        <p:spPr>
          <a:xfrm>
            <a:off x="1171254" y="3522638"/>
            <a:ext cx="5158055" cy="5448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70DAC06-1867-B145-D4F5-98A511D1261B}"/>
              </a:ext>
            </a:extLst>
          </p:cNvPr>
          <p:cNvSpPr txBox="1"/>
          <p:nvPr/>
        </p:nvSpPr>
        <p:spPr>
          <a:xfrm>
            <a:off x="6329309" y="3584962"/>
            <a:ext cx="3174287" cy="369332"/>
          </a:xfrm>
          <a:prstGeom prst="rect">
            <a:avLst/>
          </a:prstGeom>
          <a:noFill/>
        </p:spPr>
        <p:txBody>
          <a:bodyPr wrap="square" rtlCol="0">
            <a:spAutoFit/>
          </a:bodyPr>
          <a:lstStyle/>
          <a:p>
            <a:r>
              <a:rPr lang="en-US" dirty="0">
                <a:solidFill>
                  <a:srgbClr val="FF0000"/>
                </a:solidFill>
              </a:rPr>
              <a:t>Traversing on a long vector</a:t>
            </a:r>
          </a:p>
        </p:txBody>
      </p:sp>
      <p:sp>
        <p:nvSpPr>
          <p:cNvPr id="14" name="Rectangle 13">
            <a:extLst>
              <a:ext uri="{FF2B5EF4-FFF2-40B4-BE49-F238E27FC236}">
                <a16:creationId xmlns:a16="http://schemas.microsoft.com/office/drawing/2014/main" id="{0C5614B0-CC33-CBF6-E415-2690E7CD43F2}"/>
              </a:ext>
            </a:extLst>
          </p:cNvPr>
          <p:cNvSpPr/>
          <p:nvPr/>
        </p:nvSpPr>
        <p:spPr>
          <a:xfrm>
            <a:off x="1297969" y="4897366"/>
            <a:ext cx="5031340" cy="5448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4100C01-3F9F-9A6C-5236-96D07768195E}"/>
                  </a:ext>
                </a:extLst>
              </p:cNvPr>
              <p:cNvSpPr txBox="1"/>
              <p:nvPr/>
            </p:nvSpPr>
            <p:spPr>
              <a:xfrm>
                <a:off x="6329309" y="4860681"/>
                <a:ext cx="3133190" cy="687176"/>
              </a:xfrm>
              <a:prstGeom prst="rect">
                <a:avLst/>
              </a:prstGeom>
              <a:noFill/>
            </p:spPr>
            <p:txBody>
              <a:bodyPr wrap="square" rtlCol="0">
                <a:spAutoFit/>
              </a:bodyPr>
              <a:lstStyle/>
              <a:p>
                <a:r>
                  <a:rPr lang="en-US" dirty="0">
                    <a:solidFill>
                      <a:srgbClr val="FF0000"/>
                    </a:solidFill>
                  </a:rPr>
                  <a:t>Both </a:t>
                </a:r>
                <a14:m>
                  <m:oMath xmlns:m="http://schemas.openxmlformats.org/officeDocument/2006/math">
                    <m:d>
                      <m:dPr>
                        <m:begChr m:val="|"/>
                        <m:endChr m:val="⟩"/>
                        <m:ctrlPr>
                          <a:rPr lang="en-US" b="0" i="1" smtClean="0">
                            <a:solidFill>
                              <a:srgbClr val="FF0000"/>
                            </a:solidFill>
                            <a:latin typeface="Cambria Math" panose="02040503050406030204" pitchFamily="18" charset="0"/>
                          </a:rPr>
                        </m:ctrlPr>
                      </m:dPr>
                      <m:e>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𝜓</m:t>
                            </m:r>
                          </m:e>
                          <m:sup>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𝑡</m:t>
                                </m:r>
                                <m:r>
                                  <a:rPr lang="en-US" b="0" i="1" smtClean="0">
                                    <a:solidFill>
                                      <a:srgbClr val="FF0000"/>
                                    </a:solidFill>
                                    <a:latin typeface="Cambria Math" panose="02040503050406030204" pitchFamily="18" charset="0"/>
                                  </a:rPr>
                                  <m:t>+1</m:t>
                                </m:r>
                              </m:e>
                            </m:d>
                          </m:sup>
                        </m:sSup>
                      </m:e>
                    </m:d>
                  </m:oMath>
                </a14:m>
                <a:r>
                  <a:rPr lang="en-US" dirty="0">
                    <a:solidFill>
                      <a:srgbClr val="FF0000"/>
                    </a:solidFill>
                  </a:rPr>
                  <a:t> and </a:t>
                </a:r>
                <a14:m>
                  <m:oMath xmlns:m="http://schemas.openxmlformats.org/officeDocument/2006/math">
                    <m:d>
                      <m:dPr>
                        <m:begChr m:val="|"/>
                        <m:endChr m:val="⟩"/>
                        <m:ctrlPr>
                          <a:rPr lang="en-US" i="1">
                            <a:solidFill>
                              <a:srgbClr val="FF0000"/>
                            </a:solidFill>
                            <a:latin typeface="Cambria Math" panose="02040503050406030204" pitchFamily="18" charset="0"/>
                          </a:rPr>
                        </m:ctrlPr>
                      </m:dPr>
                      <m:e>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𝜓</m:t>
                            </m:r>
                          </m:e>
                          <m:sup>
                            <m:d>
                              <m:dPr>
                                <m:ctrlPr>
                                  <a:rPr lang="en-US" i="1">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𝑡</m:t>
                                </m:r>
                              </m:e>
                            </m:d>
                          </m:sup>
                        </m:sSup>
                      </m:e>
                    </m:d>
                  </m:oMath>
                </a14:m>
                <a:r>
                  <a:rPr lang="en-US" dirty="0">
                    <a:solidFill>
                      <a:srgbClr val="FF0000"/>
                    </a:solidFill>
                  </a:rPr>
                  <a:t> need to be saved at the same time</a:t>
                </a:r>
              </a:p>
            </p:txBody>
          </p:sp>
        </mc:Choice>
        <mc:Fallback xmlns="">
          <p:sp>
            <p:nvSpPr>
              <p:cNvPr id="15" name="TextBox 14">
                <a:extLst>
                  <a:ext uri="{FF2B5EF4-FFF2-40B4-BE49-F238E27FC236}">
                    <a16:creationId xmlns:a16="http://schemas.microsoft.com/office/drawing/2014/main" id="{E4100C01-3F9F-9A6C-5236-96D07768195E}"/>
                  </a:ext>
                </a:extLst>
              </p:cNvPr>
              <p:cNvSpPr txBox="1">
                <a:spLocks noRot="1" noChangeAspect="1" noMove="1" noResize="1" noEditPoints="1" noAdjustHandles="1" noChangeArrowheads="1" noChangeShapeType="1" noTextEdit="1"/>
              </p:cNvSpPr>
              <p:nvPr/>
            </p:nvSpPr>
            <p:spPr>
              <a:xfrm>
                <a:off x="6329309" y="4860681"/>
                <a:ext cx="3133190" cy="687176"/>
              </a:xfrm>
              <a:prstGeom prst="rect">
                <a:avLst/>
              </a:prstGeom>
              <a:blipFill>
                <a:blip r:embed="rId8"/>
                <a:stretch>
                  <a:fillRect l="-1619" b="-1272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2234D75-88B2-45E4-C352-69BC7A9993D6}"/>
                  </a:ext>
                </a:extLst>
              </p:cNvPr>
              <p:cNvSpPr txBox="1"/>
              <p:nvPr/>
            </p:nvSpPr>
            <p:spPr>
              <a:xfrm>
                <a:off x="4941870" y="2395564"/>
                <a:ext cx="1464067" cy="45839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𝛼</m:t>
                              </m:r>
                            </m:e>
                            <m:sub>
                              <m:r>
                                <a:rPr lang="en-US" sz="2000" i="1">
                                  <a:latin typeface="Cambria Math" panose="02040503050406030204" pitchFamily="18" charset="0"/>
                                </a:rPr>
                                <m:t>𝑗</m:t>
                              </m:r>
                            </m:sub>
                            <m:sup>
                              <m:d>
                                <m:dPr>
                                  <m:ctrlPr>
                                    <a:rPr lang="en-US" sz="2000" i="1">
                                      <a:latin typeface="Cambria Math" panose="02040503050406030204" pitchFamily="18" charset="0"/>
                                    </a:rPr>
                                  </m:ctrlPr>
                                </m:dPr>
                                <m:e>
                                  <m:r>
                                    <a:rPr lang="en-US" sz="2000" i="1">
                                      <a:latin typeface="Cambria Math" panose="02040503050406030204" pitchFamily="18" charset="0"/>
                                    </a:rPr>
                                    <m:t>𝑡</m:t>
                                  </m:r>
                                </m:e>
                              </m:d>
                            </m:sup>
                          </m:sSubSup>
                        </m:e>
                      </m:d>
                      <m:r>
                        <a:rPr lang="vi-VN" sz="2000" b="0" i="1">
                          <a:latin typeface="Cambria Math" panose="02040503050406030204" pitchFamily="18" charset="0"/>
                        </a:rPr>
                        <m:t>≤</m:t>
                      </m:r>
                      <m:r>
                        <a:rPr lang="en-US" sz="2000" b="0" i="1" smtClean="0">
                          <a:latin typeface="Cambria Math" panose="02040503050406030204" pitchFamily="18" charset="0"/>
                        </a:rPr>
                        <m:t>1</m:t>
                      </m:r>
                    </m:oMath>
                  </m:oMathPara>
                </a14:m>
                <a:endParaRPr lang="en-US" sz="2000" dirty="0"/>
              </a:p>
            </p:txBody>
          </p:sp>
        </mc:Choice>
        <mc:Fallback xmlns="">
          <p:sp>
            <p:nvSpPr>
              <p:cNvPr id="17" name="TextBox 16">
                <a:extLst>
                  <a:ext uri="{FF2B5EF4-FFF2-40B4-BE49-F238E27FC236}">
                    <a16:creationId xmlns:a16="http://schemas.microsoft.com/office/drawing/2014/main" id="{62234D75-88B2-45E4-C352-69BC7A9993D6}"/>
                  </a:ext>
                </a:extLst>
              </p:cNvPr>
              <p:cNvSpPr txBox="1">
                <a:spLocks noRot="1" noChangeAspect="1" noMove="1" noResize="1" noEditPoints="1" noAdjustHandles="1" noChangeArrowheads="1" noChangeShapeType="1" noTextEdit="1"/>
              </p:cNvSpPr>
              <p:nvPr/>
            </p:nvSpPr>
            <p:spPr>
              <a:xfrm>
                <a:off x="4941870" y="2395564"/>
                <a:ext cx="1464067" cy="458395"/>
              </a:xfrm>
              <a:prstGeom prst="rect">
                <a:avLst/>
              </a:prstGeom>
              <a:blipFill>
                <a:blip r:embed="rId9"/>
                <a:stretch>
                  <a:fillRect b="-13514"/>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4224EE5-9F94-9A5D-C5CD-21206D6CB6D6}"/>
                  </a:ext>
                </a:extLst>
              </p:cNvPr>
              <p:cNvSpPr txBox="1"/>
              <p:nvPr/>
            </p:nvSpPr>
            <p:spPr>
              <a:xfrm>
                <a:off x="838200" y="2954887"/>
                <a:ext cx="6095144" cy="504369"/>
              </a:xfrm>
              <a:prstGeom prst="rect">
                <a:avLst/>
              </a:prstGeom>
              <a:noFill/>
            </p:spPr>
            <p:txBody>
              <a:bodyPr wrap="square">
                <a:spAutoFit/>
              </a:bodyPr>
              <a:lstStyle/>
              <a:p>
                <a:pPr marL="0" indent="0">
                  <a:buNone/>
                </a:pPr>
                <a:r>
                  <a:rPr lang="en-US" sz="1800" dirty="0"/>
                  <a:t>A quantum gate update amplitudes </a:t>
                </a:r>
                <a14:m>
                  <m:oMath xmlns:m="http://schemas.openxmlformats.org/officeDocument/2006/math">
                    <m:d>
                      <m:dPr>
                        <m:begChr m:val="{"/>
                        <m:endChr m:val="}"/>
                        <m:ctrlPr>
                          <a:rPr lang="en-US" sz="1800" b="0" i="1" smtClean="0">
                            <a:latin typeface="Cambria Math" panose="02040503050406030204" pitchFamily="18" charset="0"/>
                          </a:rPr>
                        </m:ctrlPr>
                      </m:dPr>
                      <m:e>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𝛼</m:t>
                            </m:r>
                          </m:e>
                          <m:sub>
                            <m:r>
                              <a:rPr lang="en-US" sz="1800" b="0" i="1" smtClean="0">
                                <a:latin typeface="Cambria Math" panose="02040503050406030204" pitchFamily="18" charset="0"/>
                              </a:rPr>
                              <m:t>𝑗</m:t>
                            </m:r>
                          </m:sub>
                          <m:sup>
                            <m:d>
                              <m:dPr>
                                <m:ctrlPr>
                                  <a:rPr lang="en-US" sz="1800" i="1">
                                    <a:latin typeface="Cambria Math" panose="02040503050406030204" pitchFamily="18" charset="0"/>
                                  </a:rPr>
                                </m:ctrlPr>
                              </m:dPr>
                              <m:e>
                                <m:r>
                                  <a:rPr lang="en-US" sz="1800" i="1">
                                    <a:latin typeface="Cambria Math" panose="02040503050406030204" pitchFamily="18" charset="0"/>
                                  </a:rPr>
                                  <m:t>𝑡</m:t>
                                </m:r>
                              </m:e>
                            </m:d>
                          </m:sup>
                        </m:sSubSup>
                      </m:e>
                    </m:d>
                  </m:oMath>
                </a14:m>
                <a:r>
                  <a:rPr lang="en-US" sz="1800" dirty="0"/>
                  <a:t>:</a:t>
                </a:r>
              </a:p>
            </p:txBody>
          </p:sp>
        </mc:Choice>
        <mc:Fallback xmlns="">
          <p:sp>
            <p:nvSpPr>
              <p:cNvPr id="19" name="TextBox 18">
                <a:extLst>
                  <a:ext uri="{FF2B5EF4-FFF2-40B4-BE49-F238E27FC236}">
                    <a16:creationId xmlns:a16="http://schemas.microsoft.com/office/drawing/2014/main" id="{64224EE5-9F94-9A5D-C5CD-21206D6CB6D6}"/>
                  </a:ext>
                </a:extLst>
              </p:cNvPr>
              <p:cNvSpPr txBox="1">
                <a:spLocks noRot="1" noChangeAspect="1" noMove="1" noResize="1" noEditPoints="1" noAdjustHandles="1" noChangeArrowheads="1" noChangeShapeType="1" noTextEdit="1"/>
              </p:cNvSpPr>
              <p:nvPr/>
            </p:nvSpPr>
            <p:spPr>
              <a:xfrm>
                <a:off x="838200" y="2954887"/>
                <a:ext cx="6095144" cy="504369"/>
              </a:xfrm>
              <a:prstGeom prst="rect">
                <a:avLst/>
              </a:prstGeom>
              <a:blipFill>
                <a:blip r:embed="rId10"/>
                <a:stretch>
                  <a:fillRect l="-1042" b="-7317"/>
                </a:stretch>
              </a:blipFill>
            </p:spPr>
            <p:txBody>
              <a:bodyPr/>
              <a:lstStyle/>
              <a:p>
                <a:r>
                  <a:rPr lang="en-VN">
                    <a:noFill/>
                  </a:rPr>
                  <a:t> </a:t>
                </a:r>
              </a:p>
            </p:txBody>
          </p:sp>
        </mc:Fallback>
      </mc:AlternateContent>
    </p:spTree>
    <p:extLst>
      <p:ext uri="{BB962C8B-B14F-4D97-AF65-F5344CB8AC3E}">
        <p14:creationId xmlns:p14="http://schemas.microsoft.com/office/powerpoint/2010/main" val="2000738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029A5-7000-7636-6A2F-429F9CCAB83F}"/>
              </a:ext>
            </a:extLst>
          </p:cNvPr>
          <p:cNvSpPr>
            <a:spLocks noGrp="1"/>
          </p:cNvSpPr>
          <p:nvPr>
            <p:ph type="title"/>
          </p:nvPr>
        </p:nvSpPr>
        <p:spPr>
          <a:xfrm>
            <a:off x="838200" y="1"/>
            <a:ext cx="10515600" cy="1643864"/>
          </a:xfrm>
        </p:spPr>
        <p:txBody>
          <a:bodyPr/>
          <a:lstStyle/>
          <a:p>
            <a:r>
              <a:rPr lang="en-US" dirty="0"/>
              <a:t>2. A wave-function based emulator (</a:t>
            </a:r>
            <a:r>
              <a:rPr lang="en-US" dirty="0" err="1"/>
              <a:t>FQsun</a:t>
            </a:r>
            <a:r>
              <a:rPr lang="en-US" dirty="0"/>
              <a:t>)</a:t>
            </a:r>
          </a:p>
        </p:txBody>
      </p:sp>
      <p:sp>
        <p:nvSpPr>
          <p:cNvPr id="3" name="Content Placeholder 2">
            <a:extLst>
              <a:ext uri="{FF2B5EF4-FFF2-40B4-BE49-F238E27FC236}">
                <a16:creationId xmlns:a16="http://schemas.microsoft.com/office/drawing/2014/main" id="{C2BF494B-D721-FFCB-0B59-D4BB32CE5CC9}"/>
              </a:ext>
            </a:extLst>
          </p:cNvPr>
          <p:cNvSpPr>
            <a:spLocks noGrp="1"/>
          </p:cNvSpPr>
          <p:nvPr>
            <p:ph idx="1"/>
          </p:nvPr>
        </p:nvSpPr>
        <p:spPr>
          <a:xfrm>
            <a:off x="838200" y="1705510"/>
            <a:ext cx="10515600" cy="4471453"/>
          </a:xfrm>
        </p:spPr>
        <p:txBody>
          <a:bodyPr>
            <a:normAutofit/>
          </a:bodyPr>
          <a:lstStyle/>
          <a:p>
            <a:pPr marL="0" indent="0">
              <a:buNone/>
            </a:pPr>
            <a:r>
              <a:rPr lang="en-US" sz="2400" dirty="0"/>
              <a:t>The wave-function approach is based on the representation in the last slides.</a:t>
            </a:r>
          </a:p>
          <a:p>
            <a:pPr marL="0" indent="0">
              <a:buNone/>
            </a:pPr>
            <a:r>
              <a:rPr lang="en-US" sz="2400" dirty="0"/>
              <a:t>Challenges:</a:t>
            </a:r>
          </a:p>
          <a:p>
            <a:pPr marL="514350" indent="-514350">
              <a:buAutoNum type="alphaLcParenBoth"/>
            </a:pPr>
            <a:r>
              <a:rPr lang="en-US" sz="2400" b="1" dirty="0"/>
              <a:t>Efficient Memory Management</a:t>
            </a:r>
            <a:r>
              <a:rPr lang="en-US" sz="2400" dirty="0"/>
              <a:t>: able to process large #Qubits</a:t>
            </a:r>
          </a:p>
          <a:p>
            <a:pPr marL="514350" indent="-514350">
              <a:buAutoNum type="alphaLcParenBoth"/>
            </a:pPr>
            <a:r>
              <a:rPr lang="en-US" sz="2400" b="1" dirty="0"/>
              <a:t>Flexible Quantum Gate Configuration</a:t>
            </a:r>
            <a:r>
              <a:rPr lang="en-US" sz="2400" dirty="0"/>
              <a:t>: an adaptable gate configuration system is needed </a:t>
            </a:r>
          </a:p>
          <a:p>
            <a:pPr marL="514350" indent="-514350">
              <a:buAutoNum type="alphaLcParenBoth"/>
            </a:pPr>
            <a:r>
              <a:rPr lang="en-US" sz="2400" b="1" dirty="0"/>
              <a:t>Optimized Task Scheduling</a:t>
            </a:r>
            <a:r>
              <a:rPr lang="en-US" sz="2400" dirty="0"/>
              <a:t>: the emulator requires an optimized scheduling mechanism to ensure continuous processing without latency.</a:t>
            </a:r>
          </a:p>
          <a:p>
            <a:pPr marL="514350" indent="-514350">
              <a:buAutoNum type="alphaLcParenBoth"/>
            </a:pPr>
            <a:r>
              <a:rPr lang="en-US" sz="2400" b="1" dirty="0"/>
              <a:t>Multi-Level Precision Support</a:t>
            </a:r>
            <a:r>
              <a:rPr lang="en-US" sz="2400" dirty="0"/>
              <a:t>: supporting various precision levels allows the emulator to balance accuracy with resource usage</a:t>
            </a:r>
          </a:p>
        </p:txBody>
      </p:sp>
      <p:sp>
        <p:nvSpPr>
          <p:cNvPr id="4" name="Slide Number Placeholder 3">
            <a:extLst>
              <a:ext uri="{FF2B5EF4-FFF2-40B4-BE49-F238E27FC236}">
                <a16:creationId xmlns:a16="http://schemas.microsoft.com/office/drawing/2014/main" id="{07D67B9D-E538-2031-4D62-EBF974C82378}"/>
              </a:ext>
            </a:extLst>
          </p:cNvPr>
          <p:cNvSpPr>
            <a:spLocks noGrp="1"/>
          </p:cNvSpPr>
          <p:nvPr>
            <p:ph type="sldNum" sz="quarter" idx="12"/>
          </p:nvPr>
        </p:nvSpPr>
        <p:spPr/>
        <p:txBody>
          <a:bodyPr/>
          <a:lstStyle/>
          <a:p>
            <a:fld id="{3C0C221A-CB66-4297-9A52-937C35126D0C}" type="slidenum">
              <a:rPr lang="en-US" smtClean="0"/>
              <a:t>7</a:t>
            </a:fld>
            <a:endParaRPr lang="en-US"/>
          </a:p>
        </p:txBody>
      </p:sp>
    </p:spTree>
    <p:extLst>
      <p:ext uri="{BB962C8B-B14F-4D97-AF65-F5344CB8AC3E}">
        <p14:creationId xmlns:p14="http://schemas.microsoft.com/office/powerpoint/2010/main" val="213619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F96-69A5-E0C6-D8D6-D4483979F4B4}"/>
              </a:ext>
            </a:extLst>
          </p:cNvPr>
          <p:cNvSpPr>
            <a:spLocks noGrp="1"/>
          </p:cNvSpPr>
          <p:nvPr>
            <p:ph type="title"/>
          </p:nvPr>
        </p:nvSpPr>
        <p:spPr>
          <a:xfrm>
            <a:off x="755650" y="1"/>
            <a:ext cx="10598150" cy="920749"/>
          </a:xfrm>
        </p:spPr>
        <p:txBody>
          <a:bodyPr/>
          <a:lstStyle/>
          <a:p>
            <a:r>
              <a:rPr lang="en-US" dirty="0"/>
              <a:t>2.1. Related works</a:t>
            </a:r>
          </a:p>
        </p:txBody>
      </p:sp>
      <p:sp>
        <p:nvSpPr>
          <p:cNvPr id="4" name="Slide Number Placeholder 3">
            <a:extLst>
              <a:ext uri="{FF2B5EF4-FFF2-40B4-BE49-F238E27FC236}">
                <a16:creationId xmlns:a16="http://schemas.microsoft.com/office/drawing/2014/main" id="{055EF989-F8A3-30FA-25DD-93B043109161}"/>
              </a:ext>
            </a:extLst>
          </p:cNvPr>
          <p:cNvSpPr>
            <a:spLocks noGrp="1"/>
          </p:cNvSpPr>
          <p:nvPr>
            <p:ph type="sldNum" sz="quarter" idx="12"/>
          </p:nvPr>
        </p:nvSpPr>
        <p:spPr/>
        <p:txBody>
          <a:bodyPr/>
          <a:lstStyle/>
          <a:p>
            <a:fld id="{3C0C221A-CB66-4297-9A52-937C35126D0C}" type="slidenum">
              <a:rPr lang="en-US" smtClean="0"/>
              <a:t>8</a:t>
            </a:fld>
            <a:endParaRPr lang="en-US"/>
          </a:p>
        </p:txBody>
      </p:sp>
      <p:graphicFrame>
        <p:nvGraphicFramePr>
          <p:cNvPr id="10" name="Content Placeholder 4">
            <a:extLst>
              <a:ext uri="{FF2B5EF4-FFF2-40B4-BE49-F238E27FC236}">
                <a16:creationId xmlns:a16="http://schemas.microsoft.com/office/drawing/2014/main" id="{C230DC75-A870-D1E2-13CC-C23E67D98AE2}"/>
              </a:ext>
            </a:extLst>
          </p:cNvPr>
          <p:cNvGraphicFramePr>
            <a:graphicFrameLocks/>
          </p:cNvGraphicFramePr>
          <p:nvPr/>
        </p:nvGraphicFramePr>
        <p:xfrm>
          <a:off x="838200" y="1423420"/>
          <a:ext cx="10858500" cy="4984428"/>
        </p:xfrm>
        <a:graphic>
          <a:graphicData uri="http://schemas.openxmlformats.org/drawingml/2006/table">
            <a:tbl>
              <a:tblPr firstRow="1" bandRow="1">
                <a:tableStyleId>{5940675A-B579-460E-94D1-54222C63F5DA}</a:tableStyleId>
              </a:tblPr>
              <a:tblGrid>
                <a:gridCol w="2171700">
                  <a:extLst>
                    <a:ext uri="{9D8B030D-6E8A-4147-A177-3AD203B41FA5}">
                      <a16:colId xmlns:a16="http://schemas.microsoft.com/office/drawing/2014/main" val="4132432325"/>
                    </a:ext>
                  </a:extLst>
                </a:gridCol>
                <a:gridCol w="2171700">
                  <a:extLst>
                    <a:ext uri="{9D8B030D-6E8A-4147-A177-3AD203B41FA5}">
                      <a16:colId xmlns:a16="http://schemas.microsoft.com/office/drawing/2014/main" val="4178089636"/>
                    </a:ext>
                  </a:extLst>
                </a:gridCol>
                <a:gridCol w="1551781">
                  <a:extLst>
                    <a:ext uri="{9D8B030D-6E8A-4147-A177-3AD203B41FA5}">
                      <a16:colId xmlns:a16="http://schemas.microsoft.com/office/drawing/2014/main" val="2472414161"/>
                    </a:ext>
                  </a:extLst>
                </a:gridCol>
                <a:gridCol w="1156566">
                  <a:extLst>
                    <a:ext uri="{9D8B030D-6E8A-4147-A177-3AD203B41FA5}">
                      <a16:colId xmlns:a16="http://schemas.microsoft.com/office/drawing/2014/main" val="1816084707"/>
                    </a:ext>
                  </a:extLst>
                </a:gridCol>
                <a:gridCol w="3806753">
                  <a:extLst>
                    <a:ext uri="{9D8B030D-6E8A-4147-A177-3AD203B41FA5}">
                      <a16:colId xmlns:a16="http://schemas.microsoft.com/office/drawing/2014/main" val="3788148629"/>
                    </a:ext>
                  </a:extLst>
                </a:gridCol>
              </a:tblGrid>
              <a:tr h="517134">
                <a:tc>
                  <a:txBody>
                    <a:bodyPr/>
                    <a:lstStyle/>
                    <a:p>
                      <a:r>
                        <a:rPr lang="en-US" sz="1400" b="1" dirty="0"/>
                        <a:t>Reference</a:t>
                      </a:r>
                      <a:endParaRPr lang="en-US" sz="1400" b="1" dirty="0">
                        <a:solidFill>
                          <a:schemeClr val="tx1"/>
                        </a:solidFill>
                      </a:endParaRPr>
                    </a:p>
                  </a:txBody>
                  <a:tcPr anchor="ctr"/>
                </a:tc>
                <a:tc>
                  <a:txBody>
                    <a:bodyPr/>
                    <a:lstStyle/>
                    <a:p>
                      <a:r>
                        <a:rPr lang="en-US" sz="1400" b="1" dirty="0">
                          <a:solidFill>
                            <a:schemeClr val="tx1"/>
                          </a:solidFill>
                        </a:rPr>
                        <a:t>Devices</a:t>
                      </a:r>
                    </a:p>
                  </a:txBody>
                  <a:tcPr anchor="ctr"/>
                </a:tc>
                <a:tc>
                  <a:txBody>
                    <a:bodyPr/>
                    <a:lstStyle/>
                    <a:p>
                      <a:r>
                        <a:rPr lang="en-US" sz="1400" b="1" dirty="0">
                          <a:solidFill>
                            <a:schemeClr val="tx1"/>
                          </a:solidFill>
                        </a:rPr>
                        <a:t>Precision</a:t>
                      </a:r>
                    </a:p>
                  </a:txBody>
                  <a:tcPr anchor="ctr"/>
                </a:tc>
                <a:tc>
                  <a:txBody>
                    <a:bodyPr/>
                    <a:lstStyle/>
                    <a:p>
                      <a:r>
                        <a:rPr lang="en-US" sz="1400" b="1" dirty="0">
                          <a:solidFill>
                            <a:schemeClr val="tx1"/>
                          </a:solidFill>
                        </a:rPr>
                        <a:t>#Qubits</a:t>
                      </a:r>
                    </a:p>
                  </a:txBody>
                  <a:tcPr anchor="ctr"/>
                </a:tc>
                <a:tc>
                  <a:txBody>
                    <a:bodyPr/>
                    <a:lstStyle/>
                    <a:p>
                      <a:r>
                        <a:rPr lang="en-US" sz="1400" b="1" dirty="0">
                          <a:solidFill>
                            <a:schemeClr val="tx1"/>
                          </a:solidFill>
                        </a:rPr>
                        <a:t>Metrics</a:t>
                      </a:r>
                    </a:p>
                  </a:txBody>
                  <a:tcPr anchor="ctr"/>
                </a:tc>
                <a:extLst>
                  <a:ext uri="{0D108BD9-81ED-4DB2-BD59-A6C34878D82A}">
                    <a16:rowId xmlns:a16="http://schemas.microsoft.com/office/drawing/2014/main" val="4193280095"/>
                  </a:ext>
                </a:extLst>
              </a:tr>
              <a:tr h="517134">
                <a:tc>
                  <a:txBody>
                    <a:bodyPr/>
                    <a:lstStyle/>
                    <a:p>
                      <a:r>
                        <a:rPr lang="en-US" sz="1400" dirty="0" err="1">
                          <a:solidFill>
                            <a:srgbClr val="0070C0"/>
                          </a:solidFill>
                        </a:rPr>
                        <a:t>Qiskit</a:t>
                      </a:r>
                      <a:endParaRPr lang="en-US" sz="1400" dirty="0">
                        <a:solidFill>
                          <a:srgbClr val="0070C0"/>
                        </a:solidFill>
                      </a:endParaRPr>
                    </a:p>
                  </a:txBody>
                  <a:tcPr anchor="ctr"/>
                </a:tc>
                <a:tc>
                  <a:txBody>
                    <a:bodyPr/>
                    <a:lstStyle/>
                    <a:p>
                      <a:r>
                        <a:rPr lang="en-US" sz="1400" dirty="0">
                          <a:solidFill>
                            <a:schemeClr val="tx1"/>
                          </a:solidFill>
                        </a:rPr>
                        <a:t>CPU/GPU/QPU</a:t>
                      </a:r>
                    </a:p>
                  </a:txBody>
                  <a:tcPr anchor="ctr"/>
                </a:tc>
                <a:tc>
                  <a:txBody>
                    <a:bodyPr/>
                    <a:lstStyle/>
                    <a:p>
                      <a:r>
                        <a:rPr lang="en-US" sz="1400" dirty="0">
                          <a:solidFill>
                            <a:schemeClr val="tx1"/>
                          </a:solidFill>
                        </a:rPr>
                        <a:t>FP32,FP64</a:t>
                      </a:r>
                    </a:p>
                  </a:txBody>
                  <a:tcPr anchor="ctr"/>
                </a:tc>
                <a:tc>
                  <a:txBody>
                    <a:bodyPr/>
                    <a:lstStyle/>
                    <a:p>
                      <a:r>
                        <a:rPr lang="en-US" sz="1400" dirty="0"/>
                        <a:t>(†)</a:t>
                      </a:r>
                      <a:endParaRPr lang="en-US" sz="1400" dirty="0">
                        <a:solidFill>
                          <a:schemeClr val="tx1"/>
                        </a:solidFill>
                      </a:endParaRPr>
                    </a:p>
                  </a:txBody>
                  <a:tcPr anchor="ctr"/>
                </a:tc>
                <a:tc>
                  <a:txBody>
                    <a:bodyPr/>
                    <a:lstStyle/>
                    <a:p>
                      <a:r>
                        <a:rPr lang="en-US" sz="1400" dirty="0">
                          <a:solidFill>
                            <a:schemeClr val="tx1"/>
                          </a:solidFill>
                        </a:rPr>
                        <a:t>Exe time</a:t>
                      </a:r>
                    </a:p>
                  </a:txBody>
                  <a:tcPr anchor="ctr"/>
                </a:tc>
                <a:extLst>
                  <a:ext uri="{0D108BD9-81ED-4DB2-BD59-A6C34878D82A}">
                    <a16:rowId xmlns:a16="http://schemas.microsoft.com/office/drawing/2014/main" val="699590270"/>
                  </a:ext>
                </a:extLst>
              </a:tr>
              <a:tr h="517134">
                <a:tc>
                  <a:txBody>
                    <a:bodyPr/>
                    <a:lstStyle/>
                    <a:p>
                      <a:r>
                        <a:rPr lang="en-US" sz="1400" dirty="0">
                          <a:solidFill>
                            <a:srgbClr val="0070C0"/>
                          </a:solidFill>
                        </a:rPr>
                        <a:t>Pennylane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CPU/GPU</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FP32,FP64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
                      </a:r>
                      <a:endParaRPr lang="en-US" sz="1400" dirty="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Exe time</a:t>
                      </a:r>
                    </a:p>
                    <a:p>
                      <a:endParaRPr lang="en-US" sz="1400" dirty="0">
                        <a:solidFill>
                          <a:schemeClr val="tx1"/>
                        </a:solidFill>
                      </a:endParaRPr>
                    </a:p>
                  </a:txBody>
                  <a:tcPr anchor="ctr"/>
                </a:tc>
                <a:extLst>
                  <a:ext uri="{0D108BD9-81ED-4DB2-BD59-A6C34878D82A}">
                    <a16:rowId xmlns:a16="http://schemas.microsoft.com/office/drawing/2014/main" val="1727279692"/>
                  </a:ext>
                </a:extLst>
              </a:tr>
              <a:tr h="453120">
                <a:tc>
                  <a:txBody>
                    <a:bodyPr/>
                    <a:lstStyle/>
                    <a:p>
                      <a:r>
                        <a:rPr lang="en-US" sz="1400" dirty="0">
                          <a:solidFill>
                            <a:srgbClr val="FF0000"/>
                          </a:solidFill>
                        </a:rPr>
                        <a:t>Analog-based emulator</a:t>
                      </a:r>
                    </a:p>
                  </a:txBody>
                  <a:tcPr anchor="ctr"/>
                </a:tc>
                <a:tc>
                  <a:txBody>
                    <a:bodyPr/>
                    <a:lstStyle/>
                    <a:p>
                      <a:r>
                        <a:rPr lang="en-US" sz="1400" dirty="0">
                          <a:solidFill>
                            <a:schemeClr val="tx1"/>
                          </a:solidFill>
                        </a:rPr>
                        <a:t>UMC-180 nm CMOS analog</a:t>
                      </a:r>
                    </a:p>
                  </a:txBody>
                  <a:tcPr anchor="ctr"/>
                </a:tc>
                <a:tc>
                  <a:txBody>
                    <a:bodyPr/>
                    <a:lstStyle/>
                    <a:p>
                      <a:r>
                        <a:rPr lang="en-US" sz="1400" dirty="0">
                          <a:solidFill>
                            <a:schemeClr val="tx1"/>
                          </a:solidFill>
                        </a:rPr>
                        <a:t>FP32</a:t>
                      </a:r>
                    </a:p>
                  </a:txBody>
                  <a:tcPr anchor="ctr"/>
                </a:tc>
                <a:tc>
                  <a:txBody>
                    <a:bodyPr/>
                    <a:lstStyle/>
                    <a:p>
                      <a:r>
                        <a:rPr lang="en-US" sz="1400" dirty="0">
                          <a:solidFill>
                            <a:schemeClr val="tx1"/>
                          </a:solidFill>
                        </a:rPr>
                        <a:t>6-17</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Exe time, Power consumption</a:t>
                      </a:r>
                    </a:p>
                  </a:txBody>
                  <a:tcPr anchor="ctr"/>
                </a:tc>
                <a:extLst>
                  <a:ext uri="{0D108BD9-81ED-4DB2-BD59-A6C34878D82A}">
                    <a16:rowId xmlns:a16="http://schemas.microsoft.com/office/drawing/2014/main" val="263948011"/>
                  </a:ext>
                </a:extLst>
              </a:tr>
              <a:tr h="453120">
                <a:tc>
                  <a:txBody>
                    <a:bodyPr/>
                    <a:lstStyle/>
                    <a:p>
                      <a:r>
                        <a:rPr lang="en-US" sz="1400" dirty="0">
                          <a:solidFill>
                            <a:srgbClr val="FF0000"/>
                          </a:solidFill>
                        </a:rPr>
                        <a:t>ZCVU9P-based emulator</a:t>
                      </a:r>
                    </a:p>
                  </a:txBody>
                  <a:tcPr anchor="ctr"/>
                </a:tc>
                <a:tc>
                  <a:txBody>
                    <a:bodyPr/>
                    <a:lstStyle/>
                    <a:p>
                      <a:r>
                        <a:rPr lang="en-US" sz="1400" dirty="0">
                          <a:solidFill>
                            <a:schemeClr val="tx1"/>
                          </a:solidFill>
                        </a:rPr>
                        <a:t>Xilinx ZCVU9P</a:t>
                      </a:r>
                    </a:p>
                  </a:txBody>
                  <a:tcPr anchor="ctr"/>
                </a:tc>
                <a:tc>
                  <a:txBody>
                    <a:bodyPr/>
                    <a:lstStyle/>
                    <a:p>
                      <a:r>
                        <a:rPr lang="en-US" sz="1400" dirty="0">
                          <a:solidFill>
                            <a:schemeClr val="tx1"/>
                          </a:solidFill>
                        </a:rPr>
                        <a:t>FX16</a:t>
                      </a:r>
                    </a:p>
                  </a:txBody>
                  <a:tcPr anchor="ctr"/>
                </a:tc>
                <a:tc>
                  <a:txBody>
                    <a:bodyPr/>
                    <a:lstStyle/>
                    <a:p>
                      <a:r>
                        <a:rPr lang="en-US" sz="1400" dirty="0">
                          <a:solidFill>
                            <a:schemeClr val="tx1"/>
                          </a:solidFill>
                        </a:rPr>
                        <a:t>6</a:t>
                      </a:r>
                    </a:p>
                  </a:txBody>
                  <a:tcPr anchor="ctr"/>
                </a:tc>
                <a:tc>
                  <a:txBody>
                    <a:bodyPr/>
                    <a:lstStyle/>
                    <a:p>
                      <a:r>
                        <a:rPr lang="en-US" sz="1400" dirty="0">
                          <a:solidFill>
                            <a:schemeClr val="tx1"/>
                          </a:solidFill>
                        </a:rPr>
                        <a:t>Exe time, test accuracy</a:t>
                      </a:r>
                    </a:p>
                  </a:txBody>
                  <a:tcPr anchor="ctr"/>
                </a:tc>
                <a:extLst>
                  <a:ext uri="{0D108BD9-81ED-4DB2-BD59-A6C34878D82A}">
                    <a16:rowId xmlns:a16="http://schemas.microsoft.com/office/drawing/2014/main" val="280984563"/>
                  </a:ext>
                </a:extLst>
              </a:tr>
              <a:tr h="453120">
                <a:tc>
                  <a:txBody>
                    <a:bodyPr/>
                    <a:lstStyle/>
                    <a:p>
                      <a:r>
                        <a:rPr lang="en-US" sz="1400" dirty="0">
                          <a:solidFill>
                            <a:srgbClr val="FF0000"/>
                          </a:solidFill>
                        </a:rPr>
                        <a:t>Alveo-based emulator</a:t>
                      </a:r>
                    </a:p>
                  </a:txBody>
                  <a:tcPr anchor="ctr"/>
                </a:tc>
                <a:tc>
                  <a:txBody>
                    <a:bodyPr/>
                    <a:lstStyle/>
                    <a:p>
                      <a:r>
                        <a:rPr lang="en-US" sz="1400" dirty="0">
                          <a:solidFill>
                            <a:schemeClr val="tx1"/>
                          </a:solidFill>
                        </a:rPr>
                        <a:t>Alveo U250</a:t>
                      </a:r>
                    </a:p>
                  </a:txBody>
                  <a:tcPr anchor="ctr"/>
                </a:tc>
                <a:tc>
                  <a:txBody>
                    <a:bodyPr/>
                    <a:lstStyle/>
                    <a:p>
                      <a:r>
                        <a:rPr lang="en-US" sz="1400" dirty="0">
                          <a:solidFill>
                            <a:schemeClr val="tx1"/>
                          </a:solidFill>
                        </a:rPr>
                        <a:t>FP32</a:t>
                      </a:r>
                    </a:p>
                  </a:txBody>
                  <a:tcPr anchor="ctr"/>
                </a:tc>
                <a:tc>
                  <a:txBody>
                    <a:bodyPr/>
                    <a:lstStyle/>
                    <a:p>
                      <a:r>
                        <a:rPr lang="en-US" sz="1400" dirty="0">
                          <a:solidFill>
                            <a:schemeClr val="tx1"/>
                          </a:solidFill>
                        </a:rPr>
                        <a:t>32 </a:t>
                      </a:r>
                      <a:r>
                        <a:rPr lang="en-US" sz="1400" dirty="0"/>
                        <a:t>(††)</a:t>
                      </a:r>
                      <a:endParaRPr lang="en-US" sz="1400" dirty="0">
                        <a:solidFill>
                          <a:schemeClr val="tx1"/>
                        </a:solidFill>
                      </a:endParaRPr>
                    </a:p>
                  </a:txBody>
                  <a:tcPr anchor="ctr"/>
                </a:tc>
                <a:tc>
                  <a:txBody>
                    <a:bodyPr/>
                    <a:lstStyle/>
                    <a:p>
                      <a:r>
                        <a:rPr lang="en-US" sz="1400" dirty="0">
                          <a:solidFill>
                            <a:schemeClr val="tx1"/>
                          </a:solidFill>
                        </a:rPr>
                        <a:t>Exe time, resources utilization</a:t>
                      </a:r>
                    </a:p>
                  </a:txBody>
                  <a:tcPr anchor="ctr"/>
                </a:tc>
                <a:extLst>
                  <a:ext uri="{0D108BD9-81ED-4DB2-BD59-A6C34878D82A}">
                    <a16:rowId xmlns:a16="http://schemas.microsoft.com/office/drawing/2014/main" val="20465681"/>
                  </a:ext>
                </a:extLst>
              </a:tr>
              <a:tr h="453120">
                <a:tc>
                  <a:txBody>
                    <a:bodyPr/>
                    <a:lstStyle/>
                    <a:p>
                      <a:r>
                        <a:rPr lang="en-US" sz="1400" dirty="0">
                          <a:solidFill>
                            <a:srgbClr val="FF0000"/>
                          </a:solidFill>
                        </a:rPr>
                        <a:t>Arria-based emulator</a:t>
                      </a:r>
                    </a:p>
                  </a:txBody>
                  <a:tcPr anchor="ctr"/>
                </a:tc>
                <a:tc>
                  <a:txBody>
                    <a:bodyPr/>
                    <a:lstStyle/>
                    <a:p>
                      <a:r>
                        <a:rPr lang="en-US" sz="1400" dirty="0">
                          <a:solidFill>
                            <a:schemeClr val="tx1"/>
                          </a:solidFill>
                        </a:rPr>
                        <a:t>Arria 10AX115N4F45E3SG</a:t>
                      </a:r>
                    </a:p>
                  </a:txBody>
                  <a:tcPr anchor="ctr"/>
                </a:tc>
                <a:tc>
                  <a:txBody>
                    <a:bodyPr/>
                    <a:lstStyle/>
                    <a:p>
                      <a:r>
                        <a:rPr lang="en-US" sz="1400" dirty="0">
                          <a:solidFill>
                            <a:schemeClr val="tx1"/>
                          </a:solidFill>
                        </a:rPr>
                        <a:t>FX16</a:t>
                      </a:r>
                    </a:p>
                  </a:txBody>
                  <a:tcPr anchor="ctr"/>
                </a:tc>
                <a:tc>
                  <a:txBody>
                    <a:bodyPr/>
                    <a:lstStyle/>
                    <a:p>
                      <a:r>
                        <a:rPr lang="en-US" sz="1400" dirty="0">
                          <a:solidFill>
                            <a:schemeClr val="tx1"/>
                          </a:solidFill>
                        </a:rPr>
                        <a:t>32 </a:t>
                      </a:r>
                      <a:r>
                        <a:rPr lang="en-US" sz="1400" dirty="0"/>
                        <a:t>(††)</a:t>
                      </a:r>
                      <a:endParaRPr lang="en-US" sz="1400" dirty="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Exe time, resources utilization, frequency</a:t>
                      </a:r>
                    </a:p>
                    <a:p>
                      <a:endParaRPr lang="en-US" sz="1400" dirty="0">
                        <a:solidFill>
                          <a:schemeClr val="tx1"/>
                        </a:solidFill>
                      </a:endParaRPr>
                    </a:p>
                  </a:txBody>
                  <a:tcPr anchor="ctr"/>
                </a:tc>
                <a:extLst>
                  <a:ext uri="{0D108BD9-81ED-4DB2-BD59-A6C34878D82A}">
                    <a16:rowId xmlns:a16="http://schemas.microsoft.com/office/drawing/2014/main" val="2307410032"/>
                  </a:ext>
                </a:extLst>
              </a:tr>
              <a:tr h="453120">
                <a:tc>
                  <a:txBody>
                    <a:bodyPr/>
                    <a:lstStyle/>
                    <a:p>
                      <a:r>
                        <a:rPr lang="en-US" sz="1400" dirty="0">
                          <a:solidFill>
                            <a:srgbClr val="FF0000"/>
                          </a:solidFill>
                        </a:rPr>
                        <a:t>XCKU-based emulator</a:t>
                      </a:r>
                    </a:p>
                  </a:txBody>
                  <a:tcPr anchor="ctr"/>
                </a:tc>
                <a:tc>
                  <a:txBody>
                    <a:bodyPr/>
                    <a:lstStyle/>
                    <a:p>
                      <a:r>
                        <a:rPr lang="en-US" sz="1400" dirty="0">
                          <a:solidFill>
                            <a:schemeClr val="tx1"/>
                          </a:solidFill>
                        </a:rPr>
                        <a:t>Xilinx XCKU114</a:t>
                      </a:r>
                    </a:p>
                  </a:txBody>
                  <a:tcPr anchor="ctr"/>
                </a:tc>
                <a:tc>
                  <a:txBody>
                    <a:bodyPr/>
                    <a:lstStyle/>
                    <a:p>
                      <a:r>
                        <a:rPr lang="en-US" sz="1400" dirty="0">
                          <a:solidFill>
                            <a:schemeClr val="tx1"/>
                          </a:solidFill>
                        </a:rPr>
                        <a:t>FX16</a:t>
                      </a:r>
                    </a:p>
                  </a:txBody>
                  <a:tcPr anchor="ctr"/>
                </a:tc>
                <a:tc>
                  <a:txBody>
                    <a:bodyPr/>
                    <a:lstStyle/>
                    <a:p>
                      <a:r>
                        <a:rPr lang="en-US" sz="1400" dirty="0">
                          <a:solidFill>
                            <a:schemeClr val="tx1"/>
                          </a:solidFill>
                        </a:rPr>
                        <a:t>16</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Exe time, resources utilization</a:t>
                      </a:r>
                    </a:p>
                  </a:txBody>
                  <a:tcPr anchor="ctr"/>
                </a:tc>
                <a:extLst>
                  <a:ext uri="{0D108BD9-81ED-4DB2-BD59-A6C34878D82A}">
                    <a16:rowId xmlns:a16="http://schemas.microsoft.com/office/drawing/2014/main" val="2087286474"/>
                  </a:ext>
                </a:extLst>
              </a:tr>
              <a:tr h="453120">
                <a:tc>
                  <a:txBody>
                    <a:bodyPr/>
                    <a:lstStyle/>
                    <a:p>
                      <a:r>
                        <a:rPr lang="en-US" sz="1400" dirty="0">
                          <a:solidFill>
                            <a:srgbClr val="FF0000"/>
                          </a:solidFill>
                        </a:rPr>
                        <a:t>Stratix-based emulator</a:t>
                      </a:r>
                    </a:p>
                  </a:txBody>
                  <a:tcPr anchor="ctr"/>
                </a:tc>
                <a:tc>
                  <a:txBody>
                    <a:bodyPr/>
                    <a:lstStyle/>
                    <a:p>
                      <a:r>
                        <a:rPr lang="en-US" sz="1400" dirty="0">
                          <a:solidFill>
                            <a:schemeClr val="tx1"/>
                          </a:solidFill>
                        </a:rPr>
                        <a:t>Altera Stratix EP1S80B956C6</a:t>
                      </a:r>
                    </a:p>
                  </a:txBody>
                  <a:tcPr anchor="ctr"/>
                </a:tc>
                <a:tc>
                  <a:txBody>
                    <a:bodyPr/>
                    <a:lstStyle/>
                    <a:p>
                      <a:r>
                        <a:rPr lang="en-US" sz="1400" dirty="0">
                          <a:solidFill>
                            <a:schemeClr val="tx1"/>
                          </a:solidFill>
                        </a:rPr>
                        <a:t>FX8, FX16</a:t>
                      </a:r>
                    </a:p>
                  </a:txBody>
                  <a:tcPr anchor="ctr"/>
                </a:tc>
                <a:tc>
                  <a:txBody>
                    <a:bodyPr/>
                    <a:lstStyle/>
                    <a:p>
                      <a:r>
                        <a:rPr lang="en-US" sz="1400" dirty="0">
                          <a:solidFill>
                            <a:schemeClr val="tx1"/>
                          </a:solidFill>
                        </a:rPr>
                        <a:t>8</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Exe time, logic cell usage, frequency</a:t>
                      </a:r>
                    </a:p>
                    <a:p>
                      <a:endParaRPr lang="en-US" sz="1400" dirty="0">
                        <a:solidFill>
                          <a:schemeClr val="tx1"/>
                        </a:solidFill>
                      </a:endParaRPr>
                    </a:p>
                  </a:txBody>
                  <a:tcPr anchor="ctr"/>
                </a:tc>
                <a:extLst>
                  <a:ext uri="{0D108BD9-81ED-4DB2-BD59-A6C34878D82A}">
                    <a16:rowId xmlns:a16="http://schemas.microsoft.com/office/drawing/2014/main" val="3032313798"/>
                  </a:ext>
                </a:extLst>
              </a:tr>
              <a:tr h="453120">
                <a:tc>
                  <a:txBody>
                    <a:bodyPr/>
                    <a:lstStyle/>
                    <a:p>
                      <a:r>
                        <a:rPr lang="en-US" sz="1400" b="1" dirty="0">
                          <a:solidFill>
                            <a:srgbClr val="0070C0"/>
                          </a:solidFill>
                        </a:rPr>
                        <a:t>This work (</a:t>
                      </a:r>
                      <a:r>
                        <a:rPr lang="en-US" sz="1400" b="1" dirty="0" err="1">
                          <a:solidFill>
                            <a:srgbClr val="0070C0"/>
                          </a:solidFill>
                        </a:rPr>
                        <a:t>FQsun</a:t>
                      </a:r>
                      <a:r>
                        <a:rPr lang="en-US" sz="1400" b="1" dirty="0">
                          <a:solidFill>
                            <a:srgbClr val="0070C0"/>
                          </a:solidFill>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Xilinx ZCU102</a:t>
                      </a:r>
                    </a:p>
                  </a:txBody>
                  <a:tcPr anchor="ctr"/>
                </a:tc>
                <a:tc>
                  <a:txBody>
                    <a:bodyPr/>
                    <a:lstStyle/>
                    <a:p>
                      <a:r>
                        <a:rPr lang="en-US" sz="1400" b="1" dirty="0">
                          <a:solidFill>
                            <a:schemeClr val="tx1"/>
                          </a:solidFill>
                        </a:rPr>
                        <a:t>FX16/24/32, FP16/32</a:t>
                      </a:r>
                    </a:p>
                  </a:txBody>
                  <a:tcPr anchor="ctr"/>
                </a:tc>
                <a:tc>
                  <a:txBody>
                    <a:bodyPr/>
                    <a:lstStyle/>
                    <a:p>
                      <a:r>
                        <a:rPr lang="en-US" sz="1400" b="1" dirty="0">
                          <a:solidFill>
                            <a:schemeClr val="tx1"/>
                          </a:solidFill>
                        </a:rPr>
                        <a:t>30 </a:t>
                      </a:r>
                      <a:r>
                        <a:rPr lang="en-US" sz="1400" b="1" dirty="0"/>
                        <a:t>(†††)</a:t>
                      </a:r>
                      <a:endParaRPr lang="en-US" sz="1400" b="1" dirty="0">
                        <a:solidFill>
                          <a:schemeClr val="tx1"/>
                        </a:solidFill>
                      </a:endParaRPr>
                    </a:p>
                  </a:txBody>
                  <a:tcPr anchor="ctr"/>
                </a:tc>
                <a:tc>
                  <a:txBody>
                    <a:bodyPr/>
                    <a:lstStyle/>
                    <a:p>
                      <a:r>
                        <a:rPr lang="en-US" sz="1400" b="1" dirty="0">
                          <a:solidFill>
                            <a:schemeClr val="tx1"/>
                          </a:solidFill>
                        </a:rPr>
                        <a:t>Exe time, PDP, Fidelity, MSE, Power, Resources utilization</a:t>
                      </a:r>
                    </a:p>
                  </a:txBody>
                  <a:tcPr anchor="ctr"/>
                </a:tc>
                <a:extLst>
                  <a:ext uri="{0D108BD9-81ED-4DB2-BD59-A6C34878D82A}">
                    <a16:rowId xmlns:a16="http://schemas.microsoft.com/office/drawing/2014/main" val="1556220159"/>
                  </a:ext>
                </a:extLst>
              </a:tr>
            </a:tbl>
          </a:graphicData>
        </a:graphic>
      </p:graphicFrame>
      <p:sp>
        <p:nvSpPr>
          <p:cNvPr id="16" name="TextBox 15">
            <a:extLst>
              <a:ext uri="{FF2B5EF4-FFF2-40B4-BE49-F238E27FC236}">
                <a16:creationId xmlns:a16="http://schemas.microsoft.com/office/drawing/2014/main" id="{8B75CEF0-D829-DF1F-3A4E-B8E5F96F4B01}"/>
              </a:ext>
            </a:extLst>
          </p:cNvPr>
          <p:cNvSpPr txBox="1"/>
          <p:nvPr/>
        </p:nvSpPr>
        <p:spPr>
          <a:xfrm>
            <a:off x="755650" y="726986"/>
            <a:ext cx="11499850" cy="646331"/>
          </a:xfrm>
          <a:prstGeom prst="rect">
            <a:avLst/>
          </a:prstGeom>
          <a:noFill/>
        </p:spPr>
        <p:txBody>
          <a:bodyPr wrap="square">
            <a:spAutoFit/>
          </a:bodyPr>
          <a:lstStyle/>
          <a:p>
            <a:r>
              <a:rPr lang="en-US" b="1" dirty="0">
                <a:solidFill>
                  <a:srgbClr val="FF0000"/>
                </a:solidFill>
              </a:rPr>
              <a:t>Table 2.1</a:t>
            </a:r>
            <a:r>
              <a:rPr lang="en-US" dirty="0"/>
              <a:t>. Surveyed results of related quantum simulators/emulators in the last five years. </a:t>
            </a:r>
          </a:p>
          <a:p>
            <a:r>
              <a:rPr lang="en-US" dirty="0"/>
              <a:t>(†) Depend on hardware resources                    (††) Estimated </a:t>
            </a:r>
            <a:r>
              <a:rPr lang="en-US" b="1" dirty="0"/>
              <a:t>ONLY</a:t>
            </a:r>
            <a:r>
              <a:rPr lang="en-US" dirty="0"/>
              <a:t>                (†††) Best performance in 3-17 qubits.</a:t>
            </a:r>
          </a:p>
        </p:txBody>
      </p:sp>
      <p:sp>
        <p:nvSpPr>
          <p:cNvPr id="17" name="Rectangle 16">
            <a:extLst>
              <a:ext uri="{FF2B5EF4-FFF2-40B4-BE49-F238E27FC236}">
                <a16:creationId xmlns:a16="http://schemas.microsoft.com/office/drawing/2014/main" id="{333DD52B-BEF6-1939-E3B5-AA52584659A1}"/>
              </a:ext>
            </a:extLst>
          </p:cNvPr>
          <p:cNvSpPr/>
          <p:nvPr/>
        </p:nvSpPr>
        <p:spPr>
          <a:xfrm>
            <a:off x="838200" y="6538912"/>
            <a:ext cx="704850" cy="182563"/>
          </a:xfrm>
          <a:prstGeom prst="rect">
            <a:avLst/>
          </a:prstGeom>
          <a:solidFill>
            <a:srgbClr val="0070C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B6DD94F-D187-8AD4-9C0F-6AEE67E9591D}"/>
              </a:ext>
            </a:extLst>
          </p:cNvPr>
          <p:cNvSpPr txBox="1"/>
          <p:nvPr/>
        </p:nvSpPr>
        <p:spPr>
          <a:xfrm>
            <a:off x="1593850" y="6457951"/>
            <a:ext cx="3575050" cy="369332"/>
          </a:xfrm>
          <a:prstGeom prst="rect">
            <a:avLst/>
          </a:prstGeom>
          <a:noFill/>
        </p:spPr>
        <p:txBody>
          <a:bodyPr wrap="square" rtlCol="0">
            <a:spAutoFit/>
          </a:bodyPr>
          <a:lstStyle/>
          <a:p>
            <a:r>
              <a:rPr lang="en-US" dirty="0"/>
              <a:t>Universal simulator/emulator</a:t>
            </a:r>
          </a:p>
        </p:txBody>
      </p:sp>
      <p:sp>
        <p:nvSpPr>
          <p:cNvPr id="19" name="Rectangle 18">
            <a:extLst>
              <a:ext uri="{FF2B5EF4-FFF2-40B4-BE49-F238E27FC236}">
                <a16:creationId xmlns:a16="http://schemas.microsoft.com/office/drawing/2014/main" id="{01A101FA-1A9E-0C31-7659-0FC870400AEA}"/>
              </a:ext>
            </a:extLst>
          </p:cNvPr>
          <p:cNvSpPr/>
          <p:nvPr/>
        </p:nvSpPr>
        <p:spPr>
          <a:xfrm>
            <a:off x="4724400" y="6538912"/>
            <a:ext cx="704850" cy="182563"/>
          </a:xfrm>
          <a:prstGeom prst="rect">
            <a:avLst/>
          </a:prstGeom>
          <a:solidFill>
            <a:srgbClr val="FF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6D101D1-6C9E-A1AC-A06B-E7005ABA204B}"/>
              </a:ext>
            </a:extLst>
          </p:cNvPr>
          <p:cNvSpPr txBox="1"/>
          <p:nvPr/>
        </p:nvSpPr>
        <p:spPr>
          <a:xfrm>
            <a:off x="5480050" y="6457951"/>
            <a:ext cx="3575050" cy="369332"/>
          </a:xfrm>
          <a:prstGeom prst="rect">
            <a:avLst/>
          </a:prstGeom>
          <a:noFill/>
        </p:spPr>
        <p:txBody>
          <a:bodyPr wrap="square" rtlCol="0">
            <a:spAutoFit/>
          </a:bodyPr>
          <a:lstStyle/>
          <a:p>
            <a:r>
              <a:rPr lang="en-US" dirty="0"/>
              <a:t>Limited (Fixed) emulator</a:t>
            </a:r>
          </a:p>
        </p:txBody>
      </p:sp>
    </p:spTree>
    <p:extLst>
      <p:ext uri="{BB962C8B-B14F-4D97-AF65-F5344CB8AC3E}">
        <p14:creationId xmlns:p14="http://schemas.microsoft.com/office/powerpoint/2010/main" val="890624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EA01E33-6C5F-A447-567C-5D7D39FBEC4A}"/>
              </a:ext>
            </a:extLst>
          </p:cNvPr>
          <p:cNvPicPr>
            <a:picLocks noChangeAspect="1"/>
          </p:cNvPicPr>
          <p:nvPr/>
        </p:nvPicPr>
        <p:blipFill>
          <a:blip r:embed="rId3"/>
          <a:srcRect b="37408"/>
          <a:stretch/>
        </p:blipFill>
        <p:spPr>
          <a:xfrm>
            <a:off x="5432435" y="365125"/>
            <a:ext cx="6726855" cy="5063687"/>
          </a:xfrm>
          <a:prstGeom prst="rect">
            <a:avLst/>
          </a:prstGeom>
        </p:spPr>
      </p:pic>
      <p:sp>
        <p:nvSpPr>
          <p:cNvPr id="2" name="Title 1">
            <a:extLst>
              <a:ext uri="{FF2B5EF4-FFF2-40B4-BE49-F238E27FC236}">
                <a16:creationId xmlns:a16="http://schemas.microsoft.com/office/drawing/2014/main" id="{77EFB3F6-5EE3-C5E6-4B2A-9DAC9E26ABDA}"/>
              </a:ext>
            </a:extLst>
          </p:cNvPr>
          <p:cNvSpPr>
            <a:spLocks noGrp="1"/>
          </p:cNvSpPr>
          <p:nvPr>
            <p:ph type="title"/>
          </p:nvPr>
        </p:nvSpPr>
        <p:spPr>
          <a:xfrm>
            <a:off x="247650" y="1"/>
            <a:ext cx="11106150" cy="1324220"/>
          </a:xfrm>
        </p:spPr>
        <p:txBody>
          <a:bodyPr/>
          <a:lstStyle/>
          <a:p>
            <a:r>
              <a:rPr lang="en-US" dirty="0"/>
              <a:t>2.2.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9ABE96-9CF6-D01E-1067-2C430BA8AFE7}"/>
                  </a:ext>
                </a:extLst>
              </p:cNvPr>
              <p:cNvSpPr>
                <a:spLocks noGrp="1"/>
              </p:cNvSpPr>
              <p:nvPr>
                <p:ph idx="1"/>
              </p:nvPr>
            </p:nvSpPr>
            <p:spPr>
              <a:xfrm>
                <a:off x="496002" y="4259021"/>
                <a:ext cx="5009448" cy="601225"/>
              </a:xfrm>
            </p:spPr>
            <p:txBody>
              <a:bodyPr>
                <a:normAutofit fontScale="92500"/>
              </a:bodyPr>
              <a:lstStyle/>
              <a:p>
                <a:pPr marL="0" indent="0">
                  <a:buNone/>
                </a:pPr>
                <a14:m>
                  <m:oMath xmlns:m="http://schemas.openxmlformats.org/officeDocument/2006/math">
                    <m:d>
                      <m:dPr>
                        <m:begChr m:val="|"/>
                        <m:endChr m:val="⟩"/>
                        <m:ctrlPr>
                          <a:rPr lang="pl-PL" sz="2000" b="0" i="1" dirty="0" smtClean="0">
                            <a:latin typeface="Cambria Math" panose="02040503050406030204" pitchFamily="18" charset="0"/>
                          </a:rPr>
                        </m:ctrlPr>
                      </m:dPr>
                      <m:e>
                        <m:sSup>
                          <m:sSupPr>
                            <m:ctrlPr>
                              <a:rPr lang="en-US" sz="2000" b="0" i="1" dirty="0" smtClean="0">
                                <a:latin typeface="Cambria Math" panose="02040503050406030204" pitchFamily="18" charset="0"/>
                              </a:rPr>
                            </m:ctrlPr>
                          </m:sSupPr>
                          <m:e>
                            <m:r>
                              <a:rPr lang="pl-PL" sz="2000" i="1" dirty="0" smtClean="0">
                                <a:latin typeface="Cambria Math" panose="02040503050406030204" pitchFamily="18" charset="0"/>
                              </a:rPr>
                              <m:t>𝜓</m:t>
                            </m:r>
                          </m:e>
                          <m:sup>
                            <m:d>
                              <m:dPr>
                                <m:ctrlPr>
                                  <a:rPr lang="pl-PL" sz="2000" i="1" dirty="0">
                                    <a:latin typeface="Cambria Math" panose="02040503050406030204" pitchFamily="18" charset="0"/>
                                  </a:rPr>
                                </m:ctrlPr>
                              </m:dPr>
                              <m:e>
                                <m:r>
                                  <a:rPr lang="pl-PL" sz="2000" i="1" dirty="0">
                                    <a:latin typeface="Cambria Math" panose="02040503050406030204" pitchFamily="18" charset="0"/>
                                  </a:rPr>
                                  <m:t>𝑚</m:t>
                                </m:r>
                              </m:e>
                            </m:d>
                          </m:sup>
                        </m:sSup>
                      </m:e>
                    </m:d>
                    <m:r>
                      <a:rPr lang="pl-PL" sz="2000" i="1" dirty="0" smtClean="0">
                        <a:latin typeface="Cambria Math" panose="02040503050406030204" pitchFamily="18" charset="0"/>
                      </a:rPr>
                      <m:t>= </m:t>
                    </m:r>
                    <m:r>
                      <a:rPr lang="pl-PL" sz="2000" i="1" dirty="0" smtClean="0">
                        <a:latin typeface="Cambria Math" panose="02040503050406030204" pitchFamily="18" charset="0"/>
                        <a:ea typeface="Cambria Math" panose="02040503050406030204" pitchFamily="18" charset="0"/>
                      </a:rPr>
                      <m:t>𝒲</m:t>
                    </m:r>
                    <m:d>
                      <m:dPr>
                        <m:ctrlPr>
                          <a:rPr lang="pl-PL" sz="2000" i="1" dirty="0" smtClean="0">
                            <a:latin typeface="Cambria Math" panose="02040503050406030204" pitchFamily="18" charset="0"/>
                            <a:ea typeface="Cambria Math" panose="02040503050406030204" pitchFamily="18" charset="0"/>
                          </a:rPr>
                        </m:ctrlPr>
                      </m:dPr>
                      <m:e>
                        <m:sSub>
                          <m:sSubPr>
                            <m:ctrlPr>
                              <a:rPr lang="en-US" sz="2000" b="0" i="1" dirty="0" smtClean="0">
                                <a:latin typeface="Cambria Math" panose="02040503050406030204" pitchFamily="18" charset="0"/>
                              </a:rPr>
                            </m:ctrlPr>
                          </m:sSubPr>
                          <m:e>
                            <m:r>
                              <a:rPr lang="pl-PL" sz="2000" i="1" dirty="0" smtClean="0">
                                <a:latin typeface="Cambria Math" panose="02040503050406030204" pitchFamily="18" charset="0"/>
                              </a:rPr>
                              <m:t>𝑔</m:t>
                            </m:r>
                          </m:e>
                          <m:sub>
                            <m:r>
                              <a:rPr lang="pl-PL" sz="2000" i="1" dirty="0" smtClean="0">
                                <a:latin typeface="Cambria Math" panose="02040503050406030204" pitchFamily="18" charset="0"/>
                              </a:rPr>
                              <m:t>𝑚</m:t>
                            </m:r>
                          </m:sub>
                        </m:sSub>
                      </m:e>
                    </m:d>
                    <m:r>
                      <a:rPr lang="en-US" sz="2000" b="0" i="1" dirty="0" smtClean="0">
                        <a:latin typeface="Cambria Math" panose="02040503050406030204" pitchFamily="18" charset="0"/>
                      </a:rPr>
                      <m:t>…</m:t>
                    </m:r>
                    <m:r>
                      <a:rPr lang="pl-PL" sz="2000" i="1" dirty="0">
                        <a:latin typeface="Cambria Math" panose="02040503050406030204" pitchFamily="18" charset="0"/>
                        <a:ea typeface="Cambria Math" panose="02040503050406030204" pitchFamily="18" charset="0"/>
                      </a:rPr>
                      <m:t>𝒲</m:t>
                    </m:r>
                    <m:r>
                      <a:rPr lang="pl-PL"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pl-PL" sz="2000" i="1" dirty="0" smtClean="0">
                            <a:latin typeface="Cambria Math" panose="02040503050406030204" pitchFamily="18" charset="0"/>
                          </a:rPr>
                          <m:t>𝑔</m:t>
                        </m:r>
                      </m:e>
                      <m:sub>
                        <m:r>
                          <a:rPr lang="pl-PL" sz="2000" i="1" dirty="0" smtClean="0">
                            <a:latin typeface="Cambria Math" panose="02040503050406030204" pitchFamily="18" charset="0"/>
                          </a:rPr>
                          <m:t>2</m:t>
                        </m:r>
                      </m:sub>
                    </m:sSub>
                    <m:r>
                      <a:rPr lang="pl-PL" sz="2000" i="1" dirty="0" smtClean="0">
                        <a:latin typeface="Cambria Math" panose="02040503050406030204" pitchFamily="18" charset="0"/>
                      </a:rPr>
                      <m:t>)</m:t>
                    </m:r>
                    <m:r>
                      <a:rPr lang="pl-PL" sz="2000" i="1" dirty="0">
                        <a:latin typeface="Cambria Math" panose="02040503050406030204" pitchFamily="18" charset="0"/>
                        <a:ea typeface="Cambria Math" panose="02040503050406030204" pitchFamily="18" charset="0"/>
                      </a:rPr>
                      <m:t>𝒲</m:t>
                    </m:r>
                    <m:r>
                      <a:rPr lang="pl-PL"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pl-PL" sz="2000" i="1" dirty="0" smtClean="0">
                            <a:latin typeface="Cambria Math" panose="02040503050406030204" pitchFamily="18" charset="0"/>
                          </a:rPr>
                          <m:t>𝑔</m:t>
                        </m:r>
                      </m:e>
                      <m:sub>
                        <m:r>
                          <a:rPr lang="pl-PL" sz="2000" i="1" dirty="0" smtClean="0">
                            <a:latin typeface="Cambria Math" panose="02040503050406030204" pitchFamily="18" charset="0"/>
                          </a:rPr>
                          <m:t>1</m:t>
                        </m:r>
                      </m:sub>
                    </m:sSub>
                    <m:r>
                      <a:rPr lang="pl-PL" sz="2000" i="1" dirty="0" smtClean="0">
                        <a:latin typeface="Cambria Math" panose="02040503050406030204" pitchFamily="18" charset="0"/>
                      </a:rPr>
                      <m:t>)|</m:t>
                    </m:r>
                    <m:sSup>
                      <m:sSupPr>
                        <m:ctrlPr>
                          <a:rPr lang="en-US" sz="2000" b="0" i="1" dirty="0" smtClean="0">
                            <a:latin typeface="Cambria Math" panose="02040503050406030204" pitchFamily="18" charset="0"/>
                          </a:rPr>
                        </m:ctrlPr>
                      </m:sSupPr>
                      <m:e>
                        <m:r>
                          <a:rPr lang="pl-PL" sz="2000" i="1" dirty="0" smtClean="0">
                            <a:latin typeface="Cambria Math" panose="02040503050406030204" pitchFamily="18" charset="0"/>
                          </a:rPr>
                          <m:t>𝜓</m:t>
                        </m:r>
                      </m:e>
                      <m:sup>
                        <m:r>
                          <a:rPr lang="pl-PL" sz="2000" i="1" dirty="0">
                            <a:latin typeface="Cambria Math" panose="02040503050406030204" pitchFamily="18" charset="0"/>
                          </a:rPr>
                          <m:t>(0)</m:t>
                        </m:r>
                      </m:sup>
                    </m:sSup>
                    <m:r>
                      <a:rPr lang="pl-PL" sz="2000" i="1" dirty="0" smtClean="0">
                        <a:latin typeface="Cambria Math" panose="02040503050406030204" pitchFamily="18" charset="0"/>
                      </a:rPr>
                      <m:t>⟩</m:t>
                    </m:r>
                  </m:oMath>
                </a14:m>
                <a:r>
                  <a:rPr lang="en-US" sz="2000" dirty="0"/>
                  <a:t>  (2.1)</a:t>
                </a:r>
              </a:p>
            </p:txBody>
          </p:sp>
        </mc:Choice>
        <mc:Fallback xmlns="">
          <p:sp>
            <p:nvSpPr>
              <p:cNvPr id="3" name="Content Placeholder 2">
                <a:extLst>
                  <a:ext uri="{FF2B5EF4-FFF2-40B4-BE49-F238E27FC236}">
                    <a16:creationId xmlns:a16="http://schemas.microsoft.com/office/drawing/2014/main" id="{B19ABE96-9CF6-D01E-1067-2C430BA8AFE7}"/>
                  </a:ext>
                </a:extLst>
              </p:cNvPr>
              <p:cNvSpPr>
                <a:spLocks noGrp="1" noRot="1" noChangeAspect="1" noMove="1" noResize="1" noEditPoints="1" noAdjustHandles="1" noChangeArrowheads="1" noChangeShapeType="1" noTextEdit="1"/>
              </p:cNvSpPr>
              <p:nvPr>
                <p:ph idx="1"/>
              </p:nvPr>
            </p:nvSpPr>
            <p:spPr>
              <a:xfrm>
                <a:off x="496002" y="4259021"/>
                <a:ext cx="5009448" cy="601225"/>
              </a:xfrm>
              <a:blipFill>
                <a:blip r:embed="rId4"/>
                <a:stretch>
                  <a:fillRect t="-4167"/>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606B0A32-4BDF-6501-E5E3-EA2E65442EEF}"/>
              </a:ext>
            </a:extLst>
          </p:cNvPr>
          <p:cNvSpPr>
            <a:spLocks noGrp="1"/>
          </p:cNvSpPr>
          <p:nvPr>
            <p:ph type="sldNum" sz="quarter" idx="12"/>
          </p:nvPr>
        </p:nvSpPr>
        <p:spPr/>
        <p:txBody>
          <a:bodyPr/>
          <a:lstStyle/>
          <a:p>
            <a:fld id="{3C0C221A-CB66-4297-9A52-937C35126D0C}" type="slidenum">
              <a:rPr lang="en-US" smtClean="0"/>
              <a:t>9</a:t>
            </a:fld>
            <a:endParaRPr lang="en-US"/>
          </a:p>
        </p:txBody>
      </p:sp>
      <p:sp>
        <p:nvSpPr>
          <p:cNvPr id="7" name="Rectangle 6">
            <a:extLst>
              <a:ext uri="{FF2B5EF4-FFF2-40B4-BE49-F238E27FC236}">
                <a16:creationId xmlns:a16="http://schemas.microsoft.com/office/drawing/2014/main" id="{1D8C7771-DF26-F8C4-8270-6D1C4C3E1EDC}"/>
              </a:ext>
            </a:extLst>
          </p:cNvPr>
          <p:cNvSpPr>
            <a:spLocks/>
          </p:cNvSpPr>
          <p:nvPr/>
        </p:nvSpPr>
        <p:spPr>
          <a:xfrm>
            <a:off x="9080500" y="977901"/>
            <a:ext cx="1028919" cy="933450"/>
          </a:xfrm>
          <a:prstGeom prst="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2FAE1B27-1145-FD91-7129-4BD037634A0D}"/>
              </a:ext>
            </a:extLst>
          </p:cNvPr>
          <p:cNvPicPr>
            <a:picLocks noChangeAspect="1"/>
          </p:cNvPicPr>
          <p:nvPr/>
        </p:nvPicPr>
        <p:blipFill>
          <a:blip r:embed="rId3"/>
          <a:srcRect t="94362" r="65673" b="845"/>
          <a:stretch/>
        </p:blipFill>
        <p:spPr>
          <a:xfrm>
            <a:off x="5505450" y="5456708"/>
            <a:ext cx="2399794" cy="402975"/>
          </a:xfrm>
          <a:prstGeom prst="rect">
            <a:avLst/>
          </a:prstGeom>
        </p:spPr>
      </p:pic>
      <p:pic>
        <p:nvPicPr>
          <p:cNvPr id="13" name="Picture 12">
            <a:extLst>
              <a:ext uri="{FF2B5EF4-FFF2-40B4-BE49-F238E27FC236}">
                <a16:creationId xmlns:a16="http://schemas.microsoft.com/office/drawing/2014/main" id="{E8F12B16-0F11-CBCD-E21D-1A6AAEF91511}"/>
              </a:ext>
            </a:extLst>
          </p:cNvPr>
          <p:cNvPicPr>
            <a:picLocks noChangeAspect="1"/>
          </p:cNvPicPr>
          <p:nvPr/>
        </p:nvPicPr>
        <p:blipFill>
          <a:blip r:embed="rId3"/>
          <a:srcRect l="9422" t="62592" r="52956" b="5845"/>
          <a:stretch/>
        </p:blipFill>
        <p:spPr>
          <a:xfrm>
            <a:off x="8455052" y="3181214"/>
            <a:ext cx="2571530" cy="2594439"/>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11A431F-B5E8-A1A4-A1EB-C3BCFC926D85}"/>
                  </a:ext>
                </a:extLst>
              </p:cNvPr>
              <p:cNvSpPr txBox="1"/>
              <p:nvPr/>
            </p:nvSpPr>
            <p:spPr>
              <a:xfrm>
                <a:off x="247650" y="4754164"/>
                <a:ext cx="5397500" cy="710707"/>
              </a:xfrm>
              <a:prstGeom prst="rect">
                <a:avLst/>
              </a:prstGeom>
              <a:noFill/>
            </p:spPr>
            <p:txBody>
              <a:bodyPr wrap="square">
                <a:spAutoFit/>
              </a:bodyPr>
              <a:lstStyle/>
              <a:p>
                <a:r>
                  <a:rPr lang="en-US" dirty="0"/>
                  <a:t>The transition function </a:t>
                </a:r>
                <a14:m>
                  <m:oMath xmlns:m="http://schemas.openxmlformats.org/officeDocument/2006/math">
                    <m:r>
                      <a:rPr lang="pl-PL" sz="1800" i="1" dirty="0" smtClean="0">
                        <a:latin typeface="Cambria Math" panose="02040503050406030204" pitchFamily="18" charset="0"/>
                        <a:ea typeface="Cambria Math" panose="02040503050406030204" pitchFamily="18" charset="0"/>
                      </a:rPr>
                      <m:t>𝒲</m:t>
                    </m:r>
                    <m:d>
                      <m:dPr>
                        <m:ctrlPr>
                          <a:rPr lang="en-US" sz="1800" b="0" i="1" dirty="0" smtClean="0">
                            <a:latin typeface="Cambria Math" panose="02040503050406030204" pitchFamily="18" charset="0"/>
                            <a:ea typeface="Cambria Math" panose="02040503050406030204" pitchFamily="18" charset="0"/>
                          </a:rPr>
                        </m:ctrlPr>
                      </m:dPr>
                      <m:e>
                        <m:sSub>
                          <m:sSubPr>
                            <m:ctrlPr>
                              <a:rPr lang="en-US" sz="1800" b="0" i="1" dirty="0" smtClean="0">
                                <a:latin typeface="Cambria Math" panose="02040503050406030204" pitchFamily="18" charset="0"/>
                                <a:ea typeface="Cambria Math" panose="02040503050406030204" pitchFamily="18" charset="0"/>
                              </a:rPr>
                            </m:ctrlPr>
                          </m:sSubPr>
                          <m:e>
                            <m:r>
                              <a:rPr lang="en-US" sz="1800" b="0" i="1" dirty="0" smtClean="0">
                                <a:latin typeface="Cambria Math" panose="02040503050406030204" pitchFamily="18" charset="0"/>
                                <a:ea typeface="Cambria Math" panose="02040503050406030204" pitchFamily="18" charset="0"/>
                              </a:rPr>
                              <m:t>𝑔</m:t>
                            </m:r>
                          </m:e>
                          <m:sub>
                            <m:r>
                              <a:rPr lang="en-US" sz="1800" b="0" i="1" dirty="0" smtClean="0">
                                <a:latin typeface="Cambria Math" panose="02040503050406030204" pitchFamily="18" charset="0"/>
                                <a:ea typeface="Cambria Math" panose="02040503050406030204" pitchFamily="18" charset="0"/>
                              </a:rPr>
                              <m:t>𝑗</m:t>
                            </m:r>
                          </m:sub>
                        </m:sSub>
                      </m:e>
                    </m:d>
                  </m:oMath>
                </a14:m>
                <a:r>
                  <a:rPr lang="en-US" dirty="0"/>
                  <a:t> updates amplitudes </a:t>
                </a:r>
                <a14:m>
                  <m:oMath xmlns:m="http://schemas.openxmlformats.org/officeDocument/2006/math">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l-GR" i="1" dirty="0">
                            <a:latin typeface="Cambria Math" panose="02040503050406030204" pitchFamily="18" charset="0"/>
                          </a:rPr>
                          <m:t>𝛼</m:t>
                        </m:r>
                      </m:e>
                      <m:sub>
                        <m:r>
                          <a:rPr lang="en-US" i="1" dirty="0">
                            <a:latin typeface="Cambria Math" panose="02040503050406030204" pitchFamily="18" charset="0"/>
                          </a:rPr>
                          <m:t>𝑗</m:t>
                        </m:r>
                      </m:sub>
                    </m:sSub>
                    <m:r>
                      <a:rPr lang="en-US" i="1" dirty="0">
                        <a:latin typeface="Cambria Math" panose="02040503050406030204" pitchFamily="18" charset="0"/>
                      </a:rPr>
                      <m:t>}</m:t>
                    </m:r>
                  </m:oMath>
                </a14:m>
                <a:r>
                  <a:rPr lang="en-US" dirty="0"/>
                  <a:t> on the </a:t>
                </a:r>
                <a14:m>
                  <m:oMath xmlns:m="http://schemas.openxmlformats.org/officeDocument/2006/math">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𝑤</m:t>
                                </m:r>
                              </m:e>
                              <m:sub>
                                <m:r>
                                  <a:rPr lang="en-US" i="1" dirty="0" smtClean="0">
                                    <a:latin typeface="Cambria Math" panose="02040503050406030204" pitchFamily="18" charset="0"/>
                                  </a:rPr>
                                  <m:t>0</m:t>
                                </m:r>
                              </m:sub>
                            </m:sSub>
                          </m:e>
                        </m:d>
                      </m:e>
                      <m:sup>
                        <m:r>
                          <a:rPr lang="en-US" i="1" dirty="0">
                            <a:latin typeface="Cambria Math" panose="02040503050406030204" pitchFamily="18" charset="0"/>
                          </a:rPr>
                          <m:t>𝑡h</m:t>
                        </m:r>
                      </m:sup>
                    </m:sSup>
                  </m:oMath>
                </a14:m>
                <a:r>
                  <a:rPr lang="en-US" dirty="0"/>
                  <a:t> qubit: </a:t>
                </a:r>
              </a:p>
            </p:txBody>
          </p:sp>
        </mc:Choice>
        <mc:Fallback xmlns="">
          <p:sp>
            <p:nvSpPr>
              <p:cNvPr id="18" name="TextBox 17">
                <a:extLst>
                  <a:ext uri="{FF2B5EF4-FFF2-40B4-BE49-F238E27FC236}">
                    <a16:creationId xmlns:a16="http://schemas.microsoft.com/office/drawing/2014/main" id="{711A431F-B5E8-A1A4-A1EB-C3BCFC926D85}"/>
                  </a:ext>
                </a:extLst>
              </p:cNvPr>
              <p:cNvSpPr txBox="1">
                <a:spLocks noRot="1" noChangeAspect="1" noMove="1" noResize="1" noEditPoints="1" noAdjustHandles="1" noChangeArrowheads="1" noChangeShapeType="1" noTextEdit="1"/>
              </p:cNvSpPr>
              <p:nvPr/>
            </p:nvSpPr>
            <p:spPr>
              <a:xfrm>
                <a:off x="247650" y="4754164"/>
                <a:ext cx="5397500" cy="710707"/>
              </a:xfrm>
              <a:prstGeom prst="rect">
                <a:avLst/>
              </a:prstGeom>
              <a:blipFill>
                <a:blip r:embed="rId5"/>
                <a:stretch>
                  <a:fillRect l="-1017" t="-862" b="-120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3D13F56-8795-3035-B817-56B2302C99D1}"/>
                  </a:ext>
                </a:extLst>
              </p:cNvPr>
              <p:cNvSpPr txBox="1"/>
              <p:nvPr/>
            </p:nvSpPr>
            <p:spPr>
              <a:xfrm>
                <a:off x="419320" y="5560689"/>
                <a:ext cx="4317780" cy="9727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l-PL" sz="1800" i="1" dirty="0" smtClean="0">
                          <a:latin typeface="Cambria Math" panose="02040503050406030204" pitchFamily="18" charset="0"/>
                          <a:ea typeface="Cambria Math" panose="02040503050406030204" pitchFamily="18" charset="0"/>
                        </a:rPr>
                        <m:t>𝒲</m:t>
                      </m:r>
                      <m:d>
                        <m:dPr>
                          <m:ctrlPr>
                            <a:rPr lang="pl-PL" sz="1800" i="1" dirty="0" smtClean="0">
                              <a:latin typeface="Cambria Math" panose="02040503050406030204" pitchFamily="18" charset="0"/>
                              <a:ea typeface="Cambria Math" panose="02040503050406030204" pitchFamily="18" charset="0"/>
                            </a:rPr>
                          </m:ctrlPr>
                        </m:dPr>
                        <m:e>
                          <m:r>
                            <a:rPr lang="en-US" sz="1800" b="0" i="1" dirty="0" smtClean="0">
                              <a:latin typeface="Cambria Math" panose="02040503050406030204" pitchFamily="18" charset="0"/>
                            </a:rPr>
                            <m:t>𝑔</m:t>
                          </m:r>
                        </m:e>
                      </m:d>
                      <m:r>
                        <a:rPr lang="en-US" sz="1800" b="0" i="1" dirty="0" smtClean="0">
                          <a:latin typeface="Cambria Math" panose="02040503050406030204" pitchFamily="18" charset="0"/>
                        </a:rPr>
                        <m:t>:</m:t>
                      </m:r>
                      <m:d>
                        <m:dPr>
                          <m:begChr m:val="["/>
                          <m:endChr m:val="]"/>
                          <m:ctrlPr>
                            <a:rPr lang="en-US" sz="1800" b="0" i="1" dirty="0" smtClean="0">
                              <a:latin typeface="Cambria Math" panose="02040503050406030204" pitchFamily="18" charset="0"/>
                            </a:rPr>
                          </m:ctrlPr>
                        </m:dPr>
                        <m:e>
                          <m:m>
                            <m:mPr>
                              <m:mcs>
                                <m:mc>
                                  <m:mcPr>
                                    <m:count m:val="1"/>
                                    <m:mcJc m:val="center"/>
                                  </m:mcPr>
                                </m:mc>
                              </m:mcs>
                              <m:ctrlPr>
                                <a:rPr lang="en-US" sz="1800" b="0" i="1" dirty="0" smtClean="0">
                                  <a:latin typeface="Cambria Math" panose="02040503050406030204" pitchFamily="18" charset="0"/>
                                </a:rPr>
                              </m:ctrlPr>
                            </m:mPr>
                            <m:mr>
                              <m:e>
                                <m:sSubSup>
                                  <m:sSubSupPr>
                                    <m:ctrlPr>
                                      <a:rPr lang="en-US" sz="1800" b="0" i="1" dirty="0" smtClean="0">
                                        <a:latin typeface="Cambria Math" panose="02040503050406030204" pitchFamily="18" charset="0"/>
                                      </a:rPr>
                                    </m:ctrlPr>
                                  </m:sSubSupPr>
                                  <m:e>
                                    <m:r>
                                      <a:rPr lang="en-US" sz="1800" b="0" i="1" dirty="0" smtClean="0">
                                        <a:latin typeface="Cambria Math" panose="02040503050406030204" pitchFamily="18" charset="0"/>
                                      </a:rPr>
                                      <m:t>𝛼</m:t>
                                    </m:r>
                                  </m:e>
                                  <m:sub>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𝑠</m:t>
                                        </m:r>
                                      </m:e>
                                      <m:sub>
                                        <m:r>
                                          <a:rPr lang="en-US" sz="1800" b="0" i="1" dirty="0" smtClean="0">
                                            <a:latin typeface="Cambria Math" panose="02040503050406030204" pitchFamily="18" charset="0"/>
                                          </a:rPr>
                                          <m:t>𝑖</m:t>
                                        </m:r>
                                      </m:sub>
                                    </m:sSub>
                                  </m:sub>
                                  <m:sup>
                                    <m:d>
                                      <m:dPr>
                                        <m:ctrlPr>
                                          <a:rPr lang="en-US" sz="1800" b="0" i="1" dirty="0" smtClean="0">
                                            <a:latin typeface="Cambria Math" panose="02040503050406030204" pitchFamily="18" charset="0"/>
                                          </a:rPr>
                                        </m:ctrlPr>
                                      </m:dPr>
                                      <m:e>
                                        <m:r>
                                          <a:rPr lang="en-US" sz="1800" b="0" i="1" dirty="0" smtClean="0">
                                            <a:latin typeface="Cambria Math" panose="02040503050406030204" pitchFamily="18" charset="0"/>
                                          </a:rPr>
                                          <m:t>𝑡</m:t>
                                        </m:r>
                                      </m:e>
                                    </m:d>
                                  </m:sup>
                                </m:sSubSup>
                              </m:e>
                            </m:mr>
                            <m:mr>
                              <m:e>
                                <m:sSubSup>
                                  <m:sSubSupPr>
                                    <m:ctrlPr>
                                      <a:rPr lang="en-US" i="1" dirty="0">
                                        <a:latin typeface="Cambria Math" panose="02040503050406030204" pitchFamily="18" charset="0"/>
                                      </a:rPr>
                                    </m:ctrlPr>
                                  </m:sSubSupPr>
                                  <m:e>
                                    <m:r>
                                      <a:rPr lang="en-US" i="1" dirty="0">
                                        <a:latin typeface="Cambria Math" panose="02040503050406030204" pitchFamily="18" charset="0"/>
                                      </a:rPr>
                                      <m:t>𝛼</m:t>
                                    </m:r>
                                  </m:e>
                                  <m:sub>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𝑖</m:t>
                                        </m:r>
                                      </m:sub>
                                    </m:sSub>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2</m:t>
                                        </m:r>
                                      </m:e>
                                      <m:sup>
                                        <m:r>
                                          <a:rPr lang="en-US" b="0" i="1" dirty="0" smtClean="0">
                                            <a:latin typeface="Cambria Math" panose="02040503050406030204" pitchFamily="18" charset="0"/>
                                          </a:rPr>
                                          <m:t>𝑤</m:t>
                                        </m:r>
                                      </m:sup>
                                    </m:sSup>
                                  </m:sub>
                                  <m:sup>
                                    <m:d>
                                      <m:dPr>
                                        <m:ctrlPr>
                                          <a:rPr lang="en-US" i="1" dirty="0">
                                            <a:latin typeface="Cambria Math" panose="02040503050406030204" pitchFamily="18" charset="0"/>
                                          </a:rPr>
                                        </m:ctrlPr>
                                      </m:dPr>
                                      <m:e>
                                        <m:r>
                                          <a:rPr lang="en-US" i="1" dirty="0">
                                            <a:latin typeface="Cambria Math" panose="02040503050406030204" pitchFamily="18" charset="0"/>
                                          </a:rPr>
                                          <m:t>𝑡</m:t>
                                        </m:r>
                                      </m:e>
                                    </m:d>
                                  </m:sup>
                                </m:sSubSup>
                              </m:e>
                            </m:mr>
                          </m:m>
                        </m:e>
                      </m:d>
                      <m:r>
                        <a:rPr lang="en-US" sz="1800" b="0" i="1" dirty="0" smtClean="0">
                          <a:latin typeface="Cambria Math" panose="02040503050406030204" pitchFamily="18" charset="0"/>
                        </a:rPr>
                        <m:t>→</m:t>
                      </m:r>
                      <m:r>
                        <a:rPr lang="en-US" sz="1800" b="0" i="1" dirty="0" smtClean="0">
                          <a:latin typeface="Cambria Math" panose="02040503050406030204" pitchFamily="18" charset="0"/>
                        </a:rPr>
                        <m:t>𝑔</m:t>
                      </m:r>
                      <m:d>
                        <m:dPr>
                          <m:begChr m:val="["/>
                          <m:endChr m:val="]"/>
                          <m:ctrlPr>
                            <a:rPr lang="en-US" i="1" dirty="0">
                              <a:latin typeface="Cambria Math" panose="02040503050406030204" pitchFamily="18" charset="0"/>
                            </a:rPr>
                          </m:ctrlPr>
                        </m:dPr>
                        <m:e>
                          <m:m>
                            <m:mPr>
                              <m:mcs>
                                <m:mc>
                                  <m:mcPr>
                                    <m:count m:val="1"/>
                                    <m:mcJc m:val="center"/>
                                  </m:mcPr>
                                </m:mc>
                              </m:mcs>
                              <m:ctrlPr>
                                <a:rPr lang="en-US" i="1" dirty="0">
                                  <a:latin typeface="Cambria Math" panose="02040503050406030204" pitchFamily="18" charset="0"/>
                                </a:rPr>
                              </m:ctrlPr>
                            </m:mPr>
                            <m:mr>
                              <m:e>
                                <m:sSubSup>
                                  <m:sSubSupPr>
                                    <m:ctrlPr>
                                      <a:rPr lang="en-US" i="1" dirty="0">
                                        <a:latin typeface="Cambria Math" panose="02040503050406030204" pitchFamily="18" charset="0"/>
                                      </a:rPr>
                                    </m:ctrlPr>
                                  </m:sSubSupPr>
                                  <m:e>
                                    <m:r>
                                      <a:rPr lang="en-US" i="1" dirty="0">
                                        <a:latin typeface="Cambria Math" panose="02040503050406030204" pitchFamily="18" charset="0"/>
                                      </a:rPr>
                                      <m:t>𝛼</m:t>
                                    </m:r>
                                  </m:e>
                                  <m:sub>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𝑖</m:t>
                                        </m:r>
                                      </m:sub>
                                    </m:sSub>
                                  </m:sub>
                                  <m:sup>
                                    <m:d>
                                      <m:dPr>
                                        <m:ctrlPr>
                                          <a:rPr lang="en-US" i="1" dirty="0">
                                            <a:latin typeface="Cambria Math" panose="02040503050406030204" pitchFamily="18" charset="0"/>
                                          </a:rPr>
                                        </m:ctrlPr>
                                      </m:dPr>
                                      <m:e>
                                        <m:r>
                                          <a:rPr lang="en-US" i="1" dirty="0">
                                            <a:latin typeface="Cambria Math" panose="02040503050406030204" pitchFamily="18" charset="0"/>
                                          </a:rPr>
                                          <m:t>𝑡</m:t>
                                        </m:r>
                                      </m:e>
                                    </m:d>
                                  </m:sup>
                                </m:sSubSup>
                              </m:e>
                            </m:mr>
                            <m:mr>
                              <m:e>
                                <m:sSubSup>
                                  <m:sSubSupPr>
                                    <m:ctrlPr>
                                      <a:rPr lang="en-US" i="1" dirty="0">
                                        <a:latin typeface="Cambria Math" panose="02040503050406030204" pitchFamily="18" charset="0"/>
                                      </a:rPr>
                                    </m:ctrlPr>
                                  </m:sSubSupPr>
                                  <m:e>
                                    <m:r>
                                      <a:rPr lang="en-US" i="1" dirty="0">
                                        <a:latin typeface="Cambria Math" panose="02040503050406030204" pitchFamily="18" charset="0"/>
                                      </a:rPr>
                                      <m:t>𝛼</m:t>
                                    </m:r>
                                  </m:e>
                                  <m:sub>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𝑖</m:t>
                                        </m:r>
                                      </m:sub>
                                    </m:sSub>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2</m:t>
                                        </m:r>
                                      </m:e>
                                      <m:sup>
                                        <m:r>
                                          <a:rPr lang="en-US" i="1" dirty="0">
                                            <a:latin typeface="Cambria Math" panose="02040503050406030204" pitchFamily="18" charset="0"/>
                                          </a:rPr>
                                          <m:t>𝑤</m:t>
                                        </m:r>
                                      </m:sup>
                                    </m:sSup>
                                  </m:sub>
                                  <m:sup>
                                    <m:d>
                                      <m:dPr>
                                        <m:ctrlPr>
                                          <a:rPr lang="en-US" i="1" dirty="0">
                                            <a:latin typeface="Cambria Math" panose="02040503050406030204" pitchFamily="18" charset="0"/>
                                          </a:rPr>
                                        </m:ctrlPr>
                                      </m:dPr>
                                      <m:e>
                                        <m:r>
                                          <a:rPr lang="en-US" i="1" dirty="0">
                                            <a:latin typeface="Cambria Math" panose="02040503050406030204" pitchFamily="18" charset="0"/>
                                          </a:rPr>
                                          <m:t>𝑡</m:t>
                                        </m:r>
                                      </m:e>
                                    </m:d>
                                  </m:sup>
                                </m:sSubSup>
                              </m:e>
                            </m:mr>
                          </m:m>
                        </m:e>
                      </m:d>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m>
                            <m:mPr>
                              <m:mcs>
                                <m:mc>
                                  <m:mcPr>
                                    <m:count m:val="1"/>
                                    <m:mcJc m:val="center"/>
                                  </m:mcPr>
                                </m:mc>
                              </m:mcs>
                              <m:ctrlPr>
                                <a:rPr lang="en-US" i="1" dirty="0">
                                  <a:latin typeface="Cambria Math" panose="02040503050406030204" pitchFamily="18" charset="0"/>
                                </a:rPr>
                              </m:ctrlPr>
                            </m:mPr>
                            <m:mr>
                              <m:e>
                                <m:sSubSup>
                                  <m:sSubSupPr>
                                    <m:ctrlPr>
                                      <a:rPr lang="en-US" i="1" dirty="0">
                                        <a:latin typeface="Cambria Math" panose="02040503050406030204" pitchFamily="18" charset="0"/>
                                      </a:rPr>
                                    </m:ctrlPr>
                                  </m:sSubSupPr>
                                  <m:e>
                                    <m:r>
                                      <a:rPr lang="en-US" i="1" dirty="0">
                                        <a:latin typeface="Cambria Math" panose="02040503050406030204" pitchFamily="18" charset="0"/>
                                      </a:rPr>
                                      <m:t>𝛼</m:t>
                                    </m:r>
                                  </m:e>
                                  <m:sub>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𝑖</m:t>
                                        </m:r>
                                      </m:sub>
                                    </m:sSub>
                                  </m:sub>
                                  <m:sup>
                                    <m:d>
                                      <m:dPr>
                                        <m:ctrlPr>
                                          <a:rPr lang="en-US" i="1" dirty="0">
                                            <a:latin typeface="Cambria Math" panose="02040503050406030204" pitchFamily="18" charset="0"/>
                                          </a:rPr>
                                        </m:ctrlPr>
                                      </m:dPr>
                                      <m:e>
                                        <m:r>
                                          <a:rPr lang="en-US" i="1" dirty="0">
                                            <a:latin typeface="Cambria Math" panose="02040503050406030204" pitchFamily="18" charset="0"/>
                                          </a:rPr>
                                          <m:t>𝑡</m:t>
                                        </m:r>
                                        <m:r>
                                          <a:rPr lang="en-US" b="0" i="1" dirty="0" smtClean="0">
                                            <a:latin typeface="Cambria Math" panose="02040503050406030204" pitchFamily="18" charset="0"/>
                                          </a:rPr>
                                          <m:t>+1</m:t>
                                        </m:r>
                                      </m:e>
                                    </m:d>
                                  </m:sup>
                                </m:sSubSup>
                              </m:e>
                            </m:mr>
                            <m:mr>
                              <m:e>
                                <m:sSubSup>
                                  <m:sSubSupPr>
                                    <m:ctrlPr>
                                      <a:rPr lang="en-US" i="1" dirty="0">
                                        <a:latin typeface="Cambria Math" panose="02040503050406030204" pitchFamily="18" charset="0"/>
                                      </a:rPr>
                                    </m:ctrlPr>
                                  </m:sSubSupPr>
                                  <m:e>
                                    <m:r>
                                      <a:rPr lang="en-US" i="1" dirty="0">
                                        <a:latin typeface="Cambria Math" panose="02040503050406030204" pitchFamily="18" charset="0"/>
                                      </a:rPr>
                                      <m:t>𝛼</m:t>
                                    </m:r>
                                  </m:e>
                                  <m:sub>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𝑖</m:t>
                                        </m:r>
                                      </m:sub>
                                    </m:sSub>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2</m:t>
                                        </m:r>
                                      </m:e>
                                      <m:sup>
                                        <m:r>
                                          <a:rPr lang="en-US" i="1" dirty="0">
                                            <a:latin typeface="Cambria Math" panose="02040503050406030204" pitchFamily="18" charset="0"/>
                                          </a:rPr>
                                          <m:t>𝑤</m:t>
                                        </m:r>
                                      </m:sup>
                                    </m:sSup>
                                  </m:sub>
                                  <m:sup>
                                    <m:d>
                                      <m:dPr>
                                        <m:ctrlPr>
                                          <a:rPr lang="en-US" i="1" dirty="0">
                                            <a:latin typeface="Cambria Math" panose="02040503050406030204" pitchFamily="18" charset="0"/>
                                          </a:rPr>
                                        </m:ctrlPr>
                                      </m:dPr>
                                      <m:e>
                                        <m:r>
                                          <a:rPr lang="en-US" i="1" dirty="0">
                                            <a:latin typeface="Cambria Math" panose="02040503050406030204" pitchFamily="18" charset="0"/>
                                          </a:rPr>
                                          <m:t>𝑡</m:t>
                                        </m:r>
                                        <m:r>
                                          <a:rPr lang="en-US" b="0" i="1" dirty="0" smtClean="0">
                                            <a:latin typeface="Cambria Math" panose="02040503050406030204" pitchFamily="18" charset="0"/>
                                          </a:rPr>
                                          <m:t>+1</m:t>
                                        </m:r>
                                      </m:e>
                                    </m:d>
                                  </m:sup>
                                </m:sSubSup>
                              </m:e>
                            </m:mr>
                          </m:m>
                        </m:e>
                      </m:d>
                    </m:oMath>
                  </m:oMathPara>
                </a14:m>
                <a:endParaRPr lang="en-US" dirty="0"/>
              </a:p>
            </p:txBody>
          </p:sp>
        </mc:Choice>
        <mc:Fallback xmlns="">
          <p:sp>
            <p:nvSpPr>
              <p:cNvPr id="22" name="TextBox 21">
                <a:extLst>
                  <a:ext uri="{FF2B5EF4-FFF2-40B4-BE49-F238E27FC236}">
                    <a16:creationId xmlns:a16="http://schemas.microsoft.com/office/drawing/2014/main" id="{33D13F56-8795-3035-B817-56B2302C99D1}"/>
                  </a:ext>
                </a:extLst>
              </p:cNvPr>
              <p:cNvSpPr txBox="1">
                <a:spLocks noRot="1" noChangeAspect="1" noMove="1" noResize="1" noEditPoints="1" noAdjustHandles="1" noChangeArrowheads="1" noChangeShapeType="1" noTextEdit="1"/>
              </p:cNvSpPr>
              <p:nvPr/>
            </p:nvSpPr>
            <p:spPr>
              <a:xfrm>
                <a:off x="419320" y="5560689"/>
                <a:ext cx="4317780" cy="972702"/>
              </a:xfrm>
              <a:prstGeom prst="rect">
                <a:avLst/>
              </a:prstGeom>
              <a:blipFill>
                <a:blip r:embed="rId6"/>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F55D7801-751D-E889-D139-80A11B24E7DD}"/>
              </a:ext>
            </a:extLst>
          </p:cNvPr>
          <p:cNvSpPr txBox="1"/>
          <p:nvPr/>
        </p:nvSpPr>
        <p:spPr>
          <a:xfrm>
            <a:off x="5432435" y="5863800"/>
            <a:ext cx="6505769" cy="646331"/>
          </a:xfrm>
          <a:prstGeom prst="rect">
            <a:avLst/>
          </a:prstGeom>
          <a:noFill/>
        </p:spPr>
        <p:txBody>
          <a:bodyPr wrap="square">
            <a:spAutoFit/>
          </a:bodyPr>
          <a:lstStyle/>
          <a:p>
            <a:r>
              <a:rPr lang="en-US" b="1" dirty="0">
                <a:solidFill>
                  <a:srgbClr val="FF0000"/>
                </a:solidFill>
              </a:rPr>
              <a:t>Algorithm 2.1</a:t>
            </a:r>
            <a:r>
              <a:rPr lang="en-US" dirty="0"/>
              <a:t>. The implementation of single- and multiple-qubit gates is unified into a common framework </a:t>
            </a:r>
          </a:p>
        </p:txBody>
      </p:sp>
      <p:sp>
        <p:nvSpPr>
          <p:cNvPr id="26" name="TextBox 25">
            <a:extLst>
              <a:ext uri="{FF2B5EF4-FFF2-40B4-BE49-F238E27FC236}">
                <a16:creationId xmlns:a16="http://schemas.microsoft.com/office/drawing/2014/main" id="{2B76A0B0-8B9A-C14E-5880-333F4B1D611B}"/>
              </a:ext>
            </a:extLst>
          </p:cNvPr>
          <p:cNvSpPr txBox="1"/>
          <p:nvPr/>
        </p:nvSpPr>
        <p:spPr>
          <a:xfrm>
            <a:off x="4737100" y="5862099"/>
            <a:ext cx="838200" cy="369332"/>
          </a:xfrm>
          <a:prstGeom prst="rect">
            <a:avLst/>
          </a:prstGeom>
          <a:noFill/>
        </p:spPr>
        <p:txBody>
          <a:bodyPr wrap="square">
            <a:spAutoFit/>
          </a:bodyPr>
          <a:lstStyle/>
          <a:p>
            <a:r>
              <a:rPr lang="en-US" sz="1800" dirty="0"/>
              <a:t>(2.2)</a:t>
            </a:r>
            <a:endParaRPr lang="en-US" dirty="0"/>
          </a:p>
        </p:txBody>
      </p:sp>
      <mc:AlternateContent xmlns:mc="http://schemas.openxmlformats.org/markup-compatibility/2006" xmlns:a14="http://schemas.microsoft.com/office/drawing/2010/main">
        <mc:Choice Requires="a14">
          <p:graphicFrame>
            <p:nvGraphicFramePr>
              <p:cNvPr id="27" name="Table 26">
                <a:extLst>
                  <a:ext uri="{FF2B5EF4-FFF2-40B4-BE49-F238E27FC236}">
                    <a16:creationId xmlns:a16="http://schemas.microsoft.com/office/drawing/2014/main" id="{A024088B-E2AB-E5D3-735D-4DE7E0F54D3F}"/>
                  </a:ext>
                </a:extLst>
              </p:cNvPr>
              <p:cNvGraphicFramePr>
                <a:graphicFrameLocks noGrp="1"/>
              </p:cNvGraphicFramePr>
              <p:nvPr/>
            </p:nvGraphicFramePr>
            <p:xfrm>
              <a:off x="364946" y="1822814"/>
              <a:ext cx="5009448" cy="1883835"/>
            </p:xfrm>
            <a:graphic>
              <a:graphicData uri="http://schemas.openxmlformats.org/drawingml/2006/table">
                <a:tbl>
                  <a:tblPr firstRow="1" bandRow="1">
                    <a:tableStyleId>{5940675A-B579-460E-94D1-54222C63F5DA}</a:tableStyleId>
                  </a:tblPr>
                  <a:tblGrid>
                    <a:gridCol w="1190804">
                      <a:extLst>
                        <a:ext uri="{9D8B030D-6E8A-4147-A177-3AD203B41FA5}">
                          <a16:colId xmlns:a16="http://schemas.microsoft.com/office/drawing/2014/main" val="166312312"/>
                        </a:ext>
                      </a:extLst>
                    </a:gridCol>
                    <a:gridCol w="1873250">
                      <a:extLst>
                        <a:ext uri="{9D8B030D-6E8A-4147-A177-3AD203B41FA5}">
                          <a16:colId xmlns:a16="http://schemas.microsoft.com/office/drawing/2014/main" val="772765458"/>
                        </a:ext>
                      </a:extLst>
                    </a:gridCol>
                    <a:gridCol w="1945394">
                      <a:extLst>
                        <a:ext uri="{9D8B030D-6E8A-4147-A177-3AD203B41FA5}">
                          <a16:colId xmlns:a16="http://schemas.microsoft.com/office/drawing/2014/main" val="1489928785"/>
                        </a:ext>
                      </a:extLst>
                    </a:gridCol>
                  </a:tblGrid>
                  <a:tr h="627945">
                    <a:tc>
                      <a:txBody>
                        <a:bodyPr/>
                        <a:lstStyle/>
                        <a:p>
                          <a:pPr lvl="0" algn="ctr"/>
                          <a:r>
                            <a:rPr lang="en-US" sz="2000" b="1" dirty="0">
                              <a:solidFill>
                                <a:schemeClr val="tx1"/>
                              </a:solidFill>
                            </a:rPr>
                            <a:t>Op</a:t>
                          </a:r>
                        </a:p>
                      </a:txBody>
                      <a:tcPr anchor="ctr"/>
                    </a:tc>
                    <a:tc>
                      <a:txBody>
                        <a:bodyPr/>
                        <a:lstStyle/>
                        <a:p>
                          <a:pPr lvl="0" algn="ctr"/>
                          <a:r>
                            <a:rPr lang="en-US" sz="2000" b="1" dirty="0">
                              <a:solidFill>
                                <a:schemeClr val="tx1"/>
                              </a:solidFill>
                            </a:rPr>
                            <a:t>Wave-function</a:t>
                          </a:r>
                        </a:p>
                      </a:txBody>
                      <a:tcPr anchor="ctr"/>
                    </a:tc>
                    <a:tc>
                      <a:txBody>
                        <a:bodyPr/>
                        <a:lstStyle/>
                        <a:p>
                          <a:pPr lvl="0" algn="ctr"/>
                          <a:r>
                            <a:rPr lang="en-US" sz="2000" b="1" dirty="0">
                              <a:solidFill>
                                <a:schemeClr val="tx1"/>
                              </a:solidFill>
                            </a:rPr>
                            <a:t>Density-matrix</a:t>
                          </a:r>
                        </a:p>
                      </a:txBody>
                      <a:tcPr anchor="ctr"/>
                    </a:tc>
                    <a:extLst>
                      <a:ext uri="{0D108BD9-81ED-4DB2-BD59-A6C34878D82A}">
                        <a16:rowId xmlns:a16="http://schemas.microsoft.com/office/drawing/2014/main" val="4265103887"/>
                      </a:ext>
                    </a:extLst>
                  </a:tr>
                  <a:tr h="627945">
                    <a:tc>
                      <a:txBody>
                        <a:bodyPr/>
                        <a:lstStyle/>
                        <a:p>
                          <a:pPr lvl="0"/>
                          <a:r>
                            <a:rPr lang="en-US" sz="2000" dirty="0">
                              <a:solidFill>
                                <a:schemeClr val="tx1"/>
                              </a:solidFill>
                            </a:rPr>
                            <a:t>Mul/gate</a:t>
                          </a:r>
                        </a:p>
                      </a:txBody>
                      <a:tcPr anchor="ctr"/>
                    </a:tc>
                    <a:tc>
                      <a:txBody>
                        <a:bodyPr/>
                        <a:lstStyle/>
                        <a:p>
                          <a:pPr lvl="0"/>
                          <a14:m>
                            <m:oMath xmlns:m="http://schemas.openxmlformats.org/officeDocument/2006/math">
                              <m:sSup>
                                <m:sSupPr>
                                  <m:ctrlPr>
                                    <a:rPr lang="vi-VN" sz="2000" b="0" i="1" dirty="0" smtClean="0">
                                      <a:latin typeface="Cambria Math" panose="02040503050406030204" pitchFamily="18" charset="0"/>
                                    </a:rPr>
                                  </m:ctrlPr>
                                </m:sSupPr>
                                <m:e>
                                  <m:r>
                                    <a:rPr lang="en-US" sz="2000" i="1" dirty="0" smtClean="0">
                                      <a:latin typeface="Cambria Math" panose="02040503050406030204" pitchFamily="18" charset="0"/>
                                    </a:rPr>
                                    <m:t>2</m:t>
                                  </m:r>
                                </m:e>
                                <m:sup>
                                  <m:r>
                                    <a:rPr lang="en-US" sz="2000" i="1" dirty="0" smtClean="0">
                                      <a:latin typeface="Cambria Math" panose="02040503050406030204" pitchFamily="18" charset="0"/>
                                    </a:rPr>
                                    <m:t>𝑛</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acc>
                                        <m:accPr>
                                          <m:chr m:val="̂"/>
                                          <m:ctrlPr>
                                            <a:rPr lang="en-US" sz="2000" b="0" i="1" dirty="0" smtClean="0">
                                              <a:latin typeface="Cambria Math" panose="02040503050406030204" pitchFamily="18" charset="0"/>
                                            </a:rPr>
                                          </m:ctrlPr>
                                        </m:accPr>
                                        <m:e>
                                          <m:r>
                                            <a:rPr lang="en-US" sz="2000" i="1" dirty="0">
                                              <a:latin typeface="Cambria Math" panose="02040503050406030204" pitchFamily="18" charset="0"/>
                                            </a:rPr>
                                            <m:t>𝑛</m:t>
                                          </m:r>
                                        </m:e>
                                      </m:acc>
                                    </m:e>
                                    <m:sub>
                                      <m:r>
                                        <a:rPr lang="en-US" sz="2000" b="0" i="1" dirty="0" smtClean="0">
                                          <a:latin typeface="Cambria Math" panose="02040503050406030204" pitchFamily="18" charset="0"/>
                                        </a:rPr>
                                        <m:t>𝑗</m:t>
                                      </m:r>
                                    </m:sub>
                                  </m:sSub>
                                  <m:r>
                                    <a:rPr lang="en-US" sz="2000" i="1" dirty="0" smtClean="0">
                                      <a:latin typeface="Cambria Math" panose="02040503050406030204" pitchFamily="18" charset="0"/>
                                    </a:rPr>
                                    <m:t>+1</m:t>
                                  </m:r>
                                </m:sup>
                              </m:sSup>
                            </m:oMath>
                          </a14:m>
                          <a:r>
                            <a:rPr lang="en-US" sz="2000" dirty="0">
                              <a:solidFill>
                                <a:schemeClr val="tx1"/>
                              </a:solidFill>
                            </a:rPr>
                            <a:t> (</a:t>
                          </a:r>
                          <a14:m>
                            <m:oMath xmlns:m="http://schemas.openxmlformats.org/officeDocument/2006/math">
                              <m:r>
                                <a:rPr lang="en-US" sz="2000" i="1" dirty="0" smtClean="0">
                                  <a:solidFill>
                                    <a:schemeClr val="tx1"/>
                                  </a:solidFill>
                                  <a:latin typeface="Cambria Math" panose="02040503050406030204" pitchFamily="18" charset="0"/>
                                  <a:ea typeface="Cambria Math" panose="02040503050406030204" pitchFamily="18" charset="0"/>
                                </a:rPr>
                                <m:t>†</m:t>
                              </m:r>
                            </m:oMath>
                          </a14:m>
                          <a:r>
                            <a:rPr lang="en-US" sz="2000" dirty="0">
                              <a:solidFill>
                                <a:schemeClr val="tx1"/>
                              </a:solidFill>
                            </a:rPr>
                            <a:t>)</a:t>
                          </a:r>
                        </a:p>
                      </a:txBody>
                      <a:tcPr anchor="ctr"/>
                    </a:tc>
                    <a:tc>
                      <a:txBody>
                        <a:bodyPr/>
                        <a:lstStyle/>
                        <a:p>
                          <a:pPr lvl="0" algn="l"/>
                          <a14:m>
                            <m:oMath xmlns:m="http://schemas.openxmlformats.org/officeDocument/2006/math">
                              <m:sSup>
                                <m:sSupPr>
                                  <m:ctrlPr>
                                    <a:rPr lang="en-US" sz="2000" i="1" dirty="0" smtClean="0">
                                      <a:latin typeface="Cambria Math" panose="02040503050406030204" pitchFamily="18" charset="0"/>
                                    </a:rPr>
                                  </m:ctrlPr>
                                </m:sSupPr>
                                <m:e>
                                  <m:r>
                                    <a:rPr lang="en-US" sz="2000" i="1" dirty="0" smtClean="0">
                                      <a:latin typeface="Cambria Math" panose="02040503050406030204" pitchFamily="18" charset="0"/>
                                    </a:rPr>
                                    <m:t>2</m:t>
                                  </m:r>
                                </m:e>
                                <m:sup>
                                  <m:r>
                                    <a:rPr lang="en-US" sz="2000" i="1" dirty="0" smtClean="0">
                                      <a:latin typeface="Cambria Math" panose="02040503050406030204" pitchFamily="18" charset="0"/>
                                    </a:rPr>
                                    <m:t>2</m:t>
                                  </m:r>
                                  <m:r>
                                    <a:rPr lang="en-US" sz="2000" i="1" dirty="0" smtClean="0">
                                      <a:latin typeface="Cambria Math" panose="02040503050406030204" pitchFamily="18" charset="0"/>
                                    </a:rPr>
                                    <m:t>𝑛</m:t>
                                  </m:r>
                                </m:sup>
                              </m:sSup>
                            </m:oMath>
                          </a14:m>
                          <a:r>
                            <a:rPr lang="en-US" sz="2000" dirty="0"/>
                            <a:t> </a:t>
                          </a:r>
                          <a:endParaRPr lang="en-US" sz="2000" dirty="0">
                            <a:solidFill>
                              <a:schemeClr val="tx1"/>
                            </a:solidFill>
                          </a:endParaRPr>
                        </a:p>
                      </a:txBody>
                      <a:tcPr anchor="ctr"/>
                    </a:tc>
                    <a:extLst>
                      <a:ext uri="{0D108BD9-81ED-4DB2-BD59-A6C34878D82A}">
                        <a16:rowId xmlns:a16="http://schemas.microsoft.com/office/drawing/2014/main" val="2208258994"/>
                      </a:ext>
                    </a:extLst>
                  </a:tr>
                  <a:tr h="627945">
                    <a:tc>
                      <a:txBody>
                        <a:bodyPr/>
                        <a:lstStyle/>
                        <a:p>
                          <a:pPr lvl="0"/>
                          <a:r>
                            <a:rPr lang="en-US" sz="2000" dirty="0">
                              <a:solidFill>
                                <a:schemeClr val="tx1"/>
                              </a:solidFill>
                            </a:rPr>
                            <a:t>Add/gate</a:t>
                          </a:r>
                        </a:p>
                      </a:txBody>
                      <a:tcPr anchor="ctr"/>
                    </a:tc>
                    <a:tc>
                      <a:txBody>
                        <a:bodyPr/>
                        <a:lstStyle/>
                        <a:p>
                          <a:pPr lvl="0"/>
                          <a14:m>
                            <m:oMath xmlns:m="http://schemas.openxmlformats.org/officeDocument/2006/math">
                              <m:sSup>
                                <m:sSupPr>
                                  <m:ctrlPr>
                                    <a:rPr lang="vi-VN" sz="2000" b="0" i="1" dirty="0" smtClean="0">
                                      <a:latin typeface="Cambria Math" panose="02040503050406030204" pitchFamily="18" charset="0"/>
                                    </a:rPr>
                                  </m:ctrlPr>
                                </m:sSupPr>
                                <m:e>
                                  <m:r>
                                    <a:rPr lang="en-US" sz="2000" i="1" dirty="0" smtClean="0">
                                      <a:latin typeface="Cambria Math" panose="02040503050406030204" pitchFamily="18" charset="0"/>
                                    </a:rPr>
                                    <m:t>2</m:t>
                                  </m:r>
                                </m:e>
                                <m:sup>
                                  <m:r>
                                    <a:rPr lang="en-US" sz="2000" i="1" dirty="0" smtClean="0">
                                      <a:latin typeface="Cambria Math" panose="02040503050406030204" pitchFamily="18" charset="0"/>
                                    </a:rPr>
                                    <m:t>𝑛</m:t>
                                  </m:r>
                                  <m:r>
                                    <a:rPr lang="en-US" sz="2000" i="1" dirty="0" smtClean="0">
                                      <a:latin typeface="Cambria Math" panose="02040503050406030204" pitchFamily="18" charset="0"/>
                                    </a:rPr>
                                    <m:t>+</m:t>
                                  </m:r>
                                  <m:sSub>
                                    <m:sSubPr>
                                      <m:ctrlPr>
                                        <a:rPr lang="en-US" sz="2000" i="1" dirty="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𝑛</m:t>
                                          </m:r>
                                        </m:e>
                                      </m:acc>
                                    </m:e>
                                    <m:sub>
                                      <m:r>
                                        <a:rPr lang="en-US" sz="2000" i="1" dirty="0">
                                          <a:latin typeface="Cambria Math" panose="02040503050406030204" pitchFamily="18" charset="0"/>
                                        </a:rPr>
                                        <m:t>𝑗</m:t>
                                      </m:r>
                                    </m:sub>
                                  </m:sSub>
                                  <m:r>
                                    <a:rPr lang="en-US" sz="2000" i="1" dirty="0">
                                      <a:latin typeface="Cambria Math" panose="02040503050406030204" pitchFamily="18" charset="0"/>
                                    </a:rPr>
                                    <m:t>+1</m:t>
                                  </m:r>
                                </m:sup>
                              </m:sSup>
                            </m:oMath>
                          </a14:m>
                          <a:r>
                            <a:rPr lang="en-US" sz="2000" dirty="0">
                              <a:solidFill>
                                <a:schemeClr val="tx1"/>
                              </a:solidFill>
                            </a:rPr>
                            <a:t> (</a:t>
                          </a:r>
                          <a14:m>
                            <m:oMath xmlns:m="http://schemas.openxmlformats.org/officeDocument/2006/math">
                              <m:r>
                                <a:rPr lang="en-US" sz="2000" i="1" dirty="0" smtClean="0">
                                  <a:solidFill>
                                    <a:schemeClr val="tx1"/>
                                  </a:solidFill>
                                  <a:latin typeface="Cambria Math" panose="02040503050406030204" pitchFamily="18" charset="0"/>
                                  <a:ea typeface="Cambria Math" panose="02040503050406030204" pitchFamily="18" charset="0"/>
                                </a:rPr>
                                <m:t>†</m:t>
                              </m:r>
                            </m:oMath>
                          </a14:m>
                          <a:r>
                            <a:rPr lang="en-US" sz="2000" dirty="0">
                              <a:solidFill>
                                <a:schemeClr val="tx1"/>
                              </a:solidFill>
                            </a:rPr>
                            <a:t>)</a:t>
                          </a:r>
                        </a:p>
                      </a:txBody>
                      <a:tcPr anchor="ctr"/>
                    </a:tc>
                    <a:tc>
                      <a:txBody>
                        <a:bodyPr/>
                        <a:lstStyle/>
                        <a:p>
                          <a:pPr lvl="0" algn="l"/>
                          <a14:m>
                            <m:oMath xmlns:m="http://schemas.openxmlformats.org/officeDocument/2006/math">
                              <m:sSup>
                                <m:sSupPr>
                                  <m:ctrlPr>
                                    <a:rPr lang="en-US" sz="2000" b="0" i="1" dirty="0" smtClean="0">
                                      <a:latin typeface="Cambria Math" panose="02040503050406030204" pitchFamily="18" charset="0"/>
                                    </a:rPr>
                                  </m:ctrlPr>
                                </m:sSupPr>
                                <m:e>
                                  <m:r>
                                    <a:rPr lang="en-US" sz="2000" i="1" dirty="0" smtClean="0">
                                      <a:latin typeface="Cambria Math" panose="02040503050406030204" pitchFamily="18" charset="0"/>
                                    </a:rPr>
                                    <m:t>2</m:t>
                                  </m:r>
                                </m:e>
                                <m:sup>
                                  <m:r>
                                    <a:rPr lang="en-US" sz="2000" i="1" dirty="0">
                                      <a:latin typeface="Cambria Math" panose="02040503050406030204" pitchFamily="18" charset="0"/>
                                    </a:rPr>
                                    <m:t>2</m:t>
                                  </m:r>
                                  <m:r>
                                    <a:rPr lang="en-US" sz="2000" i="1" dirty="0">
                                      <a:latin typeface="Cambria Math" panose="02040503050406030204" pitchFamily="18" charset="0"/>
                                    </a:rPr>
                                    <m:t>𝑛</m:t>
                                  </m:r>
                                  <m:r>
                                    <a:rPr lang="en-US" sz="2000" i="1" dirty="0">
                                      <a:latin typeface="Cambria Math" panose="02040503050406030204" pitchFamily="18" charset="0"/>
                                    </a:rPr>
                                    <m:t>−2</m:t>
                                  </m:r>
                                </m:sup>
                              </m:sSup>
                            </m:oMath>
                          </a14:m>
                          <a:r>
                            <a:rPr lang="en-US" sz="2000" dirty="0">
                              <a:solidFill>
                                <a:schemeClr val="tx1"/>
                              </a:solidFill>
                            </a:rPr>
                            <a:t> </a:t>
                          </a:r>
                        </a:p>
                      </a:txBody>
                      <a:tcPr anchor="ctr"/>
                    </a:tc>
                    <a:extLst>
                      <a:ext uri="{0D108BD9-81ED-4DB2-BD59-A6C34878D82A}">
                        <a16:rowId xmlns:a16="http://schemas.microsoft.com/office/drawing/2014/main" val="4198557693"/>
                      </a:ext>
                    </a:extLst>
                  </a:tr>
                </a:tbl>
              </a:graphicData>
            </a:graphic>
          </p:graphicFrame>
        </mc:Choice>
        <mc:Fallback xmlns="">
          <p:graphicFrame>
            <p:nvGraphicFramePr>
              <p:cNvPr id="27" name="Table 26">
                <a:extLst>
                  <a:ext uri="{FF2B5EF4-FFF2-40B4-BE49-F238E27FC236}">
                    <a16:creationId xmlns:a16="http://schemas.microsoft.com/office/drawing/2014/main" id="{A024088B-E2AB-E5D3-735D-4DE7E0F54D3F}"/>
                  </a:ext>
                </a:extLst>
              </p:cNvPr>
              <p:cNvGraphicFramePr>
                <a:graphicFrameLocks noGrp="1"/>
              </p:cNvGraphicFramePr>
              <p:nvPr>
                <p:extLst>
                  <p:ext uri="{D42A27DB-BD31-4B8C-83A1-F6EECF244321}">
                    <p14:modId xmlns:p14="http://schemas.microsoft.com/office/powerpoint/2010/main" val="2624798099"/>
                  </p:ext>
                </p:extLst>
              </p:nvPr>
            </p:nvGraphicFramePr>
            <p:xfrm>
              <a:off x="364946" y="1822814"/>
              <a:ext cx="5009448" cy="1883835"/>
            </p:xfrm>
            <a:graphic>
              <a:graphicData uri="http://schemas.openxmlformats.org/drawingml/2006/table">
                <a:tbl>
                  <a:tblPr firstRow="1" bandRow="1">
                    <a:tableStyleId>{5940675A-B579-460E-94D1-54222C63F5DA}</a:tableStyleId>
                  </a:tblPr>
                  <a:tblGrid>
                    <a:gridCol w="1190804">
                      <a:extLst>
                        <a:ext uri="{9D8B030D-6E8A-4147-A177-3AD203B41FA5}">
                          <a16:colId xmlns:a16="http://schemas.microsoft.com/office/drawing/2014/main" val="166312312"/>
                        </a:ext>
                      </a:extLst>
                    </a:gridCol>
                    <a:gridCol w="1873250">
                      <a:extLst>
                        <a:ext uri="{9D8B030D-6E8A-4147-A177-3AD203B41FA5}">
                          <a16:colId xmlns:a16="http://schemas.microsoft.com/office/drawing/2014/main" val="772765458"/>
                        </a:ext>
                      </a:extLst>
                    </a:gridCol>
                    <a:gridCol w="1945394">
                      <a:extLst>
                        <a:ext uri="{9D8B030D-6E8A-4147-A177-3AD203B41FA5}">
                          <a16:colId xmlns:a16="http://schemas.microsoft.com/office/drawing/2014/main" val="1489928785"/>
                        </a:ext>
                      </a:extLst>
                    </a:gridCol>
                  </a:tblGrid>
                  <a:tr h="627945">
                    <a:tc>
                      <a:txBody>
                        <a:bodyPr/>
                        <a:lstStyle/>
                        <a:p>
                          <a:pPr lvl="0" algn="ctr"/>
                          <a:r>
                            <a:rPr lang="en-US" sz="2000" b="1" dirty="0">
                              <a:solidFill>
                                <a:schemeClr val="tx1"/>
                              </a:solidFill>
                            </a:rPr>
                            <a:t>Op</a:t>
                          </a:r>
                        </a:p>
                      </a:txBody>
                      <a:tcPr anchor="ctr"/>
                    </a:tc>
                    <a:tc>
                      <a:txBody>
                        <a:bodyPr/>
                        <a:lstStyle/>
                        <a:p>
                          <a:pPr lvl="0" algn="ctr"/>
                          <a:r>
                            <a:rPr lang="en-US" sz="2000" b="1" dirty="0">
                              <a:solidFill>
                                <a:schemeClr val="tx1"/>
                              </a:solidFill>
                            </a:rPr>
                            <a:t>Wave-function</a:t>
                          </a:r>
                        </a:p>
                      </a:txBody>
                      <a:tcPr anchor="ctr"/>
                    </a:tc>
                    <a:tc>
                      <a:txBody>
                        <a:bodyPr/>
                        <a:lstStyle/>
                        <a:p>
                          <a:pPr lvl="0" algn="ctr"/>
                          <a:r>
                            <a:rPr lang="en-US" sz="2000" b="1" dirty="0">
                              <a:solidFill>
                                <a:schemeClr val="tx1"/>
                              </a:solidFill>
                            </a:rPr>
                            <a:t>Density-matrix</a:t>
                          </a:r>
                        </a:p>
                      </a:txBody>
                      <a:tcPr anchor="ctr"/>
                    </a:tc>
                    <a:extLst>
                      <a:ext uri="{0D108BD9-81ED-4DB2-BD59-A6C34878D82A}">
                        <a16:rowId xmlns:a16="http://schemas.microsoft.com/office/drawing/2014/main" val="4265103887"/>
                      </a:ext>
                    </a:extLst>
                  </a:tr>
                  <a:tr h="627945">
                    <a:tc>
                      <a:txBody>
                        <a:bodyPr/>
                        <a:lstStyle/>
                        <a:p>
                          <a:pPr lvl="0"/>
                          <a:r>
                            <a:rPr lang="en-US" sz="2000" dirty="0">
                              <a:solidFill>
                                <a:schemeClr val="tx1"/>
                              </a:solidFill>
                            </a:rPr>
                            <a:t>Mul/gate</a:t>
                          </a:r>
                        </a:p>
                      </a:txBody>
                      <a:tcPr anchor="ctr"/>
                    </a:tc>
                    <a:tc>
                      <a:txBody>
                        <a:bodyPr/>
                        <a:lstStyle/>
                        <a:p>
                          <a:endParaRPr lang="en-VN"/>
                        </a:p>
                      </a:txBody>
                      <a:tcPr anchor="ctr">
                        <a:blipFill>
                          <a:blip r:embed="rId7"/>
                          <a:stretch>
                            <a:fillRect l="-64189" t="-104082" r="-104730" b="-106122"/>
                          </a:stretch>
                        </a:blipFill>
                      </a:tcPr>
                    </a:tc>
                    <a:tc>
                      <a:txBody>
                        <a:bodyPr/>
                        <a:lstStyle/>
                        <a:p>
                          <a:endParaRPr lang="en-VN"/>
                        </a:p>
                      </a:txBody>
                      <a:tcPr anchor="ctr">
                        <a:blipFill>
                          <a:blip r:embed="rId7"/>
                          <a:stretch>
                            <a:fillRect l="-157792" t="-104082" r="-649" b="-106122"/>
                          </a:stretch>
                        </a:blipFill>
                      </a:tcPr>
                    </a:tc>
                    <a:extLst>
                      <a:ext uri="{0D108BD9-81ED-4DB2-BD59-A6C34878D82A}">
                        <a16:rowId xmlns:a16="http://schemas.microsoft.com/office/drawing/2014/main" val="2208258994"/>
                      </a:ext>
                    </a:extLst>
                  </a:tr>
                  <a:tr h="627945">
                    <a:tc>
                      <a:txBody>
                        <a:bodyPr/>
                        <a:lstStyle/>
                        <a:p>
                          <a:pPr lvl="0"/>
                          <a:r>
                            <a:rPr lang="en-US" sz="2000" dirty="0">
                              <a:solidFill>
                                <a:schemeClr val="tx1"/>
                              </a:solidFill>
                            </a:rPr>
                            <a:t>Add/gate</a:t>
                          </a:r>
                        </a:p>
                      </a:txBody>
                      <a:tcPr anchor="ctr"/>
                    </a:tc>
                    <a:tc>
                      <a:txBody>
                        <a:bodyPr/>
                        <a:lstStyle/>
                        <a:p>
                          <a:endParaRPr lang="en-VN"/>
                        </a:p>
                      </a:txBody>
                      <a:tcPr anchor="ctr">
                        <a:blipFill>
                          <a:blip r:embed="rId7"/>
                          <a:stretch>
                            <a:fillRect l="-64189" t="-200000" r="-104730" b="-4000"/>
                          </a:stretch>
                        </a:blipFill>
                      </a:tcPr>
                    </a:tc>
                    <a:tc>
                      <a:txBody>
                        <a:bodyPr/>
                        <a:lstStyle/>
                        <a:p>
                          <a:endParaRPr lang="en-VN"/>
                        </a:p>
                      </a:txBody>
                      <a:tcPr anchor="ctr">
                        <a:blipFill>
                          <a:blip r:embed="rId7"/>
                          <a:stretch>
                            <a:fillRect l="-157792" t="-200000" r="-649" b="-4000"/>
                          </a:stretch>
                        </a:blipFill>
                      </a:tcPr>
                    </a:tc>
                    <a:extLst>
                      <a:ext uri="{0D108BD9-81ED-4DB2-BD59-A6C34878D82A}">
                        <a16:rowId xmlns:a16="http://schemas.microsoft.com/office/drawing/2014/main" val="4198557693"/>
                      </a:ext>
                    </a:extLst>
                  </a:tr>
                </a:tbl>
              </a:graphicData>
            </a:graphic>
          </p:graphicFrame>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F83AD84-2466-E459-215F-DCCC93B9B555}"/>
                  </a:ext>
                </a:extLst>
              </p:cNvPr>
              <p:cNvSpPr txBox="1"/>
              <p:nvPr/>
            </p:nvSpPr>
            <p:spPr>
              <a:xfrm>
                <a:off x="247650" y="1054936"/>
                <a:ext cx="4212055" cy="668645"/>
              </a:xfrm>
              <a:prstGeom prst="rect">
                <a:avLst/>
              </a:prstGeom>
              <a:noFill/>
            </p:spPr>
            <p:txBody>
              <a:bodyPr wrap="square">
                <a:spAutoFit/>
              </a:bodyPr>
              <a:lstStyle/>
              <a:p>
                <a:r>
                  <a:rPr lang="en-US" b="1" dirty="0">
                    <a:solidFill>
                      <a:srgbClr val="FF0000"/>
                    </a:solidFill>
                  </a:rPr>
                  <a:t>Table 2.2</a:t>
                </a:r>
                <a:r>
                  <a:rPr lang="en-US" dirty="0"/>
                  <a:t>. Comparison between variants (</a:t>
                </a:r>
                <a14:m>
                  <m:oMath xmlns:m="http://schemas.openxmlformats.org/officeDocument/2006/math">
                    <m:r>
                      <a:rPr lang="en-US" i="1" dirty="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𝑛</m:t>
                            </m:r>
                          </m:e>
                        </m:acc>
                      </m:e>
                      <m:sub>
                        <m:r>
                          <a:rPr lang="en-US" b="0" i="1" dirty="0" smtClean="0">
                            <a:latin typeface="Cambria Math" panose="02040503050406030204" pitchFamily="18" charset="0"/>
                          </a:rPr>
                          <m:t>𝑗</m:t>
                        </m:r>
                      </m:sub>
                    </m:sSub>
                    <m:r>
                      <a:rPr lang="en-US" i="1" dirty="0" smtClean="0">
                        <a:latin typeface="Cambria Math" panose="02040503050406030204" pitchFamily="18" charset="0"/>
                      </a:rPr>
                      <m:t>∈ </m:t>
                    </m:r>
                    <m:r>
                      <a:rPr lang="en-US" i="1" dirty="0">
                        <a:latin typeface="Cambria Math" panose="02040503050406030204" pitchFamily="18" charset="0"/>
                      </a:rPr>
                      <m:t>[1, 2]</m:t>
                    </m:r>
                  </m:oMath>
                </a14:m>
                <a:r>
                  <a:rPr lang="en-US" dirty="0"/>
                  <a:t> </a:t>
                </a:r>
              </a:p>
            </p:txBody>
          </p:sp>
        </mc:Choice>
        <mc:Fallback xmlns="">
          <p:sp>
            <p:nvSpPr>
              <p:cNvPr id="29" name="TextBox 28">
                <a:extLst>
                  <a:ext uri="{FF2B5EF4-FFF2-40B4-BE49-F238E27FC236}">
                    <a16:creationId xmlns:a16="http://schemas.microsoft.com/office/drawing/2014/main" id="{2F83AD84-2466-E459-215F-DCCC93B9B555}"/>
                  </a:ext>
                </a:extLst>
              </p:cNvPr>
              <p:cNvSpPr txBox="1">
                <a:spLocks noRot="1" noChangeAspect="1" noMove="1" noResize="1" noEditPoints="1" noAdjustHandles="1" noChangeArrowheads="1" noChangeShapeType="1" noTextEdit="1"/>
              </p:cNvSpPr>
              <p:nvPr/>
            </p:nvSpPr>
            <p:spPr>
              <a:xfrm>
                <a:off x="247650" y="1054936"/>
                <a:ext cx="4212055" cy="668645"/>
              </a:xfrm>
              <a:prstGeom prst="rect">
                <a:avLst/>
              </a:prstGeom>
              <a:blipFill>
                <a:blip r:embed="rId8"/>
                <a:stretch>
                  <a:fillRect l="-1201" t="-3774" r="-901" b="-13208"/>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B9E297F-7335-23C9-CF60-99342F0FFBF4}"/>
                  </a:ext>
                </a:extLst>
              </p:cNvPr>
              <p:cNvSpPr txBox="1"/>
              <p:nvPr/>
            </p:nvSpPr>
            <p:spPr>
              <a:xfrm>
                <a:off x="247650" y="3861793"/>
                <a:ext cx="5397500" cy="369332"/>
              </a:xfrm>
              <a:prstGeom prst="rect">
                <a:avLst/>
              </a:prstGeom>
              <a:noFill/>
            </p:spPr>
            <p:txBody>
              <a:bodyPr wrap="square">
                <a:spAutoFit/>
              </a:bodyPr>
              <a:lstStyle/>
              <a:p>
                <a:r>
                  <a:rPr lang="en-US" dirty="0"/>
                  <a:t>The final state is calculated through series of</a:t>
                </a:r>
                <a:r>
                  <a:rPr lang="pl-PL" sz="1800" dirty="0">
                    <a:ea typeface="Cambria Math" panose="02040503050406030204" pitchFamily="18" charset="0"/>
                  </a:rPr>
                  <a:t> </a:t>
                </a:r>
                <a14:m>
                  <m:oMath xmlns:m="http://schemas.openxmlformats.org/officeDocument/2006/math">
                    <m:r>
                      <a:rPr lang="pl-PL" sz="1800" i="1" dirty="0" smtClean="0">
                        <a:latin typeface="Cambria Math" panose="02040503050406030204" pitchFamily="18" charset="0"/>
                        <a:ea typeface="Cambria Math" panose="02040503050406030204" pitchFamily="18" charset="0"/>
                      </a:rPr>
                      <m:t>𝒲</m:t>
                    </m:r>
                  </m:oMath>
                </a14:m>
                <a:r>
                  <a:rPr lang="en-US" dirty="0"/>
                  <a:t>: </a:t>
                </a:r>
              </a:p>
            </p:txBody>
          </p:sp>
        </mc:Choice>
        <mc:Fallback xmlns="">
          <p:sp>
            <p:nvSpPr>
              <p:cNvPr id="30" name="TextBox 29">
                <a:extLst>
                  <a:ext uri="{FF2B5EF4-FFF2-40B4-BE49-F238E27FC236}">
                    <a16:creationId xmlns:a16="http://schemas.microsoft.com/office/drawing/2014/main" id="{CB9E297F-7335-23C9-CF60-99342F0FFBF4}"/>
                  </a:ext>
                </a:extLst>
              </p:cNvPr>
              <p:cNvSpPr txBox="1">
                <a:spLocks noRot="1" noChangeAspect="1" noMove="1" noResize="1" noEditPoints="1" noAdjustHandles="1" noChangeArrowheads="1" noChangeShapeType="1" noTextEdit="1"/>
              </p:cNvSpPr>
              <p:nvPr/>
            </p:nvSpPr>
            <p:spPr>
              <a:xfrm>
                <a:off x="247650" y="3861793"/>
                <a:ext cx="5397500" cy="369332"/>
              </a:xfrm>
              <a:prstGeom prst="rect">
                <a:avLst/>
              </a:prstGeom>
              <a:blipFill>
                <a:blip r:embed="rId9"/>
                <a:stretch>
                  <a:fillRect l="-1017" t="-6557" b="-2623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FA33C120-A5CB-69E7-61AC-07BB94682E65}"/>
              </a:ext>
            </a:extLst>
          </p:cNvPr>
          <p:cNvSpPr txBox="1">
            <a:spLocks/>
          </p:cNvSpPr>
          <p:nvPr/>
        </p:nvSpPr>
        <p:spPr>
          <a:xfrm>
            <a:off x="10236419" y="2664958"/>
            <a:ext cx="1765738" cy="369332"/>
          </a:xfrm>
          <a:prstGeom prst="rect">
            <a:avLst/>
          </a:prstGeom>
          <a:noFill/>
          <a:ln>
            <a:noFill/>
          </a:ln>
        </p:spPr>
        <p:txBody>
          <a:bodyPr wrap="square" rtlCol="0">
            <a:spAutoFit/>
          </a:bodyPr>
          <a:lstStyle/>
          <a:p>
            <a:r>
              <a:rPr lang="en-US" dirty="0">
                <a:solidFill>
                  <a:srgbClr val="FF0000"/>
                </a:solidFill>
              </a:rPr>
              <a:t>Depend on type</a:t>
            </a:r>
          </a:p>
        </p:txBody>
      </p:sp>
      <p:cxnSp>
        <p:nvCxnSpPr>
          <p:cNvPr id="10" name="Connector: Elbow 9">
            <a:extLst>
              <a:ext uri="{FF2B5EF4-FFF2-40B4-BE49-F238E27FC236}">
                <a16:creationId xmlns:a16="http://schemas.microsoft.com/office/drawing/2014/main" id="{1AF7815F-2CA1-6A7C-702E-D517C60BF378}"/>
              </a:ext>
            </a:extLst>
          </p:cNvPr>
          <p:cNvCxnSpPr>
            <a:cxnSpLocks/>
            <a:stCxn id="7" idx="2"/>
            <a:endCxn id="8" idx="1"/>
          </p:cNvCxnSpPr>
          <p:nvPr/>
        </p:nvCxnSpPr>
        <p:spPr>
          <a:xfrm rot="16200000" flipH="1">
            <a:off x="9446553" y="2059757"/>
            <a:ext cx="938273" cy="641459"/>
          </a:xfrm>
          <a:prstGeom prst="bentConnector2">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421DE3B1-7ABB-1D77-288C-9D38B9F42EFE}"/>
              </a:ext>
            </a:extLst>
          </p:cNvPr>
          <p:cNvSpPr/>
          <p:nvPr/>
        </p:nvSpPr>
        <p:spPr>
          <a:xfrm>
            <a:off x="3361166" y="1759209"/>
            <a:ext cx="2071270" cy="200676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333F519-5377-6CEE-8BED-C0870A727F32}"/>
              </a:ext>
            </a:extLst>
          </p:cNvPr>
          <p:cNvSpPr txBox="1"/>
          <p:nvPr/>
        </p:nvSpPr>
        <p:spPr>
          <a:xfrm>
            <a:off x="2646948" y="1372063"/>
            <a:ext cx="3841160" cy="369332"/>
          </a:xfrm>
          <a:prstGeom prst="rect">
            <a:avLst/>
          </a:prstGeom>
          <a:noFill/>
        </p:spPr>
        <p:txBody>
          <a:bodyPr wrap="square" rtlCol="0">
            <a:spAutoFit/>
          </a:bodyPr>
          <a:lstStyle/>
          <a:p>
            <a:r>
              <a:rPr lang="en-US" dirty="0">
                <a:solidFill>
                  <a:srgbClr val="FF0000"/>
                </a:solidFill>
              </a:rPr>
              <a:t>Matrix-vector multiplication</a:t>
            </a:r>
          </a:p>
        </p:txBody>
      </p:sp>
    </p:spTree>
    <p:extLst>
      <p:ext uri="{BB962C8B-B14F-4D97-AF65-F5344CB8AC3E}">
        <p14:creationId xmlns:p14="http://schemas.microsoft.com/office/powerpoint/2010/main" val="4042476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CFE6F-76D5-05E1-244C-8FE1AA9747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C86F4-4DB5-0A37-F166-BE7CDCC399FD}"/>
              </a:ext>
            </a:extLst>
          </p:cNvPr>
          <p:cNvSpPr>
            <a:spLocks noGrp="1"/>
          </p:cNvSpPr>
          <p:nvPr>
            <p:ph type="title"/>
          </p:nvPr>
        </p:nvSpPr>
        <p:spPr>
          <a:xfrm>
            <a:off x="114941" y="1"/>
            <a:ext cx="11238859" cy="1400653"/>
          </a:xfrm>
        </p:spPr>
        <p:txBody>
          <a:bodyPr/>
          <a:lstStyle/>
          <a:p>
            <a:r>
              <a:rPr lang="en-US" dirty="0"/>
              <a:t>2.3. System overview/Ideals</a:t>
            </a:r>
          </a:p>
        </p:txBody>
      </p:sp>
      <p:sp>
        <p:nvSpPr>
          <p:cNvPr id="4" name="Slide Number Placeholder 3">
            <a:extLst>
              <a:ext uri="{FF2B5EF4-FFF2-40B4-BE49-F238E27FC236}">
                <a16:creationId xmlns:a16="http://schemas.microsoft.com/office/drawing/2014/main" id="{E9D1F2DE-4FF5-6F22-D963-680428AE95AF}"/>
              </a:ext>
            </a:extLst>
          </p:cNvPr>
          <p:cNvSpPr>
            <a:spLocks noGrp="1"/>
          </p:cNvSpPr>
          <p:nvPr>
            <p:ph type="sldNum" sz="quarter" idx="12"/>
          </p:nvPr>
        </p:nvSpPr>
        <p:spPr/>
        <p:txBody>
          <a:bodyPr/>
          <a:lstStyle/>
          <a:p>
            <a:fld id="{3C0C221A-CB66-4297-9A52-937C35126D0C}" type="slidenum">
              <a:rPr lang="en-US" smtClean="0"/>
              <a:t>10</a:t>
            </a:fld>
            <a:endParaRPr lang="en-US"/>
          </a:p>
        </p:txBody>
      </p:sp>
      <p:pic>
        <p:nvPicPr>
          <p:cNvPr id="6" name="Picture 5">
            <a:extLst>
              <a:ext uri="{FF2B5EF4-FFF2-40B4-BE49-F238E27FC236}">
                <a16:creationId xmlns:a16="http://schemas.microsoft.com/office/drawing/2014/main" id="{C4980EB0-DF86-9109-D537-80CF305EC6B8}"/>
              </a:ext>
            </a:extLst>
          </p:cNvPr>
          <p:cNvPicPr>
            <a:picLocks noChangeAspect="1"/>
          </p:cNvPicPr>
          <p:nvPr/>
        </p:nvPicPr>
        <p:blipFill>
          <a:blip r:embed="rId3"/>
          <a:stretch>
            <a:fillRect/>
          </a:stretch>
        </p:blipFill>
        <p:spPr>
          <a:xfrm>
            <a:off x="114941" y="1205929"/>
            <a:ext cx="7398239" cy="4547171"/>
          </a:xfrm>
          <a:prstGeom prst="rect">
            <a:avLst/>
          </a:prstGeom>
        </p:spPr>
      </p:pic>
      <p:sp>
        <p:nvSpPr>
          <p:cNvPr id="7" name="Content Placeholder 6">
            <a:extLst>
              <a:ext uri="{FF2B5EF4-FFF2-40B4-BE49-F238E27FC236}">
                <a16:creationId xmlns:a16="http://schemas.microsoft.com/office/drawing/2014/main" id="{AC461762-3913-8B2A-1157-0F075BB9A7F6}"/>
              </a:ext>
            </a:extLst>
          </p:cNvPr>
          <p:cNvSpPr>
            <a:spLocks noGrp="1"/>
          </p:cNvSpPr>
          <p:nvPr>
            <p:ph idx="1"/>
          </p:nvPr>
        </p:nvSpPr>
        <p:spPr>
          <a:xfrm>
            <a:off x="114942" y="5848348"/>
            <a:ext cx="4040956" cy="1145065"/>
          </a:xfrm>
        </p:spPr>
        <p:txBody>
          <a:bodyPr>
            <a:normAutofit/>
          </a:bodyPr>
          <a:lstStyle/>
          <a:p>
            <a:pPr marL="0" indent="0">
              <a:buNone/>
            </a:pPr>
            <a:r>
              <a:rPr lang="en-US" sz="2000" b="1" dirty="0">
                <a:solidFill>
                  <a:srgbClr val="FF0000"/>
                </a:solidFill>
              </a:rPr>
              <a:t>Figure 2.1</a:t>
            </a:r>
            <a:r>
              <a:rPr lang="en-US" sz="2000" dirty="0"/>
              <a:t>. Overview architecture of our </a:t>
            </a:r>
            <a:r>
              <a:rPr lang="en-US" sz="2000" dirty="0" err="1"/>
              <a:t>FQsun</a:t>
            </a:r>
            <a:r>
              <a:rPr lang="en-US" sz="2000" dirty="0"/>
              <a:t> at the system-on-chip (Soc) level on FPGA. </a:t>
            </a:r>
          </a:p>
        </p:txBody>
      </p:sp>
      <p:pic>
        <p:nvPicPr>
          <p:cNvPr id="9" name="Picture 8">
            <a:extLst>
              <a:ext uri="{FF2B5EF4-FFF2-40B4-BE49-F238E27FC236}">
                <a16:creationId xmlns:a16="http://schemas.microsoft.com/office/drawing/2014/main" id="{815991BC-8C63-AD20-A944-01C284CFE1FE}"/>
              </a:ext>
            </a:extLst>
          </p:cNvPr>
          <p:cNvPicPr>
            <a:picLocks noChangeAspect="1"/>
          </p:cNvPicPr>
          <p:nvPr/>
        </p:nvPicPr>
        <p:blipFill>
          <a:blip r:embed="rId4"/>
          <a:stretch>
            <a:fillRect/>
          </a:stretch>
        </p:blipFill>
        <p:spPr>
          <a:xfrm>
            <a:off x="7513181" y="1193229"/>
            <a:ext cx="4467600" cy="4576808"/>
          </a:xfrm>
          <a:prstGeom prst="rect">
            <a:avLst/>
          </a:prstGeom>
        </p:spPr>
      </p:pic>
      <p:sp>
        <p:nvSpPr>
          <p:cNvPr id="10" name="Content Placeholder 6">
            <a:extLst>
              <a:ext uri="{FF2B5EF4-FFF2-40B4-BE49-F238E27FC236}">
                <a16:creationId xmlns:a16="http://schemas.microsoft.com/office/drawing/2014/main" id="{9B6FF730-A232-DFE2-7AE2-B4978E91016A}"/>
              </a:ext>
            </a:extLst>
          </p:cNvPr>
          <p:cNvSpPr txBox="1">
            <a:spLocks/>
          </p:cNvSpPr>
          <p:nvPr/>
        </p:nvSpPr>
        <p:spPr>
          <a:xfrm>
            <a:off x="7513179" y="5848349"/>
            <a:ext cx="4467600" cy="8731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FF0000"/>
                </a:solidFill>
              </a:rPr>
              <a:t>Figure 2.2</a:t>
            </a:r>
            <a:r>
              <a:rPr lang="en-US" sz="2000" dirty="0"/>
              <a:t>. Memory organization of the proposed </a:t>
            </a:r>
            <a:r>
              <a:rPr lang="en-US" sz="2000" dirty="0" err="1"/>
              <a:t>FQsun</a:t>
            </a:r>
            <a:r>
              <a:rPr lang="en-US" sz="2000" dirty="0"/>
              <a:t>.</a:t>
            </a:r>
          </a:p>
        </p:txBody>
      </p:sp>
      <p:sp>
        <p:nvSpPr>
          <p:cNvPr id="11" name="Rectangle 10">
            <a:extLst>
              <a:ext uri="{FF2B5EF4-FFF2-40B4-BE49-F238E27FC236}">
                <a16:creationId xmlns:a16="http://schemas.microsoft.com/office/drawing/2014/main" id="{6764B876-98E8-1BFA-0B15-556B90C52E03}"/>
              </a:ext>
            </a:extLst>
          </p:cNvPr>
          <p:cNvSpPr/>
          <p:nvPr/>
        </p:nvSpPr>
        <p:spPr>
          <a:xfrm>
            <a:off x="3308707" y="2844168"/>
            <a:ext cx="1034693" cy="27057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776B48C-BE05-C863-46A5-3344CDE02FE6}"/>
              </a:ext>
            </a:extLst>
          </p:cNvPr>
          <p:cNvSpPr/>
          <p:nvPr/>
        </p:nvSpPr>
        <p:spPr>
          <a:xfrm>
            <a:off x="5027037" y="2498628"/>
            <a:ext cx="2358014" cy="30512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6">
            <a:extLst>
              <a:ext uri="{FF2B5EF4-FFF2-40B4-BE49-F238E27FC236}">
                <a16:creationId xmlns:a16="http://schemas.microsoft.com/office/drawing/2014/main" id="{88FEF3CB-3D6A-D87C-F518-E0B78F5EA9B8}"/>
              </a:ext>
            </a:extLst>
          </p:cNvPr>
          <p:cNvSpPr txBox="1">
            <a:spLocks/>
          </p:cNvSpPr>
          <p:nvPr/>
        </p:nvSpPr>
        <p:spPr>
          <a:xfrm>
            <a:off x="4202889" y="5848348"/>
            <a:ext cx="1631649" cy="7355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b="1" dirty="0">
                <a:solidFill>
                  <a:srgbClr val="FF0000"/>
                </a:solidFill>
              </a:rPr>
              <a:t>Ping-Pong memory</a:t>
            </a:r>
            <a:endParaRPr lang="en-US" sz="2000" dirty="0"/>
          </a:p>
        </p:txBody>
      </p:sp>
      <p:sp>
        <p:nvSpPr>
          <p:cNvPr id="5" name="Content Placeholder 6">
            <a:extLst>
              <a:ext uri="{FF2B5EF4-FFF2-40B4-BE49-F238E27FC236}">
                <a16:creationId xmlns:a16="http://schemas.microsoft.com/office/drawing/2014/main" id="{2D4E494F-ECE3-4741-D255-A4BB86720CAA}"/>
              </a:ext>
            </a:extLst>
          </p:cNvPr>
          <p:cNvSpPr txBox="1">
            <a:spLocks/>
          </p:cNvSpPr>
          <p:nvPr/>
        </p:nvSpPr>
        <p:spPr>
          <a:xfrm>
            <a:off x="5691456" y="5851014"/>
            <a:ext cx="1042828" cy="36512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b="1" dirty="0">
                <a:solidFill>
                  <a:srgbClr val="FF0000"/>
                </a:solidFill>
              </a:rPr>
              <a:t>QGU</a:t>
            </a:r>
            <a:endParaRPr lang="en-US" sz="2000" dirty="0"/>
          </a:p>
        </p:txBody>
      </p:sp>
      <p:cxnSp>
        <p:nvCxnSpPr>
          <p:cNvPr id="14" name="Straight Arrow Connector 13">
            <a:extLst>
              <a:ext uri="{FF2B5EF4-FFF2-40B4-BE49-F238E27FC236}">
                <a16:creationId xmlns:a16="http://schemas.microsoft.com/office/drawing/2014/main" id="{ACFC9CA5-B723-25E9-BBAF-2EC1EE89BEAD}"/>
              </a:ext>
            </a:extLst>
          </p:cNvPr>
          <p:cNvCxnSpPr>
            <a:cxnSpLocks/>
            <a:stCxn id="12" idx="2"/>
            <a:endCxn id="5" idx="0"/>
          </p:cNvCxnSpPr>
          <p:nvPr/>
        </p:nvCxnSpPr>
        <p:spPr>
          <a:xfrm>
            <a:off x="6206044" y="5549900"/>
            <a:ext cx="6826" cy="301114"/>
          </a:xfrm>
          <a:prstGeom prst="straightConnector1">
            <a:avLst/>
          </a:prstGeom>
          <a:ln>
            <a:solidFill>
              <a:srgbClr val="ED1823"/>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Elbow 26">
            <a:extLst>
              <a:ext uri="{FF2B5EF4-FFF2-40B4-BE49-F238E27FC236}">
                <a16:creationId xmlns:a16="http://schemas.microsoft.com/office/drawing/2014/main" id="{5E47AE9D-2FFD-ED63-285A-7C51BC950DEF}"/>
              </a:ext>
            </a:extLst>
          </p:cNvPr>
          <p:cNvCxnSpPr>
            <a:stCxn id="11" idx="2"/>
            <a:endCxn id="3" idx="0"/>
          </p:cNvCxnSpPr>
          <p:nvPr/>
        </p:nvCxnSpPr>
        <p:spPr>
          <a:xfrm rot="16200000" flipH="1">
            <a:off x="4273160" y="5102794"/>
            <a:ext cx="298448" cy="1192660"/>
          </a:xfrm>
          <a:prstGeom prst="bentConnector3">
            <a:avLst>
              <a:gd name="adj1" fmla="val 34509"/>
            </a:avLst>
          </a:prstGeom>
          <a:ln>
            <a:solidFill>
              <a:srgbClr val="ED1823"/>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3508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562AA-8216-2C9C-FF3D-8EFB6BFD6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CE2777-3938-A384-E1DE-83ADA27AC5BA}"/>
              </a:ext>
            </a:extLst>
          </p:cNvPr>
          <p:cNvSpPr>
            <a:spLocks noGrp="1"/>
          </p:cNvSpPr>
          <p:nvPr>
            <p:ph type="title"/>
          </p:nvPr>
        </p:nvSpPr>
        <p:spPr>
          <a:xfrm>
            <a:off x="114943" y="1"/>
            <a:ext cx="5036026" cy="1400653"/>
          </a:xfrm>
        </p:spPr>
        <p:txBody>
          <a:bodyPr>
            <a:normAutofit/>
          </a:bodyPr>
          <a:lstStyle/>
          <a:p>
            <a:r>
              <a:rPr lang="en-US" sz="3200" dirty="0"/>
              <a:t>2.3.1-2. </a:t>
            </a:r>
            <a:r>
              <a:rPr lang="en-US" sz="3200" b="1" dirty="0"/>
              <a:t>Idea #1</a:t>
            </a:r>
            <a:r>
              <a:rPr lang="en-US" sz="3200" dirty="0"/>
              <a:t>: efficient memory organization</a:t>
            </a:r>
          </a:p>
        </p:txBody>
      </p:sp>
      <p:sp>
        <p:nvSpPr>
          <p:cNvPr id="4" name="Slide Number Placeholder 3">
            <a:extLst>
              <a:ext uri="{FF2B5EF4-FFF2-40B4-BE49-F238E27FC236}">
                <a16:creationId xmlns:a16="http://schemas.microsoft.com/office/drawing/2014/main" id="{473CD266-FD26-5E3E-4468-2BEAAD1318F1}"/>
              </a:ext>
            </a:extLst>
          </p:cNvPr>
          <p:cNvSpPr>
            <a:spLocks noGrp="1"/>
          </p:cNvSpPr>
          <p:nvPr>
            <p:ph type="sldNum" sz="quarter" idx="12"/>
          </p:nvPr>
        </p:nvSpPr>
        <p:spPr/>
        <p:txBody>
          <a:bodyPr/>
          <a:lstStyle/>
          <a:p>
            <a:fld id="{3C0C221A-CB66-4297-9A52-937C35126D0C}" type="slidenum">
              <a:rPr lang="en-US" smtClean="0"/>
              <a:t>11</a:t>
            </a:fld>
            <a:endParaRPr lang="en-US"/>
          </a:p>
        </p:txBody>
      </p:sp>
      <p:pic>
        <p:nvPicPr>
          <p:cNvPr id="9" name="Picture 8">
            <a:extLst>
              <a:ext uri="{FF2B5EF4-FFF2-40B4-BE49-F238E27FC236}">
                <a16:creationId xmlns:a16="http://schemas.microsoft.com/office/drawing/2014/main" id="{EF43E29A-A84F-E10E-B7BB-A00D04C4FBDE}"/>
              </a:ext>
            </a:extLst>
          </p:cNvPr>
          <p:cNvPicPr>
            <a:picLocks noChangeAspect="1"/>
          </p:cNvPicPr>
          <p:nvPr/>
        </p:nvPicPr>
        <p:blipFill>
          <a:blip r:embed="rId3"/>
          <a:stretch>
            <a:fillRect/>
          </a:stretch>
        </p:blipFill>
        <p:spPr>
          <a:xfrm>
            <a:off x="20180" y="1704630"/>
            <a:ext cx="4452093" cy="4560922"/>
          </a:xfrm>
          <a:prstGeom prst="rect">
            <a:avLst/>
          </a:prstGeom>
        </p:spPr>
      </p:pic>
      <p:sp>
        <p:nvSpPr>
          <p:cNvPr id="10" name="Content Placeholder 6">
            <a:extLst>
              <a:ext uri="{FF2B5EF4-FFF2-40B4-BE49-F238E27FC236}">
                <a16:creationId xmlns:a16="http://schemas.microsoft.com/office/drawing/2014/main" id="{AB85D88D-95E9-DCCA-F7FB-44E2E3D79804}"/>
              </a:ext>
            </a:extLst>
          </p:cNvPr>
          <p:cNvSpPr txBox="1">
            <a:spLocks/>
          </p:cNvSpPr>
          <p:nvPr/>
        </p:nvSpPr>
        <p:spPr>
          <a:xfrm>
            <a:off x="20179" y="6351572"/>
            <a:ext cx="4488974" cy="437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FF0000"/>
                </a:solidFill>
              </a:rPr>
              <a:t>Figure 2.3</a:t>
            </a:r>
            <a:r>
              <a:rPr lang="en-US" sz="2000" dirty="0"/>
              <a:t>. Memory organization detail</a:t>
            </a:r>
          </a:p>
        </p:txBody>
      </p:sp>
      <p:sp>
        <p:nvSpPr>
          <p:cNvPr id="8" name="Rectangle 7">
            <a:extLst>
              <a:ext uri="{FF2B5EF4-FFF2-40B4-BE49-F238E27FC236}">
                <a16:creationId xmlns:a16="http://schemas.microsoft.com/office/drawing/2014/main" id="{855F101A-5663-3ECA-ED19-4912D0066F36}"/>
              </a:ext>
            </a:extLst>
          </p:cNvPr>
          <p:cNvSpPr/>
          <p:nvPr/>
        </p:nvSpPr>
        <p:spPr>
          <a:xfrm>
            <a:off x="5043828" y="1614951"/>
            <a:ext cx="239555" cy="46545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80A95F9-B950-2B3B-476B-63E8E809E09A}"/>
              </a:ext>
            </a:extLst>
          </p:cNvPr>
          <p:cNvSpPr txBox="1"/>
          <p:nvPr/>
        </p:nvSpPr>
        <p:spPr>
          <a:xfrm>
            <a:off x="5043827" y="6336732"/>
            <a:ext cx="649803" cy="369332"/>
          </a:xfrm>
          <a:prstGeom prst="rect">
            <a:avLst/>
          </a:prstGeom>
          <a:noFill/>
        </p:spPr>
        <p:txBody>
          <a:bodyPr wrap="square" rtlCol="0">
            <a:spAutoFit/>
          </a:bodyPr>
          <a:lstStyle/>
          <a:p>
            <a:r>
              <a:rPr lang="en-US" dirty="0"/>
              <a:t>Ping</a:t>
            </a:r>
          </a:p>
        </p:txBody>
      </p:sp>
      <p:sp>
        <p:nvSpPr>
          <p:cNvPr id="14" name="Rectangle 13">
            <a:extLst>
              <a:ext uri="{FF2B5EF4-FFF2-40B4-BE49-F238E27FC236}">
                <a16:creationId xmlns:a16="http://schemas.microsoft.com/office/drawing/2014/main" id="{C1A38C8C-D077-2F69-2265-A2EE603B3BB1}"/>
              </a:ext>
            </a:extLst>
          </p:cNvPr>
          <p:cNvSpPr/>
          <p:nvPr/>
        </p:nvSpPr>
        <p:spPr>
          <a:xfrm>
            <a:off x="5385564" y="1614951"/>
            <a:ext cx="247802" cy="46545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A4DDF5D-9194-030F-0DC6-552818766615}"/>
              </a:ext>
            </a:extLst>
          </p:cNvPr>
          <p:cNvSpPr txBox="1"/>
          <p:nvPr/>
        </p:nvSpPr>
        <p:spPr>
          <a:xfrm rot="5400000">
            <a:off x="2846724" y="3756990"/>
            <a:ext cx="4654550" cy="369332"/>
          </a:xfrm>
          <a:prstGeom prst="rect">
            <a:avLst/>
          </a:prstGeom>
          <a:noFill/>
        </p:spPr>
        <p:txBody>
          <a:bodyPr wrap="square" rtlCol="0">
            <a:spAutoFit/>
          </a:bodyPr>
          <a:lstStyle/>
          <a:p>
            <a:pPr algn="ctr"/>
            <a:r>
              <a:rPr lang="en-US" dirty="0"/>
              <a:t>Real values</a:t>
            </a:r>
          </a:p>
        </p:txBody>
      </p:sp>
      <p:sp>
        <p:nvSpPr>
          <p:cNvPr id="16" name="TextBox 15">
            <a:extLst>
              <a:ext uri="{FF2B5EF4-FFF2-40B4-BE49-F238E27FC236}">
                <a16:creationId xmlns:a16="http://schemas.microsoft.com/office/drawing/2014/main" id="{5A40620C-7227-AB22-B217-906FDE140391}"/>
              </a:ext>
            </a:extLst>
          </p:cNvPr>
          <p:cNvSpPr txBox="1"/>
          <p:nvPr/>
        </p:nvSpPr>
        <p:spPr>
          <a:xfrm rot="5400000">
            <a:off x="3181688" y="3756992"/>
            <a:ext cx="4654552" cy="369332"/>
          </a:xfrm>
          <a:prstGeom prst="rect">
            <a:avLst/>
          </a:prstGeom>
          <a:noFill/>
        </p:spPr>
        <p:txBody>
          <a:bodyPr wrap="square" rtlCol="0">
            <a:spAutoFit/>
          </a:bodyPr>
          <a:lstStyle/>
          <a:p>
            <a:pPr algn="ctr"/>
            <a:r>
              <a:rPr lang="en-US" dirty="0"/>
              <a:t>Imaginary values</a:t>
            </a:r>
          </a:p>
        </p:txBody>
      </p:sp>
      <p:sp>
        <p:nvSpPr>
          <p:cNvPr id="18" name="TextBox 17">
            <a:extLst>
              <a:ext uri="{FF2B5EF4-FFF2-40B4-BE49-F238E27FC236}">
                <a16:creationId xmlns:a16="http://schemas.microsoft.com/office/drawing/2014/main" id="{FE972D93-ADB7-85BD-5D8F-52CB1A4A8147}"/>
              </a:ext>
            </a:extLst>
          </p:cNvPr>
          <p:cNvSpPr txBox="1"/>
          <p:nvPr/>
        </p:nvSpPr>
        <p:spPr>
          <a:xfrm>
            <a:off x="5856686" y="6336162"/>
            <a:ext cx="673651" cy="369332"/>
          </a:xfrm>
          <a:prstGeom prst="rect">
            <a:avLst/>
          </a:prstGeom>
          <a:noFill/>
        </p:spPr>
        <p:txBody>
          <a:bodyPr wrap="square" rtlCol="0">
            <a:spAutoFit/>
          </a:bodyPr>
          <a:lstStyle/>
          <a:p>
            <a:r>
              <a:rPr lang="en-US" dirty="0"/>
              <a:t>Pong</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741EF6E-2ED2-4439-CBE7-0CC299F31123}"/>
                  </a:ext>
                </a:extLst>
              </p:cNvPr>
              <p:cNvSpPr txBox="1"/>
              <p:nvPr/>
            </p:nvSpPr>
            <p:spPr>
              <a:xfrm>
                <a:off x="4986286" y="1200861"/>
                <a:ext cx="707344" cy="392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𝜓</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sup>
                      </m:sSup>
                      <m:r>
                        <a:rPr lang="en-US" b="0" i="1" smtClean="0">
                          <a:latin typeface="Cambria Math" panose="02040503050406030204" pitchFamily="18" charset="0"/>
                        </a:rPr>
                        <m:t>⟩</m:t>
                      </m:r>
                    </m:oMath>
                  </m:oMathPara>
                </a14:m>
                <a:endParaRPr lang="en-US" dirty="0"/>
              </a:p>
            </p:txBody>
          </p:sp>
        </mc:Choice>
        <mc:Fallback xmlns="">
          <p:sp>
            <p:nvSpPr>
              <p:cNvPr id="22" name="TextBox 21">
                <a:extLst>
                  <a:ext uri="{FF2B5EF4-FFF2-40B4-BE49-F238E27FC236}">
                    <a16:creationId xmlns:a16="http://schemas.microsoft.com/office/drawing/2014/main" id="{4741EF6E-2ED2-4439-CBE7-0CC299F31123}"/>
                  </a:ext>
                </a:extLst>
              </p:cNvPr>
              <p:cNvSpPr txBox="1">
                <a:spLocks noRot="1" noChangeAspect="1" noMove="1" noResize="1" noEditPoints="1" noAdjustHandles="1" noChangeArrowheads="1" noChangeShapeType="1" noTextEdit="1"/>
              </p:cNvSpPr>
              <p:nvPr/>
            </p:nvSpPr>
            <p:spPr>
              <a:xfrm>
                <a:off x="4986286" y="1200861"/>
                <a:ext cx="707344" cy="392993"/>
              </a:xfrm>
              <a:prstGeom prst="rect">
                <a:avLst/>
              </a:prstGeom>
              <a:blipFill>
                <a:blip r:embed="rId4"/>
                <a:stretch>
                  <a:fillRect l="-2586" r="-6897" b="-109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4299378-F8C5-303D-4B7A-D85F886525A9}"/>
                  </a:ext>
                </a:extLst>
              </p:cNvPr>
              <p:cNvSpPr txBox="1"/>
              <p:nvPr/>
            </p:nvSpPr>
            <p:spPr>
              <a:xfrm>
                <a:off x="5698638" y="1187202"/>
                <a:ext cx="924811" cy="392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𝜓</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+1</m:t>
                              </m:r>
                            </m:e>
                          </m:d>
                        </m:sup>
                      </m:sSup>
                      <m:r>
                        <a:rPr lang="en-US" b="0" i="1" smtClean="0">
                          <a:latin typeface="Cambria Math" panose="02040503050406030204" pitchFamily="18" charset="0"/>
                        </a:rPr>
                        <m:t>⟩</m:t>
                      </m:r>
                    </m:oMath>
                  </m:oMathPara>
                </a14:m>
                <a:endParaRPr lang="en-US" dirty="0"/>
              </a:p>
            </p:txBody>
          </p:sp>
        </mc:Choice>
        <mc:Fallback xmlns="">
          <p:sp>
            <p:nvSpPr>
              <p:cNvPr id="23" name="TextBox 22">
                <a:extLst>
                  <a:ext uri="{FF2B5EF4-FFF2-40B4-BE49-F238E27FC236}">
                    <a16:creationId xmlns:a16="http://schemas.microsoft.com/office/drawing/2014/main" id="{A4299378-F8C5-303D-4B7A-D85F886525A9}"/>
                  </a:ext>
                </a:extLst>
              </p:cNvPr>
              <p:cNvSpPr txBox="1">
                <a:spLocks noRot="1" noChangeAspect="1" noMove="1" noResize="1" noEditPoints="1" noAdjustHandles="1" noChangeArrowheads="1" noChangeShapeType="1" noTextEdit="1"/>
              </p:cNvSpPr>
              <p:nvPr/>
            </p:nvSpPr>
            <p:spPr>
              <a:xfrm>
                <a:off x="5698638" y="1187202"/>
                <a:ext cx="924811" cy="392993"/>
              </a:xfrm>
              <a:prstGeom prst="rect">
                <a:avLst/>
              </a:prstGeom>
              <a:blipFill>
                <a:blip r:embed="rId5"/>
                <a:stretch>
                  <a:fillRect l="-1974" r="-5263" b="-109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1E060BE-9606-ECFD-9A30-D94C8880542C}"/>
                  </a:ext>
                </a:extLst>
              </p:cNvPr>
              <p:cNvSpPr txBox="1"/>
              <p:nvPr/>
            </p:nvSpPr>
            <p:spPr>
              <a:xfrm>
                <a:off x="4670626" y="1636864"/>
                <a:ext cx="29168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0</m:t>
                          </m:r>
                        </m:sub>
                      </m:sSub>
                    </m:oMath>
                  </m:oMathPara>
                </a14:m>
                <a:endParaRPr lang="en-US" dirty="0"/>
              </a:p>
            </p:txBody>
          </p:sp>
        </mc:Choice>
        <mc:Fallback xmlns="">
          <p:sp>
            <p:nvSpPr>
              <p:cNvPr id="24" name="TextBox 23">
                <a:extLst>
                  <a:ext uri="{FF2B5EF4-FFF2-40B4-BE49-F238E27FC236}">
                    <a16:creationId xmlns:a16="http://schemas.microsoft.com/office/drawing/2014/main" id="{B1E060BE-9606-ECFD-9A30-D94C8880542C}"/>
                  </a:ext>
                </a:extLst>
              </p:cNvPr>
              <p:cNvSpPr txBox="1">
                <a:spLocks noRot="1" noChangeAspect="1" noMove="1" noResize="1" noEditPoints="1" noAdjustHandles="1" noChangeArrowheads="1" noChangeShapeType="1" noTextEdit="1"/>
              </p:cNvSpPr>
              <p:nvPr/>
            </p:nvSpPr>
            <p:spPr>
              <a:xfrm>
                <a:off x="4670626" y="1636864"/>
                <a:ext cx="291682" cy="276999"/>
              </a:xfrm>
              <a:prstGeom prst="rect">
                <a:avLst/>
              </a:prstGeom>
              <a:blipFill>
                <a:blip r:embed="rId6"/>
                <a:stretch>
                  <a:fillRect l="-12500" r="-10417"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291632A-D049-07CF-4A3F-E8F73401595D}"/>
                  </a:ext>
                </a:extLst>
              </p:cNvPr>
              <p:cNvSpPr txBox="1"/>
              <p:nvPr/>
            </p:nvSpPr>
            <p:spPr>
              <a:xfrm>
                <a:off x="4672766" y="1999883"/>
                <a:ext cx="2863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1</m:t>
                          </m:r>
                        </m:sub>
                      </m:sSub>
                    </m:oMath>
                  </m:oMathPara>
                </a14:m>
                <a:endParaRPr lang="en-US" dirty="0"/>
              </a:p>
            </p:txBody>
          </p:sp>
        </mc:Choice>
        <mc:Fallback xmlns="">
          <p:sp>
            <p:nvSpPr>
              <p:cNvPr id="25" name="TextBox 24">
                <a:extLst>
                  <a:ext uri="{FF2B5EF4-FFF2-40B4-BE49-F238E27FC236}">
                    <a16:creationId xmlns:a16="http://schemas.microsoft.com/office/drawing/2014/main" id="{D291632A-D049-07CF-4A3F-E8F73401595D}"/>
                  </a:ext>
                </a:extLst>
              </p:cNvPr>
              <p:cNvSpPr txBox="1">
                <a:spLocks noRot="1" noChangeAspect="1" noMove="1" noResize="1" noEditPoints="1" noAdjustHandles="1" noChangeArrowheads="1" noChangeShapeType="1" noTextEdit="1"/>
              </p:cNvSpPr>
              <p:nvPr/>
            </p:nvSpPr>
            <p:spPr>
              <a:xfrm>
                <a:off x="4672766" y="1999883"/>
                <a:ext cx="286360" cy="276999"/>
              </a:xfrm>
              <a:prstGeom prst="rect">
                <a:avLst/>
              </a:prstGeom>
              <a:blipFill>
                <a:blip r:embed="rId7"/>
                <a:stretch>
                  <a:fillRect l="-12766" r="-8511"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6E2B37B-B794-7484-B633-95DB1C9CCF3A}"/>
                  </a:ext>
                </a:extLst>
              </p:cNvPr>
              <p:cNvSpPr txBox="1"/>
              <p:nvPr/>
            </p:nvSpPr>
            <p:spPr>
              <a:xfrm>
                <a:off x="4577194" y="5933625"/>
                <a:ext cx="544060"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𝑁</m:t>
                          </m:r>
                          <m:r>
                            <a:rPr lang="en-US" b="0" i="1" smtClean="0">
                              <a:latin typeface="Cambria Math" panose="02040503050406030204" pitchFamily="18" charset="0"/>
                            </a:rPr>
                            <m:t>−1</m:t>
                          </m:r>
                        </m:sub>
                      </m:sSub>
                    </m:oMath>
                  </m:oMathPara>
                </a14:m>
                <a:endParaRPr lang="en-US" dirty="0"/>
              </a:p>
            </p:txBody>
          </p:sp>
        </mc:Choice>
        <mc:Fallback xmlns="">
          <p:sp>
            <p:nvSpPr>
              <p:cNvPr id="26" name="TextBox 25">
                <a:extLst>
                  <a:ext uri="{FF2B5EF4-FFF2-40B4-BE49-F238E27FC236}">
                    <a16:creationId xmlns:a16="http://schemas.microsoft.com/office/drawing/2014/main" id="{26E2B37B-B794-7484-B633-95DB1C9CCF3A}"/>
                  </a:ext>
                </a:extLst>
              </p:cNvPr>
              <p:cNvSpPr txBox="1">
                <a:spLocks noRot="1" noChangeAspect="1" noMove="1" noResize="1" noEditPoints="1" noAdjustHandles="1" noChangeArrowheads="1" noChangeShapeType="1" noTextEdit="1"/>
              </p:cNvSpPr>
              <p:nvPr/>
            </p:nvSpPr>
            <p:spPr>
              <a:xfrm>
                <a:off x="4577194" y="5933625"/>
                <a:ext cx="544060" cy="276999"/>
              </a:xfrm>
              <a:prstGeom prst="rect">
                <a:avLst/>
              </a:prstGeom>
              <a:blipFill>
                <a:blip r:embed="rId8"/>
                <a:stretch>
                  <a:fillRect l="-6742" r="-4494" b="-15217"/>
                </a:stretch>
              </a:blipFill>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1480204C-6C44-EE4F-9043-AB709AAD6ECC}"/>
              </a:ext>
            </a:extLst>
          </p:cNvPr>
          <p:cNvCxnSpPr>
            <a:cxnSpLocks/>
          </p:cNvCxnSpPr>
          <p:nvPr/>
        </p:nvCxnSpPr>
        <p:spPr>
          <a:xfrm>
            <a:off x="5043828" y="1956873"/>
            <a:ext cx="589538" cy="0"/>
          </a:xfrm>
          <a:prstGeom prst="line">
            <a:avLst/>
          </a:prstGeom>
        </p:spPr>
        <p:style>
          <a:lnRef idx="2">
            <a:schemeClr val="dk1"/>
          </a:lnRef>
          <a:fillRef idx="0">
            <a:schemeClr val="dk1"/>
          </a:fillRef>
          <a:effectRef idx="1">
            <a:schemeClr val="dk1"/>
          </a:effectRef>
          <a:fontRef idx="minor">
            <a:schemeClr val="tx1"/>
          </a:fontRef>
        </p:style>
      </p:cxnSp>
      <p:cxnSp>
        <p:nvCxnSpPr>
          <p:cNvPr id="35" name="Straight Connector 34">
            <a:extLst>
              <a:ext uri="{FF2B5EF4-FFF2-40B4-BE49-F238E27FC236}">
                <a16:creationId xmlns:a16="http://schemas.microsoft.com/office/drawing/2014/main" id="{8C8CAB35-676B-4683-17E1-F4A43E9F0F42}"/>
              </a:ext>
            </a:extLst>
          </p:cNvPr>
          <p:cNvCxnSpPr>
            <a:cxnSpLocks/>
          </p:cNvCxnSpPr>
          <p:nvPr/>
        </p:nvCxnSpPr>
        <p:spPr>
          <a:xfrm>
            <a:off x="5043828" y="2350969"/>
            <a:ext cx="589538" cy="0"/>
          </a:xfrm>
          <a:prstGeom prst="line">
            <a:avLst/>
          </a:prstGeom>
        </p:spPr>
        <p:style>
          <a:lnRef idx="2">
            <a:schemeClr val="dk1"/>
          </a:lnRef>
          <a:fillRef idx="0">
            <a:schemeClr val="dk1"/>
          </a:fillRef>
          <a:effectRef idx="1">
            <a:schemeClr val="dk1"/>
          </a:effectRef>
          <a:fontRef idx="minor">
            <a:schemeClr val="tx1"/>
          </a:fontRef>
        </p:style>
      </p:cxnSp>
      <p:cxnSp>
        <p:nvCxnSpPr>
          <p:cNvPr id="37" name="Straight Connector 36">
            <a:extLst>
              <a:ext uri="{FF2B5EF4-FFF2-40B4-BE49-F238E27FC236}">
                <a16:creationId xmlns:a16="http://schemas.microsoft.com/office/drawing/2014/main" id="{A9F94481-6FEB-59B3-13EA-8C94161C9B1F}"/>
              </a:ext>
            </a:extLst>
          </p:cNvPr>
          <p:cNvCxnSpPr>
            <a:cxnSpLocks/>
          </p:cNvCxnSpPr>
          <p:nvPr/>
        </p:nvCxnSpPr>
        <p:spPr>
          <a:xfrm>
            <a:off x="5043828" y="5908682"/>
            <a:ext cx="589538" cy="0"/>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B2AE55D-9751-44B8-7B0B-8CDA6B2B72E9}"/>
                  </a:ext>
                </a:extLst>
              </p:cNvPr>
              <p:cNvSpPr txBox="1"/>
              <p:nvPr/>
            </p:nvSpPr>
            <p:spPr>
              <a:xfrm>
                <a:off x="5115837" y="2418201"/>
                <a:ext cx="11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5" name="TextBox 44">
                <a:extLst>
                  <a:ext uri="{FF2B5EF4-FFF2-40B4-BE49-F238E27FC236}">
                    <a16:creationId xmlns:a16="http://schemas.microsoft.com/office/drawing/2014/main" id="{8B2AE55D-9751-44B8-7B0B-8CDA6B2B72E9}"/>
                  </a:ext>
                </a:extLst>
              </p:cNvPr>
              <p:cNvSpPr txBox="1">
                <a:spLocks noRot="1" noChangeAspect="1" noMove="1" noResize="1" noEditPoints="1" noAdjustHandles="1" noChangeArrowheads="1" noChangeShapeType="1" noTextEdit="1"/>
              </p:cNvSpPr>
              <p:nvPr/>
            </p:nvSpPr>
            <p:spPr>
              <a:xfrm>
                <a:off x="5115837" y="2418201"/>
                <a:ext cx="118622" cy="276999"/>
              </a:xfrm>
              <a:prstGeom prst="rect">
                <a:avLst/>
              </a:prstGeom>
              <a:blipFill>
                <a:blip r:embed="rId9"/>
                <a:stretch>
                  <a:fillRect l="-45000" r="-45000"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73DDD5C-6087-863A-0752-9FB57156698E}"/>
                  </a:ext>
                </a:extLst>
              </p:cNvPr>
              <p:cNvSpPr txBox="1"/>
              <p:nvPr/>
            </p:nvSpPr>
            <p:spPr>
              <a:xfrm>
                <a:off x="5459164" y="2418200"/>
                <a:ext cx="11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6" name="TextBox 45">
                <a:extLst>
                  <a:ext uri="{FF2B5EF4-FFF2-40B4-BE49-F238E27FC236}">
                    <a16:creationId xmlns:a16="http://schemas.microsoft.com/office/drawing/2014/main" id="{473DDD5C-6087-863A-0752-9FB57156698E}"/>
                  </a:ext>
                </a:extLst>
              </p:cNvPr>
              <p:cNvSpPr txBox="1">
                <a:spLocks noRot="1" noChangeAspect="1" noMove="1" noResize="1" noEditPoints="1" noAdjustHandles="1" noChangeArrowheads="1" noChangeShapeType="1" noTextEdit="1"/>
              </p:cNvSpPr>
              <p:nvPr/>
            </p:nvSpPr>
            <p:spPr>
              <a:xfrm>
                <a:off x="5459164" y="2418200"/>
                <a:ext cx="118622" cy="276999"/>
              </a:xfrm>
              <a:prstGeom prst="rect">
                <a:avLst/>
              </a:prstGeom>
              <a:blipFill>
                <a:blip r:embed="rId10"/>
                <a:stretch>
                  <a:fillRect l="-47368" r="-52632"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1F60B39E-1F1C-0689-3C2E-51F46797EE3E}"/>
                  </a:ext>
                </a:extLst>
              </p:cNvPr>
              <p:cNvSpPr txBox="1"/>
              <p:nvPr/>
            </p:nvSpPr>
            <p:spPr>
              <a:xfrm>
                <a:off x="5106315" y="5942066"/>
                <a:ext cx="11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9" name="TextBox 48">
                <a:extLst>
                  <a:ext uri="{FF2B5EF4-FFF2-40B4-BE49-F238E27FC236}">
                    <a16:creationId xmlns:a16="http://schemas.microsoft.com/office/drawing/2014/main" id="{1F60B39E-1F1C-0689-3C2E-51F46797EE3E}"/>
                  </a:ext>
                </a:extLst>
              </p:cNvPr>
              <p:cNvSpPr txBox="1">
                <a:spLocks noRot="1" noChangeAspect="1" noMove="1" noResize="1" noEditPoints="1" noAdjustHandles="1" noChangeArrowheads="1" noChangeShapeType="1" noTextEdit="1"/>
              </p:cNvSpPr>
              <p:nvPr/>
            </p:nvSpPr>
            <p:spPr>
              <a:xfrm>
                <a:off x="5106315" y="5942066"/>
                <a:ext cx="118622" cy="276999"/>
              </a:xfrm>
              <a:prstGeom prst="rect">
                <a:avLst/>
              </a:prstGeom>
              <a:blipFill>
                <a:blip r:embed="rId11"/>
                <a:stretch>
                  <a:fillRect l="-47368" r="-52632"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DE497EA6-0874-C149-46AE-D5B75026AD29}"/>
                  </a:ext>
                </a:extLst>
              </p:cNvPr>
              <p:cNvSpPr txBox="1"/>
              <p:nvPr/>
            </p:nvSpPr>
            <p:spPr>
              <a:xfrm>
                <a:off x="5459169" y="5942065"/>
                <a:ext cx="11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50" name="TextBox 49">
                <a:extLst>
                  <a:ext uri="{FF2B5EF4-FFF2-40B4-BE49-F238E27FC236}">
                    <a16:creationId xmlns:a16="http://schemas.microsoft.com/office/drawing/2014/main" id="{DE497EA6-0874-C149-46AE-D5B75026AD29}"/>
                  </a:ext>
                </a:extLst>
              </p:cNvPr>
              <p:cNvSpPr txBox="1">
                <a:spLocks noRot="1" noChangeAspect="1" noMove="1" noResize="1" noEditPoints="1" noAdjustHandles="1" noChangeArrowheads="1" noChangeShapeType="1" noTextEdit="1"/>
              </p:cNvSpPr>
              <p:nvPr/>
            </p:nvSpPr>
            <p:spPr>
              <a:xfrm>
                <a:off x="5459169" y="5942065"/>
                <a:ext cx="118622" cy="276999"/>
              </a:xfrm>
              <a:prstGeom prst="rect">
                <a:avLst/>
              </a:prstGeom>
              <a:blipFill>
                <a:blip r:embed="rId12"/>
                <a:stretch>
                  <a:fillRect l="-47368" r="-52632" b="-6667"/>
                </a:stretch>
              </a:blipFill>
            </p:spPr>
            <p:txBody>
              <a:bodyPr/>
              <a:lstStyle/>
              <a:p>
                <a:r>
                  <a:rPr lang="en-US">
                    <a:noFill/>
                  </a:rPr>
                  <a:t> </a:t>
                </a:r>
              </a:p>
            </p:txBody>
          </p:sp>
        </mc:Fallback>
      </mc:AlternateContent>
      <p:cxnSp>
        <p:nvCxnSpPr>
          <p:cNvPr id="54" name="Straight Arrow Connector 53">
            <a:extLst>
              <a:ext uri="{FF2B5EF4-FFF2-40B4-BE49-F238E27FC236}">
                <a16:creationId xmlns:a16="http://schemas.microsoft.com/office/drawing/2014/main" id="{6CB23E5D-D42E-72C2-3BE7-D36BCBE04E7E}"/>
              </a:ext>
            </a:extLst>
          </p:cNvPr>
          <p:cNvCxnSpPr>
            <a:cxnSpLocks/>
          </p:cNvCxnSpPr>
          <p:nvPr/>
        </p:nvCxnSpPr>
        <p:spPr>
          <a:xfrm>
            <a:off x="5620966" y="3759967"/>
            <a:ext cx="227013" cy="0"/>
          </a:xfrm>
          <a:prstGeom prst="straightConnector1">
            <a:avLst/>
          </a:prstGeom>
          <a:ln w="3175">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959E261B-FB14-7CD0-3150-D875730502AE}"/>
              </a:ext>
            </a:extLst>
          </p:cNvPr>
          <p:cNvCxnSpPr>
            <a:cxnSpLocks/>
            <a:endCxn id="14" idx="3"/>
          </p:cNvCxnSpPr>
          <p:nvPr/>
        </p:nvCxnSpPr>
        <p:spPr>
          <a:xfrm flipH="1">
            <a:off x="5633366" y="3942226"/>
            <a:ext cx="214613" cy="0"/>
          </a:xfrm>
          <a:prstGeom prst="straightConnector1">
            <a:avLst/>
          </a:prstGeom>
          <a:ln w="3175">
            <a:tailEnd type="triangle"/>
          </a:ln>
        </p:spPr>
        <p:style>
          <a:lnRef idx="1">
            <a:schemeClr val="dk1"/>
          </a:lnRef>
          <a:fillRef idx="0">
            <a:schemeClr val="dk1"/>
          </a:fillRef>
          <a:effectRef idx="0">
            <a:schemeClr val="dk1"/>
          </a:effectRef>
          <a:fontRef idx="minor">
            <a:schemeClr val="tx1"/>
          </a:fontRef>
        </p:style>
      </p:cxnSp>
      <p:pic>
        <p:nvPicPr>
          <p:cNvPr id="56" name="Picture 55">
            <a:extLst>
              <a:ext uri="{FF2B5EF4-FFF2-40B4-BE49-F238E27FC236}">
                <a16:creationId xmlns:a16="http://schemas.microsoft.com/office/drawing/2014/main" id="{5F352353-0F17-687B-DB15-E78E74BD1315}"/>
              </a:ext>
            </a:extLst>
          </p:cNvPr>
          <p:cNvPicPr>
            <a:picLocks noChangeAspect="1"/>
          </p:cNvPicPr>
          <p:nvPr/>
        </p:nvPicPr>
        <p:blipFill>
          <a:blip r:embed="rId13"/>
          <a:stretch>
            <a:fillRect/>
          </a:stretch>
        </p:blipFill>
        <p:spPr>
          <a:xfrm>
            <a:off x="7063816" y="3505150"/>
            <a:ext cx="5075634" cy="2549533"/>
          </a:xfrm>
          <a:prstGeom prst="rect">
            <a:avLst/>
          </a:prstGeom>
        </p:spPr>
      </p:pic>
      <p:sp>
        <p:nvSpPr>
          <p:cNvPr id="57" name="TextBox 56">
            <a:extLst>
              <a:ext uri="{FF2B5EF4-FFF2-40B4-BE49-F238E27FC236}">
                <a16:creationId xmlns:a16="http://schemas.microsoft.com/office/drawing/2014/main" id="{4A07EDDF-E0DE-1E69-4D2F-2335B920C01F}"/>
              </a:ext>
            </a:extLst>
          </p:cNvPr>
          <p:cNvSpPr txBox="1"/>
          <p:nvPr/>
        </p:nvSpPr>
        <p:spPr>
          <a:xfrm>
            <a:off x="6975194" y="6088298"/>
            <a:ext cx="5002789" cy="646331"/>
          </a:xfrm>
          <a:prstGeom prst="rect">
            <a:avLst/>
          </a:prstGeom>
          <a:noFill/>
        </p:spPr>
        <p:txBody>
          <a:bodyPr wrap="square">
            <a:spAutoFit/>
          </a:bodyPr>
          <a:lstStyle/>
          <a:p>
            <a:r>
              <a:rPr lang="en-US" b="1" dirty="0">
                <a:solidFill>
                  <a:srgbClr val="FF0000"/>
                </a:solidFill>
              </a:rPr>
              <a:t>Figure 2.4</a:t>
            </a:r>
            <a:r>
              <a:rPr lang="en-US" dirty="0"/>
              <a:t>. Timing chart of </a:t>
            </a:r>
            <a:r>
              <a:rPr lang="en-US" dirty="0" err="1"/>
              <a:t>FQsun</a:t>
            </a:r>
            <a:r>
              <a:rPr lang="en-US" dirty="0"/>
              <a:t> operation using Ping/Pong Amplitude Memories. </a:t>
            </a:r>
          </a:p>
        </p:txBody>
      </p:sp>
      <p:sp>
        <p:nvSpPr>
          <p:cNvPr id="70" name="Rectangle 69">
            <a:extLst>
              <a:ext uri="{FF2B5EF4-FFF2-40B4-BE49-F238E27FC236}">
                <a16:creationId xmlns:a16="http://schemas.microsoft.com/office/drawing/2014/main" id="{01A262A8-6473-9B55-5192-FCE98FC9AB27}"/>
              </a:ext>
            </a:extLst>
          </p:cNvPr>
          <p:cNvSpPr/>
          <p:nvPr/>
        </p:nvSpPr>
        <p:spPr>
          <a:xfrm>
            <a:off x="5880535" y="1614951"/>
            <a:ext cx="239555" cy="46545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53B295FC-0EB4-3601-B59B-35E35BF30E9A}"/>
              </a:ext>
            </a:extLst>
          </p:cNvPr>
          <p:cNvSpPr/>
          <p:nvPr/>
        </p:nvSpPr>
        <p:spPr>
          <a:xfrm>
            <a:off x="6222271" y="1614951"/>
            <a:ext cx="247802" cy="46545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14430AE0-0A39-20D9-5E6F-CAB5129EB3DB}"/>
              </a:ext>
            </a:extLst>
          </p:cNvPr>
          <p:cNvSpPr txBox="1"/>
          <p:nvPr/>
        </p:nvSpPr>
        <p:spPr>
          <a:xfrm rot="5400000">
            <a:off x="3683431" y="3756990"/>
            <a:ext cx="4654550" cy="369332"/>
          </a:xfrm>
          <a:prstGeom prst="rect">
            <a:avLst/>
          </a:prstGeom>
          <a:noFill/>
        </p:spPr>
        <p:txBody>
          <a:bodyPr wrap="square" rtlCol="0">
            <a:spAutoFit/>
          </a:bodyPr>
          <a:lstStyle/>
          <a:p>
            <a:pPr algn="ctr"/>
            <a:r>
              <a:rPr lang="en-US" dirty="0"/>
              <a:t>Real values</a:t>
            </a:r>
          </a:p>
        </p:txBody>
      </p:sp>
      <p:sp>
        <p:nvSpPr>
          <p:cNvPr id="73" name="TextBox 72">
            <a:extLst>
              <a:ext uri="{FF2B5EF4-FFF2-40B4-BE49-F238E27FC236}">
                <a16:creationId xmlns:a16="http://schemas.microsoft.com/office/drawing/2014/main" id="{38F72F8A-52AC-B848-1817-67520EA32BE4}"/>
              </a:ext>
            </a:extLst>
          </p:cNvPr>
          <p:cNvSpPr txBox="1"/>
          <p:nvPr/>
        </p:nvSpPr>
        <p:spPr>
          <a:xfrm rot="5400000">
            <a:off x="4018395" y="3756992"/>
            <a:ext cx="4654552" cy="369332"/>
          </a:xfrm>
          <a:prstGeom prst="rect">
            <a:avLst/>
          </a:prstGeom>
          <a:noFill/>
        </p:spPr>
        <p:txBody>
          <a:bodyPr wrap="square" rtlCol="0">
            <a:spAutoFit/>
          </a:bodyPr>
          <a:lstStyle/>
          <a:p>
            <a:pPr algn="ctr"/>
            <a:r>
              <a:rPr lang="en-US" dirty="0"/>
              <a:t>Imaginary values</a:t>
            </a:r>
          </a:p>
        </p:txBody>
      </p:sp>
      <p:cxnSp>
        <p:nvCxnSpPr>
          <p:cNvPr id="74" name="Straight Connector 73">
            <a:extLst>
              <a:ext uri="{FF2B5EF4-FFF2-40B4-BE49-F238E27FC236}">
                <a16:creationId xmlns:a16="http://schemas.microsoft.com/office/drawing/2014/main" id="{404689CE-4B07-766C-B03E-48D7B51F1839}"/>
              </a:ext>
            </a:extLst>
          </p:cNvPr>
          <p:cNvCxnSpPr>
            <a:cxnSpLocks/>
          </p:cNvCxnSpPr>
          <p:nvPr/>
        </p:nvCxnSpPr>
        <p:spPr>
          <a:xfrm>
            <a:off x="5880535" y="1956873"/>
            <a:ext cx="589538" cy="0"/>
          </a:xfrm>
          <a:prstGeom prst="line">
            <a:avLst/>
          </a:prstGeom>
        </p:spPr>
        <p:style>
          <a:lnRef idx="2">
            <a:schemeClr val="dk1"/>
          </a:lnRef>
          <a:fillRef idx="0">
            <a:schemeClr val="dk1"/>
          </a:fillRef>
          <a:effectRef idx="1">
            <a:schemeClr val="dk1"/>
          </a:effectRef>
          <a:fontRef idx="minor">
            <a:schemeClr val="tx1"/>
          </a:fontRef>
        </p:style>
      </p:cxnSp>
      <p:cxnSp>
        <p:nvCxnSpPr>
          <p:cNvPr id="75" name="Straight Connector 74">
            <a:extLst>
              <a:ext uri="{FF2B5EF4-FFF2-40B4-BE49-F238E27FC236}">
                <a16:creationId xmlns:a16="http://schemas.microsoft.com/office/drawing/2014/main" id="{1EE7D6F7-2337-9CB7-78A0-3C30726E9B98}"/>
              </a:ext>
            </a:extLst>
          </p:cNvPr>
          <p:cNvCxnSpPr>
            <a:cxnSpLocks/>
          </p:cNvCxnSpPr>
          <p:nvPr/>
        </p:nvCxnSpPr>
        <p:spPr>
          <a:xfrm>
            <a:off x="5880535" y="2350969"/>
            <a:ext cx="589538" cy="0"/>
          </a:xfrm>
          <a:prstGeom prst="line">
            <a:avLst/>
          </a:prstGeom>
        </p:spPr>
        <p:style>
          <a:lnRef idx="2">
            <a:schemeClr val="dk1"/>
          </a:lnRef>
          <a:fillRef idx="0">
            <a:schemeClr val="dk1"/>
          </a:fillRef>
          <a:effectRef idx="1">
            <a:schemeClr val="dk1"/>
          </a:effectRef>
          <a:fontRef idx="minor">
            <a:schemeClr val="tx1"/>
          </a:fontRef>
        </p:style>
      </p:cxnSp>
      <p:cxnSp>
        <p:nvCxnSpPr>
          <p:cNvPr id="76" name="Straight Connector 75">
            <a:extLst>
              <a:ext uri="{FF2B5EF4-FFF2-40B4-BE49-F238E27FC236}">
                <a16:creationId xmlns:a16="http://schemas.microsoft.com/office/drawing/2014/main" id="{6F4BE1FC-9B51-9E81-BF48-EFF8EFD805F0}"/>
              </a:ext>
            </a:extLst>
          </p:cNvPr>
          <p:cNvCxnSpPr>
            <a:cxnSpLocks/>
          </p:cNvCxnSpPr>
          <p:nvPr/>
        </p:nvCxnSpPr>
        <p:spPr>
          <a:xfrm>
            <a:off x="5880535" y="5908682"/>
            <a:ext cx="589538" cy="0"/>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D985CA73-B37B-899C-8D95-D44616DC8001}"/>
                  </a:ext>
                </a:extLst>
              </p:cNvPr>
              <p:cNvSpPr txBox="1"/>
              <p:nvPr/>
            </p:nvSpPr>
            <p:spPr>
              <a:xfrm>
                <a:off x="5952544" y="2418201"/>
                <a:ext cx="11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77" name="TextBox 76">
                <a:extLst>
                  <a:ext uri="{FF2B5EF4-FFF2-40B4-BE49-F238E27FC236}">
                    <a16:creationId xmlns:a16="http://schemas.microsoft.com/office/drawing/2014/main" id="{D985CA73-B37B-899C-8D95-D44616DC8001}"/>
                  </a:ext>
                </a:extLst>
              </p:cNvPr>
              <p:cNvSpPr txBox="1">
                <a:spLocks noRot="1" noChangeAspect="1" noMove="1" noResize="1" noEditPoints="1" noAdjustHandles="1" noChangeArrowheads="1" noChangeShapeType="1" noTextEdit="1"/>
              </p:cNvSpPr>
              <p:nvPr/>
            </p:nvSpPr>
            <p:spPr>
              <a:xfrm>
                <a:off x="5952544" y="2418201"/>
                <a:ext cx="118622" cy="276999"/>
              </a:xfrm>
              <a:prstGeom prst="rect">
                <a:avLst/>
              </a:prstGeom>
              <a:blipFill>
                <a:blip r:embed="rId14"/>
                <a:stretch>
                  <a:fillRect l="-45000" r="-45000"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D06B617C-57E3-D787-30B0-7D7C357D6E0C}"/>
                  </a:ext>
                </a:extLst>
              </p:cNvPr>
              <p:cNvSpPr txBox="1"/>
              <p:nvPr/>
            </p:nvSpPr>
            <p:spPr>
              <a:xfrm>
                <a:off x="6295871" y="2418200"/>
                <a:ext cx="11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78" name="TextBox 77">
                <a:extLst>
                  <a:ext uri="{FF2B5EF4-FFF2-40B4-BE49-F238E27FC236}">
                    <a16:creationId xmlns:a16="http://schemas.microsoft.com/office/drawing/2014/main" id="{D06B617C-57E3-D787-30B0-7D7C357D6E0C}"/>
                  </a:ext>
                </a:extLst>
              </p:cNvPr>
              <p:cNvSpPr txBox="1">
                <a:spLocks noRot="1" noChangeAspect="1" noMove="1" noResize="1" noEditPoints="1" noAdjustHandles="1" noChangeArrowheads="1" noChangeShapeType="1" noTextEdit="1"/>
              </p:cNvSpPr>
              <p:nvPr/>
            </p:nvSpPr>
            <p:spPr>
              <a:xfrm>
                <a:off x="6295871" y="2418200"/>
                <a:ext cx="118622" cy="276999"/>
              </a:xfrm>
              <a:prstGeom prst="rect">
                <a:avLst/>
              </a:prstGeom>
              <a:blipFill>
                <a:blip r:embed="rId15"/>
                <a:stretch>
                  <a:fillRect l="-47368" r="-52632"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23E892FB-95A6-C3A4-8B05-53C1C36A33F6}"/>
                  </a:ext>
                </a:extLst>
              </p:cNvPr>
              <p:cNvSpPr txBox="1"/>
              <p:nvPr/>
            </p:nvSpPr>
            <p:spPr>
              <a:xfrm>
                <a:off x="5943022" y="5942066"/>
                <a:ext cx="11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79" name="TextBox 78">
                <a:extLst>
                  <a:ext uri="{FF2B5EF4-FFF2-40B4-BE49-F238E27FC236}">
                    <a16:creationId xmlns:a16="http://schemas.microsoft.com/office/drawing/2014/main" id="{23E892FB-95A6-C3A4-8B05-53C1C36A33F6}"/>
                  </a:ext>
                </a:extLst>
              </p:cNvPr>
              <p:cNvSpPr txBox="1">
                <a:spLocks noRot="1" noChangeAspect="1" noMove="1" noResize="1" noEditPoints="1" noAdjustHandles="1" noChangeArrowheads="1" noChangeShapeType="1" noTextEdit="1"/>
              </p:cNvSpPr>
              <p:nvPr/>
            </p:nvSpPr>
            <p:spPr>
              <a:xfrm>
                <a:off x="5943022" y="5942066"/>
                <a:ext cx="118622" cy="276999"/>
              </a:xfrm>
              <a:prstGeom prst="rect">
                <a:avLst/>
              </a:prstGeom>
              <a:blipFill>
                <a:blip r:embed="rId16"/>
                <a:stretch>
                  <a:fillRect l="-47368" r="-52632"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46B9D32-BA29-AC46-830A-2FA56E5DC600}"/>
                  </a:ext>
                </a:extLst>
              </p:cNvPr>
              <p:cNvSpPr txBox="1"/>
              <p:nvPr/>
            </p:nvSpPr>
            <p:spPr>
              <a:xfrm>
                <a:off x="6295876" y="5942065"/>
                <a:ext cx="11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80" name="TextBox 79">
                <a:extLst>
                  <a:ext uri="{FF2B5EF4-FFF2-40B4-BE49-F238E27FC236}">
                    <a16:creationId xmlns:a16="http://schemas.microsoft.com/office/drawing/2014/main" id="{146B9D32-BA29-AC46-830A-2FA56E5DC600}"/>
                  </a:ext>
                </a:extLst>
              </p:cNvPr>
              <p:cNvSpPr txBox="1">
                <a:spLocks noRot="1" noChangeAspect="1" noMove="1" noResize="1" noEditPoints="1" noAdjustHandles="1" noChangeArrowheads="1" noChangeShapeType="1" noTextEdit="1"/>
              </p:cNvSpPr>
              <p:nvPr/>
            </p:nvSpPr>
            <p:spPr>
              <a:xfrm>
                <a:off x="6295876" y="5942065"/>
                <a:ext cx="118622" cy="276999"/>
              </a:xfrm>
              <a:prstGeom prst="rect">
                <a:avLst/>
              </a:prstGeom>
              <a:blipFill>
                <a:blip r:embed="rId17"/>
                <a:stretch>
                  <a:fillRect l="-47368" r="-52632" b="-6667"/>
                </a:stretch>
              </a:blipFill>
            </p:spPr>
            <p:txBody>
              <a:bodyPr/>
              <a:lstStyle/>
              <a:p>
                <a:r>
                  <a:rPr lang="en-US">
                    <a:noFill/>
                  </a:rPr>
                  <a:t> </a:t>
                </a:r>
              </a:p>
            </p:txBody>
          </p:sp>
        </mc:Fallback>
      </mc:AlternateContent>
      <p:sp>
        <p:nvSpPr>
          <p:cNvPr id="85" name="Rectangle 84">
            <a:extLst>
              <a:ext uri="{FF2B5EF4-FFF2-40B4-BE49-F238E27FC236}">
                <a16:creationId xmlns:a16="http://schemas.microsoft.com/office/drawing/2014/main" id="{369EF9C3-5474-0DB9-29CA-AD6A217759D8}"/>
              </a:ext>
            </a:extLst>
          </p:cNvPr>
          <p:cNvSpPr/>
          <p:nvPr/>
        </p:nvSpPr>
        <p:spPr>
          <a:xfrm>
            <a:off x="8686800" y="3138488"/>
            <a:ext cx="557212" cy="27206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CA7CD838-5D4E-5096-18D8-BECD1A7649A4}"/>
                  </a:ext>
                </a:extLst>
              </p:cNvPr>
              <p:cNvSpPr txBox="1"/>
              <p:nvPr/>
            </p:nvSpPr>
            <p:spPr>
              <a:xfrm>
                <a:off x="8473807" y="1202613"/>
                <a:ext cx="904881" cy="1833707"/>
              </a:xfrm>
              <a:prstGeom prst="rect">
                <a:avLst/>
              </a:prstGeom>
              <a:noFill/>
            </p:spPr>
            <p:txBody>
              <a:bodyPr wrap="square" rtlCol="0">
                <a:spAutoFit/>
              </a:bodyPr>
              <a:lstStyle/>
              <a:p>
                <a:r>
                  <a:rPr lang="en-US" sz="1400" b="1" dirty="0"/>
                  <a:t>Ping memory </a:t>
                </a:r>
                <a:r>
                  <a:rPr lang="en-US" sz="1400" dirty="0"/>
                  <a:t>store </a:t>
                </a:r>
                <a14:m>
                  <m:oMath xmlns:m="http://schemas.openxmlformats.org/officeDocument/2006/math">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𝜓</m:t>
                        </m:r>
                      </m:e>
                      <m:sup>
                        <m:r>
                          <a:rPr lang="en-US" sz="1400" b="0" i="1" smtClean="0">
                            <a:latin typeface="Cambria Math" panose="02040503050406030204" pitchFamily="18" charset="0"/>
                          </a:rPr>
                          <m:t>(0)</m:t>
                        </m:r>
                      </m:sup>
                    </m:sSup>
                    <m:r>
                      <a:rPr lang="en-US" sz="1400" b="0" i="1" smtClean="0">
                        <a:latin typeface="Cambria Math" panose="02040503050406030204" pitchFamily="18" charset="0"/>
                      </a:rPr>
                      <m:t>⟩</m:t>
                    </m:r>
                  </m:oMath>
                </a14:m>
                <a:endParaRPr lang="en-US" sz="1400" dirty="0"/>
              </a:p>
              <a:p>
                <a:r>
                  <a:rPr lang="en-US" sz="1400" b="1" dirty="0"/>
                  <a:t>Pong memory </a:t>
                </a:r>
                <a:r>
                  <a:rPr lang="en-US" sz="1400" dirty="0"/>
                  <a:t>store </a:t>
                </a:r>
                <a14:m>
                  <m:oMath xmlns:m="http://schemas.openxmlformats.org/officeDocument/2006/math">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𝜓</m:t>
                        </m:r>
                      </m:e>
                      <m:sup>
                        <m:r>
                          <a:rPr lang="en-US" sz="1400" b="0" i="1" smtClean="0">
                            <a:latin typeface="Cambria Math" panose="02040503050406030204" pitchFamily="18" charset="0"/>
                          </a:rPr>
                          <m:t>(1)</m:t>
                        </m:r>
                      </m:sup>
                    </m:sSup>
                    <m:r>
                      <a:rPr lang="en-US" sz="1400" b="0" i="1" smtClean="0">
                        <a:latin typeface="Cambria Math" panose="02040503050406030204" pitchFamily="18" charset="0"/>
                      </a:rPr>
                      <m:t>⟩</m:t>
                    </m:r>
                  </m:oMath>
                </a14:m>
                <a:endParaRPr lang="en-US" sz="1400" dirty="0"/>
              </a:p>
            </p:txBody>
          </p:sp>
        </mc:Choice>
        <mc:Fallback xmlns="">
          <p:sp>
            <p:nvSpPr>
              <p:cNvPr id="86" name="TextBox 85">
                <a:extLst>
                  <a:ext uri="{FF2B5EF4-FFF2-40B4-BE49-F238E27FC236}">
                    <a16:creationId xmlns:a16="http://schemas.microsoft.com/office/drawing/2014/main" id="{CA7CD838-5D4E-5096-18D8-BECD1A7649A4}"/>
                  </a:ext>
                </a:extLst>
              </p:cNvPr>
              <p:cNvSpPr txBox="1">
                <a:spLocks noRot="1" noChangeAspect="1" noMove="1" noResize="1" noEditPoints="1" noAdjustHandles="1" noChangeArrowheads="1" noChangeShapeType="1" noTextEdit="1"/>
              </p:cNvSpPr>
              <p:nvPr/>
            </p:nvSpPr>
            <p:spPr>
              <a:xfrm>
                <a:off x="8473807" y="1202613"/>
                <a:ext cx="904881" cy="1833707"/>
              </a:xfrm>
              <a:prstGeom prst="rect">
                <a:avLst/>
              </a:prstGeom>
              <a:blipFill>
                <a:blip r:embed="rId18"/>
                <a:stretch>
                  <a:fillRect l="-2027" t="-332" r="-676" b="-332"/>
                </a:stretch>
              </a:blipFill>
            </p:spPr>
            <p:txBody>
              <a:bodyPr/>
              <a:lstStyle/>
              <a:p>
                <a:r>
                  <a:rPr lang="en-US">
                    <a:noFill/>
                  </a:rPr>
                  <a:t> </a:t>
                </a:r>
              </a:p>
            </p:txBody>
          </p:sp>
        </mc:Fallback>
      </mc:AlternateContent>
      <p:sp>
        <p:nvSpPr>
          <p:cNvPr id="87" name="Rectangle 86">
            <a:extLst>
              <a:ext uri="{FF2B5EF4-FFF2-40B4-BE49-F238E27FC236}">
                <a16:creationId xmlns:a16="http://schemas.microsoft.com/office/drawing/2014/main" id="{ADE11B17-D0E8-168C-CE8D-D4E5CC569563}"/>
              </a:ext>
            </a:extLst>
          </p:cNvPr>
          <p:cNvSpPr/>
          <p:nvPr/>
        </p:nvSpPr>
        <p:spPr>
          <a:xfrm>
            <a:off x="9241093" y="3138488"/>
            <a:ext cx="557212" cy="27206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69F94F4F-4F0C-4111-ACE7-4A521D107D8F}"/>
                  </a:ext>
                </a:extLst>
              </p:cNvPr>
              <p:cNvSpPr txBox="1"/>
              <p:nvPr/>
            </p:nvSpPr>
            <p:spPr>
              <a:xfrm>
                <a:off x="9250249" y="1216272"/>
                <a:ext cx="904881" cy="1833707"/>
              </a:xfrm>
              <a:prstGeom prst="rect">
                <a:avLst/>
              </a:prstGeom>
              <a:noFill/>
            </p:spPr>
            <p:txBody>
              <a:bodyPr wrap="square" rtlCol="0">
                <a:spAutoFit/>
              </a:bodyPr>
              <a:lstStyle/>
              <a:p>
                <a:r>
                  <a:rPr lang="en-US" sz="1400" b="1" dirty="0"/>
                  <a:t>Ping memory </a:t>
                </a:r>
                <a:r>
                  <a:rPr lang="en-US" sz="1400" dirty="0"/>
                  <a:t>store </a:t>
                </a:r>
                <a14:m>
                  <m:oMath xmlns:m="http://schemas.openxmlformats.org/officeDocument/2006/math">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𝜓</m:t>
                        </m:r>
                      </m:e>
                      <m:sup>
                        <m:r>
                          <a:rPr lang="en-US" sz="1400" b="0" i="1" smtClean="0">
                            <a:latin typeface="Cambria Math" panose="02040503050406030204" pitchFamily="18" charset="0"/>
                          </a:rPr>
                          <m:t>(1)</m:t>
                        </m:r>
                      </m:sup>
                    </m:sSup>
                    <m:r>
                      <a:rPr lang="en-US" sz="1400" b="0" i="1" smtClean="0">
                        <a:latin typeface="Cambria Math" panose="02040503050406030204" pitchFamily="18" charset="0"/>
                      </a:rPr>
                      <m:t>⟩</m:t>
                    </m:r>
                  </m:oMath>
                </a14:m>
                <a:endParaRPr lang="en-US" sz="1400" dirty="0"/>
              </a:p>
              <a:p>
                <a:r>
                  <a:rPr lang="en-US" sz="1400" b="1" dirty="0"/>
                  <a:t>Pong memory </a:t>
                </a:r>
                <a:r>
                  <a:rPr lang="en-US" sz="1400" dirty="0"/>
                  <a:t>store </a:t>
                </a:r>
                <a14:m>
                  <m:oMath xmlns:m="http://schemas.openxmlformats.org/officeDocument/2006/math">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𝜓</m:t>
                        </m:r>
                      </m:e>
                      <m:sup>
                        <m:r>
                          <a:rPr lang="en-US" sz="1400" b="0" i="1" smtClean="0">
                            <a:latin typeface="Cambria Math" panose="02040503050406030204" pitchFamily="18" charset="0"/>
                          </a:rPr>
                          <m:t>(2)</m:t>
                        </m:r>
                      </m:sup>
                    </m:sSup>
                    <m:r>
                      <a:rPr lang="en-US" sz="1400" b="0" i="1" smtClean="0">
                        <a:latin typeface="Cambria Math" panose="02040503050406030204" pitchFamily="18" charset="0"/>
                      </a:rPr>
                      <m:t>⟩</m:t>
                    </m:r>
                  </m:oMath>
                </a14:m>
                <a:endParaRPr lang="en-US" sz="1400" dirty="0"/>
              </a:p>
            </p:txBody>
          </p:sp>
        </mc:Choice>
        <mc:Fallback xmlns="">
          <p:sp>
            <p:nvSpPr>
              <p:cNvPr id="88" name="TextBox 87">
                <a:extLst>
                  <a:ext uri="{FF2B5EF4-FFF2-40B4-BE49-F238E27FC236}">
                    <a16:creationId xmlns:a16="http://schemas.microsoft.com/office/drawing/2014/main" id="{69F94F4F-4F0C-4111-ACE7-4A521D107D8F}"/>
                  </a:ext>
                </a:extLst>
              </p:cNvPr>
              <p:cNvSpPr txBox="1">
                <a:spLocks noRot="1" noChangeAspect="1" noMove="1" noResize="1" noEditPoints="1" noAdjustHandles="1" noChangeArrowheads="1" noChangeShapeType="1" noTextEdit="1"/>
              </p:cNvSpPr>
              <p:nvPr/>
            </p:nvSpPr>
            <p:spPr>
              <a:xfrm>
                <a:off x="9250249" y="1216272"/>
                <a:ext cx="904881" cy="1833707"/>
              </a:xfrm>
              <a:prstGeom prst="rect">
                <a:avLst/>
              </a:prstGeom>
              <a:blipFill>
                <a:blip r:embed="rId19"/>
                <a:stretch>
                  <a:fillRect l="-2013" t="-667" b="-667"/>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199E3115-C97C-6D62-4FED-C2ADA923277D}"/>
              </a:ext>
            </a:extLst>
          </p:cNvPr>
          <p:cNvSpPr/>
          <p:nvPr/>
        </p:nvSpPr>
        <p:spPr>
          <a:xfrm>
            <a:off x="4545113" y="1187202"/>
            <a:ext cx="2138226" cy="560150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Connector: Curved 5">
            <a:extLst>
              <a:ext uri="{FF2B5EF4-FFF2-40B4-BE49-F238E27FC236}">
                <a16:creationId xmlns:a16="http://schemas.microsoft.com/office/drawing/2014/main" id="{AA18FD85-82FB-3A50-9958-874CB0055AD8}"/>
              </a:ext>
            </a:extLst>
          </p:cNvPr>
          <p:cNvCxnSpPr/>
          <p:nvPr/>
        </p:nvCxnSpPr>
        <p:spPr>
          <a:xfrm>
            <a:off x="6719299" y="2573676"/>
            <a:ext cx="1443519" cy="785973"/>
          </a:xfrm>
          <a:prstGeom prst="curvedConnector3">
            <a:avLst>
              <a:gd name="adj1" fmla="val 44662"/>
            </a:avLst>
          </a:prstGeom>
          <a:ln>
            <a:solidFill>
              <a:srgbClr val="ED1823"/>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EA7C0CF9-3F6C-9EC0-1FB2-83F0DB94916C}"/>
              </a:ext>
            </a:extLst>
          </p:cNvPr>
          <p:cNvSpPr txBox="1"/>
          <p:nvPr/>
        </p:nvSpPr>
        <p:spPr>
          <a:xfrm rot="1996565">
            <a:off x="6606995" y="2581526"/>
            <a:ext cx="1853272" cy="369332"/>
          </a:xfrm>
          <a:prstGeom prst="rect">
            <a:avLst/>
          </a:prstGeom>
          <a:noFill/>
        </p:spPr>
        <p:txBody>
          <a:bodyPr wrap="square">
            <a:spAutoFit/>
          </a:bodyPr>
          <a:lstStyle/>
          <a:p>
            <a:r>
              <a:rPr lang="en-US" b="1" dirty="0">
                <a:solidFill>
                  <a:srgbClr val="FF0000"/>
                </a:solidFill>
              </a:rPr>
              <a:t>is controlled by</a:t>
            </a:r>
            <a:endParaRPr lang="en-US" dirty="0"/>
          </a:p>
        </p:txBody>
      </p:sp>
      <p:sp>
        <p:nvSpPr>
          <p:cNvPr id="7" name="TextBox 6">
            <a:extLst>
              <a:ext uri="{FF2B5EF4-FFF2-40B4-BE49-F238E27FC236}">
                <a16:creationId xmlns:a16="http://schemas.microsoft.com/office/drawing/2014/main" id="{453889F2-3B33-DDF9-623C-23283E5A723C}"/>
              </a:ext>
            </a:extLst>
          </p:cNvPr>
          <p:cNvSpPr txBox="1"/>
          <p:nvPr/>
        </p:nvSpPr>
        <p:spPr>
          <a:xfrm>
            <a:off x="7041033" y="580413"/>
            <a:ext cx="6121400" cy="584775"/>
          </a:xfrm>
          <a:prstGeom prst="rect">
            <a:avLst/>
          </a:prstGeom>
          <a:noFill/>
        </p:spPr>
        <p:txBody>
          <a:bodyPr wrap="square">
            <a:spAutoFit/>
          </a:bodyPr>
          <a:lstStyle/>
          <a:p>
            <a:r>
              <a:rPr lang="en-US" sz="3200" b="1" dirty="0">
                <a:latin typeface="+mj-lt"/>
              </a:rPr>
              <a:t>Idea #2</a:t>
            </a:r>
            <a:r>
              <a:rPr lang="en-US" sz="3200" dirty="0">
                <a:latin typeface="+mj-lt"/>
              </a:rPr>
              <a:t>: optimized scheduling</a:t>
            </a:r>
            <a:endParaRPr lang="en-VN" sz="3200">
              <a:latin typeface="+mj-lt"/>
            </a:endParaRPr>
          </a:p>
        </p:txBody>
      </p:sp>
      <p:sp>
        <p:nvSpPr>
          <p:cNvPr id="12" name="Rectangle 11">
            <a:extLst>
              <a:ext uri="{FF2B5EF4-FFF2-40B4-BE49-F238E27FC236}">
                <a16:creationId xmlns:a16="http://schemas.microsoft.com/office/drawing/2014/main" id="{535F2501-36D7-0366-D7C9-A338E5355F7C}"/>
              </a:ext>
            </a:extLst>
          </p:cNvPr>
          <p:cNvSpPr/>
          <p:nvPr/>
        </p:nvSpPr>
        <p:spPr>
          <a:xfrm>
            <a:off x="54045" y="3925293"/>
            <a:ext cx="4449652" cy="236367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DF484D81-4A33-692B-7BAF-BE7E895F2025}"/>
              </a:ext>
            </a:extLst>
          </p:cNvPr>
          <p:cNvCxnSpPr>
            <a:cxnSpLocks/>
          </p:cNvCxnSpPr>
          <p:nvPr/>
        </p:nvCxnSpPr>
        <p:spPr>
          <a:xfrm flipV="1">
            <a:off x="4168518" y="1165188"/>
            <a:ext cx="381498" cy="2736688"/>
          </a:xfrm>
          <a:prstGeom prst="line">
            <a:avLst/>
          </a:prstGeom>
          <a:ln>
            <a:solidFill>
              <a:srgbClr val="ED1823"/>
            </a:solidFill>
            <a:prstDash val="lgDash"/>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7D7BE96B-292B-2095-0AC1-7EC79F6B9E52}"/>
              </a:ext>
            </a:extLst>
          </p:cNvPr>
          <p:cNvCxnSpPr>
            <a:cxnSpLocks/>
          </p:cNvCxnSpPr>
          <p:nvPr/>
        </p:nvCxnSpPr>
        <p:spPr>
          <a:xfrm>
            <a:off x="4251911" y="6285363"/>
            <a:ext cx="285651" cy="449266"/>
          </a:xfrm>
          <a:prstGeom prst="line">
            <a:avLst/>
          </a:prstGeom>
          <a:ln>
            <a:solidFill>
              <a:srgbClr val="ED1823"/>
            </a:solidFill>
            <a:prstDash val="lg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0452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5F466-1C26-EA4E-501C-1D42B5296529}"/>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349CB2A-F595-E601-4773-D13A59FCA6A5}"/>
              </a:ext>
            </a:extLst>
          </p:cNvPr>
          <p:cNvPicPr>
            <a:picLocks noChangeAspect="1"/>
          </p:cNvPicPr>
          <p:nvPr/>
        </p:nvPicPr>
        <p:blipFill>
          <a:blip r:embed="rId3"/>
          <a:stretch>
            <a:fillRect/>
          </a:stretch>
        </p:blipFill>
        <p:spPr>
          <a:xfrm>
            <a:off x="476942" y="1406731"/>
            <a:ext cx="6174152" cy="3794812"/>
          </a:xfrm>
          <a:prstGeom prst="rect">
            <a:avLst/>
          </a:prstGeom>
        </p:spPr>
      </p:pic>
      <p:pic>
        <p:nvPicPr>
          <p:cNvPr id="30" name="Picture 29">
            <a:extLst>
              <a:ext uri="{FF2B5EF4-FFF2-40B4-BE49-F238E27FC236}">
                <a16:creationId xmlns:a16="http://schemas.microsoft.com/office/drawing/2014/main" id="{3529F13B-D534-C858-387C-511F7839695D}"/>
              </a:ext>
            </a:extLst>
          </p:cNvPr>
          <p:cNvPicPr>
            <a:picLocks noChangeAspect="1"/>
          </p:cNvPicPr>
          <p:nvPr/>
        </p:nvPicPr>
        <p:blipFill>
          <a:blip r:embed="rId4"/>
          <a:stretch>
            <a:fillRect/>
          </a:stretch>
        </p:blipFill>
        <p:spPr>
          <a:xfrm>
            <a:off x="7529798" y="56837"/>
            <a:ext cx="3428725" cy="6693424"/>
          </a:xfrm>
          <a:prstGeom prst="rect">
            <a:avLst/>
          </a:prstGeom>
        </p:spPr>
      </p:pic>
      <p:sp>
        <p:nvSpPr>
          <p:cNvPr id="2" name="Title 1">
            <a:extLst>
              <a:ext uri="{FF2B5EF4-FFF2-40B4-BE49-F238E27FC236}">
                <a16:creationId xmlns:a16="http://schemas.microsoft.com/office/drawing/2014/main" id="{44B4B757-908A-61EF-05E7-D8E4E2D86E5D}"/>
              </a:ext>
            </a:extLst>
          </p:cNvPr>
          <p:cNvSpPr>
            <a:spLocks noGrp="1"/>
          </p:cNvSpPr>
          <p:nvPr>
            <p:ph type="title"/>
          </p:nvPr>
        </p:nvSpPr>
        <p:spPr>
          <a:xfrm>
            <a:off x="400051" y="302018"/>
            <a:ext cx="6251042" cy="1030922"/>
          </a:xfrm>
        </p:spPr>
        <p:txBody>
          <a:bodyPr>
            <a:normAutofit fontScale="90000"/>
          </a:bodyPr>
          <a:lstStyle/>
          <a:p>
            <a:r>
              <a:rPr lang="en-US" dirty="0"/>
              <a:t>2.3.3. </a:t>
            </a:r>
            <a:r>
              <a:rPr lang="en-US" b="1" dirty="0"/>
              <a:t>Idea #3</a:t>
            </a:r>
            <a:r>
              <a:rPr lang="en-US" dirty="0"/>
              <a:t>: configurable Quantum Gate Unit (QGU)</a:t>
            </a:r>
          </a:p>
        </p:txBody>
      </p:sp>
      <p:sp>
        <p:nvSpPr>
          <p:cNvPr id="4" name="Slide Number Placeholder 3">
            <a:extLst>
              <a:ext uri="{FF2B5EF4-FFF2-40B4-BE49-F238E27FC236}">
                <a16:creationId xmlns:a16="http://schemas.microsoft.com/office/drawing/2014/main" id="{1D465B7E-4AF7-755D-CA55-7B0742F897A4}"/>
              </a:ext>
            </a:extLst>
          </p:cNvPr>
          <p:cNvSpPr>
            <a:spLocks noGrp="1"/>
          </p:cNvSpPr>
          <p:nvPr>
            <p:ph type="sldNum" sz="quarter" idx="12"/>
          </p:nvPr>
        </p:nvSpPr>
        <p:spPr/>
        <p:txBody>
          <a:bodyPr/>
          <a:lstStyle/>
          <a:p>
            <a:fld id="{3C0C221A-CB66-4297-9A52-937C35126D0C}" type="slidenum">
              <a:rPr lang="en-US" smtClean="0"/>
              <a:t>12</a:t>
            </a:fld>
            <a:endParaRPr lang="en-US"/>
          </a:p>
        </p:txBody>
      </p:sp>
      <p:sp>
        <p:nvSpPr>
          <p:cNvPr id="9" name="Rectangle 8">
            <a:extLst>
              <a:ext uri="{FF2B5EF4-FFF2-40B4-BE49-F238E27FC236}">
                <a16:creationId xmlns:a16="http://schemas.microsoft.com/office/drawing/2014/main" id="{3C39802C-685F-F689-74E8-1EAC022B7741}"/>
              </a:ext>
            </a:extLst>
          </p:cNvPr>
          <p:cNvSpPr/>
          <p:nvPr/>
        </p:nvSpPr>
        <p:spPr>
          <a:xfrm>
            <a:off x="4535016" y="2624654"/>
            <a:ext cx="2116078" cy="24817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5990CCF-9F94-50B2-23DA-0E8F95D669B3}"/>
              </a:ext>
            </a:extLst>
          </p:cNvPr>
          <p:cNvPicPr>
            <a:picLocks noChangeAspect="1"/>
          </p:cNvPicPr>
          <p:nvPr/>
        </p:nvPicPr>
        <p:blipFill>
          <a:blip r:embed="rId5"/>
          <a:srcRect l="4863" t="95191" r="-3235" b="-169"/>
          <a:stretch/>
        </p:blipFill>
        <p:spPr>
          <a:xfrm rot="16200000">
            <a:off x="8470869" y="2984017"/>
            <a:ext cx="5926188" cy="562189"/>
          </a:xfrm>
          <a:prstGeom prst="rect">
            <a:avLst/>
          </a:prstGeom>
        </p:spPr>
      </p:pic>
      <p:sp>
        <p:nvSpPr>
          <p:cNvPr id="26" name="TextBox 25">
            <a:extLst>
              <a:ext uri="{FF2B5EF4-FFF2-40B4-BE49-F238E27FC236}">
                <a16:creationId xmlns:a16="http://schemas.microsoft.com/office/drawing/2014/main" id="{6B266215-BEE3-05C6-2F37-0F94765DC543}"/>
              </a:ext>
            </a:extLst>
          </p:cNvPr>
          <p:cNvSpPr txBox="1"/>
          <p:nvPr/>
        </p:nvSpPr>
        <p:spPr>
          <a:xfrm>
            <a:off x="476941" y="5275334"/>
            <a:ext cx="6108225" cy="369332"/>
          </a:xfrm>
          <a:prstGeom prst="rect">
            <a:avLst/>
          </a:prstGeom>
          <a:solidFill>
            <a:schemeClr val="bg1"/>
          </a:solidFill>
        </p:spPr>
        <p:txBody>
          <a:bodyPr wrap="square">
            <a:spAutoFit/>
          </a:bodyPr>
          <a:lstStyle/>
          <a:p>
            <a:r>
              <a:rPr lang="en-US" b="1" dirty="0">
                <a:solidFill>
                  <a:srgbClr val="FF0000"/>
                </a:solidFill>
              </a:rPr>
              <a:t>Figure 2.5</a:t>
            </a:r>
            <a:r>
              <a:rPr lang="en-US" dirty="0"/>
              <a:t>. Micro-architecture of Quantum Gate Unit (QGU). </a:t>
            </a:r>
          </a:p>
        </p:txBody>
      </p:sp>
      <p:sp>
        <p:nvSpPr>
          <p:cNvPr id="32" name="Rectangle 31">
            <a:extLst>
              <a:ext uri="{FF2B5EF4-FFF2-40B4-BE49-F238E27FC236}">
                <a16:creationId xmlns:a16="http://schemas.microsoft.com/office/drawing/2014/main" id="{D4C68A97-3E3F-0AC2-DD49-8C69FFFD2792}"/>
              </a:ext>
            </a:extLst>
          </p:cNvPr>
          <p:cNvSpPr/>
          <p:nvPr/>
        </p:nvSpPr>
        <p:spPr>
          <a:xfrm>
            <a:off x="8598248" y="390418"/>
            <a:ext cx="1422911" cy="28131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DAAD31A-0DB5-57C1-7ED0-7AA3D6ECBBF6}"/>
              </a:ext>
            </a:extLst>
          </p:cNvPr>
          <p:cNvSpPr/>
          <p:nvPr/>
        </p:nvSpPr>
        <p:spPr>
          <a:xfrm>
            <a:off x="8598248" y="3260402"/>
            <a:ext cx="1415644" cy="33201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7839F5AF-2F48-7DB3-492F-E72B2A300079}"/>
              </a:ext>
            </a:extLst>
          </p:cNvPr>
          <p:cNvSpPr txBox="1"/>
          <p:nvPr/>
        </p:nvSpPr>
        <p:spPr>
          <a:xfrm>
            <a:off x="4092066" y="5718457"/>
            <a:ext cx="2406884" cy="369332"/>
          </a:xfrm>
          <a:prstGeom prst="rect">
            <a:avLst/>
          </a:prstGeom>
          <a:noFill/>
        </p:spPr>
        <p:txBody>
          <a:bodyPr wrap="square">
            <a:spAutoFit/>
          </a:bodyPr>
          <a:lstStyle/>
          <a:p>
            <a:r>
              <a:rPr lang="en-US" dirty="0"/>
              <a:t>Clifford gates: H, S, CX</a:t>
            </a:r>
          </a:p>
        </p:txBody>
      </p:sp>
      <p:cxnSp>
        <p:nvCxnSpPr>
          <p:cNvPr id="36" name="Connector: Elbow 35">
            <a:extLst>
              <a:ext uri="{FF2B5EF4-FFF2-40B4-BE49-F238E27FC236}">
                <a16:creationId xmlns:a16="http://schemas.microsoft.com/office/drawing/2014/main" id="{20CAE0C1-C632-FEF4-40DA-FFAC564BEE32}"/>
              </a:ext>
            </a:extLst>
          </p:cNvPr>
          <p:cNvCxnSpPr>
            <a:cxnSpLocks/>
            <a:stCxn id="32" idx="1"/>
            <a:endCxn id="34" idx="3"/>
          </p:cNvCxnSpPr>
          <p:nvPr/>
        </p:nvCxnSpPr>
        <p:spPr>
          <a:xfrm rot="10800000" flipV="1">
            <a:off x="6498950" y="1796991"/>
            <a:ext cx="2099298" cy="4106131"/>
          </a:xfrm>
          <a:prstGeom prst="bentConnector3">
            <a:avLst>
              <a:gd name="adj1" fmla="val 50000"/>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A40F904-B46E-FF29-87B3-9518B83B4746}"/>
                  </a:ext>
                </a:extLst>
              </p:cNvPr>
              <p:cNvSpPr txBox="1"/>
              <p:nvPr/>
            </p:nvSpPr>
            <p:spPr>
              <a:xfrm>
                <a:off x="4092064" y="6072040"/>
                <a:ext cx="3042457" cy="391261"/>
              </a:xfrm>
              <a:prstGeom prst="rect">
                <a:avLst/>
              </a:prstGeom>
              <a:noFill/>
            </p:spPr>
            <p:txBody>
              <a:bodyPr wrap="square">
                <a:spAutoFit/>
              </a:bodyPr>
              <a:lstStyle/>
              <a:p>
                <a:r>
                  <a:rPr lang="en-US" dirty="0"/>
                  <a:t>Non-Clifford gates: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𝑥</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𝑦</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𝑧</m:t>
                        </m:r>
                      </m:sub>
                    </m:sSub>
                  </m:oMath>
                </a14:m>
                <a:endParaRPr lang="en-US" dirty="0"/>
              </a:p>
            </p:txBody>
          </p:sp>
        </mc:Choice>
        <mc:Fallback xmlns="">
          <p:sp>
            <p:nvSpPr>
              <p:cNvPr id="41" name="TextBox 40">
                <a:extLst>
                  <a:ext uri="{FF2B5EF4-FFF2-40B4-BE49-F238E27FC236}">
                    <a16:creationId xmlns:a16="http://schemas.microsoft.com/office/drawing/2014/main" id="{3A40F904-B46E-FF29-87B3-9518B83B4746}"/>
                  </a:ext>
                </a:extLst>
              </p:cNvPr>
              <p:cNvSpPr txBox="1">
                <a:spLocks noRot="1" noChangeAspect="1" noMove="1" noResize="1" noEditPoints="1" noAdjustHandles="1" noChangeArrowheads="1" noChangeShapeType="1" noTextEdit="1"/>
              </p:cNvSpPr>
              <p:nvPr/>
            </p:nvSpPr>
            <p:spPr>
              <a:xfrm>
                <a:off x="4092064" y="6072040"/>
                <a:ext cx="3042457" cy="391261"/>
              </a:xfrm>
              <a:prstGeom prst="rect">
                <a:avLst/>
              </a:prstGeom>
              <a:blipFill>
                <a:blip r:embed="rId6"/>
                <a:stretch>
                  <a:fillRect l="-1667" t="-6452" b="-22581"/>
                </a:stretch>
              </a:blipFill>
            </p:spPr>
            <p:txBody>
              <a:bodyPr/>
              <a:lstStyle/>
              <a:p>
                <a:r>
                  <a:rPr lang="en-VN">
                    <a:noFill/>
                  </a:rPr>
                  <a:t> </a:t>
                </a:r>
              </a:p>
            </p:txBody>
          </p:sp>
        </mc:Fallback>
      </mc:AlternateContent>
      <p:cxnSp>
        <p:nvCxnSpPr>
          <p:cNvPr id="42" name="Connector: Elbow 41">
            <a:extLst>
              <a:ext uri="{FF2B5EF4-FFF2-40B4-BE49-F238E27FC236}">
                <a16:creationId xmlns:a16="http://schemas.microsoft.com/office/drawing/2014/main" id="{1758AB6E-1493-E09D-CF4B-157CA63AACC2}"/>
              </a:ext>
            </a:extLst>
          </p:cNvPr>
          <p:cNvCxnSpPr>
            <a:cxnSpLocks/>
            <a:stCxn id="33" idx="1"/>
            <a:endCxn id="41" idx="3"/>
          </p:cNvCxnSpPr>
          <p:nvPr/>
        </p:nvCxnSpPr>
        <p:spPr>
          <a:xfrm rot="10800000" flipV="1">
            <a:off x="7134522" y="4920499"/>
            <a:ext cx="1463727" cy="1347171"/>
          </a:xfrm>
          <a:prstGeom prst="bentConnector3">
            <a:avLst>
              <a:gd name="adj1" fmla="val 61713"/>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704A2700-D40F-710B-DD7B-BFE5CA6EBF91}"/>
              </a:ext>
            </a:extLst>
          </p:cNvPr>
          <p:cNvCxnSpPr/>
          <p:nvPr/>
        </p:nvCxnSpPr>
        <p:spPr>
          <a:xfrm flipV="1">
            <a:off x="6651094" y="942975"/>
            <a:ext cx="878704" cy="1681679"/>
          </a:xfrm>
          <a:prstGeom prst="line">
            <a:avLst/>
          </a:prstGeom>
          <a:ln>
            <a:solidFill>
              <a:srgbClr val="ED1823"/>
            </a:solidFill>
            <a:prstDash val="lgDash"/>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0AC7B79-F95D-12F6-1205-7F1CE7959271}"/>
              </a:ext>
            </a:extLst>
          </p:cNvPr>
          <p:cNvCxnSpPr>
            <a:cxnSpLocks/>
          </p:cNvCxnSpPr>
          <p:nvPr/>
        </p:nvCxnSpPr>
        <p:spPr>
          <a:xfrm>
            <a:off x="6651093" y="5106416"/>
            <a:ext cx="1199292" cy="1525803"/>
          </a:xfrm>
          <a:prstGeom prst="line">
            <a:avLst/>
          </a:prstGeom>
          <a:ln>
            <a:solidFill>
              <a:srgbClr val="ED1823"/>
            </a:solidFill>
            <a:prstDash val="lg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9947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77F5C-2AAE-A5D4-6BD3-E3314A73DC8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7CCC65-B8B9-0A0D-2429-89916BC2582E}"/>
              </a:ext>
            </a:extLst>
          </p:cNvPr>
          <p:cNvSpPr>
            <a:spLocks noGrp="1"/>
          </p:cNvSpPr>
          <p:nvPr>
            <p:ph type="sldNum" sz="quarter" idx="12"/>
          </p:nvPr>
        </p:nvSpPr>
        <p:spPr/>
        <p:txBody>
          <a:bodyPr/>
          <a:lstStyle/>
          <a:p>
            <a:fld id="{3C0C221A-CB66-4297-9A52-937C35126D0C}" type="slidenum">
              <a:rPr lang="en-US" smtClean="0"/>
              <a:t>13</a:t>
            </a:fld>
            <a:endParaRPr lang="en-US" dirty="0"/>
          </a:p>
        </p:txBody>
      </p:sp>
      <p:pic>
        <p:nvPicPr>
          <p:cNvPr id="12" name="Picture 11">
            <a:extLst>
              <a:ext uri="{FF2B5EF4-FFF2-40B4-BE49-F238E27FC236}">
                <a16:creationId xmlns:a16="http://schemas.microsoft.com/office/drawing/2014/main" id="{BB67F91B-B67A-FBC8-72F1-9979C66EB963}"/>
              </a:ext>
            </a:extLst>
          </p:cNvPr>
          <p:cNvPicPr>
            <a:picLocks noChangeAspect="1"/>
          </p:cNvPicPr>
          <p:nvPr/>
        </p:nvPicPr>
        <p:blipFill>
          <a:blip r:embed="rId3"/>
          <a:stretch>
            <a:fillRect/>
          </a:stretch>
        </p:blipFill>
        <p:spPr>
          <a:xfrm>
            <a:off x="269902" y="1016283"/>
            <a:ext cx="4316826" cy="5465852"/>
          </a:xfrm>
          <a:prstGeom prst="rect">
            <a:avLst/>
          </a:prstGeom>
        </p:spPr>
      </p:pic>
      <p:pic>
        <p:nvPicPr>
          <p:cNvPr id="14" name="Picture 13">
            <a:extLst>
              <a:ext uri="{FF2B5EF4-FFF2-40B4-BE49-F238E27FC236}">
                <a16:creationId xmlns:a16="http://schemas.microsoft.com/office/drawing/2014/main" id="{8A32BA25-4FC6-6DE6-5F38-F2D3298DEFFE}"/>
              </a:ext>
            </a:extLst>
          </p:cNvPr>
          <p:cNvPicPr>
            <a:picLocks noChangeAspect="1"/>
          </p:cNvPicPr>
          <p:nvPr/>
        </p:nvPicPr>
        <p:blipFill>
          <a:blip r:embed="rId4"/>
          <a:stretch>
            <a:fillRect/>
          </a:stretch>
        </p:blipFill>
        <p:spPr>
          <a:xfrm>
            <a:off x="312027" y="6440979"/>
            <a:ext cx="4306619" cy="399131"/>
          </a:xfrm>
          <a:prstGeom prst="rect">
            <a:avLst/>
          </a:prstGeom>
        </p:spPr>
      </p:pic>
      <p:sp>
        <p:nvSpPr>
          <p:cNvPr id="15" name="TextBox 14">
            <a:extLst>
              <a:ext uri="{FF2B5EF4-FFF2-40B4-BE49-F238E27FC236}">
                <a16:creationId xmlns:a16="http://schemas.microsoft.com/office/drawing/2014/main" id="{C2076B29-73E4-DD15-7F08-864A3DAB0090}"/>
              </a:ext>
            </a:extLst>
          </p:cNvPr>
          <p:cNvSpPr txBox="1"/>
          <p:nvPr/>
        </p:nvSpPr>
        <p:spPr>
          <a:xfrm>
            <a:off x="233943" y="693117"/>
            <a:ext cx="5473350" cy="369332"/>
          </a:xfrm>
          <a:prstGeom prst="rect">
            <a:avLst/>
          </a:prstGeom>
          <a:noFill/>
        </p:spPr>
        <p:txBody>
          <a:bodyPr wrap="square">
            <a:spAutoFit/>
          </a:bodyPr>
          <a:lstStyle/>
          <a:p>
            <a:r>
              <a:rPr lang="en-US" b="1" dirty="0">
                <a:solidFill>
                  <a:srgbClr val="FF0000"/>
                </a:solidFill>
              </a:rPr>
              <a:t>Table 2.3</a:t>
            </a:r>
            <a:r>
              <a:rPr lang="en-US" b="1" dirty="0"/>
              <a:t>.</a:t>
            </a:r>
            <a:r>
              <a:rPr lang="en-US" dirty="0"/>
              <a:t> Utilization of </a:t>
            </a:r>
            <a:r>
              <a:rPr lang="en-US" dirty="0" err="1"/>
              <a:t>FQSun</a:t>
            </a:r>
            <a:r>
              <a:rPr lang="en-US" dirty="0"/>
              <a:t> on ZCU102 FPGA</a:t>
            </a:r>
          </a:p>
        </p:txBody>
      </p:sp>
      <p:pic>
        <p:nvPicPr>
          <p:cNvPr id="17" name="Picture 16">
            <a:extLst>
              <a:ext uri="{FF2B5EF4-FFF2-40B4-BE49-F238E27FC236}">
                <a16:creationId xmlns:a16="http://schemas.microsoft.com/office/drawing/2014/main" id="{D8BC61CD-4CB6-BD8A-F343-FA00EBD91835}"/>
              </a:ext>
            </a:extLst>
          </p:cNvPr>
          <p:cNvPicPr>
            <a:picLocks noChangeAspect="1"/>
          </p:cNvPicPr>
          <p:nvPr/>
        </p:nvPicPr>
        <p:blipFill>
          <a:blip r:embed="rId5"/>
          <a:stretch>
            <a:fillRect/>
          </a:stretch>
        </p:blipFill>
        <p:spPr>
          <a:xfrm>
            <a:off x="4930825" y="3439376"/>
            <a:ext cx="5006626" cy="3069304"/>
          </a:xfrm>
          <a:prstGeom prst="rect">
            <a:avLst/>
          </a:prstGeom>
        </p:spPr>
      </p:pic>
      <p:sp>
        <p:nvSpPr>
          <p:cNvPr id="21" name="TextBox 20">
            <a:extLst>
              <a:ext uri="{FF2B5EF4-FFF2-40B4-BE49-F238E27FC236}">
                <a16:creationId xmlns:a16="http://schemas.microsoft.com/office/drawing/2014/main" id="{50063C31-1BB1-B3FC-25F6-EACB881C7B83}"/>
              </a:ext>
            </a:extLst>
          </p:cNvPr>
          <p:cNvSpPr txBox="1"/>
          <p:nvPr/>
        </p:nvSpPr>
        <p:spPr>
          <a:xfrm>
            <a:off x="5262198" y="6404118"/>
            <a:ext cx="5089009" cy="369332"/>
          </a:xfrm>
          <a:prstGeom prst="rect">
            <a:avLst/>
          </a:prstGeom>
          <a:noFill/>
        </p:spPr>
        <p:txBody>
          <a:bodyPr wrap="square">
            <a:spAutoFit/>
          </a:bodyPr>
          <a:lstStyle/>
          <a:p>
            <a:r>
              <a:rPr lang="en-US" b="1" dirty="0">
                <a:solidFill>
                  <a:srgbClr val="FF0000"/>
                </a:solidFill>
              </a:rPr>
              <a:t>Figure 2.6</a:t>
            </a:r>
            <a:r>
              <a:rPr lang="en-US" dirty="0"/>
              <a:t>. Power measurement of </a:t>
            </a:r>
            <a:r>
              <a:rPr lang="en-US" dirty="0" err="1"/>
              <a:t>FQsun</a:t>
            </a:r>
            <a:r>
              <a:rPr lang="en-US" dirty="0"/>
              <a:t> (FX32).</a:t>
            </a:r>
          </a:p>
        </p:txBody>
      </p:sp>
      <p:pic>
        <p:nvPicPr>
          <p:cNvPr id="23" name="Picture 22">
            <a:extLst>
              <a:ext uri="{FF2B5EF4-FFF2-40B4-BE49-F238E27FC236}">
                <a16:creationId xmlns:a16="http://schemas.microsoft.com/office/drawing/2014/main" id="{A0411A59-A709-ABF6-00FE-AF019824615F}"/>
              </a:ext>
            </a:extLst>
          </p:cNvPr>
          <p:cNvPicPr>
            <a:picLocks noChangeAspect="1"/>
          </p:cNvPicPr>
          <p:nvPr/>
        </p:nvPicPr>
        <p:blipFill>
          <a:blip r:embed="rId6"/>
          <a:srcRect t="1320"/>
          <a:stretch/>
        </p:blipFill>
        <p:spPr>
          <a:xfrm>
            <a:off x="5238476" y="1091025"/>
            <a:ext cx="4499020" cy="2414527"/>
          </a:xfrm>
          <a:prstGeom prst="rect">
            <a:avLst/>
          </a:prstGeom>
        </p:spPr>
      </p:pic>
      <p:sp>
        <p:nvSpPr>
          <p:cNvPr id="25" name="TextBox 24">
            <a:extLst>
              <a:ext uri="{FF2B5EF4-FFF2-40B4-BE49-F238E27FC236}">
                <a16:creationId xmlns:a16="http://schemas.microsoft.com/office/drawing/2014/main" id="{537A32DD-B57A-2C79-6827-358631C60F4D}"/>
              </a:ext>
            </a:extLst>
          </p:cNvPr>
          <p:cNvSpPr txBox="1"/>
          <p:nvPr/>
        </p:nvSpPr>
        <p:spPr>
          <a:xfrm>
            <a:off x="5170665" y="697439"/>
            <a:ext cx="6377485" cy="369332"/>
          </a:xfrm>
          <a:prstGeom prst="rect">
            <a:avLst/>
          </a:prstGeom>
          <a:noFill/>
        </p:spPr>
        <p:txBody>
          <a:bodyPr wrap="square">
            <a:spAutoFit/>
          </a:bodyPr>
          <a:lstStyle/>
          <a:p>
            <a:r>
              <a:rPr lang="en-US" b="1" dirty="0">
                <a:solidFill>
                  <a:srgbClr val="FF0000"/>
                </a:solidFill>
              </a:rPr>
              <a:t>Table 2.4.</a:t>
            </a:r>
            <a:r>
              <a:rPr lang="en-US" dirty="0"/>
              <a:t> Basic gate’s period and #Cycles per gate on </a:t>
            </a:r>
            <a:r>
              <a:rPr lang="en-US" dirty="0" err="1"/>
              <a:t>FQsun</a:t>
            </a:r>
            <a:endParaRPr lang="en-US" dirty="0"/>
          </a:p>
        </p:txBody>
      </p:sp>
      <p:sp>
        <p:nvSpPr>
          <p:cNvPr id="26" name="Title 1">
            <a:extLst>
              <a:ext uri="{FF2B5EF4-FFF2-40B4-BE49-F238E27FC236}">
                <a16:creationId xmlns:a16="http://schemas.microsoft.com/office/drawing/2014/main" id="{2534384E-45F6-6B3B-3D28-ACF605F268E0}"/>
              </a:ext>
            </a:extLst>
          </p:cNvPr>
          <p:cNvSpPr>
            <a:spLocks noGrp="1"/>
          </p:cNvSpPr>
          <p:nvPr>
            <p:ph type="title"/>
          </p:nvPr>
        </p:nvSpPr>
        <p:spPr>
          <a:xfrm>
            <a:off x="163054" y="-44674"/>
            <a:ext cx="8708681" cy="819086"/>
          </a:xfrm>
        </p:spPr>
        <p:txBody>
          <a:bodyPr>
            <a:normAutofit/>
          </a:bodyPr>
          <a:lstStyle/>
          <a:p>
            <a:r>
              <a:rPr lang="en-US" dirty="0"/>
              <a:t>2.3.4. </a:t>
            </a:r>
            <a:r>
              <a:rPr lang="en-US" b="1" dirty="0"/>
              <a:t>#Idea 4</a:t>
            </a:r>
            <a:r>
              <a:rPr lang="en-US" dirty="0"/>
              <a:t>: multiple precisions</a:t>
            </a:r>
          </a:p>
        </p:txBody>
      </p:sp>
    </p:spTree>
    <p:extLst>
      <p:ext uri="{BB962C8B-B14F-4D97-AF65-F5344CB8AC3E}">
        <p14:creationId xmlns:p14="http://schemas.microsoft.com/office/powerpoint/2010/main" val="3138314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AA52F-3D7B-6E91-30F1-9783806293F7}"/>
              </a:ext>
            </a:extLst>
          </p:cNvPr>
          <p:cNvSpPr>
            <a:spLocks noGrp="1"/>
          </p:cNvSpPr>
          <p:nvPr>
            <p:ph type="title"/>
          </p:nvPr>
        </p:nvSpPr>
        <p:spPr>
          <a:xfrm>
            <a:off x="838200" y="1"/>
            <a:ext cx="10515600" cy="1151684"/>
          </a:xfrm>
        </p:spPr>
        <p:txBody>
          <a:bodyPr/>
          <a:lstStyle/>
          <a:p>
            <a:r>
              <a:rPr lang="en-US" dirty="0"/>
              <a:t>2.4. Benchmarking tasks</a:t>
            </a:r>
          </a:p>
        </p:txBody>
      </p:sp>
      <p:pic>
        <p:nvPicPr>
          <p:cNvPr id="6" name="Content Placeholder 5">
            <a:extLst>
              <a:ext uri="{FF2B5EF4-FFF2-40B4-BE49-F238E27FC236}">
                <a16:creationId xmlns:a16="http://schemas.microsoft.com/office/drawing/2014/main" id="{4A2D7A04-27EE-4A85-EC54-DC39BEFE6C93}"/>
              </a:ext>
            </a:extLst>
          </p:cNvPr>
          <p:cNvPicPr>
            <a:picLocks noGrp="1" noChangeAspect="1"/>
          </p:cNvPicPr>
          <p:nvPr>
            <p:ph idx="1"/>
          </p:nvPr>
        </p:nvPicPr>
        <p:blipFill>
          <a:blip r:embed="rId3"/>
          <a:stretch>
            <a:fillRect/>
          </a:stretch>
        </p:blipFill>
        <p:spPr>
          <a:xfrm>
            <a:off x="838200" y="967090"/>
            <a:ext cx="5459697" cy="4351338"/>
          </a:xfrm>
        </p:spPr>
      </p:pic>
      <p:sp>
        <p:nvSpPr>
          <p:cNvPr id="4" name="Slide Number Placeholder 3">
            <a:extLst>
              <a:ext uri="{FF2B5EF4-FFF2-40B4-BE49-F238E27FC236}">
                <a16:creationId xmlns:a16="http://schemas.microsoft.com/office/drawing/2014/main" id="{8470AA3D-37AE-FB42-92E1-A2E4A7E9BD8D}"/>
              </a:ext>
            </a:extLst>
          </p:cNvPr>
          <p:cNvSpPr>
            <a:spLocks noGrp="1"/>
          </p:cNvSpPr>
          <p:nvPr>
            <p:ph type="sldNum" sz="quarter" idx="12"/>
          </p:nvPr>
        </p:nvSpPr>
        <p:spPr/>
        <p:txBody>
          <a:bodyPr/>
          <a:lstStyle/>
          <a:p>
            <a:fld id="{3C0C221A-CB66-4297-9A52-937C35126D0C}" type="slidenum">
              <a:rPr lang="en-US" smtClean="0"/>
              <a:t>14</a:t>
            </a:fld>
            <a:endParaRPr lang="en-US"/>
          </a:p>
        </p:txBody>
      </p:sp>
      <p:sp>
        <p:nvSpPr>
          <p:cNvPr id="8" name="TextBox 7">
            <a:extLst>
              <a:ext uri="{FF2B5EF4-FFF2-40B4-BE49-F238E27FC236}">
                <a16:creationId xmlns:a16="http://schemas.microsoft.com/office/drawing/2014/main" id="{03C27934-4B27-347D-6F23-8FF5EB411EA6}"/>
              </a:ext>
            </a:extLst>
          </p:cNvPr>
          <p:cNvSpPr txBox="1"/>
          <p:nvPr/>
        </p:nvSpPr>
        <p:spPr>
          <a:xfrm>
            <a:off x="838200" y="5390990"/>
            <a:ext cx="5459696" cy="1200329"/>
          </a:xfrm>
          <a:prstGeom prst="rect">
            <a:avLst/>
          </a:prstGeom>
          <a:noFill/>
        </p:spPr>
        <p:txBody>
          <a:bodyPr wrap="square">
            <a:spAutoFit/>
          </a:bodyPr>
          <a:lstStyle/>
          <a:p>
            <a:r>
              <a:rPr lang="en-US" b="1" dirty="0">
                <a:solidFill>
                  <a:srgbClr val="FF0000"/>
                </a:solidFill>
              </a:rPr>
              <a:t>Figure 2.7</a:t>
            </a:r>
            <a:r>
              <a:rPr lang="en-US" dirty="0"/>
              <a:t>. Gate distribution for </a:t>
            </a:r>
          </a:p>
          <a:p>
            <a:pPr marL="342900" indent="-342900">
              <a:buAutoNum type="alphaLcParenBoth"/>
            </a:pPr>
            <a:r>
              <a:rPr lang="en-US" dirty="0"/>
              <a:t>Random quantum circuit (RQC) </a:t>
            </a:r>
          </a:p>
          <a:p>
            <a:pPr marL="342900" indent="-342900">
              <a:buAutoNum type="alphaLcParenBoth"/>
            </a:pPr>
            <a:r>
              <a:rPr lang="en-US" dirty="0"/>
              <a:t>Quantum Fourier Transform (QFT) and </a:t>
            </a:r>
          </a:p>
          <a:p>
            <a:pPr marL="342900" indent="-342900">
              <a:buAutoNum type="alphaLcParenBoth"/>
            </a:pPr>
            <a:r>
              <a:rPr lang="en-US" dirty="0"/>
              <a:t>ZXZ with parameter-shift rule (PSR).</a:t>
            </a:r>
          </a:p>
        </p:txBody>
      </p:sp>
      <p:pic>
        <p:nvPicPr>
          <p:cNvPr id="10" name="Picture 9" descr="A black background with white rectangular objects&#10;&#10;AI-generated content may be incorrect.">
            <a:extLst>
              <a:ext uri="{FF2B5EF4-FFF2-40B4-BE49-F238E27FC236}">
                <a16:creationId xmlns:a16="http://schemas.microsoft.com/office/drawing/2014/main" id="{D986AFA1-999A-F7BD-B270-84DF564CED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7896" y="2549879"/>
            <a:ext cx="5467749" cy="1343687"/>
          </a:xfrm>
          <a:prstGeom prst="rect">
            <a:avLst/>
          </a:prstGeom>
        </p:spPr>
      </p:pic>
      <p:pic>
        <p:nvPicPr>
          <p:cNvPr id="12" name="Picture 11" descr="A group of white rectangular objects with black text&#10;&#10;AI-generated content may be incorrect.">
            <a:extLst>
              <a:ext uri="{FF2B5EF4-FFF2-40B4-BE49-F238E27FC236}">
                <a16:creationId xmlns:a16="http://schemas.microsoft.com/office/drawing/2014/main" id="{E52262A0-A7E1-A567-C840-503F68AD54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49429" y="4013860"/>
            <a:ext cx="2700108" cy="1044414"/>
          </a:xfrm>
          <a:prstGeom prst="rect">
            <a:avLst/>
          </a:prstGeom>
        </p:spPr>
      </p:pic>
      <p:sp>
        <p:nvSpPr>
          <p:cNvPr id="13" name="TextBox 12">
            <a:extLst>
              <a:ext uri="{FF2B5EF4-FFF2-40B4-BE49-F238E27FC236}">
                <a16:creationId xmlns:a16="http://schemas.microsoft.com/office/drawing/2014/main" id="{E7F728C2-B22E-97DF-E569-6E103A59A5D6}"/>
              </a:ext>
            </a:extLst>
          </p:cNvPr>
          <p:cNvSpPr txBox="1"/>
          <p:nvPr/>
        </p:nvSpPr>
        <p:spPr>
          <a:xfrm>
            <a:off x="6305949" y="1574924"/>
            <a:ext cx="5459696" cy="646331"/>
          </a:xfrm>
          <a:prstGeom prst="rect">
            <a:avLst/>
          </a:prstGeom>
          <a:noFill/>
        </p:spPr>
        <p:txBody>
          <a:bodyPr wrap="square">
            <a:spAutoFit/>
          </a:bodyPr>
          <a:lstStyle/>
          <a:p>
            <a:r>
              <a:rPr lang="en-US" dirty="0">
                <a:solidFill>
                  <a:srgbClr val="FF0000"/>
                </a:solidFill>
              </a:rPr>
              <a:t>Randomize quantum circuit (RQC) with ~uniform gate’s distribution</a:t>
            </a:r>
            <a:endParaRPr lang="en-US" dirty="0"/>
          </a:p>
        </p:txBody>
      </p:sp>
      <p:sp>
        <p:nvSpPr>
          <p:cNvPr id="14" name="TextBox 13">
            <a:extLst>
              <a:ext uri="{FF2B5EF4-FFF2-40B4-BE49-F238E27FC236}">
                <a16:creationId xmlns:a16="http://schemas.microsoft.com/office/drawing/2014/main" id="{FEB3BC46-C424-0A86-75AE-2DF0721694C6}"/>
              </a:ext>
            </a:extLst>
          </p:cNvPr>
          <p:cNvSpPr txBox="1"/>
          <p:nvPr/>
        </p:nvSpPr>
        <p:spPr>
          <a:xfrm>
            <a:off x="6231955" y="5390989"/>
            <a:ext cx="5599630" cy="1200329"/>
          </a:xfrm>
          <a:prstGeom prst="rect">
            <a:avLst/>
          </a:prstGeom>
          <a:noFill/>
        </p:spPr>
        <p:txBody>
          <a:bodyPr wrap="square">
            <a:spAutoFit/>
          </a:bodyPr>
          <a:lstStyle/>
          <a:p>
            <a:r>
              <a:rPr lang="en-US" b="1" dirty="0">
                <a:solidFill>
                  <a:srgbClr val="FF0000"/>
                </a:solidFill>
              </a:rPr>
              <a:t>Figure 2.8</a:t>
            </a:r>
            <a:r>
              <a:rPr lang="en-US" dirty="0"/>
              <a:t>. Circuit representation for </a:t>
            </a:r>
          </a:p>
          <a:p>
            <a:endParaRPr lang="en-US" dirty="0"/>
          </a:p>
          <a:p>
            <a:r>
              <a:rPr lang="en-US" dirty="0"/>
              <a:t>(b) QFT and </a:t>
            </a:r>
          </a:p>
          <a:p>
            <a:r>
              <a:rPr lang="en-US" dirty="0"/>
              <a:t>(c) PSR.</a:t>
            </a:r>
          </a:p>
        </p:txBody>
      </p:sp>
    </p:spTree>
    <p:extLst>
      <p:ext uri="{BB962C8B-B14F-4D97-AF65-F5344CB8AC3E}">
        <p14:creationId xmlns:p14="http://schemas.microsoft.com/office/powerpoint/2010/main" val="2859727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1DE72-58DE-E0C0-6608-21012BCA3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213A4D-3349-4F89-B4CC-22E339C3CE3F}"/>
              </a:ext>
            </a:extLst>
          </p:cNvPr>
          <p:cNvSpPr>
            <a:spLocks noGrp="1"/>
          </p:cNvSpPr>
          <p:nvPr>
            <p:ph type="title"/>
          </p:nvPr>
        </p:nvSpPr>
        <p:spPr>
          <a:xfrm>
            <a:off x="663574" y="223838"/>
            <a:ext cx="10515600" cy="780835"/>
          </a:xfrm>
        </p:spPr>
        <p:txBody>
          <a:bodyPr/>
          <a:lstStyle/>
          <a:p>
            <a:r>
              <a:rPr lang="en-US" dirty="0"/>
              <a:t>2.4.1. </a:t>
            </a:r>
            <a:r>
              <a:rPr lang="en-US" b="1" dirty="0"/>
              <a:t>Result #1</a:t>
            </a:r>
            <a:r>
              <a:rPr lang="en-US" dirty="0"/>
              <a:t>: accuracy metrics </a:t>
            </a:r>
          </a:p>
        </p:txBody>
      </p:sp>
      <p:sp>
        <p:nvSpPr>
          <p:cNvPr id="4" name="Slide Number Placeholder 3">
            <a:extLst>
              <a:ext uri="{FF2B5EF4-FFF2-40B4-BE49-F238E27FC236}">
                <a16:creationId xmlns:a16="http://schemas.microsoft.com/office/drawing/2014/main" id="{C4C001D6-66D1-9122-C58D-4C926AAF63DB}"/>
              </a:ext>
            </a:extLst>
          </p:cNvPr>
          <p:cNvSpPr>
            <a:spLocks noGrp="1"/>
          </p:cNvSpPr>
          <p:nvPr>
            <p:ph type="sldNum" sz="quarter" idx="12"/>
          </p:nvPr>
        </p:nvSpPr>
        <p:spPr/>
        <p:txBody>
          <a:bodyPr/>
          <a:lstStyle/>
          <a:p>
            <a:fld id="{3C0C221A-CB66-4297-9A52-937C35126D0C}" type="slidenum">
              <a:rPr lang="en-US" smtClean="0"/>
              <a:t>15</a:t>
            </a:fld>
            <a:endParaRPr lang="en-US"/>
          </a:p>
        </p:txBody>
      </p:sp>
      <p:pic>
        <p:nvPicPr>
          <p:cNvPr id="9" name="Content Placeholder 8">
            <a:extLst>
              <a:ext uri="{FF2B5EF4-FFF2-40B4-BE49-F238E27FC236}">
                <a16:creationId xmlns:a16="http://schemas.microsoft.com/office/drawing/2014/main" id="{5709A0B6-E8D6-50BF-9B6D-4F4781A3E438}"/>
              </a:ext>
            </a:extLst>
          </p:cNvPr>
          <p:cNvPicPr>
            <a:picLocks noGrp="1" noChangeAspect="1"/>
          </p:cNvPicPr>
          <p:nvPr>
            <p:ph idx="1"/>
          </p:nvPr>
        </p:nvPicPr>
        <p:blipFill>
          <a:blip r:embed="rId3"/>
          <a:srcRect t="1" b="-1136"/>
          <a:stretch/>
        </p:blipFill>
        <p:spPr>
          <a:xfrm>
            <a:off x="766188" y="942975"/>
            <a:ext cx="9997062" cy="4897438"/>
          </a:xfr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746FBB0-4D9B-66D4-999B-9A358DA8A72B}"/>
                  </a:ext>
                </a:extLst>
              </p:cNvPr>
              <p:cNvSpPr txBox="1"/>
              <p:nvPr/>
            </p:nvSpPr>
            <p:spPr>
              <a:xfrm>
                <a:off x="588674" y="6179929"/>
                <a:ext cx="10352089" cy="678071"/>
              </a:xfrm>
              <a:prstGeom prst="rect">
                <a:avLst/>
              </a:prstGeom>
              <a:noFill/>
            </p:spPr>
            <p:txBody>
              <a:bodyPr wrap="square">
                <a:spAutoFit/>
              </a:bodyPr>
              <a:lstStyle/>
              <a:p>
                <a:r>
                  <a:rPr lang="en-US" b="1" dirty="0">
                    <a:solidFill>
                      <a:srgbClr val="FF0000"/>
                    </a:solidFill>
                  </a:rPr>
                  <a:t>Figure 2.9</a:t>
                </a:r>
                <a:r>
                  <a:rPr lang="en-US" dirty="0"/>
                  <a:t>. MSE/Fidelity between </a:t>
                </a:r>
                <a:r>
                  <a:rPr lang="en-US" dirty="0" err="1"/>
                  <a:t>FQsun</a:t>
                </a:r>
                <a:r>
                  <a:rPr lang="en-US" dirty="0"/>
                  <a:t> version. In all cases, FP32 and FX32 are overlapped. For QFT, the FP16 version performs the wrong results since it can not present any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𝛼</m:t>
                        </m:r>
                      </m:e>
                      <m:sub>
                        <m:r>
                          <a:rPr lang="en-US" i="1" dirty="0" smtClean="0">
                            <a:latin typeface="Cambria Math" panose="02040503050406030204" pitchFamily="18" charset="0"/>
                          </a:rPr>
                          <m:t>𝑗</m:t>
                        </m:r>
                      </m:sub>
                    </m:sSub>
                    <m:r>
                      <a:rPr lang="en-US" i="1" dirty="0" smtClean="0">
                        <a:latin typeface="Cambria Math" panose="02040503050406030204" pitchFamily="18" charset="0"/>
                      </a:rPr>
                      <m:t> ≤ 1/</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2</m:t>
                        </m:r>
                      </m:e>
                      <m:sup>
                        <m:r>
                          <a:rPr lang="en-US" i="1" dirty="0" smtClean="0">
                            <a:latin typeface="Cambria Math" panose="02040503050406030204" pitchFamily="18" charset="0"/>
                          </a:rPr>
                          <m:t>16</m:t>
                        </m:r>
                      </m:sup>
                    </m:sSup>
                    <m:r>
                      <a:rPr lang="en-US" i="1" dirty="0" smtClean="0">
                        <a:latin typeface="Cambria Math" panose="02040503050406030204" pitchFamily="18" charset="0"/>
                      </a:rPr>
                      <m:t> ≈ </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10</m:t>
                        </m:r>
                      </m:e>
                      <m:sup>
                        <m:r>
                          <a:rPr lang="en-US" i="1" dirty="0">
                            <a:latin typeface="Cambria Math" panose="02040503050406030204" pitchFamily="18" charset="0"/>
                          </a:rPr>
                          <m:t>−5</m:t>
                        </m:r>
                      </m:sup>
                    </m:sSup>
                  </m:oMath>
                </a14:m>
                <a:r>
                  <a:rPr lang="en-US" dirty="0"/>
                  <a:t>.</a:t>
                </a:r>
              </a:p>
            </p:txBody>
          </p:sp>
        </mc:Choice>
        <mc:Fallback xmlns="">
          <p:sp>
            <p:nvSpPr>
              <p:cNvPr id="11" name="TextBox 10">
                <a:extLst>
                  <a:ext uri="{FF2B5EF4-FFF2-40B4-BE49-F238E27FC236}">
                    <a16:creationId xmlns:a16="http://schemas.microsoft.com/office/drawing/2014/main" id="{0746FBB0-4D9B-66D4-999B-9A358DA8A72B}"/>
                  </a:ext>
                </a:extLst>
              </p:cNvPr>
              <p:cNvSpPr txBox="1">
                <a:spLocks noRot="1" noChangeAspect="1" noMove="1" noResize="1" noEditPoints="1" noAdjustHandles="1" noChangeArrowheads="1" noChangeShapeType="1" noTextEdit="1"/>
              </p:cNvSpPr>
              <p:nvPr/>
            </p:nvSpPr>
            <p:spPr>
              <a:xfrm>
                <a:off x="588674" y="6179929"/>
                <a:ext cx="10352089" cy="678071"/>
              </a:xfrm>
              <a:prstGeom prst="rect">
                <a:avLst/>
              </a:prstGeom>
              <a:blipFill>
                <a:blip r:embed="rId4"/>
                <a:stretch>
                  <a:fillRect l="-490" t="-3704" b="-11111"/>
                </a:stretch>
              </a:blipFill>
            </p:spPr>
            <p:txBody>
              <a:bodyPr/>
              <a:lstStyle/>
              <a:p>
                <a:r>
                  <a:rPr lang="en-VN">
                    <a:noFill/>
                  </a:rPr>
                  <a:t> </a:t>
                </a:r>
              </a:p>
            </p:txBody>
          </p:sp>
        </mc:Fallback>
      </mc:AlternateContent>
      <p:sp>
        <p:nvSpPr>
          <p:cNvPr id="5" name="TextBox 4">
            <a:extLst>
              <a:ext uri="{FF2B5EF4-FFF2-40B4-BE49-F238E27FC236}">
                <a16:creationId xmlns:a16="http://schemas.microsoft.com/office/drawing/2014/main" id="{F5781EE2-E09F-402A-B707-DC8F962A8F68}"/>
              </a:ext>
            </a:extLst>
          </p:cNvPr>
          <p:cNvSpPr txBox="1"/>
          <p:nvPr/>
        </p:nvSpPr>
        <p:spPr>
          <a:xfrm>
            <a:off x="2927350" y="5832168"/>
            <a:ext cx="704850" cy="369332"/>
          </a:xfrm>
          <a:prstGeom prst="rect">
            <a:avLst/>
          </a:prstGeom>
          <a:noFill/>
        </p:spPr>
        <p:txBody>
          <a:bodyPr wrap="square">
            <a:spAutoFit/>
          </a:bodyPr>
          <a:lstStyle/>
          <a:p>
            <a:r>
              <a:rPr lang="en-US" b="1" dirty="0">
                <a:solidFill>
                  <a:srgbClr val="FF0000"/>
                </a:solidFill>
              </a:rPr>
              <a:t>RQC</a:t>
            </a:r>
            <a:endParaRPr lang="en-US" dirty="0"/>
          </a:p>
        </p:txBody>
      </p:sp>
      <p:sp>
        <p:nvSpPr>
          <p:cNvPr id="6" name="TextBox 5">
            <a:extLst>
              <a:ext uri="{FF2B5EF4-FFF2-40B4-BE49-F238E27FC236}">
                <a16:creationId xmlns:a16="http://schemas.microsoft.com/office/drawing/2014/main" id="{6B55036C-95BB-E109-9556-0EDDA3E9A9FB}"/>
              </a:ext>
            </a:extLst>
          </p:cNvPr>
          <p:cNvSpPr txBox="1"/>
          <p:nvPr/>
        </p:nvSpPr>
        <p:spPr>
          <a:xfrm>
            <a:off x="5867400" y="5832168"/>
            <a:ext cx="630812" cy="369332"/>
          </a:xfrm>
          <a:prstGeom prst="rect">
            <a:avLst/>
          </a:prstGeom>
          <a:noFill/>
        </p:spPr>
        <p:txBody>
          <a:bodyPr wrap="square">
            <a:spAutoFit/>
          </a:bodyPr>
          <a:lstStyle/>
          <a:p>
            <a:r>
              <a:rPr lang="en-US" b="1" dirty="0">
                <a:solidFill>
                  <a:srgbClr val="FF0000"/>
                </a:solidFill>
              </a:rPr>
              <a:t>QFT</a:t>
            </a:r>
            <a:endParaRPr lang="en-US" dirty="0"/>
          </a:p>
        </p:txBody>
      </p:sp>
      <p:sp>
        <p:nvSpPr>
          <p:cNvPr id="7" name="TextBox 6">
            <a:extLst>
              <a:ext uri="{FF2B5EF4-FFF2-40B4-BE49-F238E27FC236}">
                <a16:creationId xmlns:a16="http://schemas.microsoft.com/office/drawing/2014/main" id="{15139BAE-F840-7A62-7376-60BB5E819941}"/>
              </a:ext>
            </a:extLst>
          </p:cNvPr>
          <p:cNvSpPr txBox="1"/>
          <p:nvPr/>
        </p:nvSpPr>
        <p:spPr>
          <a:xfrm>
            <a:off x="8949244" y="5832168"/>
            <a:ext cx="630812" cy="369332"/>
          </a:xfrm>
          <a:prstGeom prst="rect">
            <a:avLst/>
          </a:prstGeom>
          <a:noFill/>
        </p:spPr>
        <p:txBody>
          <a:bodyPr wrap="square">
            <a:spAutoFit/>
          </a:bodyPr>
          <a:lstStyle/>
          <a:p>
            <a:r>
              <a:rPr lang="en-US" b="1" dirty="0">
                <a:solidFill>
                  <a:srgbClr val="FF0000"/>
                </a:solidFill>
              </a:rPr>
              <a:t>PSR</a:t>
            </a:r>
            <a:endParaRPr lang="en-US" dirty="0"/>
          </a:p>
        </p:txBody>
      </p:sp>
      <p:sp>
        <p:nvSpPr>
          <p:cNvPr id="3" name="TextBox 2">
            <a:extLst>
              <a:ext uri="{FF2B5EF4-FFF2-40B4-BE49-F238E27FC236}">
                <a16:creationId xmlns:a16="http://schemas.microsoft.com/office/drawing/2014/main" id="{6CA5129D-773C-DFDF-181B-BA61F8FE96EB}"/>
              </a:ext>
            </a:extLst>
          </p:cNvPr>
          <p:cNvSpPr txBox="1"/>
          <p:nvPr/>
        </p:nvSpPr>
        <p:spPr>
          <a:xfrm>
            <a:off x="10720961" y="3979304"/>
            <a:ext cx="1246449" cy="369332"/>
          </a:xfrm>
          <a:prstGeom prst="rect">
            <a:avLst/>
          </a:prstGeom>
          <a:noFill/>
        </p:spPr>
        <p:txBody>
          <a:bodyPr wrap="square">
            <a:spAutoFit/>
          </a:bodyPr>
          <a:lstStyle/>
          <a:p>
            <a:r>
              <a:rPr lang="en-US" b="1" dirty="0">
                <a:solidFill>
                  <a:srgbClr val="FF0000"/>
                </a:solidFill>
              </a:rPr>
              <a:t>~1 is good</a:t>
            </a:r>
            <a:endParaRPr lang="en-US" dirty="0"/>
          </a:p>
        </p:txBody>
      </p:sp>
      <p:sp>
        <p:nvSpPr>
          <p:cNvPr id="8" name="TextBox 7">
            <a:extLst>
              <a:ext uri="{FF2B5EF4-FFF2-40B4-BE49-F238E27FC236}">
                <a16:creationId xmlns:a16="http://schemas.microsoft.com/office/drawing/2014/main" id="{6DBD5CD8-1956-71B2-981A-04FC9903E293}"/>
              </a:ext>
            </a:extLst>
          </p:cNvPr>
          <p:cNvSpPr txBox="1"/>
          <p:nvPr/>
        </p:nvSpPr>
        <p:spPr>
          <a:xfrm>
            <a:off x="10720960" y="1971590"/>
            <a:ext cx="1246449" cy="369332"/>
          </a:xfrm>
          <a:prstGeom prst="rect">
            <a:avLst/>
          </a:prstGeom>
          <a:noFill/>
        </p:spPr>
        <p:txBody>
          <a:bodyPr wrap="square">
            <a:spAutoFit/>
          </a:bodyPr>
          <a:lstStyle/>
          <a:p>
            <a:r>
              <a:rPr lang="en-US" b="1" dirty="0">
                <a:solidFill>
                  <a:srgbClr val="FF0000"/>
                </a:solidFill>
              </a:rPr>
              <a:t>~0 is good</a:t>
            </a:r>
            <a:endParaRPr lang="en-US" dirty="0"/>
          </a:p>
        </p:txBody>
      </p:sp>
    </p:spTree>
    <p:extLst>
      <p:ext uri="{BB962C8B-B14F-4D97-AF65-F5344CB8AC3E}">
        <p14:creationId xmlns:p14="http://schemas.microsoft.com/office/powerpoint/2010/main" val="2973153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5156533-F162-252F-6AEB-61DE7EAD1D08}"/>
              </a:ext>
            </a:extLst>
          </p:cNvPr>
          <p:cNvPicPr>
            <a:picLocks noGrp="1" noChangeAspect="1"/>
          </p:cNvPicPr>
          <p:nvPr>
            <p:ph idx="1"/>
          </p:nvPr>
        </p:nvPicPr>
        <p:blipFill>
          <a:blip r:embed="rId3"/>
          <a:stretch>
            <a:fillRect/>
          </a:stretch>
        </p:blipFill>
        <p:spPr>
          <a:xfrm>
            <a:off x="44074" y="1298575"/>
            <a:ext cx="8420476" cy="4486276"/>
          </a:xfrm>
        </p:spPr>
      </p:pic>
      <p:sp>
        <p:nvSpPr>
          <p:cNvPr id="4" name="Slide Number Placeholder 3">
            <a:extLst>
              <a:ext uri="{FF2B5EF4-FFF2-40B4-BE49-F238E27FC236}">
                <a16:creationId xmlns:a16="http://schemas.microsoft.com/office/drawing/2014/main" id="{69272F75-8ED3-3D1E-6411-41A4B6E5C1EE}"/>
              </a:ext>
            </a:extLst>
          </p:cNvPr>
          <p:cNvSpPr>
            <a:spLocks noGrp="1"/>
          </p:cNvSpPr>
          <p:nvPr>
            <p:ph type="sldNum" sz="quarter" idx="12"/>
          </p:nvPr>
        </p:nvSpPr>
        <p:spPr/>
        <p:txBody>
          <a:bodyPr/>
          <a:lstStyle/>
          <a:p>
            <a:fld id="{3C0C221A-CB66-4297-9A52-937C35126D0C}" type="slidenum">
              <a:rPr lang="en-US" smtClean="0"/>
              <a:t>16</a:t>
            </a:fld>
            <a:endParaRPr lang="en-US"/>
          </a:p>
        </p:txBody>
      </p:sp>
      <p:sp>
        <p:nvSpPr>
          <p:cNvPr id="8" name="TextBox 7">
            <a:extLst>
              <a:ext uri="{FF2B5EF4-FFF2-40B4-BE49-F238E27FC236}">
                <a16:creationId xmlns:a16="http://schemas.microsoft.com/office/drawing/2014/main" id="{512BEC26-8FCD-612F-6523-B9A2E6B79DBD}"/>
              </a:ext>
            </a:extLst>
          </p:cNvPr>
          <p:cNvSpPr txBox="1"/>
          <p:nvPr/>
        </p:nvSpPr>
        <p:spPr>
          <a:xfrm>
            <a:off x="44074" y="5784851"/>
            <a:ext cx="8331576" cy="923330"/>
          </a:xfrm>
          <a:prstGeom prst="rect">
            <a:avLst/>
          </a:prstGeom>
          <a:noFill/>
        </p:spPr>
        <p:txBody>
          <a:bodyPr wrap="square">
            <a:spAutoFit/>
          </a:bodyPr>
          <a:lstStyle/>
          <a:p>
            <a:r>
              <a:rPr lang="en-US" b="1" dirty="0">
                <a:solidFill>
                  <a:srgbClr val="FF0000"/>
                </a:solidFill>
              </a:rPr>
              <a:t>Figure 2.10.</a:t>
            </a:r>
            <a:r>
              <a:rPr lang="en-US" dirty="0"/>
              <a:t> The execution time on (a-c) RQC (d) QFT execution time comparison between Software + </a:t>
            </a:r>
            <a:r>
              <a:rPr lang="en-US" dirty="0" err="1"/>
              <a:t>FQsun</a:t>
            </a:r>
            <a:r>
              <a:rPr lang="en-US" dirty="0"/>
              <a:t>. (e) We compare GPU A100 and </a:t>
            </a:r>
            <a:r>
              <a:rPr lang="en-US" dirty="0" err="1"/>
              <a:t>FQsun</a:t>
            </a:r>
            <a:r>
              <a:rPr lang="en-US" dirty="0"/>
              <a:t>. (f) PSR execution time comparison between Software + </a:t>
            </a:r>
            <a:r>
              <a:rPr lang="en-US" dirty="0" err="1"/>
              <a:t>FQsun</a:t>
            </a:r>
            <a:r>
              <a:rPr lang="en-US" dirty="0"/>
              <a:t>. </a:t>
            </a:r>
          </a:p>
        </p:txBody>
      </p:sp>
      <p:sp>
        <p:nvSpPr>
          <p:cNvPr id="9" name="Title 1">
            <a:extLst>
              <a:ext uri="{FF2B5EF4-FFF2-40B4-BE49-F238E27FC236}">
                <a16:creationId xmlns:a16="http://schemas.microsoft.com/office/drawing/2014/main" id="{D066FACD-BD54-546A-1CC2-3754959B9399}"/>
              </a:ext>
            </a:extLst>
          </p:cNvPr>
          <p:cNvSpPr txBox="1">
            <a:spLocks/>
          </p:cNvSpPr>
          <p:nvPr/>
        </p:nvSpPr>
        <p:spPr>
          <a:xfrm>
            <a:off x="190124" y="14288"/>
            <a:ext cx="10989050" cy="12842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2.4.2. </a:t>
            </a:r>
            <a:r>
              <a:rPr lang="en-US" sz="3200" b="1" dirty="0"/>
              <a:t>Results #2</a:t>
            </a:r>
            <a:r>
              <a:rPr lang="en-US" sz="3200" dirty="0"/>
              <a:t>: execution time &amp; PDP</a:t>
            </a:r>
          </a:p>
        </p:txBody>
      </p:sp>
      <p:pic>
        <p:nvPicPr>
          <p:cNvPr id="10" name="Content Placeholder 5">
            <a:extLst>
              <a:ext uri="{FF2B5EF4-FFF2-40B4-BE49-F238E27FC236}">
                <a16:creationId xmlns:a16="http://schemas.microsoft.com/office/drawing/2014/main" id="{2116F6F1-B186-5426-93F9-BF31F3F5EF58}"/>
              </a:ext>
            </a:extLst>
          </p:cNvPr>
          <p:cNvPicPr>
            <a:picLocks noChangeAspect="1"/>
          </p:cNvPicPr>
          <p:nvPr/>
        </p:nvPicPr>
        <p:blipFill>
          <a:blip r:embed="rId4"/>
          <a:srcRect r="2248"/>
          <a:stretch/>
        </p:blipFill>
        <p:spPr>
          <a:xfrm>
            <a:off x="8464549" y="426818"/>
            <a:ext cx="3706197" cy="5338243"/>
          </a:xfrm>
          <a:prstGeom prst="rect">
            <a:avLst/>
          </a:prstGeom>
        </p:spPr>
      </p:pic>
      <p:sp>
        <p:nvSpPr>
          <p:cNvPr id="11" name="TextBox 10">
            <a:extLst>
              <a:ext uri="{FF2B5EF4-FFF2-40B4-BE49-F238E27FC236}">
                <a16:creationId xmlns:a16="http://schemas.microsoft.com/office/drawing/2014/main" id="{C1FD1881-6C91-AA55-77E5-657F76418AE1}"/>
              </a:ext>
            </a:extLst>
          </p:cNvPr>
          <p:cNvSpPr txBox="1"/>
          <p:nvPr/>
        </p:nvSpPr>
        <p:spPr>
          <a:xfrm>
            <a:off x="8464550" y="5784851"/>
            <a:ext cx="3441700" cy="646331"/>
          </a:xfrm>
          <a:prstGeom prst="rect">
            <a:avLst/>
          </a:prstGeom>
          <a:noFill/>
        </p:spPr>
        <p:txBody>
          <a:bodyPr wrap="square">
            <a:spAutoFit/>
          </a:bodyPr>
          <a:lstStyle/>
          <a:p>
            <a:r>
              <a:rPr lang="en-US" b="1" dirty="0">
                <a:solidFill>
                  <a:srgbClr val="FF0000"/>
                </a:solidFill>
              </a:rPr>
              <a:t>Figure 2.11.</a:t>
            </a:r>
            <a:r>
              <a:rPr lang="en-US" dirty="0"/>
              <a:t> PDP through (a) RQC (b) QFT and (c) PSR. </a:t>
            </a:r>
          </a:p>
        </p:txBody>
      </p:sp>
      <p:sp>
        <p:nvSpPr>
          <p:cNvPr id="2" name="Rectangle 1">
            <a:extLst>
              <a:ext uri="{FF2B5EF4-FFF2-40B4-BE49-F238E27FC236}">
                <a16:creationId xmlns:a16="http://schemas.microsoft.com/office/drawing/2014/main" id="{940AA6CD-061E-1A20-1EAA-D8CBCBA691B5}"/>
              </a:ext>
            </a:extLst>
          </p:cNvPr>
          <p:cNvSpPr/>
          <p:nvPr/>
        </p:nvSpPr>
        <p:spPr>
          <a:xfrm>
            <a:off x="4216400" y="1773416"/>
            <a:ext cx="4248149" cy="1098925"/>
          </a:xfrm>
          <a:prstGeom prst="rect">
            <a:avLst/>
          </a:prstGeom>
          <a:noFill/>
          <a:ln>
            <a:solidFill>
              <a:srgbClr val="ED18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E2A5B0B-07D1-FB3F-30B9-289ACFDEC4FB}"/>
              </a:ext>
            </a:extLst>
          </p:cNvPr>
          <p:cNvSpPr txBox="1"/>
          <p:nvPr/>
        </p:nvSpPr>
        <p:spPr>
          <a:xfrm>
            <a:off x="7414596" y="310032"/>
            <a:ext cx="1335704" cy="1169551"/>
          </a:xfrm>
          <a:prstGeom prst="rect">
            <a:avLst/>
          </a:prstGeom>
          <a:noFill/>
        </p:spPr>
        <p:txBody>
          <a:bodyPr wrap="square">
            <a:spAutoFit/>
          </a:bodyPr>
          <a:lstStyle/>
          <a:p>
            <a:r>
              <a:rPr lang="en-US" sz="1400" b="1" dirty="0">
                <a:solidFill>
                  <a:srgbClr val="FF0000"/>
                </a:solidFill>
              </a:rPr>
              <a:t>In this case, Software seems better due to the stabilizer rank</a:t>
            </a:r>
            <a:endParaRPr lang="en-US" sz="1400" dirty="0"/>
          </a:p>
        </p:txBody>
      </p:sp>
      <p:cxnSp>
        <p:nvCxnSpPr>
          <p:cNvPr id="7" name="Straight Arrow Connector 6">
            <a:extLst>
              <a:ext uri="{FF2B5EF4-FFF2-40B4-BE49-F238E27FC236}">
                <a16:creationId xmlns:a16="http://schemas.microsoft.com/office/drawing/2014/main" id="{7A876BDA-5CC9-16A8-9F89-B07979E137D5}"/>
              </a:ext>
            </a:extLst>
          </p:cNvPr>
          <p:cNvCxnSpPr>
            <a:cxnSpLocks/>
          </p:cNvCxnSpPr>
          <p:nvPr/>
        </p:nvCxnSpPr>
        <p:spPr>
          <a:xfrm flipV="1">
            <a:off x="8047920" y="1481195"/>
            <a:ext cx="0" cy="29222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98481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27E2C-4154-38BD-E6F1-B0C656D6B4C0}"/>
              </a:ext>
            </a:extLst>
          </p:cNvPr>
          <p:cNvSpPr>
            <a:spLocks noGrp="1"/>
          </p:cNvSpPr>
          <p:nvPr>
            <p:ph type="title"/>
          </p:nvPr>
        </p:nvSpPr>
        <p:spPr>
          <a:xfrm>
            <a:off x="838199" y="1"/>
            <a:ext cx="11708757" cy="1432440"/>
          </a:xfrm>
        </p:spPr>
        <p:txBody>
          <a:bodyPr>
            <a:normAutofit/>
          </a:bodyPr>
          <a:lstStyle/>
          <a:p>
            <a:r>
              <a:rPr lang="en-US" sz="4000" dirty="0"/>
              <a:t>2.4.3. </a:t>
            </a:r>
            <a:r>
              <a:rPr lang="en-US" sz="4000" b="1" dirty="0"/>
              <a:t>Result #3</a:t>
            </a:r>
            <a:r>
              <a:rPr lang="en-US" sz="4000" dirty="0"/>
              <a:t>: High-stabilizer rank benchmarking</a:t>
            </a:r>
          </a:p>
        </p:txBody>
      </p:sp>
      <p:sp>
        <p:nvSpPr>
          <p:cNvPr id="4" name="Slide Number Placeholder 3">
            <a:extLst>
              <a:ext uri="{FF2B5EF4-FFF2-40B4-BE49-F238E27FC236}">
                <a16:creationId xmlns:a16="http://schemas.microsoft.com/office/drawing/2014/main" id="{6539F2D5-28D3-000D-43B7-8BC5BD1B562B}"/>
              </a:ext>
            </a:extLst>
          </p:cNvPr>
          <p:cNvSpPr>
            <a:spLocks noGrp="1"/>
          </p:cNvSpPr>
          <p:nvPr>
            <p:ph type="sldNum" sz="quarter" idx="12"/>
          </p:nvPr>
        </p:nvSpPr>
        <p:spPr/>
        <p:txBody>
          <a:bodyPr/>
          <a:lstStyle/>
          <a:p>
            <a:fld id="{3C0C221A-CB66-4297-9A52-937C35126D0C}" type="slidenum">
              <a:rPr lang="en-US" smtClean="0"/>
              <a:t>17</a:t>
            </a:fld>
            <a:endParaRPr lang="en-US"/>
          </a:p>
        </p:txBody>
      </p:sp>
      <p:pic>
        <p:nvPicPr>
          <p:cNvPr id="10" name="Picture 9">
            <a:extLst>
              <a:ext uri="{FF2B5EF4-FFF2-40B4-BE49-F238E27FC236}">
                <a16:creationId xmlns:a16="http://schemas.microsoft.com/office/drawing/2014/main" id="{E13145B9-AECE-E8E2-FE1B-79FD10B7ABAE}"/>
              </a:ext>
            </a:extLst>
          </p:cNvPr>
          <p:cNvPicPr>
            <a:picLocks noChangeAspect="1"/>
          </p:cNvPicPr>
          <p:nvPr/>
        </p:nvPicPr>
        <p:blipFill>
          <a:blip r:embed="rId3"/>
          <a:stretch>
            <a:fillRect/>
          </a:stretch>
        </p:blipFill>
        <p:spPr>
          <a:xfrm>
            <a:off x="838198" y="956053"/>
            <a:ext cx="5800590" cy="4747326"/>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F4CBCAD-89BA-BCD5-5822-549A88895485}"/>
                  </a:ext>
                </a:extLst>
              </p:cNvPr>
              <p:cNvSpPr txBox="1"/>
              <p:nvPr/>
            </p:nvSpPr>
            <p:spPr>
              <a:xfrm>
                <a:off x="838198" y="5400561"/>
                <a:ext cx="10773429" cy="1015663"/>
              </a:xfrm>
              <a:prstGeom prst="rect">
                <a:avLst/>
              </a:prstGeom>
              <a:noFill/>
            </p:spPr>
            <p:txBody>
              <a:bodyPr wrap="square">
                <a:spAutoFit/>
              </a:bodyPr>
              <a:lstStyle/>
              <a:p>
                <a:r>
                  <a:rPr lang="en-US" sz="2000" b="1" dirty="0">
                    <a:solidFill>
                      <a:srgbClr val="FF0000"/>
                    </a:solidFill>
                  </a:rPr>
                  <a:t>Figure 2.12.</a:t>
                </a:r>
                <a:endParaRPr lang="en-US" sz="2000" dirty="0"/>
              </a:p>
              <a:p>
                <a:r>
                  <a:rPr lang="en-US" sz="2000" dirty="0"/>
                  <a:t>(a) 10-layer </a:t>
                </a:r>
                <a14:m>
                  <m:oMath xmlns:m="http://schemas.openxmlformats.org/officeDocument/2006/math">
                    <m:r>
                      <a:rPr lang="en-US" sz="2000" i="1" dirty="0" smtClean="0">
                        <a:latin typeface="Cambria Math" panose="02040503050406030204" pitchFamily="18" charset="0"/>
                      </a:rPr>
                      <m:t>|</m:t>
                    </m:r>
                    <m:r>
                      <a:rPr lang="en-US" sz="2000" i="1" dirty="0" err="1">
                        <a:latin typeface="Cambria Math" panose="02040503050406030204" pitchFamily="18" charset="0"/>
                      </a:rPr>
                      <m:t>𝑐h𝑎𝑖𝑛</m:t>
                    </m:r>
                    <m:r>
                      <a:rPr lang="en-US" sz="2000" i="1" dirty="0" err="1">
                        <a:latin typeface="Cambria Math" panose="02040503050406030204" pitchFamily="18" charset="0"/>
                      </a:rPr>
                      <m:t>+</m:t>
                    </m:r>
                    <m:r>
                      <a:rPr lang="en-US" sz="2000" i="1" dirty="0" err="1">
                        <a:latin typeface="Cambria Math" panose="02040503050406030204" pitchFamily="18" charset="0"/>
                      </a:rPr>
                      <m:t>𝑋𝑌𝑍</m:t>
                    </m:r>
                    <m:r>
                      <a:rPr lang="en-US" sz="2000" i="1" dirty="0" smtClean="0">
                        <a:latin typeface="Cambria Math" panose="02040503050406030204" pitchFamily="18" charset="0"/>
                      </a:rPr>
                      <m:t>⟩</m:t>
                    </m:r>
                  </m:oMath>
                </a14:m>
                <a:r>
                  <a:rPr lang="en-US" sz="2000" dirty="0"/>
                  <a:t> circuit is used for benchmarking </a:t>
                </a:r>
              </a:p>
              <a:p>
                <a:r>
                  <a:rPr lang="en-US" sz="2000" dirty="0"/>
                  <a:t>(b) The execution time between </a:t>
                </a:r>
                <a:r>
                  <a:rPr lang="en-US" sz="2000" dirty="0" err="1"/>
                  <a:t>Qiskit</a:t>
                </a:r>
                <a:r>
                  <a:rPr lang="en-US" sz="2000" dirty="0"/>
                  <a:t> (software) and FX32 based on the order (stabilizer rank ). </a:t>
                </a:r>
              </a:p>
            </p:txBody>
          </p:sp>
        </mc:Choice>
        <mc:Fallback xmlns="">
          <p:sp>
            <p:nvSpPr>
              <p:cNvPr id="12" name="TextBox 11">
                <a:extLst>
                  <a:ext uri="{FF2B5EF4-FFF2-40B4-BE49-F238E27FC236}">
                    <a16:creationId xmlns:a16="http://schemas.microsoft.com/office/drawing/2014/main" id="{FF4CBCAD-89BA-BCD5-5822-549A88895485}"/>
                  </a:ext>
                </a:extLst>
              </p:cNvPr>
              <p:cNvSpPr txBox="1">
                <a:spLocks noRot="1" noChangeAspect="1" noMove="1" noResize="1" noEditPoints="1" noAdjustHandles="1" noChangeArrowheads="1" noChangeShapeType="1" noTextEdit="1"/>
              </p:cNvSpPr>
              <p:nvPr/>
            </p:nvSpPr>
            <p:spPr>
              <a:xfrm>
                <a:off x="838198" y="5400561"/>
                <a:ext cx="10773429" cy="1015663"/>
              </a:xfrm>
              <a:prstGeom prst="rect">
                <a:avLst/>
              </a:prstGeom>
              <a:blipFill>
                <a:blip r:embed="rId4"/>
                <a:stretch>
                  <a:fillRect l="-588" t="-3704" b="-9877"/>
                </a:stretch>
              </a:blipFill>
            </p:spPr>
            <p:txBody>
              <a:bodyPr/>
              <a:lstStyle/>
              <a:p>
                <a:r>
                  <a:rPr lang="en-VN">
                    <a:noFill/>
                  </a:rPr>
                  <a:t> </a:t>
                </a:r>
              </a:p>
            </p:txBody>
          </p:sp>
        </mc:Fallback>
      </mc:AlternateContent>
      <p:sp>
        <p:nvSpPr>
          <p:cNvPr id="15" name="Rectangle 14">
            <a:extLst>
              <a:ext uri="{FF2B5EF4-FFF2-40B4-BE49-F238E27FC236}">
                <a16:creationId xmlns:a16="http://schemas.microsoft.com/office/drawing/2014/main" id="{3796D354-214B-A2D8-A8B1-63C3CF5F4BB2}"/>
              </a:ext>
            </a:extLst>
          </p:cNvPr>
          <p:cNvSpPr/>
          <p:nvPr/>
        </p:nvSpPr>
        <p:spPr>
          <a:xfrm>
            <a:off x="898988" y="1154621"/>
            <a:ext cx="5197011" cy="2014464"/>
          </a:xfrm>
          <a:prstGeom prst="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EA6144C-5DEA-9930-DDDA-E9614A0796C8}"/>
              </a:ext>
            </a:extLst>
          </p:cNvPr>
          <p:cNvSpPr txBox="1"/>
          <p:nvPr/>
        </p:nvSpPr>
        <p:spPr>
          <a:xfrm>
            <a:off x="6493241" y="1670800"/>
            <a:ext cx="3652839" cy="707886"/>
          </a:xfrm>
          <a:prstGeom prst="rect">
            <a:avLst/>
          </a:prstGeom>
          <a:noFill/>
        </p:spPr>
        <p:txBody>
          <a:bodyPr wrap="square">
            <a:spAutoFit/>
          </a:bodyPr>
          <a:lstStyle/>
          <a:p>
            <a:r>
              <a:rPr lang="en-US" sz="2000" dirty="0">
                <a:solidFill>
                  <a:srgbClr val="FF0000"/>
                </a:solidFill>
              </a:rPr>
              <a:t>This circuit make sure that the stabilizer rank is high</a:t>
            </a:r>
          </a:p>
        </p:txBody>
      </p:sp>
      <p:cxnSp>
        <p:nvCxnSpPr>
          <p:cNvPr id="18" name="Straight Arrow Connector 17">
            <a:extLst>
              <a:ext uri="{FF2B5EF4-FFF2-40B4-BE49-F238E27FC236}">
                <a16:creationId xmlns:a16="http://schemas.microsoft.com/office/drawing/2014/main" id="{E0885BB4-3AC4-8A73-5747-B2A8320629E5}"/>
              </a:ext>
            </a:extLst>
          </p:cNvPr>
          <p:cNvCxnSpPr>
            <a:cxnSpLocks/>
            <a:endCxn id="16" idx="1"/>
          </p:cNvCxnSpPr>
          <p:nvPr/>
        </p:nvCxnSpPr>
        <p:spPr>
          <a:xfrm>
            <a:off x="6102836" y="2024743"/>
            <a:ext cx="390405"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FD4E13AE-A042-4D4D-F051-6EE9DAD55801}"/>
              </a:ext>
            </a:extLst>
          </p:cNvPr>
          <p:cNvSpPr txBox="1"/>
          <p:nvPr/>
        </p:nvSpPr>
        <p:spPr>
          <a:xfrm>
            <a:off x="6800798" y="2902536"/>
            <a:ext cx="3037726" cy="400110"/>
          </a:xfrm>
          <a:prstGeom prst="rect">
            <a:avLst/>
          </a:prstGeom>
          <a:noFill/>
        </p:spPr>
        <p:txBody>
          <a:bodyPr wrap="square">
            <a:spAutoFit/>
          </a:bodyPr>
          <a:lstStyle/>
          <a:p>
            <a:r>
              <a:rPr lang="en-US" sz="2000" dirty="0">
                <a:solidFill>
                  <a:srgbClr val="FF0000"/>
                </a:solidFill>
              </a:rPr>
              <a:t>Hard to simulate/emulate</a:t>
            </a:r>
          </a:p>
        </p:txBody>
      </p:sp>
      <p:cxnSp>
        <p:nvCxnSpPr>
          <p:cNvPr id="22" name="Straight Arrow Connector 21">
            <a:extLst>
              <a:ext uri="{FF2B5EF4-FFF2-40B4-BE49-F238E27FC236}">
                <a16:creationId xmlns:a16="http://schemas.microsoft.com/office/drawing/2014/main" id="{6280B5F0-347B-6ED7-9599-69EF35ED7E73}"/>
              </a:ext>
            </a:extLst>
          </p:cNvPr>
          <p:cNvCxnSpPr>
            <a:cxnSpLocks/>
            <a:stCxn id="16" idx="2"/>
            <a:endCxn id="21" idx="0"/>
          </p:cNvCxnSpPr>
          <p:nvPr/>
        </p:nvCxnSpPr>
        <p:spPr>
          <a:xfrm>
            <a:off x="8319661" y="2378686"/>
            <a:ext cx="0" cy="5238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F8C4344-5130-E9F1-3C83-11F9534E53F3}"/>
              </a:ext>
            </a:extLst>
          </p:cNvPr>
          <p:cNvSpPr txBox="1"/>
          <p:nvPr/>
        </p:nvSpPr>
        <p:spPr>
          <a:xfrm rot="16200000">
            <a:off x="5666837" y="3731888"/>
            <a:ext cx="2117359" cy="338554"/>
          </a:xfrm>
          <a:prstGeom prst="rect">
            <a:avLst/>
          </a:prstGeom>
          <a:noFill/>
        </p:spPr>
        <p:txBody>
          <a:bodyPr wrap="square">
            <a:spAutoFit/>
          </a:bodyPr>
          <a:lstStyle/>
          <a:p>
            <a:r>
              <a:rPr lang="en-US" sz="1600" dirty="0">
                <a:solidFill>
                  <a:schemeClr val="tx2">
                    <a:lumMod val="50000"/>
                    <a:lumOff val="50000"/>
                  </a:schemeClr>
                </a:solidFill>
              </a:rPr>
              <a:t>(stabilizer rank )</a:t>
            </a:r>
            <a:endParaRPr lang="en-VN" sz="1600">
              <a:solidFill>
                <a:schemeClr val="tx2">
                  <a:lumMod val="50000"/>
                  <a:lumOff val="50000"/>
                </a:schemeClr>
              </a:solidFill>
            </a:endParaRPr>
          </a:p>
        </p:txBody>
      </p:sp>
    </p:spTree>
    <p:extLst>
      <p:ext uri="{BB962C8B-B14F-4D97-AF65-F5344CB8AC3E}">
        <p14:creationId xmlns:p14="http://schemas.microsoft.com/office/powerpoint/2010/main" val="1575366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CEFAF78-65C8-371E-4A0D-1B616E7969BB}"/>
              </a:ext>
            </a:extLst>
          </p:cNvPr>
          <p:cNvPicPr>
            <a:picLocks noGrp="1" noChangeAspect="1"/>
          </p:cNvPicPr>
          <p:nvPr>
            <p:ph idx="1"/>
          </p:nvPr>
        </p:nvPicPr>
        <p:blipFill>
          <a:blip r:embed="rId3"/>
          <a:stretch>
            <a:fillRect/>
          </a:stretch>
        </p:blipFill>
        <p:spPr>
          <a:xfrm>
            <a:off x="260849" y="1197231"/>
            <a:ext cx="11857714" cy="4591857"/>
          </a:xfrm>
        </p:spPr>
      </p:pic>
      <p:sp>
        <p:nvSpPr>
          <p:cNvPr id="4" name="Slide Number Placeholder 3">
            <a:extLst>
              <a:ext uri="{FF2B5EF4-FFF2-40B4-BE49-F238E27FC236}">
                <a16:creationId xmlns:a16="http://schemas.microsoft.com/office/drawing/2014/main" id="{52372DCE-42A6-61B9-7A83-CEAECC8ED1FF}"/>
              </a:ext>
            </a:extLst>
          </p:cNvPr>
          <p:cNvSpPr>
            <a:spLocks noGrp="1"/>
          </p:cNvSpPr>
          <p:nvPr>
            <p:ph type="sldNum" sz="quarter" idx="12"/>
          </p:nvPr>
        </p:nvSpPr>
        <p:spPr/>
        <p:txBody>
          <a:bodyPr/>
          <a:lstStyle/>
          <a:p>
            <a:fld id="{3C0C221A-CB66-4297-9A52-937C35126D0C}" type="slidenum">
              <a:rPr lang="en-US" smtClean="0"/>
              <a:t>18</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AFF7EFB-D79A-C390-7F46-C6B3C70433E2}"/>
                  </a:ext>
                </a:extLst>
              </p:cNvPr>
              <p:cNvSpPr txBox="1"/>
              <p:nvPr/>
            </p:nvSpPr>
            <p:spPr>
              <a:xfrm>
                <a:off x="215757" y="5826036"/>
                <a:ext cx="10854647" cy="1067215"/>
              </a:xfrm>
              <a:prstGeom prst="rect">
                <a:avLst/>
              </a:prstGeom>
              <a:noFill/>
            </p:spPr>
            <p:txBody>
              <a:bodyPr wrap="square">
                <a:spAutoFit/>
              </a:bodyPr>
              <a:lstStyle/>
              <a:p>
                <a:r>
                  <a:rPr lang="en-US" sz="2000" dirty="0"/>
                  <a:t>(†) The #Gate in this work is higher than other work due to the no-use of control-rotation gates. </a:t>
                </a:r>
              </a:p>
              <a:p>
                <a:r>
                  <a:rPr lang="en-US" sz="2000" dirty="0"/>
                  <a:t>(††) The Normalized Gate Speed (NGS) (s / (gate </a:t>
                </a:r>
                <a14:m>
                  <m:oMath xmlns:m="http://schemas.openxmlformats.org/officeDocument/2006/math">
                    <m:r>
                      <a:rPr lang="en-US" sz="2000" b="0" i="1" smtClean="0">
                        <a:latin typeface="Cambria Math" panose="02040503050406030204" pitchFamily="18" charset="0"/>
                      </a:rPr>
                      <m:t>×</m:t>
                    </m:r>
                  </m:oMath>
                </a14:m>
                <a:r>
                  <a:rPr lang="en-US" sz="2000" dirty="0"/>
                  <a:t> amplitude)) = Execution time / (#Gates </a:t>
                </a:r>
                <a14:m>
                  <m:oMath xmlns:m="http://schemas.openxmlformats.org/officeDocument/2006/math">
                    <m:r>
                      <a:rPr lang="en-US" sz="2000" i="1">
                        <a:latin typeface="Cambria Math" panose="02040503050406030204" pitchFamily="18" charset="0"/>
                      </a:rPr>
                      <m:t>×</m:t>
                    </m:r>
                  </m:oMath>
                </a14:m>
                <a:r>
                  <a:rPr lang="en-US" sz="2000" dirty="0"/>
                  <a:t> </a:t>
                </a:r>
                <a14:m>
                  <m:oMath xmlns:m="http://schemas.openxmlformats.org/officeDocument/2006/math">
                    <m:sSup>
                      <m:sSupPr>
                        <m:ctrlPr>
                          <a:rPr lang="en-US" sz="2000" i="1" dirty="0" smtClean="0">
                            <a:latin typeface="Cambria Math" panose="02040503050406030204" pitchFamily="18" charset="0"/>
                          </a:rPr>
                        </m:ctrlPr>
                      </m:sSupPr>
                      <m:e>
                        <m:r>
                          <a:rPr lang="en-US" sz="2000" i="1" dirty="0" smtClean="0">
                            <a:latin typeface="Cambria Math" panose="02040503050406030204" pitchFamily="18" charset="0"/>
                          </a:rPr>
                          <m:t>2</m:t>
                        </m:r>
                      </m:e>
                      <m:sup>
                        <m:r>
                          <m:rPr>
                            <m:nor/>
                          </m:rPr>
                          <a:rPr lang="en-US" sz="2000" dirty="0"/>
                          <m:t>#</m:t>
                        </m:r>
                        <m:r>
                          <m:rPr>
                            <m:nor/>
                          </m:rPr>
                          <a:rPr lang="en-US" sz="2000" dirty="0"/>
                          <m:t>Qubits</m:t>
                        </m:r>
                      </m:sup>
                    </m:sSup>
                  </m:oMath>
                </a14:m>
                <a:r>
                  <a:rPr lang="en-US" sz="2000" dirty="0"/>
                  <a:t>), smaller is better.</a:t>
                </a:r>
              </a:p>
            </p:txBody>
          </p:sp>
        </mc:Choice>
        <mc:Fallback xmlns="">
          <p:sp>
            <p:nvSpPr>
              <p:cNvPr id="8" name="TextBox 7">
                <a:extLst>
                  <a:ext uri="{FF2B5EF4-FFF2-40B4-BE49-F238E27FC236}">
                    <a16:creationId xmlns:a16="http://schemas.microsoft.com/office/drawing/2014/main" id="{CAFF7EFB-D79A-C390-7F46-C6B3C70433E2}"/>
                  </a:ext>
                </a:extLst>
              </p:cNvPr>
              <p:cNvSpPr txBox="1">
                <a:spLocks noRot="1" noChangeAspect="1" noMove="1" noResize="1" noEditPoints="1" noAdjustHandles="1" noChangeArrowheads="1" noChangeShapeType="1" noTextEdit="1"/>
              </p:cNvSpPr>
              <p:nvPr/>
            </p:nvSpPr>
            <p:spPr>
              <a:xfrm>
                <a:off x="215757" y="5826036"/>
                <a:ext cx="10854647" cy="1067215"/>
              </a:xfrm>
              <a:prstGeom prst="rect">
                <a:avLst/>
              </a:prstGeom>
              <a:blipFill>
                <a:blip r:embed="rId4"/>
                <a:stretch>
                  <a:fillRect l="-467" t="-2353" b="-10588"/>
                </a:stretch>
              </a:blipFill>
            </p:spPr>
            <p:txBody>
              <a:bodyPr/>
              <a:lstStyle/>
              <a:p>
                <a:r>
                  <a:rPr lang="en-VN">
                    <a:noFill/>
                  </a:rPr>
                  <a:t> </a:t>
                </a:r>
              </a:p>
            </p:txBody>
          </p:sp>
        </mc:Fallback>
      </mc:AlternateContent>
      <p:sp>
        <p:nvSpPr>
          <p:cNvPr id="10" name="TextBox 9">
            <a:extLst>
              <a:ext uri="{FF2B5EF4-FFF2-40B4-BE49-F238E27FC236}">
                <a16:creationId xmlns:a16="http://schemas.microsoft.com/office/drawing/2014/main" id="{A764F7A1-456C-9B09-021A-D006C1553C3A}"/>
              </a:ext>
            </a:extLst>
          </p:cNvPr>
          <p:cNvSpPr txBox="1"/>
          <p:nvPr/>
        </p:nvSpPr>
        <p:spPr>
          <a:xfrm>
            <a:off x="215757" y="828592"/>
            <a:ext cx="11459966" cy="400110"/>
          </a:xfrm>
          <a:prstGeom prst="rect">
            <a:avLst/>
          </a:prstGeom>
          <a:noFill/>
        </p:spPr>
        <p:txBody>
          <a:bodyPr wrap="square">
            <a:spAutoFit/>
          </a:bodyPr>
          <a:lstStyle/>
          <a:p>
            <a:r>
              <a:rPr lang="en-US" sz="2000" b="1" dirty="0">
                <a:solidFill>
                  <a:srgbClr val="FF0000"/>
                </a:solidFill>
              </a:rPr>
              <a:t>Table 2.5</a:t>
            </a:r>
            <a:r>
              <a:rPr lang="en-US" sz="2000" dirty="0"/>
              <a:t>. Comparative analysis of </a:t>
            </a:r>
            <a:r>
              <a:rPr lang="en-US" sz="2000" dirty="0" err="1"/>
              <a:t>FQsun</a:t>
            </a:r>
            <a:r>
              <a:rPr lang="en-US" sz="2000" dirty="0"/>
              <a:t> and existing FPGA-based emulators on QFT’s performance.</a:t>
            </a:r>
          </a:p>
        </p:txBody>
      </p:sp>
      <p:sp>
        <p:nvSpPr>
          <p:cNvPr id="11" name="Title 1">
            <a:extLst>
              <a:ext uri="{FF2B5EF4-FFF2-40B4-BE49-F238E27FC236}">
                <a16:creationId xmlns:a16="http://schemas.microsoft.com/office/drawing/2014/main" id="{BABB5D43-84BB-B155-C85C-1EEB5B943118}"/>
              </a:ext>
            </a:extLst>
          </p:cNvPr>
          <p:cNvSpPr>
            <a:spLocks noGrp="1"/>
          </p:cNvSpPr>
          <p:nvPr>
            <p:ph type="title"/>
          </p:nvPr>
        </p:nvSpPr>
        <p:spPr>
          <a:xfrm>
            <a:off x="215757" y="1"/>
            <a:ext cx="11825555" cy="929810"/>
          </a:xfrm>
        </p:spPr>
        <p:txBody>
          <a:bodyPr>
            <a:normAutofit fontScale="90000"/>
          </a:bodyPr>
          <a:lstStyle/>
          <a:p>
            <a:r>
              <a:rPr lang="en-US" dirty="0"/>
              <a:t>2.4.4. </a:t>
            </a:r>
            <a:r>
              <a:rPr lang="en-US" b="1" dirty="0"/>
              <a:t>Result #4</a:t>
            </a:r>
            <a:r>
              <a:rPr lang="en-US" dirty="0"/>
              <a:t>: comparison between related works</a:t>
            </a:r>
          </a:p>
        </p:txBody>
      </p:sp>
      <p:sp>
        <p:nvSpPr>
          <p:cNvPr id="12" name="Rectangle 11">
            <a:extLst>
              <a:ext uri="{FF2B5EF4-FFF2-40B4-BE49-F238E27FC236}">
                <a16:creationId xmlns:a16="http://schemas.microsoft.com/office/drawing/2014/main" id="{B38EB626-1657-DE36-B5C2-9C1AC42D7075}"/>
              </a:ext>
            </a:extLst>
          </p:cNvPr>
          <p:cNvSpPr/>
          <p:nvPr/>
        </p:nvSpPr>
        <p:spPr>
          <a:xfrm>
            <a:off x="260848" y="3482939"/>
            <a:ext cx="11857713" cy="690938"/>
          </a:xfrm>
          <a:prstGeom prst="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A27603-C980-223A-4508-CF6F0A226803}"/>
              </a:ext>
            </a:extLst>
          </p:cNvPr>
          <p:cNvSpPr/>
          <p:nvPr/>
        </p:nvSpPr>
        <p:spPr>
          <a:xfrm>
            <a:off x="261040" y="2475573"/>
            <a:ext cx="11857713" cy="440104"/>
          </a:xfrm>
          <a:prstGeom prst="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8FABE24-1C05-F086-22B0-1C8532DF033A}"/>
              </a:ext>
            </a:extLst>
          </p:cNvPr>
          <p:cNvSpPr txBox="1"/>
          <p:nvPr/>
        </p:nvSpPr>
        <p:spPr>
          <a:xfrm>
            <a:off x="11070404" y="3464757"/>
            <a:ext cx="1287124" cy="276999"/>
          </a:xfrm>
          <a:prstGeom prst="rect">
            <a:avLst/>
          </a:prstGeom>
          <a:noFill/>
        </p:spPr>
        <p:txBody>
          <a:bodyPr wrap="square" rtlCol="0">
            <a:spAutoFit/>
          </a:bodyPr>
          <a:lstStyle/>
          <a:p>
            <a:r>
              <a:rPr lang="en-US" sz="1200" dirty="0">
                <a:solidFill>
                  <a:srgbClr val="FF0000"/>
                </a:solidFill>
              </a:rPr>
              <a:t>No flexibility</a:t>
            </a:r>
          </a:p>
        </p:txBody>
      </p:sp>
      <p:sp>
        <p:nvSpPr>
          <p:cNvPr id="15" name="TextBox 14">
            <a:extLst>
              <a:ext uri="{FF2B5EF4-FFF2-40B4-BE49-F238E27FC236}">
                <a16:creationId xmlns:a16="http://schemas.microsoft.com/office/drawing/2014/main" id="{B8FFF7D6-58BC-D0C8-E0C4-52A2E1225CC4}"/>
              </a:ext>
            </a:extLst>
          </p:cNvPr>
          <p:cNvSpPr txBox="1"/>
          <p:nvPr/>
        </p:nvSpPr>
        <p:spPr>
          <a:xfrm>
            <a:off x="11070404" y="2241361"/>
            <a:ext cx="1287124" cy="276999"/>
          </a:xfrm>
          <a:prstGeom prst="rect">
            <a:avLst/>
          </a:prstGeom>
          <a:noFill/>
        </p:spPr>
        <p:txBody>
          <a:bodyPr wrap="square" rtlCol="0">
            <a:spAutoFit/>
          </a:bodyPr>
          <a:lstStyle/>
          <a:p>
            <a:r>
              <a:rPr lang="en-US" sz="1200" dirty="0">
                <a:solidFill>
                  <a:srgbClr val="FF0000"/>
                </a:solidFill>
              </a:rPr>
              <a:t>No flexibility</a:t>
            </a:r>
          </a:p>
        </p:txBody>
      </p:sp>
    </p:spTree>
    <p:extLst>
      <p:ext uri="{BB962C8B-B14F-4D97-AF65-F5344CB8AC3E}">
        <p14:creationId xmlns:p14="http://schemas.microsoft.com/office/powerpoint/2010/main" val="84989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279D8-308E-B095-74B5-9B7E93682580}"/>
              </a:ext>
            </a:extLst>
          </p:cNvPr>
          <p:cNvSpPr>
            <a:spLocks noGrp="1"/>
          </p:cNvSpPr>
          <p:nvPr>
            <p:ph type="title"/>
          </p:nvPr>
        </p:nvSpPr>
        <p:spPr>
          <a:xfrm>
            <a:off x="85377" y="47607"/>
            <a:ext cx="6869120" cy="1325563"/>
          </a:xfrm>
        </p:spPr>
        <p:txBody>
          <a:bodyPr>
            <a:normAutofit fontScale="90000"/>
          </a:bodyPr>
          <a:lstStyle/>
          <a:p>
            <a:r>
              <a:rPr lang="en-US" dirty="0"/>
              <a:t>2.5. Analyzing on the parallelization of </a:t>
            </a:r>
            <a:r>
              <a:rPr lang="en-US" dirty="0" err="1"/>
              <a:t>FQsun</a:t>
            </a:r>
            <a:r>
              <a:rPr lang="en-US" dirty="0"/>
              <a:t> (WFQE)</a:t>
            </a:r>
          </a:p>
        </p:txBody>
      </p:sp>
      <p:pic>
        <p:nvPicPr>
          <p:cNvPr id="6" name="Content Placeholder 5">
            <a:extLst>
              <a:ext uri="{FF2B5EF4-FFF2-40B4-BE49-F238E27FC236}">
                <a16:creationId xmlns:a16="http://schemas.microsoft.com/office/drawing/2014/main" id="{23964344-49FB-A321-FCDD-262AC3F4AFE1}"/>
              </a:ext>
            </a:extLst>
          </p:cNvPr>
          <p:cNvPicPr>
            <a:picLocks noGrp="1" noChangeAspect="1"/>
          </p:cNvPicPr>
          <p:nvPr>
            <p:ph idx="1"/>
          </p:nvPr>
        </p:nvPicPr>
        <p:blipFill>
          <a:blip r:embed="rId3"/>
          <a:srcRect b="6664"/>
          <a:stretch/>
        </p:blipFill>
        <p:spPr>
          <a:xfrm>
            <a:off x="85377" y="1738295"/>
            <a:ext cx="6309272" cy="3624815"/>
          </a:xfrm>
        </p:spPr>
      </p:pic>
      <p:sp>
        <p:nvSpPr>
          <p:cNvPr id="4" name="Slide Number Placeholder 3">
            <a:extLst>
              <a:ext uri="{FF2B5EF4-FFF2-40B4-BE49-F238E27FC236}">
                <a16:creationId xmlns:a16="http://schemas.microsoft.com/office/drawing/2014/main" id="{7AEE2272-69C9-42BC-D7ED-663FD536A643}"/>
              </a:ext>
            </a:extLst>
          </p:cNvPr>
          <p:cNvSpPr>
            <a:spLocks noGrp="1"/>
          </p:cNvSpPr>
          <p:nvPr>
            <p:ph type="sldNum" sz="quarter" idx="12"/>
          </p:nvPr>
        </p:nvSpPr>
        <p:spPr/>
        <p:txBody>
          <a:bodyPr/>
          <a:lstStyle/>
          <a:p>
            <a:fld id="{3C0C221A-CB66-4297-9A52-937C35126D0C}" type="slidenum">
              <a:rPr lang="en-US" smtClean="0"/>
              <a:t>19</a:t>
            </a:fld>
            <a:endParaRPr lang="en-US"/>
          </a:p>
        </p:txBody>
      </p:sp>
      <p:pic>
        <p:nvPicPr>
          <p:cNvPr id="8" name="Picture 7">
            <a:extLst>
              <a:ext uri="{FF2B5EF4-FFF2-40B4-BE49-F238E27FC236}">
                <a16:creationId xmlns:a16="http://schemas.microsoft.com/office/drawing/2014/main" id="{57EDB64E-6A3F-BFBA-5EB2-8BC5EBC528CC}"/>
              </a:ext>
            </a:extLst>
          </p:cNvPr>
          <p:cNvPicPr>
            <a:picLocks noChangeAspect="1"/>
          </p:cNvPicPr>
          <p:nvPr/>
        </p:nvPicPr>
        <p:blipFill>
          <a:blip r:embed="rId4"/>
          <a:stretch>
            <a:fillRect/>
          </a:stretch>
        </p:blipFill>
        <p:spPr>
          <a:xfrm>
            <a:off x="6430291" y="1373568"/>
            <a:ext cx="5676332" cy="3958597"/>
          </a:xfrm>
          <a:prstGeom prst="rect">
            <a:avLst/>
          </a:prstGeom>
        </p:spPr>
      </p:pic>
      <p:sp>
        <p:nvSpPr>
          <p:cNvPr id="9" name="Content Placeholder 6">
            <a:extLst>
              <a:ext uri="{FF2B5EF4-FFF2-40B4-BE49-F238E27FC236}">
                <a16:creationId xmlns:a16="http://schemas.microsoft.com/office/drawing/2014/main" id="{8FB9CB9A-13E4-C765-1730-0B95FF689720}"/>
              </a:ext>
            </a:extLst>
          </p:cNvPr>
          <p:cNvSpPr txBox="1">
            <a:spLocks/>
          </p:cNvSpPr>
          <p:nvPr/>
        </p:nvSpPr>
        <p:spPr>
          <a:xfrm>
            <a:off x="85377" y="5410718"/>
            <a:ext cx="6309272" cy="9456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FF0000"/>
                </a:solidFill>
              </a:rPr>
              <a:t>Figure 2.13.</a:t>
            </a:r>
            <a:r>
              <a:rPr lang="en-US" sz="2000" dirty="0"/>
              <a:t> The architecture of multi-QGEU (extended QGU) and multi-PMC (Ping-pong memory cluster) at the system-on-chip (Soc) level on FPGA. </a:t>
            </a:r>
          </a:p>
        </p:txBody>
      </p:sp>
      <p:sp>
        <p:nvSpPr>
          <p:cNvPr id="10" name="Content Placeholder 6">
            <a:extLst>
              <a:ext uri="{FF2B5EF4-FFF2-40B4-BE49-F238E27FC236}">
                <a16:creationId xmlns:a16="http://schemas.microsoft.com/office/drawing/2014/main" id="{4463F75B-4CD6-A43C-C530-BDC5D5477C47}"/>
              </a:ext>
            </a:extLst>
          </p:cNvPr>
          <p:cNvSpPr txBox="1">
            <a:spLocks/>
          </p:cNvSpPr>
          <p:nvPr/>
        </p:nvSpPr>
        <p:spPr>
          <a:xfrm>
            <a:off x="6394649" y="5410718"/>
            <a:ext cx="5676332" cy="9456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FF0000"/>
                </a:solidFill>
              </a:rPr>
              <a:t>Figure 2.14.</a:t>
            </a:r>
            <a:r>
              <a:rPr lang="en-US" sz="2000" dirty="0"/>
              <a:t> A 4-qubit state-vector is being processed by four QGEU and four PMC.</a:t>
            </a:r>
          </a:p>
        </p:txBody>
      </p:sp>
      <p:sp>
        <p:nvSpPr>
          <p:cNvPr id="11" name="Rectangle 10">
            <a:extLst>
              <a:ext uri="{FF2B5EF4-FFF2-40B4-BE49-F238E27FC236}">
                <a16:creationId xmlns:a16="http://schemas.microsoft.com/office/drawing/2014/main" id="{9B10CA34-CC8C-3E17-72E4-FD3AEEE699E8}"/>
              </a:ext>
            </a:extLst>
          </p:cNvPr>
          <p:cNvSpPr/>
          <p:nvPr/>
        </p:nvSpPr>
        <p:spPr>
          <a:xfrm>
            <a:off x="6430291" y="1373568"/>
            <a:ext cx="1557866" cy="999762"/>
          </a:xfrm>
          <a:prstGeom prst="rect">
            <a:avLst/>
          </a:prstGeom>
          <a:noFill/>
          <a:ln>
            <a:solidFill>
              <a:srgbClr val="ED18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6">
            <a:extLst>
              <a:ext uri="{FF2B5EF4-FFF2-40B4-BE49-F238E27FC236}">
                <a16:creationId xmlns:a16="http://schemas.microsoft.com/office/drawing/2014/main" id="{F0B0BFC6-2D19-5F05-5458-7E7708611E56}"/>
              </a:ext>
            </a:extLst>
          </p:cNvPr>
          <p:cNvSpPr txBox="1">
            <a:spLocks/>
          </p:cNvSpPr>
          <p:nvPr/>
        </p:nvSpPr>
        <p:spPr>
          <a:xfrm>
            <a:off x="7797070" y="365125"/>
            <a:ext cx="2605514" cy="6502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rgbClr val="FF0000"/>
                </a:solidFill>
              </a:rPr>
              <a:t>Each PMC/QGEU has two ports in and out</a:t>
            </a:r>
          </a:p>
        </p:txBody>
      </p:sp>
      <p:cxnSp>
        <p:nvCxnSpPr>
          <p:cNvPr id="14" name="Connector: Elbow 13">
            <a:extLst>
              <a:ext uri="{FF2B5EF4-FFF2-40B4-BE49-F238E27FC236}">
                <a16:creationId xmlns:a16="http://schemas.microsoft.com/office/drawing/2014/main" id="{685333BF-46C3-B02F-BD40-12CBEA529489}"/>
              </a:ext>
            </a:extLst>
          </p:cNvPr>
          <p:cNvCxnSpPr>
            <a:cxnSpLocks/>
            <a:stCxn id="11" idx="0"/>
            <a:endCxn id="12" idx="2"/>
          </p:cNvCxnSpPr>
          <p:nvPr/>
        </p:nvCxnSpPr>
        <p:spPr>
          <a:xfrm rot="5400000" flipH="1" flipV="1">
            <a:off x="7975422" y="249164"/>
            <a:ext cx="358206" cy="1890603"/>
          </a:xfrm>
          <a:prstGeom prst="bentConnector3">
            <a:avLst>
              <a:gd name="adj1" fmla="val 50000"/>
            </a:avLst>
          </a:prstGeom>
          <a:ln>
            <a:solidFill>
              <a:srgbClr val="ED1823"/>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0234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04ADC-8A73-1DAB-6FAA-E61D3E291DD8}"/>
              </a:ext>
            </a:extLst>
          </p:cNvPr>
          <p:cNvSpPr>
            <a:spLocks noGrp="1"/>
          </p:cNvSpPr>
          <p:nvPr>
            <p:ph type="title"/>
          </p:nvPr>
        </p:nvSpPr>
        <p:spPr>
          <a:xfrm>
            <a:off x="116667" y="0"/>
            <a:ext cx="6988702" cy="1263720"/>
          </a:xfrm>
        </p:spPr>
        <p:txBody>
          <a:bodyPr>
            <a:normAutofit/>
          </a:bodyPr>
          <a:lstStyle/>
          <a:p>
            <a:r>
              <a:rPr lang="en-US" sz="3200" dirty="0"/>
              <a:t>2.5. Analyzing on the parallelization of </a:t>
            </a:r>
            <a:r>
              <a:rPr lang="en-US" sz="3200" dirty="0" err="1"/>
              <a:t>FQsun</a:t>
            </a:r>
            <a:r>
              <a:rPr lang="en-US" sz="3200" dirty="0"/>
              <a:t> (WFQE)</a:t>
            </a:r>
          </a:p>
        </p:txBody>
      </p:sp>
      <p:sp>
        <p:nvSpPr>
          <p:cNvPr id="4" name="Slide Number Placeholder 3">
            <a:extLst>
              <a:ext uri="{FF2B5EF4-FFF2-40B4-BE49-F238E27FC236}">
                <a16:creationId xmlns:a16="http://schemas.microsoft.com/office/drawing/2014/main" id="{72F26DAA-663B-3079-65A8-3EC5ACA5658C}"/>
              </a:ext>
            </a:extLst>
          </p:cNvPr>
          <p:cNvSpPr>
            <a:spLocks noGrp="1"/>
          </p:cNvSpPr>
          <p:nvPr>
            <p:ph type="sldNum" sz="quarter" idx="12"/>
          </p:nvPr>
        </p:nvSpPr>
        <p:spPr>
          <a:xfrm>
            <a:off x="8610599" y="6356350"/>
            <a:ext cx="3035157" cy="365125"/>
          </a:xfrm>
        </p:spPr>
        <p:txBody>
          <a:bodyPr/>
          <a:lstStyle/>
          <a:p>
            <a:fld id="{3C0C221A-CB66-4297-9A52-937C35126D0C}" type="slidenum">
              <a:rPr lang="en-US" smtClean="0"/>
              <a:t>20</a:t>
            </a:fld>
            <a:endParaRPr lang="en-US"/>
          </a:p>
        </p:txBody>
      </p:sp>
      <p:pic>
        <p:nvPicPr>
          <p:cNvPr id="6" name="Picture 5">
            <a:extLst>
              <a:ext uri="{FF2B5EF4-FFF2-40B4-BE49-F238E27FC236}">
                <a16:creationId xmlns:a16="http://schemas.microsoft.com/office/drawing/2014/main" id="{1FC389B5-30CE-BFCD-BD12-EB0C0FEC0BFC}"/>
              </a:ext>
            </a:extLst>
          </p:cNvPr>
          <p:cNvPicPr>
            <a:picLocks noChangeAspect="1"/>
          </p:cNvPicPr>
          <p:nvPr/>
        </p:nvPicPr>
        <p:blipFill>
          <a:blip r:embed="rId3"/>
          <a:stretch>
            <a:fillRect/>
          </a:stretch>
        </p:blipFill>
        <p:spPr>
          <a:xfrm>
            <a:off x="127954" y="1034693"/>
            <a:ext cx="6420768" cy="4080227"/>
          </a:xfrm>
          <a:prstGeom prst="rect">
            <a:avLst/>
          </a:prstGeom>
        </p:spPr>
      </p:pic>
      <p:sp>
        <p:nvSpPr>
          <p:cNvPr id="8" name="TextBox 7">
            <a:extLst>
              <a:ext uri="{FF2B5EF4-FFF2-40B4-BE49-F238E27FC236}">
                <a16:creationId xmlns:a16="http://schemas.microsoft.com/office/drawing/2014/main" id="{F7D95609-048F-FBC6-5C6E-FEAB2CA33F00}"/>
              </a:ext>
            </a:extLst>
          </p:cNvPr>
          <p:cNvSpPr txBox="1"/>
          <p:nvPr/>
        </p:nvSpPr>
        <p:spPr>
          <a:xfrm>
            <a:off x="116667" y="5161154"/>
            <a:ext cx="6420768" cy="1200329"/>
          </a:xfrm>
          <a:prstGeom prst="rect">
            <a:avLst/>
          </a:prstGeom>
          <a:noFill/>
        </p:spPr>
        <p:txBody>
          <a:bodyPr wrap="square">
            <a:spAutoFit/>
          </a:bodyPr>
          <a:lstStyle/>
          <a:p>
            <a:pPr algn="just"/>
            <a:r>
              <a:rPr lang="en-US" sz="1800" b="1" dirty="0">
                <a:solidFill>
                  <a:srgbClr val="FF0000"/>
                </a:solidFill>
              </a:rPr>
              <a:t>Figure 2.15. </a:t>
            </a:r>
            <a:r>
              <a:rPr lang="en-US" dirty="0"/>
              <a:t>Throughput comparison with various QGEU configurations. The DMA transfer becomes a bottleneck at Qubit = 17 (BRAM limit), where all configurations are limited to the same throughput as a single Extended QGU (QGEU). </a:t>
            </a:r>
          </a:p>
        </p:txBody>
      </p:sp>
      <p:pic>
        <p:nvPicPr>
          <p:cNvPr id="12" name="Picture 11">
            <a:extLst>
              <a:ext uri="{FF2B5EF4-FFF2-40B4-BE49-F238E27FC236}">
                <a16:creationId xmlns:a16="http://schemas.microsoft.com/office/drawing/2014/main" id="{D9E68E07-A99B-AF75-AEB4-1DCBE5504B56}"/>
              </a:ext>
            </a:extLst>
          </p:cNvPr>
          <p:cNvPicPr>
            <a:picLocks noChangeAspect="1"/>
          </p:cNvPicPr>
          <p:nvPr/>
        </p:nvPicPr>
        <p:blipFill>
          <a:blip r:embed="rId4"/>
          <a:srcRect t="7240"/>
          <a:stretch/>
        </p:blipFill>
        <p:spPr>
          <a:xfrm>
            <a:off x="6537434" y="388294"/>
            <a:ext cx="5230588" cy="4684929"/>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5E9D26F-7159-0328-1E72-E2C231461450}"/>
                  </a:ext>
                </a:extLst>
              </p:cNvPr>
              <p:cNvSpPr txBox="1"/>
              <p:nvPr/>
            </p:nvSpPr>
            <p:spPr>
              <a:xfrm>
                <a:off x="6537435" y="5083497"/>
                <a:ext cx="5536412" cy="1506887"/>
              </a:xfrm>
              <a:prstGeom prst="rect">
                <a:avLst/>
              </a:prstGeom>
              <a:noFill/>
            </p:spPr>
            <p:txBody>
              <a:bodyPr wrap="square">
                <a:spAutoFit/>
              </a:bodyPr>
              <a:lstStyle/>
              <a:p>
                <a:pPr algn="just"/>
                <a:r>
                  <a:rPr lang="en-US" b="1" dirty="0">
                    <a:solidFill>
                      <a:srgbClr val="FF0000"/>
                    </a:solidFill>
                  </a:rPr>
                  <a:t>Figure 2.16. </a:t>
                </a:r>
                <a:r>
                  <a:rPr lang="en-US" dirty="0"/>
                  <a:t>New timing chart with the notation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𝑘</m:t>
                        </m:r>
                      </m:sub>
                      <m:sup>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up>
                    </m:sSubSup>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𝛼</m:t>
                            </m:r>
                          </m:e>
                          <m:sub>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−1</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𝑏</m:t>
                                </m:r>
                              </m:sub>
                            </m:sSub>
                          </m:sub>
                          <m:sup>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𝛼</m:t>
                            </m:r>
                          </m:e>
                          <m:sub>
                            <m:d>
                              <m:dPr>
                                <m:ctrlPr>
                                  <a:rPr lang="en-US" i="1">
                                    <a:latin typeface="Cambria Math" panose="02040503050406030204" pitchFamily="18" charset="0"/>
                                  </a:rPr>
                                </m:ctrlPr>
                              </m:dPr>
                              <m:e>
                                <m:r>
                                  <a:rPr lang="en-US" i="1">
                                    <a:latin typeface="Cambria Math" panose="02040503050406030204" pitchFamily="18" charset="0"/>
                                  </a:rPr>
                                  <m:t>𝑘</m:t>
                                </m:r>
                                <m:r>
                                  <a:rPr lang="en-US" i="1">
                                    <a:latin typeface="Cambria Math" panose="02040503050406030204" pitchFamily="18" charset="0"/>
                                  </a:rPr>
                                  <m:t>−1</m:t>
                                </m:r>
                              </m:e>
                            </m:d>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𝑏</m:t>
                                </m:r>
                              </m:sub>
                            </m:sSub>
                            <m:r>
                              <a:rPr lang="en-US" b="0" i="1" smtClean="0">
                                <a:latin typeface="Cambria Math" panose="02040503050406030204" pitchFamily="18" charset="0"/>
                              </a:rPr>
                              <m:t>+1</m:t>
                            </m:r>
                          </m:sub>
                          <m:sup>
                            <m:d>
                              <m:dPr>
                                <m:ctrlPr>
                                  <a:rPr lang="en-US" i="1">
                                    <a:latin typeface="Cambria Math" panose="02040503050406030204" pitchFamily="18" charset="0"/>
                                  </a:rPr>
                                </m:ctrlPr>
                              </m:dPr>
                              <m:e>
                                <m:r>
                                  <a:rPr lang="en-US" i="1">
                                    <a:latin typeface="Cambria Math" panose="02040503050406030204" pitchFamily="18" charset="0"/>
                                  </a:rPr>
                                  <m:t>𝑡</m:t>
                                </m:r>
                              </m:e>
                            </m:d>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𝛼</m:t>
                            </m:r>
                          </m:e>
                          <m:sub>
                            <m:r>
                              <a:rPr lang="en-US" b="0" i="1" smtClean="0">
                                <a:latin typeface="Cambria Math" panose="02040503050406030204" pitchFamily="18" charset="0"/>
                              </a:rPr>
                              <m:t>𝑘</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𝑏</m:t>
                                </m:r>
                              </m:sub>
                            </m:sSub>
                          </m:sub>
                          <m:sup>
                            <m:d>
                              <m:dPr>
                                <m:ctrlPr>
                                  <a:rPr lang="en-US" i="1">
                                    <a:latin typeface="Cambria Math" panose="02040503050406030204" pitchFamily="18" charset="0"/>
                                  </a:rPr>
                                </m:ctrlPr>
                              </m:dPr>
                              <m:e>
                                <m:r>
                                  <a:rPr lang="en-US" i="1">
                                    <a:latin typeface="Cambria Math" panose="02040503050406030204" pitchFamily="18" charset="0"/>
                                  </a:rPr>
                                  <m:t>𝑡</m:t>
                                </m:r>
                              </m:e>
                            </m:d>
                          </m:sup>
                        </m:sSubSup>
                      </m:e>
                    </m:d>
                  </m:oMath>
                </a14:m>
                <a:r>
                  <a:rPr lang="en-US" dirty="0"/>
                  <a:t> is the amplitude from block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 to </a:t>
                </a:r>
                <a14:m>
                  <m:oMath xmlns:m="http://schemas.openxmlformats.org/officeDocument/2006/math">
                    <m:r>
                      <a:rPr lang="en-US" b="0" i="1" smtClean="0">
                        <a:latin typeface="Cambria Math" panose="02040503050406030204" pitchFamily="18" charset="0"/>
                      </a:rPr>
                      <m:t>𝑘</m:t>
                    </m:r>
                  </m:oMath>
                </a14:m>
                <a:r>
                  <a:rPr lang="en-US" dirty="0"/>
                  <a:t>. </a:t>
                </a:r>
                <a14:m>
                  <m:oMath xmlns:m="http://schemas.openxmlformats.org/officeDocument/2006/math">
                    <m:sSubSup>
                      <m:sSubSupPr>
                        <m:ctrlPr>
                          <a:rPr lang="en-US" b="0" i="1" smtClean="0">
                            <a:latin typeface="Cambria Math" panose="02040503050406030204" pitchFamily="18" charset="0"/>
                            <a:ea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𝔸</m:t>
                        </m:r>
                      </m:e>
                      <m:sub>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sub>
                      <m: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sup>
                    </m:sSubSup>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b="0" i="1" smtClean="0">
                                <a:latin typeface="Cambria Math" panose="02040503050406030204" pitchFamily="18" charset="0"/>
                              </a:rPr>
                              <m:t>1+</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𝑘</m:t>
                                        </m:r>
                                      </m:e>
                                      <m:sup>
                                        <m:r>
                                          <a:rPr lang="en-US" b="0" i="1" smtClean="0">
                                            <a:latin typeface="Cambria Math" panose="02040503050406030204" pitchFamily="18" charset="0"/>
                                          </a:rPr>
                                          <m:t>′</m:t>
                                        </m:r>
                                      </m:sup>
                                    </m:sSup>
                                    <m:r>
                                      <a:rPr lang="en-US" b="0" i="1" smtClean="0">
                                        <a:latin typeface="Cambria Math" panose="02040503050406030204" pitchFamily="18" charset="0"/>
                                      </a:rPr>
                                      <m:t>−1</m:t>
                                    </m:r>
                                  </m:e>
                                </m:d>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m:t>
                                        </m:r>
                                      </m:sup>
                                    </m:sSup>
                                  </m:sup>
                                </m:sSup>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𝑏</m:t>
                                    </m:r>
                                  </m:sub>
                                </m:sSub>
                              </m:den>
                            </m:f>
                          </m:sub>
                          <m:sup>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𝐴</m:t>
                            </m:r>
                          </m:e>
                          <m:sub>
                            <m:f>
                              <m:fPr>
                                <m:ctrlPr>
                                  <a:rPr lang="en-US" i="1">
                                    <a:latin typeface="Cambria Math" panose="02040503050406030204" pitchFamily="18" charset="0"/>
                                  </a:rPr>
                                </m:ctrlPr>
                              </m:fPr>
                              <m:num>
                                <m:r>
                                  <a:rPr lang="en-US" b="0" i="1" smtClean="0">
                                    <a:latin typeface="Cambria Math" panose="02040503050406030204" pitchFamily="18" charset="0"/>
                                  </a:rPr>
                                  <m:t>𝑘</m:t>
                                </m:r>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2</m:t>
                                    </m:r>
                                  </m:e>
                                  <m:sup>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i="1">
                                            <a:latin typeface="Cambria Math" panose="02040503050406030204" pitchFamily="18" charset="0"/>
                                          </a:rPr>
                                          <m:t>′</m:t>
                                        </m:r>
                                      </m:sup>
                                    </m:sSup>
                                  </m:sup>
                                </m:sSup>
                              </m:num>
                              <m:den>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𝑏</m:t>
                                    </m:r>
                                  </m:sub>
                                </m:sSub>
                              </m:den>
                            </m:f>
                          </m:sub>
                          <m:sup>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sup>
                        </m:sSubSup>
                      </m:e>
                    </m:d>
                  </m:oMath>
                </a14:m>
                <a:endParaRPr lang="en-US" dirty="0"/>
              </a:p>
            </p:txBody>
          </p:sp>
        </mc:Choice>
        <mc:Fallback xmlns="">
          <p:sp>
            <p:nvSpPr>
              <p:cNvPr id="15" name="TextBox 14">
                <a:extLst>
                  <a:ext uri="{FF2B5EF4-FFF2-40B4-BE49-F238E27FC236}">
                    <a16:creationId xmlns:a16="http://schemas.microsoft.com/office/drawing/2014/main" id="{15E9D26F-7159-0328-1E72-E2C231461450}"/>
                  </a:ext>
                </a:extLst>
              </p:cNvPr>
              <p:cNvSpPr txBox="1">
                <a:spLocks noRot="1" noChangeAspect="1" noMove="1" noResize="1" noEditPoints="1" noAdjustHandles="1" noChangeArrowheads="1" noChangeShapeType="1" noTextEdit="1"/>
              </p:cNvSpPr>
              <p:nvPr/>
            </p:nvSpPr>
            <p:spPr>
              <a:xfrm>
                <a:off x="6537435" y="5083497"/>
                <a:ext cx="5536412" cy="1506887"/>
              </a:xfrm>
              <a:prstGeom prst="rect">
                <a:avLst/>
              </a:prstGeom>
              <a:blipFill>
                <a:blip r:embed="rId5"/>
                <a:stretch>
                  <a:fillRect l="-880" r="-880"/>
                </a:stretch>
              </a:blipFill>
            </p:spPr>
            <p:txBody>
              <a:bodyPr/>
              <a:lstStyle/>
              <a:p>
                <a:r>
                  <a:rPr lang="en-US">
                    <a:noFill/>
                  </a:rPr>
                  <a:t> </a:t>
                </a:r>
              </a:p>
            </p:txBody>
          </p:sp>
        </mc:Fallback>
      </mc:AlternateContent>
      <p:pic>
        <p:nvPicPr>
          <p:cNvPr id="16" name="Picture 15">
            <a:extLst>
              <a:ext uri="{FF2B5EF4-FFF2-40B4-BE49-F238E27FC236}">
                <a16:creationId xmlns:a16="http://schemas.microsoft.com/office/drawing/2014/main" id="{7DB3DCAC-52F9-EE8B-C2E5-F8C5DC9A2A0E}"/>
              </a:ext>
            </a:extLst>
          </p:cNvPr>
          <p:cNvPicPr>
            <a:picLocks noChangeAspect="1"/>
          </p:cNvPicPr>
          <p:nvPr/>
        </p:nvPicPr>
        <p:blipFill>
          <a:blip r:embed="rId4"/>
          <a:srcRect b="92294"/>
          <a:stretch/>
        </p:blipFill>
        <p:spPr>
          <a:xfrm rot="5400000">
            <a:off x="9478498" y="2457267"/>
            <a:ext cx="4947177" cy="368128"/>
          </a:xfrm>
          <a:prstGeom prst="rect">
            <a:avLst/>
          </a:prstGeom>
        </p:spPr>
      </p:pic>
      <p:sp>
        <p:nvSpPr>
          <p:cNvPr id="3" name="Rectangle 2">
            <a:extLst>
              <a:ext uri="{FF2B5EF4-FFF2-40B4-BE49-F238E27FC236}">
                <a16:creationId xmlns:a16="http://schemas.microsoft.com/office/drawing/2014/main" id="{4BFBA170-634F-880D-7985-18D0FB3CA1B2}"/>
              </a:ext>
            </a:extLst>
          </p:cNvPr>
          <p:cNvSpPr/>
          <p:nvPr/>
        </p:nvSpPr>
        <p:spPr>
          <a:xfrm>
            <a:off x="8239874" y="388294"/>
            <a:ext cx="652409" cy="4497068"/>
          </a:xfrm>
          <a:prstGeom prst="rect">
            <a:avLst/>
          </a:prstGeom>
          <a:noFill/>
          <a:ln>
            <a:solidFill>
              <a:srgbClr val="ED18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Content Placeholder 6">
                <a:extLst>
                  <a:ext uri="{FF2B5EF4-FFF2-40B4-BE49-F238E27FC236}">
                    <a16:creationId xmlns:a16="http://schemas.microsoft.com/office/drawing/2014/main" id="{4D282699-A088-F12A-B8F3-F4383379E76F}"/>
                  </a:ext>
                </a:extLst>
              </p:cNvPr>
              <p:cNvSpPr txBox="1">
                <a:spLocks/>
              </p:cNvSpPr>
              <p:nvPr/>
            </p:nvSpPr>
            <p:spPr>
              <a:xfrm>
                <a:off x="9457362" y="21478"/>
                <a:ext cx="2820256" cy="650237"/>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rgbClr val="FF0000"/>
                    </a:solidFill>
                  </a:rPr>
                  <a:t>Multi-PMC/QGEU process </a:t>
                </a:r>
                <a14:m>
                  <m:oMath xmlns:m="http://schemas.openxmlformats.org/officeDocument/2006/math">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𝜓</m:t>
                    </m:r>
                    <m:r>
                      <a:rPr lang="en-US" sz="2000" b="0" i="1" smtClean="0">
                        <a:solidFill>
                          <a:srgbClr val="FF0000"/>
                        </a:solidFill>
                        <a:latin typeface="Cambria Math" panose="02040503050406030204" pitchFamily="18" charset="0"/>
                      </a:rPr>
                      <m:t>⟩</m:t>
                    </m:r>
                  </m:oMath>
                </a14:m>
                <a:r>
                  <a:rPr lang="en-US" sz="2000" dirty="0">
                    <a:solidFill>
                      <a:srgbClr val="FF0000"/>
                    </a:solidFill>
                  </a:rPr>
                  <a:t> at the same time!</a:t>
                </a:r>
              </a:p>
            </p:txBody>
          </p:sp>
        </mc:Choice>
        <mc:Fallback xmlns="">
          <p:sp>
            <p:nvSpPr>
              <p:cNvPr id="5" name="Content Placeholder 6">
                <a:extLst>
                  <a:ext uri="{FF2B5EF4-FFF2-40B4-BE49-F238E27FC236}">
                    <a16:creationId xmlns:a16="http://schemas.microsoft.com/office/drawing/2014/main" id="{4D282699-A088-F12A-B8F3-F4383379E76F}"/>
                  </a:ext>
                </a:extLst>
              </p:cNvPr>
              <p:cNvSpPr txBox="1">
                <a:spLocks noRot="1" noChangeAspect="1" noMove="1" noResize="1" noEditPoints="1" noAdjustHandles="1" noChangeArrowheads="1" noChangeShapeType="1" noTextEdit="1"/>
              </p:cNvSpPr>
              <p:nvPr/>
            </p:nvSpPr>
            <p:spPr>
              <a:xfrm>
                <a:off x="9457362" y="21478"/>
                <a:ext cx="2820256" cy="650237"/>
              </a:xfrm>
              <a:prstGeom prst="rect">
                <a:avLst/>
              </a:prstGeom>
              <a:blipFill>
                <a:blip r:embed="rId6"/>
                <a:stretch>
                  <a:fillRect l="-1296" t="-9434"/>
                </a:stretch>
              </a:blipFill>
            </p:spPr>
            <p:txBody>
              <a:bodyPr/>
              <a:lstStyle/>
              <a:p>
                <a:r>
                  <a:rPr lang="en-US">
                    <a:noFill/>
                  </a:rPr>
                  <a:t> </a:t>
                </a:r>
              </a:p>
            </p:txBody>
          </p:sp>
        </mc:Fallback>
      </mc:AlternateContent>
      <p:cxnSp>
        <p:nvCxnSpPr>
          <p:cNvPr id="7" name="Connector: Elbow 6">
            <a:extLst>
              <a:ext uri="{FF2B5EF4-FFF2-40B4-BE49-F238E27FC236}">
                <a16:creationId xmlns:a16="http://schemas.microsoft.com/office/drawing/2014/main" id="{0E6975D8-D675-2FC6-144E-2305697A342E}"/>
              </a:ext>
            </a:extLst>
          </p:cNvPr>
          <p:cNvCxnSpPr>
            <a:cxnSpLocks/>
            <a:stCxn id="3" idx="0"/>
            <a:endCxn id="5" idx="1"/>
          </p:cNvCxnSpPr>
          <p:nvPr/>
        </p:nvCxnSpPr>
        <p:spPr>
          <a:xfrm rot="5400000" flipH="1" flipV="1">
            <a:off x="8990872" y="-78195"/>
            <a:ext cx="41697" cy="891283"/>
          </a:xfrm>
          <a:prstGeom prst="bentConnector2">
            <a:avLst/>
          </a:prstGeom>
          <a:ln>
            <a:solidFill>
              <a:srgbClr val="ED1823"/>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3017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7EA7D-0AE2-8257-9E38-3E8E992BA9F5}"/>
              </a:ext>
            </a:extLst>
          </p:cNvPr>
          <p:cNvSpPr>
            <a:spLocks noGrp="1"/>
          </p:cNvSpPr>
          <p:nvPr>
            <p:ph type="title"/>
          </p:nvPr>
        </p:nvSpPr>
        <p:spPr/>
        <p:txBody>
          <a:bodyPr/>
          <a:lstStyle/>
          <a:p>
            <a:r>
              <a:rPr lang="en-US"/>
              <a:t>3. Quantum simulation theory</a:t>
            </a:r>
            <a:endParaRPr lang="vi-VN"/>
          </a:p>
        </p:txBody>
      </p:sp>
      <p:sp>
        <p:nvSpPr>
          <p:cNvPr id="3" name="Content Placeholder 2">
            <a:extLst>
              <a:ext uri="{FF2B5EF4-FFF2-40B4-BE49-F238E27FC236}">
                <a16:creationId xmlns:a16="http://schemas.microsoft.com/office/drawing/2014/main" id="{78264564-38A8-EACE-125B-10C97D15A224}"/>
              </a:ext>
            </a:extLst>
          </p:cNvPr>
          <p:cNvSpPr>
            <a:spLocks noGrp="1"/>
          </p:cNvSpPr>
          <p:nvPr>
            <p:ph idx="1"/>
          </p:nvPr>
        </p:nvSpPr>
        <p:spPr/>
        <p:txBody>
          <a:bodyPr/>
          <a:lstStyle/>
          <a:p>
            <a:pPr marL="0" indent="0">
              <a:buNone/>
            </a:pPr>
            <a:r>
              <a:rPr lang="en-US"/>
              <a:t>3.1. State vector</a:t>
            </a:r>
          </a:p>
          <a:p>
            <a:pPr marL="0" indent="0">
              <a:buNone/>
            </a:pPr>
            <a:r>
              <a:rPr lang="en-US"/>
              <a:t>3.2. Stabilizer formalism</a:t>
            </a:r>
          </a:p>
          <a:p>
            <a:pPr marL="0" indent="0">
              <a:buNone/>
            </a:pPr>
            <a:r>
              <a:rPr lang="en-US"/>
              <a:t>3.3. Tensor network (Matrix product state)</a:t>
            </a:r>
            <a:endParaRPr lang="vi-VN"/>
          </a:p>
        </p:txBody>
      </p:sp>
      <p:sp>
        <p:nvSpPr>
          <p:cNvPr id="4" name="Slide Number Placeholder 3">
            <a:extLst>
              <a:ext uri="{FF2B5EF4-FFF2-40B4-BE49-F238E27FC236}">
                <a16:creationId xmlns:a16="http://schemas.microsoft.com/office/drawing/2014/main" id="{C6BE4432-65D6-7074-B1DD-79B45DE45889}"/>
              </a:ext>
            </a:extLst>
          </p:cNvPr>
          <p:cNvSpPr>
            <a:spLocks noGrp="1"/>
          </p:cNvSpPr>
          <p:nvPr>
            <p:ph type="sldNum" sz="quarter" idx="12"/>
          </p:nvPr>
        </p:nvSpPr>
        <p:spPr/>
        <p:txBody>
          <a:bodyPr/>
          <a:lstStyle/>
          <a:p>
            <a:fld id="{6A45828D-F580-42DE-B77E-860980F07F32}" type="slidenum">
              <a:rPr lang="vi-VN" smtClean="0"/>
              <a:t>21</a:t>
            </a:fld>
            <a:endParaRPr lang="vi-VN"/>
          </a:p>
        </p:txBody>
      </p:sp>
    </p:spTree>
    <p:extLst>
      <p:ext uri="{BB962C8B-B14F-4D97-AF65-F5344CB8AC3E}">
        <p14:creationId xmlns:p14="http://schemas.microsoft.com/office/powerpoint/2010/main" val="3942373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01967-6DAB-FCF8-45CF-36F4C1E6C286}"/>
              </a:ext>
            </a:extLst>
          </p:cNvPr>
          <p:cNvSpPr>
            <a:spLocks noGrp="1"/>
          </p:cNvSpPr>
          <p:nvPr>
            <p:ph type="title"/>
          </p:nvPr>
        </p:nvSpPr>
        <p:spPr/>
        <p:txBody>
          <a:bodyPr>
            <a:normAutofit/>
          </a:bodyPr>
          <a:lstStyle/>
          <a:p>
            <a:r>
              <a:rPr lang="en-US"/>
              <a:t>3.1. Quantum simulation</a:t>
            </a:r>
            <a:br>
              <a:rPr lang="en-US" sz="3200"/>
            </a:br>
            <a:r>
              <a:rPr lang="en-US" sz="2667"/>
              <a:t>State vector</a:t>
            </a:r>
            <a:endParaRPr lang="en-US" sz="2667"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F7F6365-A6A1-F53A-3A7F-14801FA12829}"/>
                  </a:ext>
                </a:extLst>
              </p:cNvPr>
              <p:cNvSpPr>
                <a:spLocks noGrp="1"/>
              </p:cNvSpPr>
              <p:nvPr>
                <p:ph idx="1"/>
              </p:nvPr>
            </p:nvSpPr>
            <p:spPr>
              <a:xfrm>
                <a:off x="838201" y="1527440"/>
                <a:ext cx="5603697" cy="1545881"/>
              </a:xfrm>
            </p:spPr>
            <p:txBody>
              <a:bodyPr>
                <a:normAutofit/>
              </a:bodyPr>
              <a:lstStyle/>
              <a:p>
                <a:pPr marL="0" indent="0">
                  <a:buNone/>
                </a:pPr>
                <a:r>
                  <a:rPr lang="en-US" sz="2000" dirty="0"/>
                  <a:t>A </a:t>
                </a:r>
                <a14:m>
                  <m:oMath xmlns:m="http://schemas.openxmlformats.org/officeDocument/2006/math">
                    <m:r>
                      <a:rPr lang="en-US" sz="2000" i="1">
                        <a:latin typeface="Cambria Math" panose="02040503050406030204" pitchFamily="18" charset="0"/>
                      </a:rPr>
                      <m:t>𝑛</m:t>
                    </m:r>
                  </m:oMath>
                </a14:m>
                <a:r>
                  <a:rPr lang="en-US" sz="2000" dirty="0"/>
                  <a:t> – qubit quantum state can be in the form:</a:t>
                </a:r>
              </a:p>
              <a:p>
                <a:pPr marL="457189" lvl="1" indent="0">
                  <a:buNone/>
                </a:pPr>
                <a14:m>
                  <m:oMath xmlns:m="http://schemas.openxmlformats.org/officeDocument/2006/math">
                    <m:d>
                      <m:dPr>
                        <m:begChr m:val="|"/>
                        <m:endChr m:val="⟩"/>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𝜓</m:t>
                            </m:r>
                          </m:e>
                          <m:sup>
                            <m:d>
                              <m:dPr>
                                <m:ctrlPr>
                                  <a:rPr lang="en-US" sz="2000" i="1">
                                    <a:latin typeface="Cambria Math" panose="02040503050406030204" pitchFamily="18" charset="0"/>
                                  </a:rPr>
                                </m:ctrlPr>
                              </m:dPr>
                              <m:e>
                                <m:r>
                                  <a:rPr lang="en-US" sz="2000" i="1">
                                    <a:latin typeface="Cambria Math" panose="02040503050406030204" pitchFamily="18" charset="0"/>
                                  </a:rPr>
                                  <m:t>𝑡</m:t>
                                </m:r>
                              </m:e>
                            </m:d>
                          </m:sup>
                        </m:sSup>
                      </m:e>
                    </m:d>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m>
                          <m:mPr>
                            <m:mcs>
                              <m:mc>
                                <m:mcPr>
                                  <m:count m:val="1"/>
                                  <m:mcJc m:val="center"/>
                                </m:mcPr>
                              </m:mc>
                            </m:mcs>
                            <m:ctrlPr>
                              <a:rPr lang="en-US" sz="2000" i="1">
                                <a:latin typeface="Cambria Math" panose="02040503050406030204" pitchFamily="18" charset="0"/>
                              </a:rPr>
                            </m:ctrlPr>
                          </m:mPr>
                          <m:mr>
                            <m:e>
                              <m:sSubSup>
                                <m:sSubSupPr>
                                  <m:ctrlPr>
                                    <a:rPr lang="en-US" sz="2000" i="1">
                                      <a:latin typeface="Cambria Math" panose="02040503050406030204" pitchFamily="18" charset="0"/>
                                    </a:rPr>
                                  </m:ctrlPr>
                                </m:sSubSupPr>
                                <m:e>
                                  <m:r>
                                    <a:rPr lang="en-US" sz="2000" i="1">
                                      <a:latin typeface="Cambria Math" panose="02040503050406030204" pitchFamily="18" charset="0"/>
                                    </a:rPr>
                                    <m:t>𝛼</m:t>
                                  </m:r>
                                </m:e>
                                <m:sub>
                                  <m:r>
                                    <a:rPr lang="en-US" sz="2000" i="1">
                                      <a:latin typeface="Cambria Math" panose="02040503050406030204" pitchFamily="18" charset="0"/>
                                    </a:rPr>
                                    <m:t>0</m:t>
                                  </m:r>
                                </m:sub>
                                <m:sup>
                                  <m:d>
                                    <m:dPr>
                                      <m:ctrlPr>
                                        <a:rPr lang="en-US" sz="2000" i="1">
                                          <a:latin typeface="Cambria Math" panose="02040503050406030204" pitchFamily="18" charset="0"/>
                                        </a:rPr>
                                      </m:ctrlPr>
                                    </m:dPr>
                                    <m:e>
                                      <m:r>
                                        <a:rPr lang="en-US" sz="2000" i="1">
                                          <a:latin typeface="Cambria Math" panose="02040503050406030204" pitchFamily="18" charset="0"/>
                                        </a:rPr>
                                        <m:t>𝑡</m:t>
                                      </m:r>
                                    </m:e>
                                  </m:d>
                                </m:sup>
                              </m:sSubSup>
                            </m:e>
                          </m:mr>
                          <m:mr>
                            <m:e>
                              <m:r>
                                <a:rPr lang="en-US" sz="2000" i="1">
                                  <a:latin typeface="Cambria Math" panose="02040503050406030204" pitchFamily="18" charset="0"/>
                                  <a:ea typeface="Cambria Math" panose="02040503050406030204" pitchFamily="18" charset="0"/>
                                </a:rPr>
                                <m:t>⋮</m:t>
                              </m:r>
                            </m:e>
                          </m:mr>
                          <m:mr>
                            <m:e>
                              <m:sSubSup>
                                <m:sSubSupPr>
                                  <m:ctrlPr>
                                    <a:rPr lang="en-US" sz="2000" i="1">
                                      <a:latin typeface="Cambria Math" panose="02040503050406030204" pitchFamily="18" charset="0"/>
                                    </a:rPr>
                                  </m:ctrlPr>
                                </m:sSubSupPr>
                                <m:e>
                                  <m:r>
                                    <a:rPr lang="en-US" sz="2000" i="1">
                                      <a:latin typeface="Cambria Math" panose="02040503050406030204" pitchFamily="18" charset="0"/>
                                    </a:rPr>
                                    <m:t>𝛼</m:t>
                                  </m:r>
                                </m:e>
                                <m:sub>
                                  <m:r>
                                    <a:rPr lang="en-US" sz="2000" i="1">
                                      <a:latin typeface="Cambria Math" panose="02040503050406030204" pitchFamily="18" charset="0"/>
                                    </a:rPr>
                                    <m:t>𝑁</m:t>
                                  </m:r>
                                  <m:r>
                                    <a:rPr lang="en-US" sz="2000" i="1">
                                      <a:latin typeface="Cambria Math" panose="02040503050406030204" pitchFamily="18" charset="0"/>
                                    </a:rPr>
                                    <m:t>−1</m:t>
                                  </m:r>
                                </m:sub>
                                <m:sup>
                                  <m:d>
                                    <m:dPr>
                                      <m:ctrlPr>
                                        <a:rPr lang="en-US" sz="2000" i="1">
                                          <a:latin typeface="Cambria Math" panose="02040503050406030204" pitchFamily="18" charset="0"/>
                                        </a:rPr>
                                      </m:ctrlPr>
                                    </m:dPr>
                                    <m:e>
                                      <m:r>
                                        <a:rPr lang="en-US" sz="2000" i="1">
                                          <a:latin typeface="Cambria Math" panose="02040503050406030204" pitchFamily="18" charset="0"/>
                                        </a:rPr>
                                        <m:t>𝑡</m:t>
                                      </m:r>
                                    </m:e>
                                  </m:d>
                                </m:sup>
                              </m:sSubSup>
                            </m:e>
                          </m:mr>
                        </m:m>
                      </m:e>
                    </m:d>
                  </m:oMath>
                </a14:m>
                <a:r>
                  <a:rPr lang="en-US" sz="2000" dirty="0"/>
                  <a:t>  where </a:t>
                </a:r>
                <a14:m>
                  <m:oMath xmlns:m="http://schemas.openxmlformats.org/officeDocument/2006/math">
                    <m:r>
                      <a:rPr lang="en-US" sz="2000" i="1">
                        <a:latin typeface="Cambria Math" panose="02040503050406030204" pitchFamily="18" charset="0"/>
                      </a:rPr>
                      <m:t>𝑁</m:t>
                    </m:r>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𝑛</m:t>
                        </m:r>
                      </m:sup>
                    </m:sSup>
                  </m:oMath>
                </a14:m>
                <a:r>
                  <a:rPr lang="en-US" sz="2000" dirty="0"/>
                  <a:t> and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𝛼</m:t>
                        </m:r>
                      </m:e>
                      <m:sub>
                        <m:r>
                          <a:rPr lang="en-US" sz="2000" i="1">
                            <a:latin typeface="Cambria Math" panose="02040503050406030204" pitchFamily="18" charset="0"/>
                          </a:rPr>
                          <m:t>𝑗</m:t>
                        </m:r>
                      </m:sub>
                      <m:sup>
                        <m:d>
                          <m:dPr>
                            <m:ctrlPr>
                              <a:rPr lang="en-US" sz="2000" i="1">
                                <a:latin typeface="Cambria Math" panose="02040503050406030204" pitchFamily="18" charset="0"/>
                              </a:rPr>
                            </m:ctrlPr>
                          </m:dPr>
                          <m:e>
                            <m:r>
                              <a:rPr lang="en-US" sz="2000" i="1">
                                <a:latin typeface="Cambria Math" panose="02040503050406030204" pitchFamily="18" charset="0"/>
                              </a:rPr>
                              <m:t>𝑡</m:t>
                            </m:r>
                          </m:e>
                        </m:d>
                      </m:sup>
                    </m:sSubSup>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ℂ</m:t>
                    </m:r>
                  </m:oMath>
                </a14:m>
                <a:r>
                  <a:rPr lang="en-US" sz="2000" dirty="0"/>
                  <a:t> </a:t>
                </a:r>
              </a:p>
            </p:txBody>
          </p:sp>
        </mc:Choice>
        <mc:Fallback>
          <p:sp>
            <p:nvSpPr>
              <p:cNvPr id="3" name="Content Placeholder 2">
                <a:extLst>
                  <a:ext uri="{FF2B5EF4-FFF2-40B4-BE49-F238E27FC236}">
                    <a16:creationId xmlns:a16="http://schemas.microsoft.com/office/drawing/2014/main" id="{AF7F6365-A6A1-F53A-3A7F-14801FA12829}"/>
                  </a:ext>
                </a:extLst>
              </p:cNvPr>
              <p:cNvSpPr>
                <a:spLocks noGrp="1" noRot="1" noChangeAspect="1" noMove="1" noResize="1" noEditPoints="1" noAdjustHandles="1" noChangeArrowheads="1" noChangeShapeType="1" noTextEdit="1"/>
              </p:cNvSpPr>
              <p:nvPr>
                <p:ph idx="1"/>
              </p:nvPr>
            </p:nvSpPr>
            <p:spPr>
              <a:xfrm>
                <a:off x="838201" y="1527440"/>
                <a:ext cx="5603697" cy="1545881"/>
              </a:xfrm>
              <a:blipFill>
                <a:blip r:embed="rId3"/>
                <a:stretch>
                  <a:fillRect l="-1357" t="-4098"/>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FA9173CE-5AF2-DEF6-8117-C2B6515361C4}"/>
              </a:ext>
            </a:extLst>
          </p:cNvPr>
          <p:cNvSpPr>
            <a:spLocks noGrp="1"/>
          </p:cNvSpPr>
          <p:nvPr>
            <p:ph type="sldNum" sz="quarter" idx="12"/>
          </p:nvPr>
        </p:nvSpPr>
        <p:spPr/>
        <p:txBody>
          <a:bodyPr/>
          <a:lstStyle/>
          <a:p>
            <a:fld id="{3C0C221A-CB66-4297-9A52-937C35126D0C}" type="slidenum">
              <a:rPr lang="en-US" smtClean="0"/>
              <a:t>22</a:t>
            </a:fld>
            <a:endParaRPr lang="en-US"/>
          </a:p>
        </p:txBody>
      </p:sp>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91182476-AA37-AC95-3300-450EDDAB95AB}"/>
                  </a:ext>
                </a:extLst>
              </p:cNvPr>
              <p:cNvGraphicFramePr>
                <a:graphicFrameLocks noGrp="1"/>
              </p:cNvGraphicFramePr>
              <p:nvPr/>
            </p:nvGraphicFramePr>
            <p:xfrm>
              <a:off x="838200" y="3684046"/>
              <a:ext cx="4519773" cy="544895"/>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1848615564"/>
                        </a:ext>
                      </a:extLst>
                    </a:gridCol>
                    <a:gridCol w="900273">
                      <a:extLst>
                        <a:ext uri="{9D8B030D-6E8A-4147-A177-3AD203B41FA5}">
                          <a16:colId xmlns:a16="http://schemas.microsoft.com/office/drawing/2014/main" val="1798586957"/>
                        </a:ext>
                      </a:extLst>
                    </a:gridCol>
                  </a:tblGrid>
                  <a:tr h="544895">
                    <a:tc>
                      <a:txBody>
                        <a:bodyPr/>
                        <a:lstStyle/>
                        <a:p>
                          <a:pPr marL="0" indent="0">
                            <a:buNone/>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𝑔</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𝑤</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𝜃</m:t>
                                    </m:r>
                                  </m:e>
                                </m:d>
                                <m:r>
                                  <a:rPr lang="en-US" sz="2000" b="0" i="1" smtClean="0">
                                    <a:solidFill>
                                      <a:schemeClr val="tx1"/>
                                    </a:solidFill>
                                    <a:latin typeface="Cambria Math" panose="02040503050406030204" pitchFamily="18" charset="0"/>
                                  </a:rPr>
                                  <m:t>:</m:t>
                                </m:r>
                                <m:d>
                                  <m:dPr>
                                    <m:begChr m:val="{"/>
                                    <m:endChr m:val="}"/>
                                    <m:ctrlPr>
                                      <a:rPr lang="en-US" sz="2000" i="1">
                                        <a:solidFill>
                                          <a:schemeClr val="tx1"/>
                                        </a:solidFill>
                                        <a:latin typeface="Cambria Math" panose="02040503050406030204" pitchFamily="18" charset="0"/>
                                      </a:rPr>
                                    </m:ctrlPr>
                                  </m:dPr>
                                  <m:e>
                                    <m:sSubSup>
                                      <m:sSubSupPr>
                                        <m:ctrlPr>
                                          <a:rPr lang="en-US" sz="2000" i="1">
                                            <a:solidFill>
                                              <a:schemeClr val="tx1"/>
                                            </a:solidFill>
                                            <a:latin typeface="Cambria Math" panose="02040503050406030204" pitchFamily="18" charset="0"/>
                                          </a:rPr>
                                        </m:ctrlPr>
                                      </m:sSubSupPr>
                                      <m:e>
                                        <m:r>
                                          <a:rPr lang="en-US" sz="2000" i="1">
                                            <a:solidFill>
                                              <a:schemeClr val="tx1"/>
                                            </a:solidFill>
                                            <a:latin typeface="Cambria Math" panose="02040503050406030204" pitchFamily="18" charset="0"/>
                                          </a:rPr>
                                          <m:t>𝛼</m:t>
                                        </m:r>
                                      </m:e>
                                      <m:sub>
                                        <m:r>
                                          <a:rPr lang="en-US" sz="2000" i="1">
                                            <a:solidFill>
                                              <a:schemeClr val="tx1"/>
                                            </a:solidFill>
                                            <a:latin typeface="Cambria Math" panose="02040503050406030204" pitchFamily="18" charset="0"/>
                                          </a:rPr>
                                          <m:t>𝑗</m:t>
                                        </m:r>
                                      </m:sub>
                                      <m:sup>
                                        <m:d>
                                          <m:dPr>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𝑡</m:t>
                                            </m:r>
                                          </m:e>
                                        </m:d>
                                      </m:sup>
                                    </m:sSubSup>
                                  </m:e>
                                </m:d>
                                <m:r>
                                  <a:rPr lang="en-US" sz="2000" b="0" i="0" smtClean="0">
                                    <a:solidFill>
                                      <a:schemeClr val="tx1"/>
                                    </a:solidFill>
                                    <a:latin typeface="Cambria Math" panose="02040503050406030204" pitchFamily="18" charset="0"/>
                                  </a:rPr>
                                  <m:t>→</m:t>
                                </m:r>
                                <m:d>
                                  <m:dPr>
                                    <m:begChr m:val="{"/>
                                    <m:endChr m:val="}"/>
                                    <m:ctrlPr>
                                      <a:rPr lang="en-US" sz="2000" i="1">
                                        <a:solidFill>
                                          <a:schemeClr val="tx1"/>
                                        </a:solidFill>
                                        <a:latin typeface="Cambria Math" panose="02040503050406030204" pitchFamily="18" charset="0"/>
                                      </a:rPr>
                                    </m:ctrlPr>
                                  </m:dPr>
                                  <m:e>
                                    <m:sSubSup>
                                      <m:sSubSupPr>
                                        <m:ctrlPr>
                                          <a:rPr lang="en-US" sz="2000" i="1">
                                            <a:solidFill>
                                              <a:schemeClr val="tx1"/>
                                            </a:solidFill>
                                            <a:latin typeface="Cambria Math" panose="02040503050406030204" pitchFamily="18" charset="0"/>
                                          </a:rPr>
                                        </m:ctrlPr>
                                      </m:sSubSupPr>
                                      <m:e>
                                        <m:r>
                                          <a:rPr lang="en-US" sz="2000" i="1">
                                            <a:solidFill>
                                              <a:schemeClr val="tx1"/>
                                            </a:solidFill>
                                            <a:latin typeface="Cambria Math" panose="02040503050406030204" pitchFamily="18" charset="0"/>
                                          </a:rPr>
                                          <m:t>𝛼</m:t>
                                        </m:r>
                                      </m:e>
                                      <m:sub>
                                        <m:r>
                                          <a:rPr lang="en-US" sz="2000" i="1">
                                            <a:solidFill>
                                              <a:schemeClr val="tx1"/>
                                            </a:solidFill>
                                            <a:latin typeface="Cambria Math" panose="02040503050406030204" pitchFamily="18" charset="0"/>
                                          </a:rPr>
                                          <m:t>𝑗</m:t>
                                        </m:r>
                                      </m:sub>
                                      <m:sup>
                                        <m:d>
                                          <m:dPr>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e>
                                        </m:d>
                                      </m:sup>
                                    </m:sSubSup>
                                  </m:e>
                                </m:d>
                              </m:oMath>
                            </m:oMathPara>
                          </a14:m>
                          <a:endParaRPr lang="en-US"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2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Choice>
        <mc:Fallback>
          <p:graphicFrame>
            <p:nvGraphicFramePr>
              <p:cNvPr id="5" name="Table 4">
                <a:extLst>
                  <a:ext uri="{FF2B5EF4-FFF2-40B4-BE49-F238E27FC236}">
                    <a16:creationId xmlns:a16="http://schemas.microsoft.com/office/drawing/2014/main" id="{91182476-AA37-AC95-3300-450EDDAB95AB}"/>
                  </a:ext>
                </a:extLst>
              </p:cNvPr>
              <p:cNvGraphicFramePr>
                <a:graphicFrameLocks noGrp="1"/>
              </p:cNvGraphicFramePr>
              <p:nvPr/>
            </p:nvGraphicFramePr>
            <p:xfrm>
              <a:off x="838200" y="3684046"/>
              <a:ext cx="4519773" cy="544895"/>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1848615564"/>
                        </a:ext>
                      </a:extLst>
                    </a:gridCol>
                    <a:gridCol w="900273">
                      <a:extLst>
                        <a:ext uri="{9D8B030D-6E8A-4147-A177-3AD203B41FA5}">
                          <a16:colId xmlns:a16="http://schemas.microsoft.com/office/drawing/2014/main" val="1798586957"/>
                        </a:ext>
                      </a:extLst>
                    </a:gridCol>
                  </a:tblGrid>
                  <a:tr h="544895">
                    <a:tc>
                      <a:txBody>
                        <a:bodyPr/>
                        <a:lstStyle/>
                        <a:p>
                          <a:endParaRPr lang="en-VN"/>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51" t="-2326" r="-24912" b="-4651"/>
                          </a:stretch>
                        </a:blipFill>
                      </a:tcPr>
                    </a:tc>
                    <a:tc>
                      <a:txBody>
                        <a:bodyPr/>
                        <a:lstStyle/>
                        <a:p>
                          <a:pPr algn="r"/>
                          <a:endParaRPr lang="en-US" sz="2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F29AD60-6F1B-2BA1-6A04-EC40BE6F8E46}"/>
                  </a:ext>
                </a:extLst>
              </p:cNvPr>
              <p:cNvSpPr txBox="1"/>
              <p:nvPr/>
            </p:nvSpPr>
            <p:spPr>
              <a:xfrm>
                <a:off x="838202" y="4274371"/>
                <a:ext cx="6199599" cy="400110"/>
              </a:xfrm>
              <a:prstGeom prst="rect">
                <a:avLst/>
              </a:prstGeom>
              <a:noFill/>
            </p:spPr>
            <p:txBody>
              <a:bodyPr wrap="square" rtlCol="0">
                <a:spAutoFit/>
              </a:bodyPr>
              <a:lstStyle/>
              <a:p>
                <a:r>
                  <a:rPr lang="en-US" sz="2000" dirty="0"/>
                  <a:t>where </a:t>
                </a:r>
                <a14:m>
                  <m:oMath xmlns:m="http://schemas.openxmlformats.org/officeDocument/2006/math">
                    <m:r>
                      <a:rPr lang="en-US" sz="2000" i="1">
                        <a:latin typeface="Cambria Math" panose="02040503050406030204" pitchFamily="18" charset="0"/>
                      </a:rPr>
                      <m:t>𝑤</m:t>
                    </m:r>
                  </m:oMath>
                </a14:m>
                <a:r>
                  <a:rPr lang="en-US" sz="2000" dirty="0"/>
                  <a:t> and </a:t>
                </a:r>
                <a14:m>
                  <m:oMath xmlns:m="http://schemas.openxmlformats.org/officeDocument/2006/math">
                    <m:r>
                      <a:rPr lang="en-US" sz="2000" i="1">
                        <a:latin typeface="Cambria Math" panose="02040503050406030204" pitchFamily="18" charset="0"/>
                      </a:rPr>
                      <m:t>𝜃</m:t>
                    </m:r>
                  </m:oMath>
                </a14:m>
                <a:r>
                  <a:rPr lang="en-US" sz="2000" dirty="0"/>
                  <a:t> are wires and parameter (if applicable).</a:t>
                </a:r>
              </a:p>
            </p:txBody>
          </p:sp>
        </mc:Choice>
        <mc:Fallback>
          <p:sp>
            <p:nvSpPr>
              <p:cNvPr id="6" name="TextBox 5">
                <a:extLst>
                  <a:ext uri="{FF2B5EF4-FFF2-40B4-BE49-F238E27FC236}">
                    <a16:creationId xmlns:a16="http://schemas.microsoft.com/office/drawing/2014/main" id="{BF29AD60-6F1B-2BA1-6A04-EC40BE6F8E46}"/>
                  </a:ext>
                </a:extLst>
              </p:cNvPr>
              <p:cNvSpPr txBox="1">
                <a:spLocks noRot="1" noChangeAspect="1" noMove="1" noResize="1" noEditPoints="1" noAdjustHandles="1" noChangeArrowheads="1" noChangeShapeType="1" noTextEdit="1"/>
              </p:cNvSpPr>
              <p:nvPr/>
            </p:nvSpPr>
            <p:spPr>
              <a:xfrm>
                <a:off x="838202" y="4274371"/>
                <a:ext cx="6199599" cy="400110"/>
              </a:xfrm>
              <a:prstGeom prst="rect">
                <a:avLst/>
              </a:prstGeom>
              <a:blipFill>
                <a:blip r:embed="rId5"/>
                <a:stretch>
                  <a:fillRect l="-1230" t="-3030" b="-27273"/>
                </a:stretch>
              </a:blipFill>
            </p:spPr>
            <p:txBody>
              <a:bodyPr/>
              <a:lstStyle/>
              <a:p>
                <a:r>
                  <a:rPr lang="en-VN">
                    <a:noFill/>
                  </a:rPr>
                  <a:t> </a:t>
                </a:r>
              </a:p>
            </p:txBody>
          </p:sp>
        </mc:Fallback>
      </mc:AlternateContent>
      <p:sp>
        <p:nvSpPr>
          <p:cNvPr id="7" name="TextBox 6">
            <a:extLst>
              <a:ext uri="{FF2B5EF4-FFF2-40B4-BE49-F238E27FC236}">
                <a16:creationId xmlns:a16="http://schemas.microsoft.com/office/drawing/2014/main" id="{D645D380-5E49-5FC1-893B-5FC4A77F7395}"/>
              </a:ext>
            </a:extLst>
          </p:cNvPr>
          <p:cNvSpPr txBox="1"/>
          <p:nvPr/>
        </p:nvSpPr>
        <p:spPr>
          <a:xfrm>
            <a:off x="838202" y="4674480"/>
            <a:ext cx="5999252" cy="400110"/>
          </a:xfrm>
          <a:prstGeom prst="rect">
            <a:avLst/>
          </a:prstGeom>
          <a:noFill/>
        </p:spPr>
        <p:txBody>
          <a:bodyPr wrap="square" rtlCol="0">
            <a:spAutoFit/>
          </a:bodyPr>
          <a:lstStyle/>
          <a:p>
            <a:r>
              <a:rPr lang="en-US" sz="2000" dirty="0"/>
              <a:t>Our target is to compute the evolved (final) state:</a:t>
            </a:r>
          </a:p>
        </p:txBody>
      </p:sp>
      <mc:AlternateContent xmlns:mc="http://schemas.openxmlformats.org/markup-compatibility/2006">
        <mc:Choice xmlns:a14="http://schemas.microsoft.com/office/drawing/2010/main" Requires="a14">
          <p:graphicFrame>
            <p:nvGraphicFramePr>
              <p:cNvPr id="8" name="Table 7">
                <a:extLst>
                  <a:ext uri="{FF2B5EF4-FFF2-40B4-BE49-F238E27FC236}">
                    <a16:creationId xmlns:a16="http://schemas.microsoft.com/office/drawing/2014/main" id="{8484D538-63FA-2038-ACDA-CEFDB6C05633}"/>
                  </a:ext>
                </a:extLst>
              </p:cNvPr>
              <p:cNvGraphicFramePr>
                <a:graphicFrameLocks noGrp="1"/>
              </p:cNvGraphicFramePr>
              <p:nvPr/>
            </p:nvGraphicFramePr>
            <p:xfrm>
              <a:off x="838200" y="5112527"/>
              <a:ext cx="4519774" cy="441368"/>
            </p:xfrm>
            <a:graphic>
              <a:graphicData uri="http://schemas.openxmlformats.org/drawingml/2006/table">
                <a:tbl>
                  <a:tblPr firstRow="1" bandRow="1">
                    <a:tableStyleId>{5C22544A-7EE6-4342-B048-85BDC9FD1C3A}</a:tableStyleId>
                  </a:tblPr>
                  <a:tblGrid>
                    <a:gridCol w="3420439">
                      <a:extLst>
                        <a:ext uri="{9D8B030D-6E8A-4147-A177-3AD203B41FA5}">
                          <a16:colId xmlns:a16="http://schemas.microsoft.com/office/drawing/2014/main" val="1848615564"/>
                        </a:ext>
                      </a:extLst>
                    </a:gridCol>
                    <a:gridCol w="1099335">
                      <a:extLst>
                        <a:ext uri="{9D8B030D-6E8A-4147-A177-3AD203B41FA5}">
                          <a16:colId xmlns:a16="http://schemas.microsoft.com/office/drawing/2014/main" val="1798586957"/>
                        </a:ext>
                      </a:extLst>
                    </a:gridCol>
                  </a:tblGrid>
                  <a:tr h="441368">
                    <a:tc>
                      <a:txBody>
                        <a:bodyPr/>
                        <a:lstStyle/>
                        <a:p>
                          <a:pPr marL="0" indent="0">
                            <a:buNone/>
                          </a:pPr>
                          <a14:m>
                            <m:oMathPara xmlns:m="http://schemas.openxmlformats.org/officeDocument/2006/math">
                              <m:oMathParaPr>
                                <m:jc m:val="centerGroup"/>
                              </m:oMathParaPr>
                              <m:oMath xmlns:m="http://schemas.openxmlformats.org/officeDocument/2006/math">
                                <m:d>
                                  <m:dPr>
                                    <m:begChr m:val="|"/>
                                    <m:endChr m:val="⟩"/>
                                    <m:ctrlPr>
                                      <a:rPr lang="en-US" sz="2000" b="0" i="1" smtClean="0">
                                        <a:solidFill>
                                          <a:schemeClr val="tx1"/>
                                        </a:solidFill>
                                        <a:latin typeface="Cambria Math" panose="02040503050406030204" pitchFamily="18" charset="0"/>
                                      </a:rPr>
                                    </m:ctrlPr>
                                  </m:dPr>
                                  <m:e>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𝜓</m:t>
                                        </m:r>
                                      </m:e>
                                      <m:sup>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𝑚</m:t>
                                            </m:r>
                                          </m:e>
                                        </m:d>
                                      </m:sup>
                                    </m:sSup>
                                  </m:e>
                                </m:d>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𝑈</m:t>
                                </m:r>
                                <m:d>
                                  <m:dPr>
                                    <m:ctrlPr>
                                      <a:rPr lang="en-US" sz="2000" b="0" i="1" smtClean="0">
                                        <a:solidFill>
                                          <a:schemeClr val="tx1"/>
                                        </a:solidFill>
                                        <a:latin typeface="Cambria Math" panose="02040503050406030204" pitchFamily="18" charset="0"/>
                                      </a:rPr>
                                    </m:ctrlPr>
                                  </m:dPr>
                                  <m:e>
                                    <m:r>
                                      <a:rPr lang="en-US" sz="2000" b="1" i="1" smtClean="0">
                                        <a:solidFill>
                                          <a:schemeClr val="tx1"/>
                                        </a:solidFill>
                                        <a:latin typeface="Cambria Math" panose="02040503050406030204" pitchFamily="18" charset="0"/>
                                      </a:rPr>
                                      <m:t>𝜽</m:t>
                                    </m:r>
                                  </m:e>
                                </m:d>
                                <m:r>
                                  <a:rPr lang="en-US" sz="2000" b="0" i="1" smtClean="0">
                                    <a:solidFill>
                                      <a:schemeClr val="tx1"/>
                                    </a:solidFill>
                                    <a:latin typeface="Cambria Math" panose="02040503050406030204" pitchFamily="18" charset="0"/>
                                  </a:rPr>
                                  <m:t>|</m:t>
                                </m:r>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𝜓</m:t>
                                    </m:r>
                                  </m:e>
                                  <m:sup>
                                    <m:r>
                                      <a:rPr lang="en-US" sz="2000" b="0" i="1" smtClean="0">
                                        <a:solidFill>
                                          <a:schemeClr val="tx1"/>
                                        </a:solidFill>
                                        <a:latin typeface="Cambria Math" panose="02040503050406030204" pitchFamily="18" charset="0"/>
                                      </a:rPr>
                                      <m:t>(0)</m:t>
                                    </m:r>
                                  </m:sup>
                                </m:sSup>
                                <m:r>
                                  <a:rPr lang="en-US" sz="2000" b="0" i="1" smtClean="0">
                                    <a:solidFill>
                                      <a:schemeClr val="tx1"/>
                                    </a:solidFill>
                                    <a:latin typeface="Cambria Math" panose="02040503050406030204" pitchFamily="18" charset="0"/>
                                  </a:rPr>
                                  <m:t>⟩</m:t>
                                </m:r>
                              </m:oMath>
                            </m:oMathPara>
                          </a14:m>
                          <a:endParaRPr lang="en-US" sz="2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2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Choice>
        <mc:Fallback>
          <p:graphicFrame>
            <p:nvGraphicFramePr>
              <p:cNvPr id="8" name="Table 7">
                <a:extLst>
                  <a:ext uri="{FF2B5EF4-FFF2-40B4-BE49-F238E27FC236}">
                    <a16:creationId xmlns:a16="http://schemas.microsoft.com/office/drawing/2014/main" id="{8484D538-63FA-2038-ACDA-CEFDB6C05633}"/>
                  </a:ext>
                </a:extLst>
              </p:cNvPr>
              <p:cNvGraphicFramePr>
                <a:graphicFrameLocks noGrp="1"/>
              </p:cNvGraphicFramePr>
              <p:nvPr/>
            </p:nvGraphicFramePr>
            <p:xfrm>
              <a:off x="838200" y="5112527"/>
              <a:ext cx="4519774" cy="441368"/>
            </p:xfrm>
            <a:graphic>
              <a:graphicData uri="http://schemas.openxmlformats.org/drawingml/2006/table">
                <a:tbl>
                  <a:tblPr firstRow="1" bandRow="1">
                    <a:tableStyleId>{5C22544A-7EE6-4342-B048-85BDC9FD1C3A}</a:tableStyleId>
                  </a:tblPr>
                  <a:tblGrid>
                    <a:gridCol w="3420439">
                      <a:extLst>
                        <a:ext uri="{9D8B030D-6E8A-4147-A177-3AD203B41FA5}">
                          <a16:colId xmlns:a16="http://schemas.microsoft.com/office/drawing/2014/main" val="1848615564"/>
                        </a:ext>
                      </a:extLst>
                    </a:gridCol>
                    <a:gridCol w="1099335">
                      <a:extLst>
                        <a:ext uri="{9D8B030D-6E8A-4147-A177-3AD203B41FA5}">
                          <a16:colId xmlns:a16="http://schemas.microsoft.com/office/drawing/2014/main" val="1798586957"/>
                        </a:ext>
                      </a:extLst>
                    </a:gridCol>
                  </a:tblGrid>
                  <a:tr h="441368">
                    <a:tc>
                      <a:txBody>
                        <a:bodyPr/>
                        <a:lstStyle/>
                        <a:p>
                          <a:endParaRPr lang="en-VN"/>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l="-372" r="-32342" b="-8333"/>
                          </a:stretch>
                        </a:blipFill>
                      </a:tcPr>
                    </a:tc>
                    <a:tc>
                      <a:txBody>
                        <a:bodyPr/>
                        <a:lstStyle/>
                        <a:p>
                          <a:pPr algn="r"/>
                          <a:endParaRPr lang="en-US" sz="2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7CA42852-9ED7-46E3-2B48-7240CC4A85CD}"/>
                  </a:ext>
                </a:extLst>
              </p:cNvPr>
              <p:cNvSpPr txBox="1"/>
              <p:nvPr/>
            </p:nvSpPr>
            <p:spPr>
              <a:xfrm>
                <a:off x="838202" y="5646318"/>
                <a:ext cx="6199599" cy="707886"/>
              </a:xfrm>
              <a:prstGeom prst="rect">
                <a:avLst/>
              </a:prstGeom>
              <a:noFill/>
            </p:spPr>
            <p:txBody>
              <a:bodyPr wrap="square" rtlCol="0">
                <a:spAutoFit/>
              </a:bodyPr>
              <a:lstStyle/>
              <a:p>
                <a:r>
                  <a:rPr lang="en-US" sz="2000" dirty="0"/>
                  <a:t>under unitary </a:t>
                </a:r>
                <a14:m>
                  <m:oMath xmlns:m="http://schemas.openxmlformats.org/officeDocument/2006/math">
                    <m:r>
                      <a:rPr lang="en-US" sz="2000" i="1">
                        <a:latin typeface="Cambria Math" panose="02040503050406030204" pitchFamily="18" charset="0"/>
                      </a:rPr>
                      <m:t>𝑈</m:t>
                    </m:r>
                  </m:oMath>
                </a14:m>
                <a:r>
                  <a:rPr lang="en-US" sz="2000" dirty="0"/>
                  <a:t>. </a:t>
                </a:r>
                <a14:m>
                  <m:oMath xmlns:m="http://schemas.openxmlformats.org/officeDocument/2006/math">
                    <m:r>
                      <a:rPr lang="en-US" sz="2000" i="1">
                        <a:latin typeface="Cambria Math" panose="02040503050406030204" pitchFamily="18" charset="0"/>
                      </a:rPr>
                      <m:t>𝑈</m:t>
                    </m:r>
                  </m:oMath>
                </a14:m>
                <a:r>
                  <a:rPr lang="en-US" sz="2000" dirty="0"/>
                  <a:t> is composed from gates or sub-operators via tensor product/matrix multiplication</a:t>
                </a:r>
              </a:p>
            </p:txBody>
          </p:sp>
        </mc:Choice>
        <mc:Fallback>
          <p:sp>
            <p:nvSpPr>
              <p:cNvPr id="9" name="TextBox 8">
                <a:extLst>
                  <a:ext uri="{FF2B5EF4-FFF2-40B4-BE49-F238E27FC236}">
                    <a16:creationId xmlns:a16="http://schemas.microsoft.com/office/drawing/2014/main" id="{7CA42852-9ED7-46E3-2B48-7240CC4A85CD}"/>
                  </a:ext>
                </a:extLst>
              </p:cNvPr>
              <p:cNvSpPr txBox="1">
                <a:spLocks noRot="1" noChangeAspect="1" noMove="1" noResize="1" noEditPoints="1" noAdjustHandles="1" noChangeArrowheads="1" noChangeShapeType="1" noTextEdit="1"/>
              </p:cNvSpPr>
              <p:nvPr/>
            </p:nvSpPr>
            <p:spPr>
              <a:xfrm>
                <a:off x="838202" y="5646318"/>
                <a:ext cx="6199599" cy="707886"/>
              </a:xfrm>
              <a:prstGeom prst="rect">
                <a:avLst/>
              </a:prstGeom>
              <a:blipFill>
                <a:blip r:embed="rId7"/>
                <a:stretch>
                  <a:fillRect l="-1230" t="-1754" b="-14035"/>
                </a:stretch>
              </a:blipFill>
            </p:spPr>
            <p:txBody>
              <a:bodyPr/>
              <a:lstStyle/>
              <a:p>
                <a:r>
                  <a:rPr lang="en-VN">
                    <a:noFill/>
                  </a:rPr>
                  <a:t> </a:t>
                </a:r>
              </a:p>
            </p:txBody>
          </p:sp>
        </mc:Fallback>
      </mc:AlternateContent>
      <p:sp>
        <p:nvSpPr>
          <p:cNvPr id="10" name="Rectangle 9">
            <a:extLst>
              <a:ext uri="{FF2B5EF4-FFF2-40B4-BE49-F238E27FC236}">
                <a16:creationId xmlns:a16="http://schemas.microsoft.com/office/drawing/2014/main" id="{7178EF51-E299-E47D-551E-6A111826D439}"/>
              </a:ext>
            </a:extLst>
          </p:cNvPr>
          <p:cNvSpPr/>
          <p:nvPr/>
        </p:nvSpPr>
        <p:spPr>
          <a:xfrm>
            <a:off x="3183467" y="2116239"/>
            <a:ext cx="3145843" cy="98585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9823E5C-D5B2-3403-ADC2-4A2862C2BAE6}"/>
              </a:ext>
            </a:extLst>
          </p:cNvPr>
          <p:cNvSpPr txBox="1"/>
          <p:nvPr/>
        </p:nvSpPr>
        <p:spPr>
          <a:xfrm>
            <a:off x="6329310" y="2293641"/>
            <a:ext cx="3477375" cy="646331"/>
          </a:xfrm>
          <a:prstGeom prst="rect">
            <a:avLst/>
          </a:prstGeom>
          <a:noFill/>
        </p:spPr>
        <p:txBody>
          <a:bodyPr wrap="square" rtlCol="0" anchor="ctr">
            <a:spAutoFit/>
          </a:bodyPr>
          <a:lstStyle/>
          <a:p>
            <a:r>
              <a:rPr lang="en-US" dirty="0">
                <a:solidFill>
                  <a:srgbClr val="FF0000"/>
                </a:solidFill>
              </a:rPr>
              <a:t>The number of amplitudes grows exponentially based on #Qubits</a:t>
            </a:r>
          </a:p>
        </p:txBody>
      </p:sp>
      <p:sp>
        <p:nvSpPr>
          <p:cNvPr id="12" name="Rectangle 11">
            <a:extLst>
              <a:ext uri="{FF2B5EF4-FFF2-40B4-BE49-F238E27FC236}">
                <a16:creationId xmlns:a16="http://schemas.microsoft.com/office/drawing/2014/main" id="{F78A8F11-5D99-B60E-D80B-3645A062F90B}"/>
              </a:ext>
            </a:extLst>
          </p:cNvPr>
          <p:cNvSpPr/>
          <p:nvPr/>
        </p:nvSpPr>
        <p:spPr>
          <a:xfrm>
            <a:off x="1171255" y="3707777"/>
            <a:ext cx="5158055" cy="54489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70DAC06-1867-B145-D4F5-98A511D1261B}"/>
              </a:ext>
            </a:extLst>
          </p:cNvPr>
          <p:cNvSpPr txBox="1"/>
          <p:nvPr/>
        </p:nvSpPr>
        <p:spPr>
          <a:xfrm>
            <a:off x="6329310" y="3770101"/>
            <a:ext cx="3174287" cy="369332"/>
          </a:xfrm>
          <a:prstGeom prst="rect">
            <a:avLst/>
          </a:prstGeom>
          <a:noFill/>
        </p:spPr>
        <p:txBody>
          <a:bodyPr wrap="square" rtlCol="0">
            <a:spAutoFit/>
          </a:bodyPr>
          <a:lstStyle/>
          <a:p>
            <a:r>
              <a:rPr lang="en-US" dirty="0">
                <a:solidFill>
                  <a:srgbClr val="FF0000"/>
                </a:solidFill>
              </a:rPr>
              <a:t>Traversing on a long vector</a:t>
            </a:r>
          </a:p>
        </p:txBody>
      </p:sp>
      <p:sp>
        <p:nvSpPr>
          <p:cNvPr id="14" name="Rectangle 13">
            <a:extLst>
              <a:ext uri="{FF2B5EF4-FFF2-40B4-BE49-F238E27FC236}">
                <a16:creationId xmlns:a16="http://schemas.microsoft.com/office/drawing/2014/main" id="{0C5614B0-CC33-CBF6-E415-2690E7CD43F2}"/>
              </a:ext>
            </a:extLst>
          </p:cNvPr>
          <p:cNvSpPr/>
          <p:nvPr/>
        </p:nvSpPr>
        <p:spPr>
          <a:xfrm>
            <a:off x="1297970" y="5082505"/>
            <a:ext cx="5031340" cy="54489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E4100C01-3F9F-9A6C-5236-96D07768195E}"/>
                  </a:ext>
                </a:extLst>
              </p:cNvPr>
              <p:cNvSpPr txBox="1"/>
              <p:nvPr/>
            </p:nvSpPr>
            <p:spPr>
              <a:xfrm>
                <a:off x="6329310" y="5045820"/>
                <a:ext cx="3133191" cy="687176"/>
              </a:xfrm>
              <a:prstGeom prst="rect">
                <a:avLst/>
              </a:prstGeom>
              <a:noFill/>
            </p:spPr>
            <p:txBody>
              <a:bodyPr wrap="square" rtlCol="0">
                <a:spAutoFit/>
              </a:bodyPr>
              <a:lstStyle/>
              <a:p>
                <a:r>
                  <a:rPr lang="en-US" dirty="0">
                    <a:solidFill>
                      <a:srgbClr val="FF0000"/>
                    </a:solidFill>
                  </a:rPr>
                  <a:t>Both </a:t>
                </a:r>
                <a14:m>
                  <m:oMath xmlns:m="http://schemas.openxmlformats.org/officeDocument/2006/math">
                    <m:d>
                      <m:dPr>
                        <m:begChr m:val="|"/>
                        <m:endChr m:val="⟩"/>
                        <m:ctrlPr>
                          <a:rPr lang="en-US" i="1">
                            <a:solidFill>
                              <a:srgbClr val="FF0000"/>
                            </a:solidFill>
                            <a:latin typeface="Cambria Math" panose="02040503050406030204" pitchFamily="18" charset="0"/>
                          </a:rPr>
                        </m:ctrlPr>
                      </m:dPr>
                      <m:e>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𝜓</m:t>
                            </m:r>
                          </m:e>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𝑡</m:t>
                                </m:r>
                                <m:r>
                                  <a:rPr lang="en-US" i="1">
                                    <a:solidFill>
                                      <a:srgbClr val="FF0000"/>
                                    </a:solidFill>
                                    <a:latin typeface="Cambria Math" panose="02040503050406030204" pitchFamily="18" charset="0"/>
                                  </a:rPr>
                                  <m:t>+1</m:t>
                                </m:r>
                              </m:e>
                            </m:d>
                          </m:sup>
                        </m:sSup>
                      </m:e>
                    </m:d>
                  </m:oMath>
                </a14:m>
                <a:r>
                  <a:rPr lang="en-US" dirty="0">
                    <a:solidFill>
                      <a:srgbClr val="FF0000"/>
                    </a:solidFill>
                  </a:rPr>
                  <a:t> and </a:t>
                </a:r>
                <a14:m>
                  <m:oMath xmlns:m="http://schemas.openxmlformats.org/officeDocument/2006/math">
                    <m:d>
                      <m:dPr>
                        <m:begChr m:val="|"/>
                        <m:endChr m:val="⟩"/>
                        <m:ctrlPr>
                          <a:rPr lang="en-US" i="1">
                            <a:solidFill>
                              <a:srgbClr val="FF0000"/>
                            </a:solidFill>
                            <a:latin typeface="Cambria Math" panose="02040503050406030204" pitchFamily="18" charset="0"/>
                          </a:rPr>
                        </m:ctrlPr>
                      </m:dPr>
                      <m:e>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𝜓</m:t>
                            </m:r>
                          </m:e>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𝑡</m:t>
                                </m:r>
                              </m:e>
                            </m:d>
                          </m:sup>
                        </m:sSup>
                      </m:e>
                    </m:d>
                  </m:oMath>
                </a14:m>
                <a:r>
                  <a:rPr lang="en-US" dirty="0">
                    <a:solidFill>
                      <a:srgbClr val="FF0000"/>
                    </a:solidFill>
                  </a:rPr>
                  <a:t> need to be saved at the same time</a:t>
                </a:r>
              </a:p>
            </p:txBody>
          </p:sp>
        </mc:Choice>
        <mc:Fallback>
          <p:sp>
            <p:nvSpPr>
              <p:cNvPr id="15" name="TextBox 14">
                <a:extLst>
                  <a:ext uri="{FF2B5EF4-FFF2-40B4-BE49-F238E27FC236}">
                    <a16:creationId xmlns:a16="http://schemas.microsoft.com/office/drawing/2014/main" id="{E4100C01-3F9F-9A6C-5236-96D07768195E}"/>
                  </a:ext>
                </a:extLst>
              </p:cNvPr>
              <p:cNvSpPr txBox="1">
                <a:spLocks noRot="1" noChangeAspect="1" noMove="1" noResize="1" noEditPoints="1" noAdjustHandles="1" noChangeArrowheads="1" noChangeShapeType="1" noTextEdit="1"/>
              </p:cNvSpPr>
              <p:nvPr/>
            </p:nvSpPr>
            <p:spPr>
              <a:xfrm>
                <a:off x="6329310" y="5045820"/>
                <a:ext cx="3133191" cy="687176"/>
              </a:xfrm>
              <a:prstGeom prst="rect">
                <a:avLst/>
              </a:prstGeom>
              <a:blipFill>
                <a:blip r:embed="rId8"/>
                <a:stretch>
                  <a:fillRect l="-1619" t="-1818" b="-10909"/>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62234D75-88B2-45E4-C352-69BC7A9993D6}"/>
                  </a:ext>
                </a:extLst>
              </p:cNvPr>
              <p:cNvSpPr txBox="1"/>
              <p:nvPr/>
            </p:nvSpPr>
            <p:spPr>
              <a:xfrm>
                <a:off x="4941871" y="2580703"/>
                <a:ext cx="1464067" cy="45839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𝛼</m:t>
                              </m:r>
                            </m:e>
                            <m:sub>
                              <m:r>
                                <a:rPr lang="en-US" sz="2000" i="1">
                                  <a:latin typeface="Cambria Math" panose="02040503050406030204" pitchFamily="18" charset="0"/>
                                </a:rPr>
                                <m:t>𝑗</m:t>
                              </m:r>
                            </m:sub>
                            <m:sup>
                              <m:d>
                                <m:dPr>
                                  <m:ctrlPr>
                                    <a:rPr lang="en-US" sz="2000" i="1">
                                      <a:latin typeface="Cambria Math" panose="02040503050406030204" pitchFamily="18" charset="0"/>
                                    </a:rPr>
                                  </m:ctrlPr>
                                </m:dPr>
                                <m:e>
                                  <m:r>
                                    <a:rPr lang="en-US" sz="2000" i="1">
                                      <a:latin typeface="Cambria Math" panose="02040503050406030204" pitchFamily="18" charset="0"/>
                                    </a:rPr>
                                    <m:t>𝑡</m:t>
                                  </m:r>
                                </m:e>
                              </m:d>
                            </m:sup>
                          </m:sSubSup>
                        </m:e>
                      </m:d>
                      <m:r>
                        <a:rPr lang="vi-VN" sz="2000" i="1">
                          <a:latin typeface="Cambria Math" panose="02040503050406030204" pitchFamily="18" charset="0"/>
                        </a:rPr>
                        <m:t>≤</m:t>
                      </m:r>
                      <m:r>
                        <a:rPr lang="en-US" sz="2000" i="1">
                          <a:latin typeface="Cambria Math" panose="02040503050406030204" pitchFamily="18" charset="0"/>
                        </a:rPr>
                        <m:t>1</m:t>
                      </m:r>
                    </m:oMath>
                  </m:oMathPara>
                </a14:m>
                <a:endParaRPr lang="en-US" sz="2000" dirty="0"/>
              </a:p>
            </p:txBody>
          </p:sp>
        </mc:Choice>
        <mc:Fallback>
          <p:sp>
            <p:nvSpPr>
              <p:cNvPr id="17" name="TextBox 16">
                <a:extLst>
                  <a:ext uri="{FF2B5EF4-FFF2-40B4-BE49-F238E27FC236}">
                    <a16:creationId xmlns:a16="http://schemas.microsoft.com/office/drawing/2014/main" id="{62234D75-88B2-45E4-C352-69BC7A9993D6}"/>
                  </a:ext>
                </a:extLst>
              </p:cNvPr>
              <p:cNvSpPr txBox="1">
                <a:spLocks noRot="1" noChangeAspect="1" noMove="1" noResize="1" noEditPoints="1" noAdjustHandles="1" noChangeArrowheads="1" noChangeShapeType="1" noTextEdit="1"/>
              </p:cNvSpPr>
              <p:nvPr/>
            </p:nvSpPr>
            <p:spPr>
              <a:xfrm>
                <a:off x="4941871" y="2580703"/>
                <a:ext cx="1464067" cy="458395"/>
              </a:xfrm>
              <a:prstGeom prst="rect">
                <a:avLst/>
              </a:prstGeom>
              <a:blipFill>
                <a:blip r:embed="rId9"/>
                <a:stretch>
                  <a:fillRect b="-13514"/>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64224EE5-9F94-9A5D-C5CD-21206D6CB6D6}"/>
                  </a:ext>
                </a:extLst>
              </p:cNvPr>
              <p:cNvSpPr txBox="1"/>
              <p:nvPr/>
            </p:nvSpPr>
            <p:spPr>
              <a:xfrm>
                <a:off x="838200" y="3140026"/>
                <a:ext cx="6095144" cy="504369"/>
              </a:xfrm>
              <a:prstGeom prst="rect">
                <a:avLst/>
              </a:prstGeom>
              <a:noFill/>
            </p:spPr>
            <p:txBody>
              <a:bodyPr wrap="square">
                <a:spAutoFit/>
              </a:bodyPr>
              <a:lstStyle/>
              <a:p>
                <a:r>
                  <a:rPr lang="en-US" dirty="0"/>
                  <a:t>A quantum gate update amplitudes </a:t>
                </a:r>
                <a14:m>
                  <m:oMath xmlns:m="http://schemas.openxmlformats.org/officeDocument/2006/math">
                    <m:d>
                      <m:dPr>
                        <m:begChr m:val="{"/>
                        <m:endChr m:val="}"/>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𝛼</m:t>
                            </m:r>
                          </m:e>
                          <m:sub>
                            <m:r>
                              <a:rPr lang="en-US" i="1">
                                <a:latin typeface="Cambria Math" panose="02040503050406030204" pitchFamily="18" charset="0"/>
                              </a:rPr>
                              <m:t>𝑗</m:t>
                            </m:r>
                          </m:sub>
                          <m:sup>
                            <m:d>
                              <m:dPr>
                                <m:ctrlPr>
                                  <a:rPr lang="en-US" i="1">
                                    <a:latin typeface="Cambria Math" panose="02040503050406030204" pitchFamily="18" charset="0"/>
                                  </a:rPr>
                                </m:ctrlPr>
                              </m:dPr>
                              <m:e>
                                <m:r>
                                  <a:rPr lang="en-US" i="1">
                                    <a:latin typeface="Cambria Math" panose="02040503050406030204" pitchFamily="18" charset="0"/>
                                  </a:rPr>
                                  <m:t>𝑡</m:t>
                                </m:r>
                              </m:e>
                            </m:d>
                          </m:sup>
                        </m:sSubSup>
                      </m:e>
                    </m:d>
                  </m:oMath>
                </a14:m>
                <a:r>
                  <a:rPr lang="en-US" dirty="0"/>
                  <a:t>:</a:t>
                </a:r>
              </a:p>
            </p:txBody>
          </p:sp>
        </mc:Choice>
        <mc:Fallback>
          <p:sp>
            <p:nvSpPr>
              <p:cNvPr id="19" name="TextBox 18">
                <a:extLst>
                  <a:ext uri="{FF2B5EF4-FFF2-40B4-BE49-F238E27FC236}">
                    <a16:creationId xmlns:a16="http://schemas.microsoft.com/office/drawing/2014/main" id="{64224EE5-9F94-9A5D-C5CD-21206D6CB6D6}"/>
                  </a:ext>
                </a:extLst>
              </p:cNvPr>
              <p:cNvSpPr txBox="1">
                <a:spLocks noRot="1" noChangeAspect="1" noMove="1" noResize="1" noEditPoints="1" noAdjustHandles="1" noChangeArrowheads="1" noChangeShapeType="1" noTextEdit="1"/>
              </p:cNvSpPr>
              <p:nvPr/>
            </p:nvSpPr>
            <p:spPr>
              <a:xfrm>
                <a:off x="838200" y="3140026"/>
                <a:ext cx="6095144" cy="504369"/>
              </a:xfrm>
              <a:prstGeom prst="rect">
                <a:avLst/>
              </a:prstGeom>
              <a:blipFill>
                <a:blip r:embed="rId10"/>
                <a:stretch>
                  <a:fillRect l="-1042" b="-4878"/>
                </a:stretch>
              </a:blipFill>
            </p:spPr>
            <p:txBody>
              <a:bodyPr/>
              <a:lstStyle/>
              <a:p>
                <a:r>
                  <a:rPr lang="en-VN">
                    <a:noFill/>
                  </a:rPr>
                  <a:t> </a:t>
                </a:r>
              </a:p>
            </p:txBody>
          </p:sp>
        </mc:Fallback>
      </mc:AlternateContent>
    </p:spTree>
    <p:extLst>
      <p:ext uri="{BB962C8B-B14F-4D97-AF65-F5344CB8AC3E}">
        <p14:creationId xmlns:p14="http://schemas.microsoft.com/office/powerpoint/2010/main" val="3018939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EA01E33-6C5F-A447-567C-5D7D39FBEC4A}"/>
              </a:ext>
            </a:extLst>
          </p:cNvPr>
          <p:cNvPicPr>
            <a:picLocks noChangeAspect="1"/>
          </p:cNvPicPr>
          <p:nvPr/>
        </p:nvPicPr>
        <p:blipFill>
          <a:blip r:embed="rId3"/>
          <a:srcRect b="37408"/>
          <a:stretch/>
        </p:blipFill>
        <p:spPr>
          <a:xfrm>
            <a:off x="5432437" y="216109"/>
            <a:ext cx="6726855" cy="5063687"/>
          </a:xfrm>
          <a:prstGeom prst="rect">
            <a:avLst/>
          </a:prstGeom>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19ABE96-9CF6-D01E-1067-2C430BA8AFE7}"/>
                  </a:ext>
                </a:extLst>
              </p:cNvPr>
              <p:cNvSpPr>
                <a:spLocks noGrp="1"/>
              </p:cNvSpPr>
              <p:nvPr>
                <p:ph idx="1"/>
              </p:nvPr>
            </p:nvSpPr>
            <p:spPr>
              <a:xfrm>
                <a:off x="496003" y="4259022"/>
                <a:ext cx="5009448" cy="601225"/>
              </a:xfrm>
            </p:spPr>
            <p:txBody>
              <a:bodyPr>
                <a:normAutofit/>
              </a:bodyPr>
              <a:lstStyle/>
              <a:p>
                <a:pPr marL="0" indent="0">
                  <a:buNone/>
                </a:pPr>
                <a14:m>
                  <m:oMathPara xmlns:m="http://schemas.openxmlformats.org/officeDocument/2006/math">
                    <m:oMathParaPr>
                      <m:jc m:val="centerGroup"/>
                    </m:oMathParaPr>
                    <m:oMath xmlns:m="http://schemas.openxmlformats.org/officeDocument/2006/math">
                      <m:d>
                        <m:dPr>
                          <m:begChr m:val="|"/>
                          <m:endChr m:val="⟩"/>
                          <m:ctrlPr>
                            <a:rPr lang="pl-PL" sz="2000" i="1" dirty="0">
                              <a:latin typeface="Cambria Math" panose="02040503050406030204" pitchFamily="18" charset="0"/>
                            </a:rPr>
                          </m:ctrlPr>
                        </m:dPr>
                        <m:e>
                          <m:sSup>
                            <m:sSupPr>
                              <m:ctrlPr>
                                <a:rPr lang="en-US" sz="2000" i="1" dirty="0">
                                  <a:latin typeface="Cambria Math" panose="02040503050406030204" pitchFamily="18" charset="0"/>
                                </a:rPr>
                              </m:ctrlPr>
                            </m:sSupPr>
                            <m:e>
                              <m:r>
                                <a:rPr lang="pl-PL" sz="2000" i="1" dirty="0">
                                  <a:latin typeface="Cambria Math" panose="02040503050406030204" pitchFamily="18" charset="0"/>
                                </a:rPr>
                                <m:t>𝜓</m:t>
                              </m:r>
                            </m:e>
                            <m:sup>
                              <m:d>
                                <m:dPr>
                                  <m:ctrlPr>
                                    <a:rPr lang="pl-PL" sz="2000" i="1" dirty="0">
                                      <a:latin typeface="Cambria Math" panose="02040503050406030204" pitchFamily="18" charset="0"/>
                                    </a:rPr>
                                  </m:ctrlPr>
                                </m:dPr>
                                <m:e>
                                  <m:r>
                                    <a:rPr lang="pl-PL" sz="2000" i="1" dirty="0">
                                      <a:latin typeface="Cambria Math" panose="02040503050406030204" pitchFamily="18" charset="0"/>
                                    </a:rPr>
                                    <m:t>𝑚</m:t>
                                  </m:r>
                                </m:e>
                              </m:d>
                            </m:sup>
                          </m:sSup>
                        </m:e>
                      </m:d>
                      <m:r>
                        <a:rPr lang="pl-PL" sz="2000" i="1" dirty="0">
                          <a:latin typeface="Cambria Math" panose="02040503050406030204" pitchFamily="18" charset="0"/>
                        </a:rPr>
                        <m:t>= </m:t>
                      </m:r>
                      <m:r>
                        <a:rPr lang="pl-PL" sz="2000" i="1" dirty="0">
                          <a:latin typeface="Cambria Math" panose="02040503050406030204" pitchFamily="18" charset="0"/>
                          <a:ea typeface="Cambria Math" panose="02040503050406030204" pitchFamily="18" charset="0"/>
                        </a:rPr>
                        <m:t>𝒲</m:t>
                      </m:r>
                      <m:d>
                        <m:dPr>
                          <m:ctrlPr>
                            <a:rPr lang="pl-PL" sz="2000" i="1" dirty="0">
                              <a:latin typeface="Cambria Math" panose="02040503050406030204" pitchFamily="18" charset="0"/>
                              <a:ea typeface="Cambria Math" panose="02040503050406030204" pitchFamily="18" charset="0"/>
                            </a:rPr>
                          </m:ctrlPr>
                        </m:dPr>
                        <m:e>
                          <m:sSub>
                            <m:sSubPr>
                              <m:ctrlPr>
                                <a:rPr lang="en-US" sz="2000" i="1" dirty="0">
                                  <a:latin typeface="Cambria Math" panose="02040503050406030204" pitchFamily="18" charset="0"/>
                                </a:rPr>
                              </m:ctrlPr>
                            </m:sSubPr>
                            <m:e>
                              <m:r>
                                <a:rPr lang="pl-PL" sz="2000" i="1" dirty="0">
                                  <a:latin typeface="Cambria Math" panose="02040503050406030204" pitchFamily="18" charset="0"/>
                                </a:rPr>
                                <m:t>𝑔</m:t>
                              </m:r>
                            </m:e>
                            <m:sub>
                              <m:r>
                                <a:rPr lang="pl-PL" sz="2000" i="1" dirty="0">
                                  <a:latin typeface="Cambria Math" panose="02040503050406030204" pitchFamily="18" charset="0"/>
                                </a:rPr>
                                <m:t>𝑚</m:t>
                              </m:r>
                            </m:sub>
                          </m:sSub>
                        </m:e>
                      </m:d>
                      <m:r>
                        <a:rPr lang="en-US" sz="2000" i="1" dirty="0">
                          <a:latin typeface="Cambria Math" panose="02040503050406030204" pitchFamily="18" charset="0"/>
                        </a:rPr>
                        <m:t>…</m:t>
                      </m:r>
                      <m:r>
                        <a:rPr lang="pl-PL" sz="2000" i="1" dirty="0">
                          <a:latin typeface="Cambria Math" panose="02040503050406030204" pitchFamily="18" charset="0"/>
                          <a:ea typeface="Cambria Math" panose="02040503050406030204" pitchFamily="18" charset="0"/>
                        </a:rPr>
                        <m:t>𝒲</m:t>
                      </m:r>
                      <m:r>
                        <a:rPr lang="pl-PL" sz="2000" i="1" dirty="0">
                          <a:latin typeface="Cambria Math" panose="02040503050406030204" pitchFamily="18" charset="0"/>
                        </a:rPr>
                        <m:t>(</m:t>
                      </m:r>
                      <m:sSub>
                        <m:sSubPr>
                          <m:ctrlPr>
                            <a:rPr lang="en-US" sz="2000" i="1" dirty="0">
                              <a:latin typeface="Cambria Math" panose="02040503050406030204" pitchFamily="18" charset="0"/>
                            </a:rPr>
                          </m:ctrlPr>
                        </m:sSubPr>
                        <m:e>
                          <m:r>
                            <a:rPr lang="pl-PL" sz="2000" i="1" dirty="0">
                              <a:latin typeface="Cambria Math" panose="02040503050406030204" pitchFamily="18" charset="0"/>
                            </a:rPr>
                            <m:t>𝑔</m:t>
                          </m:r>
                        </m:e>
                        <m:sub>
                          <m:r>
                            <a:rPr lang="pl-PL" sz="2000" i="1" dirty="0">
                              <a:latin typeface="Cambria Math" panose="02040503050406030204" pitchFamily="18" charset="0"/>
                            </a:rPr>
                            <m:t>2</m:t>
                          </m:r>
                        </m:sub>
                      </m:sSub>
                      <m:r>
                        <a:rPr lang="pl-PL" sz="2000" i="1" dirty="0">
                          <a:latin typeface="Cambria Math" panose="02040503050406030204" pitchFamily="18" charset="0"/>
                        </a:rPr>
                        <m:t>)</m:t>
                      </m:r>
                      <m:r>
                        <a:rPr lang="pl-PL" sz="2000" i="1" dirty="0">
                          <a:latin typeface="Cambria Math" panose="02040503050406030204" pitchFamily="18" charset="0"/>
                          <a:ea typeface="Cambria Math" panose="02040503050406030204" pitchFamily="18" charset="0"/>
                        </a:rPr>
                        <m:t>𝒲</m:t>
                      </m:r>
                      <m:r>
                        <a:rPr lang="pl-PL" sz="2000" i="1" dirty="0">
                          <a:latin typeface="Cambria Math" panose="02040503050406030204" pitchFamily="18" charset="0"/>
                        </a:rPr>
                        <m:t>(</m:t>
                      </m:r>
                      <m:sSub>
                        <m:sSubPr>
                          <m:ctrlPr>
                            <a:rPr lang="en-US" sz="2000" i="1" dirty="0">
                              <a:latin typeface="Cambria Math" panose="02040503050406030204" pitchFamily="18" charset="0"/>
                            </a:rPr>
                          </m:ctrlPr>
                        </m:sSubPr>
                        <m:e>
                          <m:r>
                            <a:rPr lang="pl-PL" sz="2000" i="1" dirty="0">
                              <a:latin typeface="Cambria Math" panose="02040503050406030204" pitchFamily="18" charset="0"/>
                            </a:rPr>
                            <m:t>𝑔</m:t>
                          </m:r>
                        </m:e>
                        <m:sub>
                          <m:r>
                            <a:rPr lang="pl-PL" sz="2000" i="1" dirty="0">
                              <a:latin typeface="Cambria Math" panose="02040503050406030204" pitchFamily="18" charset="0"/>
                            </a:rPr>
                            <m:t>1</m:t>
                          </m:r>
                        </m:sub>
                      </m:sSub>
                      <m:r>
                        <a:rPr lang="pl-PL" sz="2000" i="1" dirty="0">
                          <a:latin typeface="Cambria Math" panose="02040503050406030204" pitchFamily="18" charset="0"/>
                        </a:rPr>
                        <m:t>)|</m:t>
                      </m:r>
                      <m:sSup>
                        <m:sSupPr>
                          <m:ctrlPr>
                            <a:rPr lang="en-US" sz="2000" i="1" dirty="0">
                              <a:latin typeface="Cambria Math" panose="02040503050406030204" pitchFamily="18" charset="0"/>
                            </a:rPr>
                          </m:ctrlPr>
                        </m:sSupPr>
                        <m:e>
                          <m:r>
                            <a:rPr lang="pl-PL" sz="2000" i="1" dirty="0">
                              <a:latin typeface="Cambria Math" panose="02040503050406030204" pitchFamily="18" charset="0"/>
                            </a:rPr>
                            <m:t>𝜓</m:t>
                          </m:r>
                        </m:e>
                        <m:sup>
                          <m:r>
                            <a:rPr lang="pl-PL" sz="2000" i="1" dirty="0">
                              <a:latin typeface="Cambria Math" panose="02040503050406030204" pitchFamily="18" charset="0"/>
                            </a:rPr>
                            <m:t>(0)</m:t>
                          </m:r>
                        </m:sup>
                      </m:sSup>
                      <m:r>
                        <a:rPr lang="pl-PL" sz="2000" i="1" dirty="0">
                          <a:latin typeface="Cambria Math" panose="02040503050406030204" pitchFamily="18" charset="0"/>
                        </a:rPr>
                        <m:t>⟩</m:t>
                      </m:r>
                    </m:oMath>
                  </m:oMathPara>
                </a14:m>
                <a:endParaRPr lang="en-US" sz="2000" dirty="0"/>
              </a:p>
            </p:txBody>
          </p:sp>
        </mc:Choice>
        <mc:Fallback>
          <p:sp>
            <p:nvSpPr>
              <p:cNvPr id="3" name="Content Placeholder 2">
                <a:extLst>
                  <a:ext uri="{FF2B5EF4-FFF2-40B4-BE49-F238E27FC236}">
                    <a16:creationId xmlns:a16="http://schemas.microsoft.com/office/drawing/2014/main" id="{B19ABE96-9CF6-D01E-1067-2C430BA8AFE7}"/>
                  </a:ext>
                </a:extLst>
              </p:cNvPr>
              <p:cNvSpPr>
                <a:spLocks noGrp="1" noRot="1" noChangeAspect="1" noMove="1" noResize="1" noEditPoints="1" noAdjustHandles="1" noChangeArrowheads="1" noChangeShapeType="1" noTextEdit="1"/>
              </p:cNvSpPr>
              <p:nvPr>
                <p:ph idx="1"/>
              </p:nvPr>
            </p:nvSpPr>
            <p:spPr>
              <a:xfrm>
                <a:off x="496003" y="4259022"/>
                <a:ext cx="5009448" cy="601225"/>
              </a:xfrm>
              <a:blipFill>
                <a:blip r:embed="rId4"/>
                <a:stretch>
                  <a:fillRect/>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606B0A32-4BDF-6501-E5E3-EA2E65442EEF}"/>
              </a:ext>
            </a:extLst>
          </p:cNvPr>
          <p:cNvSpPr>
            <a:spLocks noGrp="1"/>
          </p:cNvSpPr>
          <p:nvPr>
            <p:ph type="sldNum" sz="quarter" idx="12"/>
          </p:nvPr>
        </p:nvSpPr>
        <p:spPr/>
        <p:txBody>
          <a:bodyPr/>
          <a:lstStyle/>
          <a:p>
            <a:fld id="{3C0C221A-CB66-4297-9A52-937C35126D0C}" type="slidenum">
              <a:rPr lang="en-US" smtClean="0"/>
              <a:t>23</a:t>
            </a:fld>
            <a:endParaRPr lang="en-US"/>
          </a:p>
        </p:txBody>
      </p:sp>
      <p:sp>
        <p:nvSpPr>
          <p:cNvPr id="7" name="Rectangle 6">
            <a:extLst>
              <a:ext uri="{FF2B5EF4-FFF2-40B4-BE49-F238E27FC236}">
                <a16:creationId xmlns:a16="http://schemas.microsoft.com/office/drawing/2014/main" id="{1D8C7771-DF26-F8C4-8270-6D1C4C3E1EDC}"/>
              </a:ext>
            </a:extLst>
          </p:cNvPr>
          <p:cNvSpPr>
            <a:spLocks/>
          </p:cNvSpPr>
          <p:nvPr/>
        </p:nvSpPr>
        <p:spPr>
          <a:xfrm>
            <a:off x="9080502" y="828884"/>
            <a:ext cx="1028919" cy="933451"/>
          </a:xfrm>
          <a:prstGeom prst="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2FAE1B27-1145-FD91-7129-4BD037634A0D}"/>
              </a:ext>
            </a:extLst>
          </p:cNvPr>
          <p:cNvPicPr>
            <a:picLocks noChangeAspect="1"/>
          </p:cNvPicPr>
          <p:nvPr/>
        </p:nvPicPr>
        <p:blipFill>
          <a:blip r:embed="rId3"/>
          <a:srcRect t="94362" r="65673" b="845"/>
          <a:stretch/>
        </p:blipFill>
        <p:spPr>
          <a:xfrm>
            <a:off x="5505449" y="5307693"/>
            <a:ext cx="2399795" cy="402975"/>
          </a:xfrm>
          <a:prstGeom prst="rect">
            <a:avLst/>
          </a:prstGeom>
        </p:spPr>
      </p:pic>
      <p:pic>
        <p:nvPicPr>
          <p:cNvPr id="13" name="Picture 12">
            <a:extLst>
              <a:ext uri="{FF2B5EF4-FFF2-40B4-BE49-F238E27FC236}">
                <a16:creationId xmlns:a16="http://schemas.microsoft.com/office/drawing/2014/main" id="{E8F12B16-0F11-CBCD-E21D-1A6AAEF91511}"/>
              </a:ext>
            </a:extLst>
          </p:cNvPr>
          <p:cNvPicPr>
            <a:picLocks noChangeAspect="1"/>
          </p:cNvPicPr>
          <p:nvPr/>
        </p:nvPicPr>
        <p:blipFill>
          <a:blip r:embed="rId3"/>
          <a:srcRect l="9422" t="62592" r="52956" b="5845"/>
          <a:stretch/>
        </p:blipFill>
        <p:spPr>
          <a:xfrm>
            <a:off x="8455052" y="3032198"/>
            <a:ext cx="2571531" cy="2594439"/>
          </a:xfrm>
          <a:prstGeom prst="rect">
            <a:avLst/>
          </a:prstGeom>
        </p:spPr>
      </p:pic>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711A431F-B5E8-A1A4-A1EB-C3BCFC926D85}"/>
                  </a:ext>
                </a:extLst>
              </p:cNvPr>
              <p:cNvSpPr txBox="1"/>
              <p:nvPr/>
            </p:nvSpPr>
            <p:spPr>
              <a:xfrm>
                <a:off x="247651" y="4754166"/>
                <a:ext cx="5397500" cy="710707"/>
              </a:xfrm>
              <a:prstGeom prst="rect">
                <a:avLst/>
              </a:prstGeom>
              <a:noFill/>
            </p:spPr>
            <p:txBody>
              <a:bodyPr wrap="square">
                <a:spAutoFit/>
              </a:bodyPr>
              <a:lstStyle/>
              <a:p>
                <a:r>
                  <a:rPr lang="en-US" dirty="0"/>
                  <a:t>The transition function </a:t>
                </a:r>
                <a14:m>
                  <m:oMath xmlns:m="http://schemas.openxmlformats.org/officeDocument/2006/math">
                    <m:r>
                      <a:rPr lang="pl-PL" i="1" dirty="0">
                        <a:latin typeface="Cambria Math" panose="02040503050406030204" pitchFamily="18" charset="0"/>
                        <a:ea typeface="Cambria Math" panose="02040503050406030204" pitchFamily="18" charset="0"/>
                      </a:rPr>
                      <m:t>𝒲</m:t>
                    </m:r>
                    <m:d>
                      <m:dPr>
                        <m:ctrlPr>
                          <a:rPr lang="en-US" i="1" dirty="0">
                            <a:latin typeface="Cambria Math" panose="02040503050406030204" pitchFamily="18" charset="0"/>
                            <a:ea typeface="Cambria Math" panose="02040503050406030204" pitchFamily="18" charset="0"/>
                          </a:rPr>
                        </m:ctrlPr>
                      </m:dPr>
                      <m:e>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𝑔</m:t>
                            </m:r>
                          </m:e>
                          <m:sub>
                            <m:r>
                              <a:rPr lang="en-US" i="1" dirty="0">
                                <a:latin typeface="Cambria Math" panose="02040503050406030204" pitchFamily="18" charset="0"/>
                                <a:ea typeface="Cambria Math" panose="02040503050406030204" pitchFamily="18" charset="0"/>
                              </a:rPr>
                              <m:t>𝑗</m:t>
                            </m:r>
                          </m:sub>
                        </m:sSub>
                      </m:e>
                    </m:d>
                  </m:oMath>
                </a14:m>
                <a:r>
                  <a:rPr lang="en-US" dirty="0"/>
                  <a:t> updates amplitudes </a:t>
                </a:r>
                <a14:m>
                  <m:oMath xmlns:m="http://schemas.openxmlformats.org/officeDocument/2006/math">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l-GR" i="1" dirty="0">
                            <a:latin typeface="Cambria Math" panose="02040503050406030204" pitchFamily="18" charset="0"/>
                          </a:rPr>
                          <m:t>𝛼</m:t>
                        </m:r>
                      </m:e>
                      <m:sub>
                        <m:r>
                          <a:rPr lang="en-US" i="1" dirty="0">
                            <a:latin typeface="Cambria Math" panose="02040503050406030204" pitchFamily="18" charset="0"/>
                          </a:rPr>
                          <m:t>𝑗</m:t>
                        </m:r>
                      </m:sub>
                    </m:sSub>
                    <m:r>
                      <a:rPr lang="en-US" i="1" dirty="0">
                        <a:latin typeface="Cambria Math" panose="02040503050406030204" pitchFamily="18" charset="0"/>
                      </a:rPr>
                      <m:t>}</m:t>
                    </m:r>
                  </m:oMath>
                </a14:m>
                <a:r>
                  <a:rPr lang="en-US" dirty="0"/>
                  <a:t> on the </a:t>
                </a:r>
                <a14:m>
                  <m:oMath xmlns:m="http://schemas.openxmlformats.org/officeDocument/2006/math">
                    <m:sSup>
                      <m:sSupPr>
                        <m:ctrlPr>
                          <a:rPr lang="en-US" i="1" dirty="0">
                            <a:latin typeface="Cambria Math" panose="02040503050406030204" pitchFamily="18" charset="0"/>
                          </a:rPr>
                        </m:ctrlPr>
                      </m:sSupPr>
                      <m:e>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𝑤</m:t>
                                </m:r>
                              </m:e>
                              <m:sub>
                                <m:r>
                                  <a:rPr lang="en-US" i="1" dirty="0">
                                    <a:latin typeface="Cambria Math" panose="02040503050406030204" pitchFamily="18" charset="0"/>
                                  </a:rPr>
                                  <m:t>0</m:t>
                                </m:r>
                              </m:sub>
                            </m:sSub>
                          </m:e>
                        </m:d>
                      </m:e>
                      <m:sup>
                        <m:r>
                          <a:rPr lang="en-US" i="1" dirty="0">
                            <a:latin typeface="Cambria Math" panose="02040503050406030204" pitchFamily="18" charset="0"/>
                          </a:rPr>
                          <m:t>𝑡h</m:t>
                        </m:r>
                      </m:sup>
                    </m:sSup>
                  </m:oMath>
                </a14:m>
                <a:r>
                  <a:rPr lang="en-US" dirty="0"/>
                  <a:t> qubit: </a:t>
                </a:r>
              </a:p>
            </p:txBody>
          </p:sp>
        </mc:Choice>
        <mc:Fallback>
          <p:sp>
            <p:nvSpPr>
              <p:cNvPr id="18" name="TextBox 17">
                <a:extLst>
                  <a:ext uri="{FF2B5EF4-FFF2-40B4-BE49-F238E27FC236}">
                    <a16:creationId xmlns:a16="http://schemas.microsoft.com/office/drawing/2014/main" id="{711A431F-B5E8-A1A4-A1EB-C3BCFC926D85}"/>
                  </a:ext>
                </a:extLst>
              </p:cNvPr>
              <p:cNvSpPr txBox="1">
                <a:spLocks noRot="1" noChangeAspect="1" noMove="1" noResize="1" noEditPoints="1" noAdjustHandles="1" noChangeArrowheads="1" noChangeShapeType="1" noTextEdit="1"/>
              </p:cNvSpPr>
              <p:nvPr/>
            </p:nvSpPr>
            <p:spPr>
              <a:xfrm>
                <a:off x="247651" y="4754166"/>
                <a:ext cx="5397500" cy="710707"/>
              </a:xfrm>
              <a:prstGeom prst="rect">
                <a:avLst/>
              </a:prstGeom>
              <a:blipFill>
                <a:blip r:embed="rId5"/>
                <a:stretch>
                  <a:fillRect l="-939" b="-10526"/>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33D13F56-8795-3035-B817-56B2302C99D1}"/>
                  </a:ext>
                </a:extLst>
              </p:cNvPr>
              <p:cNvSpPr txBox="1"/>
              <p:nvPr/>
            </p:nvSpPr>
            <p:spPr>
              <a:xfrm>
                <a:off x="419321" y="5560689"/>
                <a:ext cx="4317780" cy="8938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l-PL" i="1" dirty="0">
                          <a:latin typeface="Cambria Math" panose="02040503050406030204" pitchFamily="18" charset="0"/>
                          <a:ea typeface="Cambria Math" panose="02040503050406030204" pitchFamily="18" charset="0"/>
                        </a:rPr>
                        <m:t>𝒲</m:t>
                      </m:r>
                      <m:d>
                        <m:dPr>
                          <m:ctrlPr>
                            <a:rPr lang="pl-PL" i="1" dirty="0">
                              <a:latin typeface="Cambria Math" panose="02040503050406030204" pitchFamily="18" charset="0"/>
                              <a:ea typeface="Cambria Math" panose="02040503050406030204" pitchFamily="18" charset="0"/>
                            </a:rPr>
                          </m:ctrlPr>
                        </m:dPr>
                        <m:e>
                          <m:r>
                            <a:rPr lang="en-US" i="1" dirty="0">
                              <a:latin typeface="Cambria Math" panose="02040503050406030204" pitchFamily="18" charset="0"/>
                            </a:rPr>
                            <m:t>𝑔</m:t>
                          </m:r>
                        </m:e>
                      </m:d>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m>
                            <m:mPr>
                              <m:mcs>
                                <m:mc>
                                  <m:mcPr>
                                    <m:count m:val="1"/>
                                    <m:mcJc m:val="center"/>
                                  </m:mcPr>
                                </m:mc>
                              </m:mcs>
                              <m:ctrlPr>
                                <a:rPr lang="en-US" i="1" dirty="0">
                                  <a:latin typeface="Cambria Math" panose="02040503050406030204" pitchFamily="18" charset="0"/>
                                </a:rPr>
                              </m:ctrlPr>
                            </m:mPr>
                            <m:mr>
                              <m:e>
                                <m:sSubSup>
                                  <m:sSubSupPr>
                                    <m:ctrlPr>
                                      <a:rPr lang="en-US" i="1" dirty="0">
                                        <a:latin typeface="Cambria Math" panose="02040503050406030204" pitchFamily="18" charset="0"/>
                                      </a:rPr>
                                    </m:ctrlPr>
                                  </m:sSubSupPr>
                                  <m:e>
                                    <m:r>
                                      <a:rPr lang="en-US" i="1" dirty="0">
                                        <a:latin typeface="Cambria Math" panose="02040503050406030204" pitchFamily="18" charset="0"/>
                                      </a:rPr>
                                      <m:t>𝛼</m:t>
                                    </m:r>
                                  </m:e>
                                  <m:sub>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𝑖</m:t>
                                        </m:r>
                                      </m:sub>
                                    </m:sSub>
                                  </m:sub>
                                  <m:sup>
                                    <m:d>
                                      <m:dPr>
                                        <m:ctrlPr>
                                          <a:rPr lang="en-US" i="1" dirty="0">
                                            <a:latin typeface="Cambria Math" panose="02040503050406030204" pitchFamily="18" charset="0"/>
                                          </a:rPr>
                                        </m:ctrlPr>
                                      </m:dPr>
                                      <m:e>
                                        <m:r>
                                          <a:rPr lang="en-US" i="1" dirty="0">
                                            <a:latin typeface="Cambria Math" panose="02040503050406030204" pitchFamily="18" charset="0"/>
                                          </a:rPr>
                                          <m:t>𝑡</m:t>
                                        </m:r>
                                      </m:e>
                                    </m:d>
                                  </m:sup>
                                </m:sSubSup>
                              </m:e>
                            </m:mr>
                            <m:mr>
                              <m:e>
                                <m:sSubSup>
                                  <m:sSubSupPr>
                                    <m:ctrlPr>
                                      <a:rPr lang="en-US" i="1" dirty="0">
                                        <a:latin typeface="Cambria Math" panose="02040503050406030204" pitchFamily="18" charset="0"/>
                                      </a:rPr>
                                    </m:ctrlPr>
                                  </m:sSubSupPr>
                                  <m:e>
                                    <m:r>
                                      <a:rPr lang="en-US" i="1" dirty="0">
                                        <a:latin typeface="Cambria Math" panose="02040503050406030204" pitchFamily="18" charset="0"/>
                                      </a:rPr>
                                      <m:t>𝛼</m:t>
                                    </m:r>
                                  </m:e>
                                  <m:sub>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𝑖</m:t>
                                        </m:r>
                                      </m:sub>
                                    </m:sSub>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2</m:t>
                                        </m:r>
                                      </m:e>
                                      <m:sup>
                                        <m:r>
                                          <a:rPr lang="en-US" i="1" dirty="0">
                                            <a:latin typeface="Cambria Math" panose="02040503050406030204" pitchFamily="18" charset="0"/>
                                          </a:rPr>
                                          <m:t>𝑤</m:t>
                                        </m:r>
                                      </m:sup>
                                    </m:sSup>
                                  </m:sub>
                                  <m:sup>
                                    <m:d>
                                      <m:dPr>
                                        <m:ctrlPr>
                                          <a:rPr lang="en-US" i="1" dirty="0">
                                            <a:latin typeface="Cambria Math" panose="02040503050406030204" pitchFamily="18" charset="0"/>
                                          </a:rPr>
                                        </m:ctrlPr>
                                      </m:dPr>
                                      <m:e>
                                        <m:r>
                                          <a:rPr lang="en-US" i="1" dirty="0">
                                            <a:latin typeface="Cambria Math" panose="02040503050406030204" pitchFamily="18" charset="0"/>
                                          </a:rPr>
                                          <m:t>𝑡</m:t>
                                        </m:r>
                                      </m:e>
                                    </m:d>
                                  </m:sup>
                                </m:sSubSup>
                              </m:e>
                            </m:mr>
                          </m:m>
                        </m:e>
                      </m:d>
                      <m:r>
                        <a:rPr lang="en-US" i="1" dirty="0">
                          <a:latin typeface="Cambria Math" panose="02040503050406030204" pitchFamily="18" charset="0"/>
                        </a:rPr>
                        <m:t>→</m:t>
                      </m:r>
                      <m:r>
                        <a:rPr lang="en-US" i="1" dirty="0">
                          <a:latin typeface="Cambria Math" panose="02040503050406030204" pitchFamily="18" charset="0"/>
                        </a:rPr>
                        <m:t>𝑔</m:t>
                      </m:r>
                      <m:d>
                        <m:dPr>
                          <m:begChr m:val="["/>
                          <m:endChr m:val="]"/>
                          <m:ctrlPr>
                            <a:rPr lang="en-US" i="1" dirty="0">
                              <a:latin typeface="Cambria Math" panose="02040503050406030204" pitchFamily="18" charset="0"/>
                            </a:rPr>
                          </m:ctrlPr>
                        </m:dPr>
                        <m:e>
                          <m:m>
                            <m:mPr>
                              <m:mcs>
                                <m:mc>
                                  <m:mcPr>
                                    <m:count m:val="1"/>
                                    <m:mcJc m:val="center"/>
                                  </m:mcPr>
                                </m:mc>
                              </m:mcs>
                              <m:ctrlPr>
                                <a:rPr lang="en-US" i="1" dirty="0">
                                  <a:latin typeface="Cambria Math" panose="02040503050406030204" pitchFamily="18" charset="0"/>
                                </a:rPr>
                              </m:ctrlPr>
                            </m:mPr>
                            <m:mr>
                              <m:e>
                                <m:sSubSup>
                                  <m:sSubSupPr>
                                    <m:ctrlPr>
                                      <a:rPr lang="en-US" i="1" dirty="0">
                                        <a:latin typeface="Cambria Math" panose="02040503050406030204" pitchFamily="18" charset="0"/>
                                      </a:rPr>
                                    </m:ctrlPr>
                                  </m:sSubSupPr>
                                  <m:e>
                                    <m:r>
                                      <a:rPr lang="en-US" i="1" dirty="0">
                                        <a:latin typeface="Cambria Math" panose="02040503050406030204" pitchFamily="18" charset="0"/>
                                      </a:rPr>
                                      <m:t>𝛼</m:t>
                                    </m:r>
                                  </m:e>
                                  <m:sub>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𝑖</m:t>
                                        </m:r>
                                      </m:sub>
                                    </m:sSub>
                                  </m:sub>
                                  <m:sup>
                                    <m:d>
                                      <m:dPr>
                                        <m:ctrlPr>
                                          <a:rPr lang="en-US" i="1" dirty="0">
                                            <a:latin typeface="Cambria Math" panose="02040503050406030204" pitchFamily="18" charset="0"/>
                                          </a:rPr>
                                        </m:ctrlPr>
                                      </m:dPr>
                                      <m:e>
                                        <m:r>
                                          <a:rPr lang="en-US" i="1" dirty="0">
                                            <a:latin typeface="Cambria Math" panose="02040503050406030204" pitchFamily="18" charset="0"/>
                                          </a:rPr>
                                          <m:t>𝑡</m:t>
                                        </m:r>
                                      </m:e>
                                    </m:d>
                                  </m:sup>
                                </m:sSubSup>
                              </m:e>
                            </m:mr>
                            <m:mr>
                              <m:e>
                                <m:sSubSup>
                                  <m:sSubSupPr>
                                    <m:ctrlPr>
                                      <a:rPr lang="en-US" i="1" dirty="0">
                                        <a:latin typeface="Cambria Math" panose="02040503050406030204" pitchFamily="18" charset="0"/>
                                      </a:rPr>
                                    </m:ctrlPr>
                                  </m:sSubSupPr>
                                  <m:e>
                                    <m:r>
                                      <a:rPr lang="en-US" i="1" dirty="0">
                                        <a:latin typeface="Cambria Math" panose="02040503050406030204" pitchFamily="18" charset="0"/>
                                      </a:rPr>
                                      <m:t>𝛼</m:t>
                                    </m:r>
                                  </m:e>
                                  <m:sub>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𝑖</m:t>
                                        </m:r>
                                      </m:sub>
                                    </m:sSub>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2</m:t>
                                        </m:r>
                                      </m:e>
                                      <m:sup>
                                        <m:r>
                                          <a:rPr lang="en-US" i="1" dirty="0">
                                            <a:latin typeface="Cambria Math" panose="02040503050406030204" pitchFamily="18" charset="0"/>
                                          </a:rPr>
                                          <m:t>𝑤</m:t>
                                        </m:r>
                                      </m:sup>
                                    </m:sSup>
                                  </m:sub>
                                  <m:sup>
                                    <m:d>
                                      <m:dPr>
                                        <m:ctrlPr>
                                          <a:rPr lang="en-US" i="1" dirty="0">
                                            <a:latin typeface="Cambria Math" panose="02040503050406030204" pitchFamily="18" charset="0"/>
                                          </a:rPr>
                                        </m:ctrlPr>
                                      </m:dPr>
                                      <m:e>
                                        <m:r>
                                          <a:rPr lang="en-US" i="1" dirty="0">
                                            <a:latin typeface="Cambria Math" panose="02040503050406030204" pitchFamily="18" charset="0"/>
                                          </a:rPr>
                                          <m:t>𝑡</m:t>
                                        </m:r>
                                      </m:e>
                                    </m:d>
                                  </m:sup>
                                </m:sSubSup>
                              </m:e>
                            </m:mr>
                          </m:m>
                        </m:e>
                      </m:d>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m>
                            <m:mPr>
                              <m:mcs>
                                <m:mc>
                                  <m:mcPr>
                                    <m:count m:val="1"/>
                                    <m:mcJc m:val="center"/>
                                  </m:mcPr>
                                </m:mc>
                              </m:mcs>
                              <m:ctrlPr>
                                <a:rPr lang="en-US" i="1" dirty="0">
                                  <a:latin typeface="Cambria Math" panose="02040503050406030204" pitchFamily="18" charset="0"/>
                                </a:rPr>
                              </m:ctrlPr>
                            </m:mPr>
                            <m:mr>
                              <m:e>
                                <m:sSubSup>
                                  <m:sSubSupPr>
                                    <m:ctrlPr>
                                      <a:rPr lang="en-US" i="1" dirty="0">
                                        <a:latin typeface="Cambria Math" panose="02040503050406030204" pitchFamily="18" charset="0"/>
                                      </a:rPr>
                                    </m:ctrlPr>
                                  </m:sSubSupPr>
                                  <m:e>
                                    <m:r>
                                      <a:rPr lang="en-US" i="1" dirty="0">
                                        <a:latin typeface="Cambria Math" panose="02040503050406030204" pitchFamily="18" charset="0"/>
                                      </a:rPr>
                                      <m:t>𝛼</m:t>
                                    </m:r>
                                  </m:e>
                                  <m:sub>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𝑖</m:t>
                                        </m:r>
                                      </m:sub>
                                    </m:sSub>
                                  </m:sub>
                                  <m:sup>
                                    <m:d>
                                      <m:dPr>
                                        <m:ctrlPr>
                                          <a:rPr lang="en-US" i="1" dirty="0">
                                            <a:latin typeface="Cambria Math" panose="02040503050406030204" pitchFamily="18" charset="0"/>
                                          </a:rPr>
                                        </m:ctrlPr>
                                      </m:dPr>
                                      <m:e>
                                        <m:r>
                                          <a:rPr lang="en-US" i="1" dirty="0">
                                            <a:latin typeface="Cambria Math" panose="02040503050406030204" pitchFamily="18" charset="0"/>
                                          </a:rPr>
                                          <m:t>𝑡</m:t>
                                        </m:r>
                                        <m:r>
                                          <a:rPr lang="en-US" i="1" dirty="0">
                                            <a:latin typeface="Cambria Math" panose="02040503050406030204" pitchFamily="18" charset="0"/>
                                          </a:rPr>
                                          <m:t>+1</m:t>
                                        </m:r>
                                      </m:e>
                                    </m:d>
                                  </m:sup>
                                </m:sSubSup>
                              </m:e>
                            </m:mr>
                            <m:mr>
                              <m:e>
                                <m:sSubSup>
                                  <m:sSubSupPr>
                                    <m:ctrlPr>
                                      <a:rPr lang="en-US" i="1" dirty="0">
                                        <a:latin typeface="Cambria Math" panose="02040503050406030204" pitchFamily="18" charset="0"/>
                                      </a:rPr>
                                    </m:ctrlPr>
                                  </m:sSubSupPr>
                                  <m:e>
                                    <m:r>
                                      <a:rPr lang="en-US" i="1" dirty="0">
                                        <a:latin typeface="Cambria Math" panose="02040503050406030204" pitchFamily="18" charset="0"/>
                                      </a:rPr>
                                      <m:t>𝛼</m:t>
                                    </m:r>
                                  </m:e>
                                  <m:sub>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𝑖</m:t>
                                        </m:r>
                                      </m:sub>
                                    </m:sSub>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2</m:t>
                                        </m:r>
                                      </m:e>
                                      <m:sup>
                                        <m:r>
                                          <a:rPr lang="en-US" i="1" dirty="0">
                                            <a:latin typeface="Cambria Math" panose="02040503050406030204" pitchFamily="18" charset="0"/>
                                          </a:rPr>
                                          <m:t>𝑤</m:t>
                                        </m:r>
                                      </m:sup>
                                    </m:sSup>
                                  </m:sub>
                                  <m:sup>
                                    <m:d>
                                      <m:dPr>
                                        <m:ctrlPr>
                                          <a:rPr lang="en-US" i="1" dirty="0">
                                            <a:latin typeface="Cambria Math" panose="02040503050406030204" pitchFamily="18" charset="0"/>
                                          </a:rPr>
                                        </m:ctrlPr>
                                      </m:dPr>
                                      <m:e>
                                        <m:r>
                                          <a:rPr lang="en-US" i="1" dirty="0">
                                            <a:latin typeface="Cambria Math" panose="02040503050406030204" pitchFamily="18" charset="0"/>
                                          </a:rPr>
                                          <m:t>𝑡</m:t>
                                        </m:r>
                                        <m:r>
                                          <a:rPr lang="en-US" i="1" dirty="0">
                                            <a:latin typeface="Cambria Math" panose="02040503050406030204" pitchFamily="18" charset="0"/>
                                          </a:rPr>
                                          <m:t>+1</m:t>
                                        </m:r>
                                      </m:e>
                                    </m:d>
                                  </m:sup>
                                </m:sSubSup>
                              </m:e>
                            </m:mr>
                          </m:m>
                        </m:e>
                      </m:d>
                    </m:oMath>
                  </m:oMathPara>
                </a14:m>
                <a:endParaRPr lang="en-US" dirty="0"/>
              </a:p>
            </p:txBody>
          </p:sp>
        </mc:Choice>
        <mc:Fallback>
          <p:sp>
            <p:nvSpPr>
              <p:cNvPr id="22" name="TextBox 21">
                <a:extLst>
                  <a:ext uri="{FF2B5EF4-FFF2-40B4-BE49-F238E27FC236}">
                    <a16:creationId xmlns:a16="http://schemas.microsoft.com/office/drawing/2014/main" id="{33D13F56-8795-3035-B817-56B2302C99D1}"/>
                  </a:ext>
                </a:extLst>
              </p:cNvPr>
              <p:cNvSpPr txBox="1">
                <a:spLocks noRot="1" noChangeAspect="1" noMove="1" noResize="1" noEditPoints="1" noAdjustHandles="1" noChangeArrowheads="1" noChangeShapeType="1" noTextEdit="1"/>
              </p:cNvSpPr>
              <p:nvPr/>
            </p:nvSpPr>
            <p:spPr>
              <a:xfrm>
                <a:off x="419321" y="5560689"/>
                <a:ext cx="4317780" cy="893834"/>
              </a:xfrm>
              <a:prstGeom prst="rect">
                <a:avLst/>
              </a:prstGeom>
              <a:blipFill>
                <a:blip r:embed="rId6"/>
                <a:stretch>
                  <a:fillRect/>
                </a:stretch>
              </a:blipFill>
            </p:spPr>
            <p:txBody>
              <a:bodyPr/>
              <a:lstStyle/>
              <a:p>
                <a:r>
                  <a:rPr lang="en-VN">
                    <a:noFill/>
                  </a:rPr>
                  <a:t> </a:t>
                </a:r>
              </a:p>
            </p:txBody>
          </p:sp>
        </mc:Fallback>
      </mc:AlternateContent>
      <p:sp>
        <p:nvSpPr>
          <p:cNvPr id="24" name="TextBox 23">
            <a:extLst>
              <a:ext uri="{FF2B5EF4-FFF2-40B4-BE49-F238E27FC236}">
                <a16:creationId xmlns:a16="http://schemas.microsoft.com/office/drawing/2014/main" id="{F55D7801-751D-E889-D139-80A11B24E7DD}"/>
              </a:ext>
            </a:extLst>
          </p:cNvPr>
          <p:cNvSpPr txBox="1"/>
          <p:nvPr/>
        </p:nvSpPr>
        <p:spPr>
          <a:xfrm>
            <a:off x="5432437" y="5714784"/>
            <a:ext cx="6505769" cy="646331"/>
          </a:xfrm>
          <a:prstGeom prst="rect">
            <a:avLst/>
          </a:prstGeom>
          <a:noFill/>
        </p:spPr>
        <p:txBody>
          <a:bodyPr wrap="square">
            <a:spAutoFit/>
          </a:bodyPr>
          <a:lstStyle/>
          <a:p>
            <a:r>
              <a:rPr lang="en-US" b="1">
                <a:solidFill>
                  <a:srgbClr val="FF0000"/>
                </a:solidFill>
              </a:rPr>
              <a:t>Algorithm. </a:t>
            </a:r>
            <a:r>
              <a:rPr lang="en-US"/>
              <a:t>The </a:t>
            </a:r>
            <a:r>
              <a:rPr lang="en-US" dirty="0"/>
              <a:t>implementation of single- and multiple-qubit gates is unified into a common framework </a:t>
            </a:r>
          </a:p>
        </p:txBody>
      </p:sp>
      <mc:AlternateContent xmlns:mc="http://schemas.openxmlformats.org/markup-compatibility/2006">
        <mc:Choice xmlns:a14="http://schemas.microsoft.com/office/drawing/2010/main" Requires="a14">
          <p:graphicFrame>
            <p:nvGraphicFramePr>
              <p:cNvPr id="27" name="Table 26">
                <a:extLst>
                  <a:ext uri="{FF2B5EF4-FFF2-40B4-BE49-F238E27FC236}">
                    <a16:creationId xmlns:a16="http://schemas.microsoft.com/office/drawing/2014/main" id="{A024088B-E2AB-E5D3-735D-4DE7E0F54D3F}"/>
                  </a:ext>
                </a:extLst>
              </p:cNvPr>
              <p:cNvGraphicFramePr>
                <a:graphicFrameLocks noGrp="1"/>
              </p:cNvGraphicFramePr>
              <p:nvPr/>
            </p:nvGraphicFramePr>
            <p:xfrm>
              <a:off x="364948" y="1822815"/>
              <a:ext cx="5009450" cy="1883835"/>
            </p:xfrm>
            <a:graphic>
              <a:graphicData uri="http://schemas.openxmlformats.org/drawingml/2006/table">
                <a:tbl>
                  <a:tblPr firstRow="1" bandRow="1">
                    <a:tableStyleId>{5940675A-B579-460E-94D1-54222C63F5DA}</a:tableStyleId>
                  </a:tblPr>
                  <a:tblGrid>
                    <a:gridCol w="1190804">
                      <a:extLst>
                        <a:ext uri="{9D8B030D-6E8A-4147-A177-3AD203B41FA5}">
                          <a16:colId xmlns:a16="http://schemas.microsoft.com/office/drawing/2014/main" val="166312312"/>
                        </a:ext>
                      </a:extLst>
                    </a:gridCol>
                    <a:gridCol w="1873251">
                      <a:extLst>
                        <a:ext uri="{9D8B030D-6E8A-4147-A177-3AD203B41FA5}">
                          <a16:colId xmlns:a16="http://schemas.microsoft.com/office/drawing/2014/main" val="772765458"/>
                        </a:ext>
                      </a:extLst>
                    </a:gridCol>
                    <a:gridCol w="1945395">
                      <a:extLst>
                        <a:ext uri="{9D8B030D-6E8A-4147-A177-3AD203B41FA5}">
                          <a16:colId xmlns:a16="http://schemas.microsoft.com/office/drawing/2014/main" val="1489928785"/>
                        </a:ext>
                      </a:extLst>
                    </a:gridCol>
                  </a:tblGrid>
                  <a:tr h="627945">
                    <a:tc>
                      <a:txBody>
                        <a:bodyPr/>
                        <a:lstStyle/>
                        <a:p>
                          <a:pPr lvl="0" algn="ctr"/>
                          <a:r>
                            <a:rPr lang="en-US" sz="2000" b="1" dirty="0">
                              <a:solidFill>
                                <a:schemeClr val="tx1"/>
                              </a:solidFill>
                            </a:rPr>
                            <a:t>Op</a:t>
                          </a:r>
                        </a:p>
                      </a:txBody>
                      <a:tcPr anchor="ctr"/>
                    </a:tc>
                    <a:tc>
                      <a:txBody>
                        <a:bodyPr/>
                        <a:lstStyle/>
                        <a:p>
                          <a:pPr lvl="0" algn="ctr"/>
                          <a:r>
                            <a:rPr lang="en-US" sz="2000" b="1" dirty="0">
                              <a:solidFill>
                                <a:schemeClr val="tx1"/>
                              </a:solidFill>
                            </a:rPr>
                            <a:t>Wave-function</a:t>
                          </a:r>
                        </a:p>
                      </a:txBody>
                      <a:tcPr anchor="ctr"/>
                    </a:tc>
                    <a:tc>
                      <a:txBody>
                        <a:bodyPr/>
                        <a:lstStyle/>
                        <a:p>
                          <a:pPr lvl="0" algn="ctr"/>
                          <a:r>
                            <a:rPr lang="en-US" sz="2000" b="1" dirty="0">
                              <a:solidFill>
                                <a:schemeClr val="tx1"/>
                              </a:solidFill>
                            </a:rPr>
                            <a:t>Density-matrix</a:t>
                          </a:r>
                        </a:p>
                      </a:txBody>
                      <a:tcPr anchor="ctr"/>
                    </a:tc>
                    <a:extLst>
                      <a:ext uri="{0D108BD9-81ED-4DB2-BD59-A6C34878D82A}">
                        <a16:rowId xmlns:a16="http://schemas.microsoft.com/office/drawing/2014/main" val="4265103887"/>
                      </a:ext>
                    </a:extLst>
                  </a:tr>
                  <a:tr h="627945">
                    <a:tc>
                      <a:txBody>
                        <a:bodyPr/>
                        <a:lstStyle/>
                        <a:p>
                          <a:pPr lvl="0"/>
                          <a:r>
                            <a:rPr lang="en-US" sz="2000" dirty="0">
                              <a:solidFill>
                                <a:schemeClr val="tx1"/>
                              </a:solidFill>
                            </a:rPr>
                            <a:t>Mul/gate</a:t>
                          </a:r>
                        </a:p>
                      </a:txBody>
                      <a:tcPr anchor="ctr"/>
                    </a:tc>
                    <a:tc>
                      <a:txBody>
                        <a:bodyPr/>
                        <a:lstStyle/>
                        <a:p>
                          <a:pPr lvl="0"/>
                          <a14:m>
                            <m:oMath xmlns:m="http://schemas.openxmlformats.org/officeDocument/2006/math">
                              <m:sSup>
                                <m:sSupPr>
                                  <m:ctrlPr>
                                    <a:rPr lang="vi-VN" sz="2000" b="0" i="1" dirty="0" smtClean="0">
                                      <a:latin typeface="Cambria Math" panose="02040503050406030204" pitchFamily="18" charset="0"/>
                                    </a:rPr>
                                  </m:ctrlPr>
                                </m:sSupPr>
                                <m:e>
                                  <m:r>
                                    <a:rPr lang="en-US" sz="2000" i="1" dirty="0" smtClean="0">
                                      <a:latin typeface="Cambria Math" panose="02040503050406030204" pitchFamily="18" charset="0"/>
                                    </a:rPr>
                                    <m:t>2</m:t>
                                  </m:r>
                                </m:e>
                                <m:sup>
                                  <m:r>
                                    <a:rPr lang="en-US" sz="2000" i="1" dirty="0" smtClean="0">
                                      <a:latin typeface="Cambria Math" panose="02040503050406030204" pitchFamily="18" charset="0"/>
                                    </a:rPr>
                                    <m:t>𝑛</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acc>
                                        <m:accPr>
                                          <m:chr m:val="̂"/>
                                          <m:ctrlPr>
                                            <a:rPr lang="en-US" sz="2000" b="0" i="1" dirty="0" smtClean="0">
                                              <a:latin typeface="Cambria Math" panose="02040503050406030204" pitchFamily="18" charset="0"/>
                                            </a:rPr>
                                          </m:ctrlPr>
                                        </m:accPr>
                                        <m:e>
                                          <m:r>
                                            <a:rPr lang="en-US" sz="2000" i="1" dirty="0">
                                              <a:latin typeface="Cambria Math" panose="02040503050406030204" pitchFamily="18" charset="0"/>
                                            </a:rPr>
                                            <m:t>𝑛</m:t>
                                          </m:r>
                                        </m:e>
                                      </m:acc>
                                    </m:e>
                                    <m:sub>
                                      <m:r>
                                        <a:rPr lang="en-US" sz="2000" b="0" i="1" dirty="0" smtClean="0">
                                          <a:latin typeface="Cambria Math" panose="02040503050406030204" pitchFamily="18" charset="0"/>
                                        </a:rPr>
                                        <m:t>𝑗</m:t>
                                      </m:r>
                                    </m:sub>
                                  </m:sSub>
                                  <m:r>
                                    <a:rPr lang="en-US" sz="2000" i="1" dirty="0" smtClean="0">
                                      <a:latin typeface="Cambria Math" panose="02040503050406030204" pitchFamily="18" charset="0"/>
                                    </a:rPr>
                                    <m:t>+1</m:t>
                                  </m:r>
                                </m:sup>
                              </m:sSup>
                            </m:oMath>
                          </a14:m>
                          <a:r>
                            <a:rPr lang="en-US" sz="2000" dirty="0">
                              <a:solidFill>
                                <a:schemeClr val="tx1"/>
                              </a:solidFill>
                            </a:rPr>
                            <a:t> (</a:t>
                          </a:r>
                          <a14:m>
                            <m:oMath xmlns:m="http://schemas.openxmlformats.org/officeDocument/2006/math">
                              <m:r>
                                <a:rPr lang="en-US" sz="2000" i="1" dirty="0" smtClean="0">
                                  <a:solidFill>
                                    <a:schemeClr val="tx1"/>
                                  </a:solidFill>
                                  <a:latin typeface="Cambria Math" panose="02040503050406030204" pitchFamily="18" charset="0"/>
                                  <a:ea typeface="Cambria Math" panose="02040503050406030204" pitchFamily="18" charset="0"/>
                                </a:rPr>
                                <m:t>†</m:t>
                              </m:r>
                            </m:oMath>
                          </a14:m>
                          <a:r>
                            <a:rPr lang="en-US" sz="2000" dirty="0">
                              <a:solidFill>
                                <a:schemeClr val="tx1"/>
                              </a:solidFill>
                            </a:rPr>
                            <a:t>)</a:t>
                          </a:r>
                        </a:p>
                      </a:txBody>
                      <a:tcPr anchor="ctr"/>
                    </a:tc>
                    <a:tc>
                      <a:txBody>
                        <a:bodyPr/>
                        <a:lstStyle/>
                        <a:p>
                          <a:pPr lvl="0" algn="l"/>
                          <a14:m>
                            <m:oMath xmlns:m="http://schemas.openxmlformats.org/officeDocument/2006/math">
                              <m:sSup>
                                <m:sSupPr>
                                  <m:ctrlPr>
                                    <a:rPr lang="en-US" sz="2000" i="1" dirty="0" smtClean="0">
                                      <a:latin typeface="Cambria Math" panose="02040503050406030204" pitchFamily="18" charset="0"/>
                                    </a:rPr>
                                  </m:ctrlPr>
                                </m:sSupPr>
                                <m:e>
                                  <m:r>
                                    <a:rPr lang="en-US" sz="2000" i="1" dirty="0" smtClean="0">
                                      <a:latin typeface="Cambria Math" panose="02040503050406030204" pitchFamily="18" charset="0"/>
                                    </a:rPr>
                                    <m:t>2</m:t>
                                  </m:r>
                                </m:e>
                                <m:sup>
                                  <m:r>
                                    <a:rPr lang="en-US" sz="2000" i="1" dirty="0" smtClean="0">
                                      <a:latin typeface="Cambria Math" panose="02040503050406030204" pitchFamily="18" charset="0"/>
                                    </a:rPr>
                                    <m:t>2</m:t>
                                  </m:r>
                                  <m:r>
                                    <a:rPr lang="en-US" sz="2000" i="1" dirty="0" smtClean="0">
                                      <a:latin typeface="Cambria Math" panose="02040503050406030204" pitchFamily="18" charset="0"/>
                                    </a:rPr>
                                    <m:t>𝑛</m:t>
                                  </m:r>
                                </m:sup>
                              </m:sSup>
                            </m:oMath>
                          </a14:m>
                          <a:r>
                            <a:rPr lang="en-US" sz="2000" dirty="0"/>
                            <a:t> </a:t>
                          </a:r>
                          <a:endParaRPr lang="en-US" sz="2000" dirty="0">
                            <a:solidFill>
                              <a:schemeClr val="tx1"/>
                            </a:solidFill>
                          </a:endParaRPr>
                        </a:p>
                      </a:txBody>
                      <a:tcPr anchor="ctr"/>
                    </a:tc>
                    <a:extLst>
                      <a:ext uri="{0D108BD9-81ED-4DB2-BD59-A6C34878D82A}">
                        <a16:rowId xmlns:a16="http://schemas.microsoft.com/office/drawing/2014/main" val="2208258994"/>
                      </a:ext>
                    </a:extLst>
                  </a:tr>
                  <a:tr h="627945">
                    <a:tc>
                      <a:txBody>
                        <a:bodyPr/>
                        <a:lstStyle/>
                        <a:p>
                          <a:pPr lvl="0"/>
                          <a:r>
                            <a:rPr lang="en-US" sz="2000" dirty="0">
                              <a:solidFill>
                                <a:schemeClr val="tx1"/>
                              </a:solidFill>
                            </a:rPr>
                            <a:t>Add/gate</a:t>
                          </a:r>
                        </a:p>
                      </a:txBody>
                      <a:tcPr anchor="ctr"/>
                    </a:tc>
                    <a:tc>
                      <a:txBody>
                        <a:bodyPr/>
                        <a:lstStyle/>
                        <a:p>
                          <a:pPr lvl="0"/>
                          <a14:m>
                            <m:oMath xmlns:m="http://schemas.openxmlformats.org/officeDocument/2006/math">
                              <m:sSup>
                                <m:sSupPr>
                                  <m:ctrlPr>
                                    <a:rPr lang="vi-VN" sz="2000" b="0" i="1" dirty="0" smtClean="0">
                                      <a:latin typeface="Cambria Math" panose="02040503050406030204" pitchFamily="18" charset="0"/>
                                    </a:rPr>
                                  </m:ctrlPr>
                                </m:sSupPr>
                                <m:e>
                                  <m:r>
                                    <a:rPr lang="en-US" sz="2000" i="1" dirty="0" smtClean="0">
                                      <a:latin typeface="Cambria Math" panose="02040503050406030204" pitchFamily="18" charset="0"/>
                                    </a:rPr>
                                    <m:t>2</m:t>
                                  </m:r>
                                </m:e>
                                <m:sup>
                                  <m:r>
                                    <a:rPr lang="en-US" sz="2000" i="1" dirty="0" smtClean="0">
                                      <a:latin typeface="Cambria Math" panose="02040503050406030204" pitchFamily="18" charset="0"/>
                                    </a:rPr>
                                    <m:t>𝑛</m:t>
                                  </m:r>
                                  <m:r>
                                    <a:rPr lang="en-US" sz="2000" i="1" dirty="0" smtClean="0">
                                      <a:latin typeface="Cambria Math" panose="02040503050406030204" pitchFamily="18" charset="0"/>
                                    </a:rPr>
                                    <m:t>+</m:t>
                                  </m:r>
                                  <m:sSub>
                                    <m:sSubPr>
                                      <m:ctrlPr>
                                        <a:rPr lang="en-US" sz="2000" i="1" dirty="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𝑛</m:t>
                                          </m:r>
                                        </m:e>
                                      </m:acc>
                                    </m:e>
                                    <m:sub>
                                      <m:r>
                                        <a:rPr lang="en-US" sz="2000" i="1" dirty="0">
                                          <a:latin typeface="Cambria Math" panose="02040503050406030204" pitchFamily="18" charset="0"/>
                                        </a:rPr>
                                        <m:t>𝑗</m:t>
                                      </m:r>
                                    </m:sub>
                                  </m:sSub>
                                  <m:r>
                                    <a:rPr lang="en-US" sz="2000" i="1" dirty="0">
                                      <a:latin typeface="Cambria Math" panose="02040503050406030204" pitchFamily="18" charset="0"/>
                                    </a:rPr>
                                    <m:t>+1</m:t>
                                  </m:r>
                                </m:sup>
                              </m:sSup>
                            </m:oMath>
                          </a14:m>
                          <a:r>
                            <a:rPr lang="en-US" sz="2000" dirty="0">
                              <a:solidFill>
                                <a:schemeClr val="tx1"/>
                              </a:solidFill>
                            </a:rPr>
                            <a:t> (</a:t>
                          </a:r>
                          <a14:m>
                            <m:oMath xmlns:m="http://schemas.openxmlformats.org/officeDocument/2006/math">
                              <m:r>
                                <a:rPr lang="en-US" sz="2000" i="1" dirty="0" smtClean="0">
                                  <a:solidFill>
                                    <a:schemeClr val="tx1"/>
                                  </a:solidFill>
                                  <a:latin typeface="Cambria Math" panose="02040503050406030204" pitchFamily="18" charset="0"/>
                                  <a:ea typeface="Cambria Math" panose="02040503050406030204" pitchFamily="18" charset="0"/>
                                </a:rPr>
                                <m:t>†</m:t>
                              </m:r>
                            </m:oMath>
                          </a14:m>
                          <a:r>
                            <a:rPr lang="en-US" sz="2000" dirty="0">
                              <a:solidFill>
                                <a:schemeClr val="tx1"/>
                              </a:solidFill>
                            </a:rPr>
                            <a:t>)</a:t>
                          </a:r>
                        </a:p>
                      </a:txBody>
                      <a:tcPr anchor="ctr"/>
                    </a:tc>
                    <a:tc>
                      <a:txBody>
                        <a:bodyPr/>
                        <a:lstStyle/>
                        <a:p>
                          <a:pPr lvl="0" algn="l"/>
                          <a14:m>
                            <m:oMath xmlns:m="http://schemas.openxmlformats.org/officeDocument/2006/math">
                              <m:sSup>
                                <m:sSupPr>
                                  <m:ctrlPr>
                                    <a:rPr lang="en-US" sz="2000" b="0" i="1" dirty="0" smtClean="0">
                                      <a:latin typeface="Cambria Math" panose="02040503050406030204" pitchFamily="18" charset="0"/>
                                    </a:rPr>
                                  </m:ctrlPr>
                                </m:sSupPr>
                                <m:e>
                                  <m:r>
                                    <a:rPr lang="en-US" sz="2000" i="1" dirty="0" smtClean="0">
                                      <a:latin typeface="Cambria Math" panose="02040503050406030204" pitchFamily="18" charset="0"/>
                                    </a:rPr>
                                    <m:t>2</m:t>
                                  </m:r>
                                </m:e>
                                <m:sup>
                                  <m:r>
                                    <a:rPr lang="en-US" sz="2000" i="1" dirty="0">
                                      <a:latin typeface="Cambria Math" panose="02040503050406030204" pitchFamily="18" charset="0"/>
                                    </a:rPr>
                                    <m:t>2</m:t>
                                  </m:r>
                                  <m:r>
                                    <a:rPr lang="en-US" sz="2000" i="1" dirty="0">
                                      <a:latin typeface="Cambria Math" panose="02040503050406030204" pitchFamily="18" charset="0"/>
                                    </a:rPr>
                                    <m:t>𝑛</m:t>
                                  </m:r>
                                  <m:r>
                                    <a:rPr lang="en-US" sz="2000" i="1" dirty="0">
                                      <a:latin typeface="Cambria Math" panose="02040503050406030204" pitchFamily="18" charset="0"/>
                                    </a:rPr>
                                    <m:t>−2</m:t>
                                  </m:r>
                                </m:sup>
                              </m:sSup>
                            </m:oMath>
                          </a14:m>
                          <a:r>
                            <a:rPr lang="en-US" sz="2000" dirty="0">
                              <a:solidFill>
                                <a:schemeClr val="tx1"/>
                              </a:solidFill>
                            </a:rPr>
                            <a:t> </a:t>
                          </a:r>
                        </a:p>
                      </a:txBody>
                      <a:tcPr anchor="ctr"/>
                    </a:tc>
                    <a:extLst>
                      <a:ext uri="{0D108BD9-81ED-4DB2-BD59-A6C34878D82A}">
                        <a16:rowId xmlns:a16="http://schemas.microsoft.com/office/drawing/2014/main" val="4198557693"/>
                      </a:ext>
                    </a:extLst>
                  </a:tr>
                </a:tbl>
              </a:graphicData>
            </a:graphic>
          </p:graphicFrame>
        </mc:Choice>
        <mc:Fallback>
          <p:graphicFrame>
            <p:nvGraphicFramePr>
              <p:cNvPr id="27" name="Table 26">
                <a:extLst>
                  <a:ext uri="{FF2B5EF4-FFF2-40B4-BE49-F238E27FC236}">
                    <a16:creationId xmlns:a16="http://schemas.microsoft.com/office/drawing/2014/main" id="{A024088B-E2AB-E5D3-735D-4DE7E0F54D3F}"/>
                  </a:ext>
                </a:extLst>
              </p:cNvPr>
              <p:cNvGraphicFramePr>
                <a:graphicFrameLocks noGrp="1"/>
              </p:cNvGraphicFramePr>
              <p:nvPr/>
            </p:nvGraphicFramePr>
            <p:xfrm>
              <a:off x="364948" y="1822815"/>
              <a:ext cx="5009450" cy="1883835"/>
            </p:xfrm>
            <a:graphic>
              <a:graphicData uri="http://schemas.openxmlformats.org/drawingml/2006/table">
                <a:tbl>
                  <a:tblPr firstRow="1" bandRow="1">
                    <a:tableStyleId>{5940675A-B579-460E-94D1-54222C63F5DA}</a:tableStyleId>
                  </a:tblPr>
                  <a:tblGrid>
                    <a:gridCol w="1190804">
                      <a:extLst>
                        <a:ext uri="{9D8B030D-6E8A-4147-A177-3AD203B41FA5}">
                          <a16:colId xmlns:a16="http://schemas.microsoft.com/office/drawing/2014/main" val="166312312"/>
                        </a:ext>
                      </a:extLst>
                    </a:gridCol>
                    <a:gridCol w="1873251">
                      <a:extLst>
                        <a:ext uri="{9D8B030D-6E8A-4147-A177-3AD203B41FA5}">
                          <a16:colId xmlns:a16="http://schemas.microsoft.com/office/drawing/2014/main" val="772765458"/>
                        </a:ext>
                      </a:extLst>
                    </a:gridCol>
                    <a:gridCol w="1945395">
                      <a:extLst>
                        <a:ext uri="{9D8B030D-6E8A-4147-A177-3AD203B41FA5}">
                          <a16:colId xmlns:a16="http://schemas.microsoft.com/office/drawing/2014/main" val="1489928785"/>
                        </a:ext>
                      </a:extLst>
                    </a:gridCol>
                  </a:tblGrid>
                  <a:tr h="627945">
                    <a:tc>
                      <a:txBody>
                        <a:bodyPr/>
                        <a:lstStyle/>
                        <a:p>
                          <a:pPr lvl="0" algn="ctr"/>
                          <a:r>
                            <a:rPr lang="en-US" sz="2000" b="1" dirty="0">
                              <a:solidFill>
                                <a:schemeClr val="tx1"/>
                              </a:solidFill>
                            </a:rPr>
                            <a:t>Op</a:t>
                          </a:r>
                        </a:p>
                      </a:txBody>
                      <a:tcPr anchor="ctr"/>
                    </a:tc>
                    <a:tc>
                      <a:txBody>
                        <a:bodyPr/>
                        <a:lstStyle/>
                        <a:p>
                          <a:pPr lvl="0" algn="ctr"/>
                          <a:r>
                            <a:rPr lang="en-US" sz="2000" b="1" dirty="0">
                              <a:solidFill>
                                <a:schemeClr val="tx1"/>
                              </a:solidFill>
                            </a:rPr>
                            <a:t>Wave-function</a:t>
                          </a:r>
                        </a:p>
                      </a:txBody>
                      <a:tcPr anchor="ctr"/>
                    </a:tc>
                    <a:tc>
                      <a:txBody>
                        <a:bodyPr/>
                        <a:lstStyle/>
                        <a:p>
                          <a:pPr lvl="0" algn="ctr"/>
                          <a:r>
                            <a:rPr lang="en-US" sz="2000" b="1" dirty="0">
                              <a:solidFill>
                                <a:schemeClr val="tx1"/>
                              </a:solidFill>
                            </a:rPr>
                            <a:t>Density-matrix</a:t>
                          </a:r>
                        </a:p>
                      </a:txBody>
                      <a:tcPr anchor="ctr"/>
                    </a:tc>
                    <a:extLst>
                      <a:ext uri="{0D108BD9-81ED-4DB2-BD59-A6C34878D82A}">
                        <a16:rowId xmlns:a16="http://schemas.microsoft.com/office/drawing/2014/main" val="4265103887"/>
                      </a:ext>
                    </a:extLst>
                  </a:tr>
                  <a:tr h="627945">
                    <a:tc>
                      <a:txBody>
                        <a:bodyPr/>
                        <a:lstStyle/>
                        <a:p>
                          <a:pPr lvl="0"/>
                          <a:r>
                            <a:rPr lang="en-US" sz="2000" dirty="0">
                              <a:solidFill>
                                <a:schemeClr val="tx1"/>
                              </a:solidFill>
                            </a:rPr>
                            <a:t>Mul/gate</a:t>
                          </a:r>
                        </a:p>
                      </a:txBody>
                      <a:tcPr anchor="ctr"/>
                    </a:tc>
                    <a:tc>
                      <a:txBody>
                        <a:bodyPr/>
                        <a:lstStyle/>
                        <a:p>
                          <a:endParaRPr lang="en-VN"/>
                        </a:p>
                      </a:txBody>
                      <a:tcPr anchor="ctr">
                        <a:blipFill>
                          <a:blip r:embed="rId7"/>
                          <a:stretch>
                            <a:fillRect l="-64189" t="-104082" r="-104730" b="-106122"/>
                          </a:stretch>
                        </a:blipFill>
                      </a:tcPr>
                    </a:tc>
                    <a:tc>
                      <a:txBody>
                        <a:bodyPr/>
                        <a:lstStyle/>
                        <a:p>
                          <a:endParaRPr lang="en-VN"/>
                        </a:p>
                      </a:txBody>
                      <a:tcPr anchor="ctr">
                        <a:blipFill>
                          <a:blip r:embed="rId7"/>
                          <a:stretch>
                            <a:fillRect l="-157792" t="-104082" r="-649" b="-106122"/>
                          </a:stretch>
                        </a:blipFill>
                      </a:tcPr>
                    </a:tc>
                    <a:extLst>
                      <a:ext uri="{0D108BD9-81ED-4DB2-BD59-A6C34878D82A}">
                        <a16:rowId xmlns:a16="http://schemas.microsoft.com/office/drawing/2014/main" val="2208258994"/>
                      </a:ext>
                    </a:extLst>
                  </a:tr>
                  <a:tr h="627945">
                    <a:tc>
                      <a:txBody>
                        <a:bodyPr/>
                        <a:lstStyle/>
                        <a:p>
                          <a:pPr lvl="0"/>
                          <a:r>
                            <a:rPr lang="en-US" sz="2000" dirty="0">
                              <a:solidFill>
                                <a:schemeClr val="tx1"/>
                              </a:solidFill>
                            </a:rPr>
                            <a:t>Add/gate</a:t>
                          </a:r>
                        </a:p>
                      </a:txBody>
                      <a:tcPr anchor="ctr"/>
                    </a:tc>
                    <a:tc>
                      <a:txBody>
                        <a:bodyPr/>
                        <a:lstStyle/>
                        <a:p>
                          <a:endParaRPr lang="en-VN"/>
                        </a:p>
                      </a:txBody>
                      <a:tcPr anchor="ctr">
                        <a:blipFill>
                          <a:blip r:embed="rId7"/>
                          <a:stretch>
                            <a:fillRect l="-64189" t="-200000" r="-104730" b="-4000"/>
                          </a:stretch>
                        </a:blipFill>
                      </a:tcPr>
                    </a:tc>
                    <a:tc>
                      <a:txBody>
                        <a:bodyPr/>
                        <a:lstStyle/>
                        <a:p>
                          <a:endParaRPr lang="en-VN"/>
                        </a:p>
                      </a:txBody>
                      <a:tcPr anchor="ctr">
                        <a:blipFill>
                          <a:blip r:embed="rId7"/>
                          <a:stretch>
                            <a:fillRect l="-157792" t="-200000" r="-649" b="-4000"/>
                          </a:stretch>
                        </a:blipFill>
                      </a:tcPr>
                    </a:tc>
                    <a:extLst>
                      <a:ext uri="{0D108BD9-81ED-4DB2-BD59-A6C34878D82A}">
                        <a16:rowId xmlns:a16="http://schemas.microsoft.com/office/drawing/2014/main" val="4198557693"/>
                      </a:ext>
                    </a:extLst>
                  </a:tr>
                </a:tbl>
              </a:graphicData>
            </a:graphic>
          </p:graphicFrame>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2F83AD84-2466-E459-215F-DCCC93B9B555}"/>
                  </a:ext>
                </a:extLst>
              </p:cNvPr>
              <p:cNvSpPr txBox="1"/>
              <p:nvPr/>
            </p:nvSpPr>
            <p:spPr>
              <a:xfrm>
                <a:off x="247652" y="1054937"/>
                <a:ext cx="5126745" cy="391646"/>
              </a:xfrm>
              <a:prstGeom prst="rect">
                <a:avLst/>
              </a:prstGeom>
              <a:noFill/>
            </p:spPr>
            <p:txBody>
              <a:bodyPr wrap="square">
                <a:spAutoFit/>
              </a:bodyPr>
              <a:lstStyle/>
              <a:p>
                <a:r>
                  <a:rPr lang="en-US" b="1"/>
                  <a:t>Tab</a:t>
                </a:r>
                <a:r>
                  <a:rPr lang="en-US"/>
                  <a:t>. Comparison </a:t>
                </a:r>
                <a:r>
                  <a:rPr lang="en-US" dirty="0"/>
                  <a:t>between variants (</a:t>
                </a:r>
                <a14:m>
                  <m:oMath xmlns:m="http://schemas.openxmlformats.org/officeDocument/2006/math">
                    <m:r>
                      <a:rPr lang="en-US" i="1" dirty="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𝑛</m:t>
                            </m:r>
                          </m:e>
                        </m:acc>
                      </m:e>
                      <m:sub>
                        <m:r>
                          <a:rPr lang="en-US" i="1" dirty="0">
                            <a:latin typeface="Cambria Math" panose="02040503050406030204" pitchFamily="18" charset="0"/>
                          </a:rPr>
                          <m:t>𝑗</m:t>
                        </m:r>
                      </m:sub>
                    </m:sSub>
                    <m:r>
                      <a:rPr lang="en-US" i="1" dirty="0">
                        <a:latin typeface="Cambria Math" panose="02040503050406030204" pitchFamily="18" charset="0"/>
                      </a:rPr>
                      <m:t>∈ [1, 2]</m:t>
                    </m:r>
                  </m:oMath>
                </a14:m>
                <a:r>
                  <a:rPr lang="en-US" dirty="0"/>
                  <a:t> </a:t>
                </a:r>
              </a:p>
            </p:txBody>
          </p:sp>
        </mc:Choice>
        <mc:Fallback>
          <p:sp>
            <p:nvSpPr>
              <p:cNvPr id="29" name="TextBox 28">
                <a:extLst>
                  <a:ext uri="{FF2B5EF4-FFF2-40B4-BE49-F238E27FC236}">
                    <a16:creationId xmlns:a16="http://schemas.microsoft.com/office/drawing/2014/main" id="{2F83AD84-2466-E459-215F-DCCC93B9B555}"/>
                  </a:ext>
                </a:extLst>
              </p:cNvPr>
              <p:cNvSpPr txBox="1">
                <a:spLocks noRot="1" noChangeAspect="1" noMove="1" noResize="1" noEditPoints="1" noAdjustHandles="1" noChangeArrowheads="1" noChangeShapeType="1" noTextEdit="1"/>
              </p:cNvSpPr>
              <p:nvPr/>
            </p:nvSpPr>
            <p:spPr>
              <a:xfrm>
                <a:off x="247652" y="1054937"/>
                <a:ext cx="5126745" cy="391646"/>
              </a:xfrm>
              <a:prstGeom prst="rect">
                <a:avLst/>
              </a:prstGeom>
              <a:blipFill>
                <a:blip r:embed="rId8"/>
                <a:stretch>
                  <a:fillRect l="-988" t="-6452" b="-22581"/>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CB9E297F-7335-23C9-CF60-99342F0FFBF4}"/>
                  </a:ext>
                </a:extLst>
              </p:cNvPr>
              <p:cNvSpPr txBox="1"/>
              <p:nvPr/>
            </p:nvSpPr>
            <p:spPr>
              <a:xfrm>
                <a:off x="247651" y="3861794"/>
                <a:ext cx="5397500" cy="369332"/>
              </a:xfrm>
              <a:prstGeom prst="rect">
                <a:avLst/>
              </a:prstGeom>
              <a:noFill/>
            </p:spPr>
            <p:txBody>
              <a:bodyPr wrap="square">
                <a:spAutoFit/>
              </a:bodyPr>
              <a:lstStyle/>
              <a:p>
                <a:r>
                  <a:rPr lang="en-US" dirty="0"/>
                  <a:t>The final state is calculated through series of</a:t>
                </a:r>
                <a:r>
                  <a:rPr lang="pl-PL" dirty="0">
                    <a:ea typeface="Cambria Math" panose="02040503050406030204" pitchFamily="18" charset="0"/>
                  </a:rPr>
                  <a:t> </a:t>
                </a:r>
                <a14:m>
                  <m:oMath xmlns:m="http://schemas.openxmlformats.org/officeDocument/2006/math">
                    <m:r>
                      <a:rPr lang="pl-PL" i="1" dirty="0">
                        <a:latin typeface="Cambria Math" panose="02040503050406030204" pitchFamily="18" charset="0"/>
                        <a:ea typeface="Cambria Math" panose="02040503050406030204" pitchFamily="18" charset="0"/>
                      </a:rPr>
                      <m:t>𝒲</m:t>
                    </m:r>
                  </m:oMath>
                </a14:m>
                <a:r>
                  <a:rPr lang="en-US" dirty="0"/>
                  <a:t>: </a:t>
                </a:r>
              </a:p>
            </p:txBody>
          </p:sp>
        </mc:Choice>
        <mc:Fallback>
          <p:sp>
            <p:nvSpPr>
              <p:cNvPr id="30" name="TextBox 29">
                <a:extLst>
                  <a:ext uri="{FF2B5EF4-FFF2-40B4-BE49-F238E27FC236}">
                    <a16:creationId xmlns:a16="http://schemas.microsoft.com/office/drawing/2014/main" id="{CB9E297F-7335-23C9-CF60-99342F0FFBF4}"/>
                  </a:ext>
                </a:extLst>
              </p:cNvPr>
              <p:cNvSpPr txBox="1">
                <a:spLocks noRot="1" noChangeAspect="1" noMove="1" noResize="1" noEditPoints="1" noAdjustHandles="1" noChangeArrowheads="1" noChangeShapeType="1" noTextEdit="1"/>
              </p:cNvSpPr>
              <p:nvPr/>
            </p:nvSpPr>
            <p:spPr>
              <a:xfrm>
                <a:off x="247651" y="3861794"/>
                <a:ext cx="5397500" cy="369332"/>
              </a:xfrm>
              <a:prstGeom prst="rect">
                <a:avLst/>
              </a:prstGeom>
              <a:blipFill>
                <a:blip r:embed="rId9"/>
                <a:stretch>
                  <a:fillRect l="-939" t="-6452" b="-22581"/>
                </a:stretch>
              </a:blipFill>
            </p:spPr>
            <p:txBody>
              <a:bodyPr/>
              <a:lstStyle/>
              <a:p>
                <a:r>
                  <a:rPr lang="en-VN">
                    <a:noFill/>
                  </a:rPr>
                  <a:t> </a:t>
                </a:r>
              </a:p>
            </p:txBody>
          </p:sp>
        </mc:Fallback>
      </mc:AlternateContent>
      <p:sp>
        <p:nvSpPr>
          <p:cNvPr id="8" name="TextBox 7">
            <a:extLst>
              <a:ext uri="{FF2B5EF4-FFF2-40B4-BE49-F238E27FC236}">
                <a16:creationId xmlns:a16="http://schemas.microsoft.com/office/drawing/2014/main" id="{FA33C120-A5CB-69E7-61AC-07BB94682E65}"/>
              </a:ext>
            </a:extLst>
          </p:cNvPr>
          <p:cNvSpPr txBox="1">
            <a:spLocks/>
          </p:cNvSpPr>
          <p:nvPr/>
        </p:nvSpPr>
        <p:spPr>
          <a:xfrm>
            <a:off x="10236419" y="2515941"/>
            <a:ext cx="1765739" cy="369332"/>
          </a:xfrm>
          <a:prstGeom prst="rect">
            <a:avLst/>
          </a:prstGeom>
          <a:noFill/>
          <a:ln>
            <a:noFill/>
          </a:ln>
        </p:spPr>
        <p:txBody>
          <a:bodyPr wrap="square" rtlCol="0">
            <a:spAutoFit/>
          </a:bodyPr>
          <a:lstStyle/>
          <a:p>
            <a:r>
              <a:rPr lang="en-US" dirty="0">
                <a:solidFill>
                  <a:srgbClr val="FF0000"/>
                </a:solidFill>
              </a:rPr>
              <a:t>Depend on type</a:t>
            </a:r>
          </a:p>
        </p:txBody>
      </p:sp>
      <p:cxnSp>
        <p:nvCxnSpPr>
          <p:cNvPr id="10" name="Connector: Elbow 9">
            <a:extLst>
              <a:ext uri="{FF2B5EF4-FFF2-40B4-BE49-F238E27FC236}">
                <a16:creationId xmlns:a16="http://schemas.microsoft.com/office/drawing/2014/main" id="{1AF7815F-2CA1-6A7C-702E-D517C60BF378}"/>
              </a:ext>
            </a:extLst>
          </p:cNvPr>
          <p:cNvCxnSpPr>
            <a:cxnSpLocks/>
            <a:stCxn id="7" idx="2"/>
            <a:endCxn id="8" idx="1"/>
          </p:cNvCxnSpPr>
          <p:nvPr/>
        </p:nvCxnSpPr>
        <p:spPr>
          <a:xfrm rot="16200000" flipH="1">
            <a:off x="9446554" y="1910742"/>
            <a:ext cx="938272" cy="641457"/>
          </a:xfrm>
          <a:prstGeom prst="bentConnector2">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421DE3B1-7ABB-1D77-288C-9D38B9F42EFE}"/>
              </a:ext>
            </a:extLst>
          </p:cNvPr>
          <p:cNvSpPr/>
          <p:nvPr/>
        </p:nvSpPr>
        <p:spPr>
          <a:xfrm>
            <a:off x="3361166" y="1759210"/>
            <a:ext cx="2071271" cy="20067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333F519-5377-6CEE-8BED-C0870A727F32}"/>
              </a:ext>
            </a:extLst>
          </p:cNvPr>
          <p:cNvSpPr txBox="1"/>
          <p:nvPr/>
        </p:nvSpPr>
        <p:spPr>
          <a:xfrm>
            <a:off x="2646948" y="1372063"/>
            <a:ext cx="3841160" cy="369332"/>
          </a:xfrm>
          <a:prstGeom prst="rect">
            <a:avLst/>
          </a:prstGeom>
          <a:noFill/>
        </p:spPr>
        <p:txBody>
          <a:bodyPr wrap="square" rtlCol="0">
            <a:spAutoFit/>
          </a:bodyPr>
          <a:lstStyle/>
          <a:p>
            <a:r>
              <a:rPr lang="en-US" dirty="0">
                <a:solidFill>
                  <a:srgbClr val="FF0000"/>
                </a:solidFill>
              </a:rPr>
              <a:t>Matrix-vector multiplication</a:t>
            </a:r>
          </a:p>
        </p:txBody>
      </p:sp>
      <p:sp>
        <p:nvSpPr>
          <p:cNvPr id="15" name="Title 1">
            <a:extLst>
              <a:ext uri="{FF2B5EF4-FFF2-40B4-BE49-F238E27FC236}">
                <a16:creationId xmlns:a16="http://schemas.microsoft.com/office/drawing/2014/main" id="{94E1E136-AB34-DBA2-FEA1-FF801515C9DC}"/>
              </a:ext>
            </a:extLst>
          </p:cNvPr>
          <p:cNvSpPr txBox="1">
            <a:spLocks/>
          </p:cNvSpPr>
          <p:nvPr/>
        </p:nvSpPr>
        <p:spPr>
          <a:xfrm>
            <a:off x="271138" y="-94720"/>
            <a:ext cx="8621889" cy="1325563"/>
          </a:xfrm>
          <a:prstGeom prst="rect">
            <a:avLst/>
          </a:prstGeom>
        </p:spPr>
        <p:txBody>
          <a:bodyPr vert="horz" lIns="121920" tIns="60960" rIns="121920" bIns="6096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733"/>
              <a:t>3.1. Quantum simulation</a:t>
            </a:r>
            <a:br>
              <a:rPr lang="en-US" sz="3200"/>
            </a:br>
            <a:r>
              <a:rPr lang="en-US" sz="2667"/>
              <a:t>State vector</a:t>
            </a:r>
            <a:endParaRPr lang="en-US" sz="2667" dirty="0"/>
          </a:p>
        </p:txBody>
      </p:sp>
    </p:spTree>
    <p:extLst>
      <p:ext uri="{BB962C8B-B14F-4D97-AF65-F5344CB8AC3E}">
        <p14:creationId xmlns:p14="http://schemas.microsoft.com/office/powerpoint/2010/main" val="5422571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7368D-05B6-C7A0-06BB-96CD5B106342}"/>
              </a:ext>
            </a:extLst>
          </p:cNvPr>
          <p:cNvSpPr>
            <a:spLocks noGrp="1"/>
          </p:cNvSpPr>
          <p:nvPr>
            <p:ph type="title"/>
          </p:nvPr>
        </p:nvSpPr>
        <p:spPr>
          <a:xfrm>
            <a:off x="838200" y="2"/>
            <a:ext cx="10515600" cy="1231175"/>
          </a:xfrm>
        </p:spPr>
        <p:txBody>
          <a:bodyPr>
            <a:normAutofit/>
          </a:bodyPr>
          <a:lstStyle/>
          <a:p>
            <a:r>
              <a:rPr lang="en-US"/>
              <a:t>3.2. </a:t>
            </a:r>
            <a:r>
              <a:rPr lang="en-US" sz="4800"/>
              <a:t>Quantum simulation</a:t>
            </a:r>
            <a:br>
              <a:rPr lang="en-US" sz="4800"/>
            </a:br>
            <a:r>
              <a:rPr lang="en-US" sz="2667"/>
              <a:t>Stabilizer formalism</a:t>
            </a:r>
            <a:endParaRPr lang="en-US" sz="2667" dirty="0"/>
          </a:p>
        </p:txBody>
      </p:sp>
      <p:sp>
        <p:nvSpPr>
          <p:cNvPr id="4" name="Slide Number Placeholder 3">
            <a:extLst>
              <a:ext uri="{FF2B5EF4-FFF2-40B4-BE49-F238E27FC236}">
                <a16:creationId xmlns:a16="http://schemas.microsoft.com/office/drawing/2014/main" id="{54F4F71E-6B5D-0DD0-6A7B-C128AFC53F7C}"/>
              </a:ext>
            </a:extLst>
          </p:cNvPr>
          <p:cNvSpPr>
            <a:spLocks noGrp="1"/>
          </p:cNvSpPr>
          <p:nvPr>
            <p:ph type="sldNum" sz="quarter" idx="12"/>
          </p:nvPr>
        </p:nvSpPr>
        <p:spPr/>
        <p:txBody>
          <a:bodyPr/>
          <a:lstStyle/>
          <a:p>
            <a:fld id="{3C0C221A-CB66-4297-9A52-937C35126D0C}" type="slidenum">
              <a:rPr lang="en-US" smtClean="0"/>
              <a:t>24</a:t>
            </a:fld>
            <a:endParaRPr lang="en-US"/>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8407812-9264-5E5D-C6EF-4163B7838C7A}"/>
                  </a:ext>
                </a:extLst>
              </p:cNvPr>
              <p:cNvSpPr txBox="1"/>
              <p:nvPr/>
            </p:nvSpPr>
            <p:spPr>
              <a:xfrm>
                <a:off x="817584" y="1063747"/>
                <a:ext cx="4823147" cy="1928605"/>
              </a:xfrm>
              <a:prstGeom prst="rect">
                <a:avLst/>
              </a:prstGeom>
              <a:noFill/>
            </p:spPr>
            <p:txBody>
              <a:bodyPr wrap="square" rtlCol="0">
                <a:spAutoFit/>
              </a:bodyPr>
              <a:lstStyle/>
              <a:p>
                <a:r>
                  <a:rPr lang="en-US" dirty="0"/>
                  <a:t>A stabilizer state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𝜓</m:t>
                    </m:r>
                    <m:r>
                      <a:rPr lang="en-US" i="1">
                        <a:latin typeface="Cambria Math" panose="02040503050406030204" pitchFamily="18" charset="0"/>
                      </a:rPr>
                      <m:t>⟩</m:t>
                    </m:r>
                  </m:oMath>
                </a14:m>
                <a:r>
                  <a:rPr lang="en-US" dirty="0"/>
                  <a:t> can be represented as </a:t>
                </a:r>
                <a:r>
                  <a:rPr lang="en-US" b="1" dirty="0"/>
                  <a:t>stabilizer generators</a:t>
                </a:r>
                <a:r>
                  <a:rPr lang="en-US" dirty="0"/>
                  <a:t>:</a:t>
                </a:r>
              </a:p>
              <a:p>
                <a:endParaRPr lang="en-US" dirty="0"/>
              </a:p>
              <a:p>
                <a:pPr lvl="1"/>
                <a14:m>
                  <m:oMath xmlns:m="http://schemas.openxmlformats.org/officeDocument/2006/math">
                    <m:r>
                      <a:rPr lang="en-US" i="1">
                        <a:latin typeface="Cambria Math" panose="02040503050406030204" pitchFamily="18" charset="0"/>
                      </a:rPr>
                      <m:t>𝐺</m:t>
                    </m:r>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Sup>
                                <m:sSubSupPr>
                                  <m:ctrlPr>
                                    <a:rPr lang="en-US" i="1">
                                      <a:latin typeface="Cambria Math" panose="02040503050406030204" pitchFamily="18" charset="0"/>
                                      <a:ea typeface="Cambria Math" panose="02040503050406030204" pitchFamily="18" charset="0"/>
                                    </a:rPr>
                                  </m:ctrlPr>
                                </m:sSubSupPr>
                                <m:e>
                                  <m:r>
                                    <m:rPr>
                                      <m:brk m:alnAt="7"/>
                                    </m:rPr>
                                    <a:rPr lang="en-US" i="1">
                                      <a:latin typeface="Cambria Math" panose="02040503050406030204" pitchFamily="18" charset="0"/>
                                      <a:ea typeface="Cambria Math" panose="02040503050406030204" pitchFamily="18" charset="0"/>
                                    </a:rPr>
                                    <m:t>ℙ</m:t>
                                  </m:r>
                                </m:e>
                                <m:sub>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,0</m:t>
                                  </m:r>
                                </m:sub>
                                <m:sup>
                                  <m:r>
                                    <a:rPr lang="en-US" i="1">
                                      <a:latin typeface="Cambria Math" panose="02040503050406030204" pitchFamily="18" charset="0"/>
                                      <a:ea typeface="Cambria Math" panose="02040503050406030204" pitchFamily="18" charset="0"/>
                                    </a:rPr>
                                    <m:t>(0)</m:t>
                                  </m:r>
                                </m:sup>
                              </m:sSubSup>
                            </m:e>
                          </m:mr>
                          <m:mr>
                            <m:e>
                              <m:r>
                                <a:rPr lang="en-US" i="1">
                                  <a:latin typeface="Cambria Math" panose="02040503050406030204" pitchFamily="18" charset="0"/>
                                  <a:ea typeface="Cambria Math" panose="02040503050406030204" pitchFamily="18" charset="0"/>
                                </a:rPr>
                                <m:t>⋮</m:t>
                              </m:r>
                            </m:e>
                          </m:mr>
                          <m:mr>
                            <m:e>
                              <m:sSubSup>
                                <m:sSubSupPr>
                                  <m:ctrlPr>
                                    <a:rPr lang="en-US" i="1">
                                      <a:latin typeface="Cambria Math" panose="02040503050406030204" pitchFamily="18" charset="0"/>
                                      <a:ea typeface="Cambria Math" panose="02040503050406030204" pitchFamily="18" charset="0"/>
                                    </a:rPr>
                                  </m:ctrlPr>
                                </m:sSubSupPr>
                                <m:e>
                                  <m:r>
                                    <m:rPr>
                                      <m:brk m:alnAt="7"/>
                                    </m:rPr>
                                    <a:rPr lang="en-US" i="1">
                                      <a:latin typeface="Cambria Math" panose="02040503050406030204" pitchFamily="18" charset="0"/>
                                      <a:ea typeface="Cambria Math" panose="02040503050406030204" pitchFamily="18" charset="0"/>
                                    </a:rPr>
                                    <m:t>ℙ</m:t>
                                  </m:r>
                                </m:e>
                                <m:sub>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(0)</m:t>
                                  </m:r>
                                </m:sup>
                              </m:sSubSup>
                            </m:e>
                          </m:mr>
                        </m:m>
                      </m:e>
                    </m:d>
                    <m:groupChr>
                      <m:groupChrPr>
                        <m:chr m:val="→"/>
                        <m:vertJc m:val="bot"/>
                        <m:ctrlPr>
                          <a:rPr lang="en-US" i="1">
                            <a:latin typeface="Cambria Math" panose="02040503050406030204" pitchFamily="18" charset="0"/>
                          </a:rPr>
                        </m:ctrlPr>
                      </m:groupChrPr>
                      <m:e>
                        <m:sSup>
                          <m:sSupPr>
                            <m:ctrlPr>
                              <a:rPr lang="en-US" i="1">
                                <a:latin typeface="Cambria Math" panose="02040503050406030204" pitchFamily="18" charset="0"/>
                              </a:rPr>
                            </m:ctrlPr>
                          </m:sSupPr>
                          <m:e>
                            <m:r>
                              <m:rPr>
                                <m:brk m:alnAt="2"/>
                              </m:rPr>
                              <a:rPr lang="en-US" i="1">
                                <a:latin typeface="Cambria Math" panose="02040503050406030204" pitchFamily="18" charset="0"/>
                              </a:rPr>
                              <m:t>𝑔</m:t>
                            </m:r>
                          </m:e>
                          <m:sup>
                            <m:r>
                              <a:rPr lang="en-US" i="1">
                                <a:latin typeface="Cambria Math" panose="02040503050406030204" pitchFamily="18" charset="0"/>
                              </a:rPr>
                              <m:t>𝑚</m:t>
                            </m:r>
                          </m:sup>
                        </m:sSup>
                      </m:e>
                    </m:groupCh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Sup>
                                <m:sSubSupPr>
                                  <m:ctrlPr>
                                    <a:rPr lang="en-US" i="1">
                                      <a:latin typeface="Cambria Math" panose="02040503050406030204" pitchFamily="18" charset="0"/>
                                      <a:ea typeface="Cambria Math" panose="02040503050406030204" pitchFamily="18" charset="0"/>
                                    </a:rPr>
                                  </m:ctrlPr>
                                </m:sSubSupPr>
                                <m:e>
                                  <m:r>
                                    <m:rPr>
                                      <m:brk m:alnAt="7"/>
                                    </m:rPr>
                                    <a:rPr lang="en-US" i="1">
                                      <a:latin typeface="Cambria Math" panose="02040503050406030204" pitchFamily="18" charset="0"/>
                                      <a:ea typeface="Cambria Math" panose="02040503050406030204" pitchFamily="18" charset="0"/>
                                    </a:rPr>
                                    <m:t>ℙ</m:t>
                                  </m:r>
                                </m:e>
                                <m:sub>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,0</m:t>
                                  </m:r>
                                </m:sub>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𝑚</m:t>
                                  </m:r>
                                  <m:r>
                                    <a:rPr lang="en-US" i="1">
                                      <a:latin typeface="Cambria Math" panose="02040503050406030204" pitchFamily="18" charset="0"/>
                                      <a:ea typeface="Cambria Math" panose="02040503050406030204" pitchFamily="18" charset="0"/>
                                    </a:rPr>
                                    <m:t>)</m:t>
                                  </m:r>
                                </m:sup>
                              </m:sSubSup>
                            </m:e>
                          </m:mr>
                          <m:mr>
                            <m:e>
                              <m:r>
                                <a:rPr lang="en-US" i="1">
                                  <a:latin typeface="Cambria Math" panose="02040503050406030204" pitchFamily="18" charset="0"/>
                                  <a:ea typeface="Cambria Math" panose="02040503050406030204" pitchFamily="18" charset="0"/>
                                </a:rPr>
                                <m:t>⋮</m:t>
                              </m:r>
                            </m:e>
                          </m:mr>
                          <m:mr>
                            <m:e>
                              <m:sSubSup>
                                <m:sSubSupPr>
                                  <m:ctrlPr>
                                    <a:rPr lang="en-US" i="1">
                                      <a:latin typeface="Cambria Math" panose="02040503050406030204" pitchFamily="18" charset="0"/>
                                      <a:ea typeface="Cambria Math" panose="02040503050406030204" pitchFamily="18" charset="0"/>
                                    </a:rPr>
                                  </m:ctrlPr>
                                </m:sSubSupPr>
                                <m:e>
                                  <m:r>
                                    <m:rPr>
                                      <m:brk m:alnAt="7"/>
                                    </m:rPr>
                                    <a:rPr lang="en-US" i="1">
                                      <a:latin typeface="Cambria Math" panose="02040503050406030204" pitchFamily="18" charset="0"/>
                                      <a:ea typeface="Cambria Math" panose="02040503050406030204" pitchFamily="18" charset="0"/>
                                    </a:rPr>
                                    <m:t>ℙ</m:t>
                                  </m:r>
                                </m:e>
                                <m:sub>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𝑚</m:t>
                                  </m:r>
                                  <m:r>
                                    <a:rPr lang="en-US" i="1">
                                      <a:latin typeface="Cambria Math" panose="02040503050406030204" pitchFamily="18" charset="0"/>
                                      <a:ea typeface="Cambria Math" panose="02040503050406030204" pitchFamily="18" charset="0"/>
                                    </a:rPr>
                                    <m:t>)</m:t>
                                  </m:r>
                                </m:sup>
                              </m:sSubSup>
                            </m:e>
                          </m:mr>
                        </m:m>
                      </m:e>
                    </m:d>
                  </m:oMath>
                </a14:m>
                <a:r>
                  <a:rPr lang="en-US" dirty="0"/>
                  <a:t> </a:t>
                </a:r>
              </a:p>
            </p:txBody>
          </p:sp>
        </mc:Choice>
        <mc:Fallback>
          <p:sp>
            <p:nvSpPr>
              <p:cNvPr id="9" name="TextBox 8">
                <a:extLst>
                  <a:ext uri="{FF2B5EF4-FFF2-40B4-BE49-F238E27FC236}">
                    <a16:creationId xmlns:a16="http://schemas.microsoft.com/office/drawing/2014/main" id="{C8407812-9264-5E5D-C6EF-4163B7838C7A}"/>
                  </a:ext>
                </a:extLst>
              </p:cNvPr>
              <p:cNvSpPr txBox="1">
                <a:spLocks noRot="1" noChangeAspect="1" noMove="1" noResize="1" noEditPoints="1" noAdjustHandles="1" noChangeArrowheads="1" noChangeShapeType="1" noTextEdit="1"/>
              </p:cNvSpPr>
              <p:nvPr/>
            </p:nvSpPr>
            <p:spPr>
              <a:xfrm>
                <a:off x="817584" y="1063747"/>
                <a:ext cx="4823147" cy="1928605"/>
              </a:xfrm>
              <a:prstGeom prst="rect">
                <a:avLst/>
              </a:prstGeom>
              <a:blipFill>
                <a:blip r:embed="rId3"/>
                <a:stretch>
                  <a:fillRect l="-1050" t="-1307"/>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1538DABF-A8BB-D8B8-5330-4B49CC77C03B}"/>
                  </a:ext>
                </a:extLst>
              </p:cNvPr>
              <p:cNvSpPr txBox="1"/>
              <p:nvPr/>
            </p:nvSpPr>
            <p:spPr>
              <a:xfrm>
                <a:off x="838199" y="3051435"/>
                <a:ext cx="4863957" cy="1307217"/>
              </a:xfrm>
              <a:prstGeom prst="rect">
                <a:avLst/>
              </a:prstGeom>
              <a:noFill/>
            </p:spPr>
            <p:txBody>
              <a:bodyPr wrap="square">
                <a:spAutoFit/>
              </a:bodyPr>
              <a:lstStyle/>
              <a:p>
                <a:r>
                  <a:rPr lang="en-US" dirty="0"/>
                  <a:t>where </a:t>
                </a: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m:rPr>
                            <m:brk m:alnAt="7"/>
                          </m:rPr>
                          <a:rPr lang="en-US" i="1">
                            <a:latin typeface="Cambria Math" panose="02040503050406030204" pitchFamily="18" charset="0"/>
                            <a:ea typeface="Cambria Math" panose="02040503050406030204" pitchFamily="18" charset="0"/>
                          </a:rPr>
                          <m:t>ℙ</m:t>
                        </m:r>
                      </m:e>
                      <m:sub>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sub>
                      <m:sup>
                        <m:r>
                          <a:rPr lang="en-US" i="1">
                            <a:latin typeface="Cambria Math" panose="02040503050406030204" pitchFamily="18" charset="0"/>
                            <a:ea typeface="Cambria Math" panose="02040503050406030204" pitchFamily="18" charset="0"/>
                          </a:rPr>
                          <m:t>(0)</m:t>
                        </m:r>
                      </m:sup>
                    </m:sSubSup>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𝑍</m:t>
                        </m:r>
                      </m:e>
                      <m:sub>
                        <m:r>
                          <a:rPr lang="en-US" i="1" dirty="0">
                            <a:latin typeface="Cambria Math" panose="02040503050406030204" pitchFamily="18" charset="0"/>
                          </a:rPr>
                          <m:t>𝑛</m:t>
                        </m:r>
                        <m:r>
                          <a:rPr lang="en-US" i="1" dirty="0">
                            <a:latin typeface="Cambria Math" panose="02040503050406030204" pitchFamily="18" charset="0"/>
                          </a:rPr>
                          <m:t>,</m:t>
                        </m:r>
                        <m:r>
                          <a:rPr lang="en-US" i="1" dirty="0">
                            <a:latin typeface="Cambria Math" panose="02040503050406030204" pitchFamily="18" charset="0"/>
                          </a:rPr>
                          <m:t>𝑗</m:t>
                        </m:r>
                      </m:sub>
                    </m:sSub>
                    <m:r>
                      <a:rPr lang="en-US" i="1" dirty="0">
                        <a:latin typeface="Cambria Math" panose="02040503050406030204" pitchFamily="18" charset="0"/>
                      </a:rPr>
                      <m:t> = </m:t>
                    </m:r>
                    <m:sSup>
                      <m:sSupPr>
                        <m:ctrlPr>
                          <a:rPr lang="en-US" i="1" dirty="0">
                            <a:latin typeface="Cambria Math" panose="02040503050406030204" pitchFamily="18" charset="0"/>
                            <a:ea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𝕀</m:t>
                        </m:r>
                      </m:e>
                      <m:sup>
                        <m:r>
                          <a:rPr lang="en-US" i="1" dirty="0">
                            <a:latin typeface="Cambria Math" panose="02040503050406030204" pitchFamily="18" charset="0"/>
                          </a:rPr>
                          <m:t>⊗</m:t>
                        </m:r>
                        <m:r>
                          <a:rPr lang="en-US" i="1" dirty="0">
                            <a:latin typeface="Cambria Math" panose="02040503050406030204" pitchFamily="18" charset="0"/>
                          </a:rPr>
                          <m:t>𝑗</m:t>
                        </m:r>
                      </m:sup>
                    </m:sSup>
                    <m:r>
                      <a:rPr lang="en-US" i="1" dirty="0">
                        <a:latin typeface="Cambria Math" panose="02040503050406030204" pitchFamily="18" charset="0"/>
                      </a:rPr>
                      <m:t> ⊗ </m:t>
                    </m:r>
                    <m:r>
                      <a:rPr lang="en-US" i="1" dirty="0">
                        <a:latin typeface="Cambria Math" panose="02040503050406030204" pitchFamily="18" charset="0"/>
                      </a:rPr>
                      <m:t>𝑍</m:t>
                    </m:r>
                    <m:r>
                      <a:rPr lang="en-US" i="1" dirty="0">
                        <a:latin typeface="Cambria Math" panose="02040503050406030204" pitchFamily="18" charset="0"/>
                      </a:rPr>
                      <m:t> ⊗</m:t>
                    </m:r>
                    <m:sSup>
                      <m:sSupPr>
                        <m:ctrlPr>
                          <a:rPr lang="en-US" i="1" dirty="0">
                            <a:latin typeface="Cambria Math" panose="02040503050406030204" pitchFamily="18" charset="0"/>
                            <a:ea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𝕀</m:t>
                        </m:r>
                      </m:e>
                      <m:sup>
                        <m:r>
                          <a:rPr lang="en-US" i="1" dirty="0">
                            <a:latin typeface="Cambria Math" panose="02040503050406030204" pitchFamily="18" charset="0"/>
                          </a:rPr>
                          <m:t>⊗(</m:t>
                        </m:r>
                        <m:r>
                          <a:rPr lang="en-US" i="1" dirty="0">
                            <a:latin typeface="Cambria Math" panose="02040503050406030204" pitchFamily="18" charset="0"/>
                          </a:rPr>
                          <m:t>𝑛</m:t>
                        </m:r>
                        <m:r>
                          <a:rPr lang="en-US" i="1" dirty="0">
                            <a:latin typeface="Cambria Math" panose="02040503050406030204" pitchFamily="18" charset="0"/>
                          </a:rPr>
                          <m:t>−</m:t>
                        </m:r>
                        <m:r>
                          <a:rPr lang="en-US" i="1" dirty="0">
                            <a:latin typeface="Cambria Math" panose="02040503050406030204" pitchFamily="18" charset="0"/>
                          </a:rPr>
                          <m:t>𝑗</m:t>
                        </m:r>
                        <m:r>
                          <a:rPr lang="en-US" i="1" dirty="0">
                            <a:latin typeface="Cambria Math" panose="02040503050406030204" pitchFamily="18" charset="0"/>
                          </a:rPr>
                          <m:t>−1)</m:t>
                        </m:r>
                      </m:sup>
                    </m:sSup>
                  </m:oMath>
                </a14:m>
                <a:r>
                  <a:rPr lang="en-US" dirty="0"/>
                  <a:t>.</a:t>
                </a:r>
              </a:p>
              <a:p>
                <a:r>
                  <a:rPr lang="en-US" dirty="0"/>
                  <a:t>A generator may transform from a single Pauli string into a linear combination of Pauli strings:</a:t>
                </a:r>
              </a:p>
              <a:p>
                <a:endParaRPr lang="en-US" dirty="0"/>
              </a:p>
            </p:txBody>
          </p:sp>
        </mc:Choice>
        <mc:Fallback>
          <p:sp>
            <p:nvSpPr>
              <p:cNvPr id="11" name="TextBox 10">
                <a:extLst>
                  <a:ext uri="{FF2B5EF4-FFF2-40B4-BE49-F238E27FC236}">
                    <a16:creationId xmlns:a16="http://schemas.microsoft.com/office/drawing/2014/main" id="{1538DABF-A8BB-D8B8-5330-4B49CC77C03B}"/>
                  </a:ext>
                </a:extLst>
              </p:cNvPr>
              <p:cNvSpPr txBox="1">
                <a:spLocks noRot="1" noChangeAspect="1" noMove="1" noResize="1" noEditPoints="1" noAdjustHandles="1" noChangeArrowheads="1" noChangeShapeType="1" noTextEdit="1"/>
              </p:cNvSpPr>
              <p:nvPr/>
            </p:nvSpPr>
            <p:spPr>
              <a:xfrm>
                <a:off x="838199" y="3051435"/>
                <a:ext cx="4863957" cy="1307217"/>
              </a:xfrm>
              <a:prstGeom prst="rect">
                <a:avLst/>
              </a:prstGeom>
              <a:blipFill>
                <a:blip r:embed="rId4"/>
                <a:stretch>
                  <a:fillRect l="-1042"/>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CFD36393-2CA6-B208-2538-5B8048E69F57}"/>
                  </a:ext>
                </a:extLst>
              </p:cNvPr>
              <p:cNvSpPr txBox="1"/>
              <p:nvPr/>
            </p:nvSpPr>
            <p:spPr>
              <a:xfrm>
                <a:off x="1297111" y="4167967"/>
                <a:ext cx="3434139" cy="668645"/>
              </a:xfrm>
              <a:prstGeom prst="rect">
                <a:avLst/>
              </a:prstGeom>
              <a:noFill/>
            </p:spPr>
            <p:txBody>
              <a:bodyPr wrap="square">
                <a:spAutoFit/>
              </a:bodyPr>
              <a:lstStyle/>
              <a:p>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m:rPr>
                            <m:brk m:alnAt="7"/>
                          </m:rPr>
                          <a:rPr lang="en-US" i="1">
                            <a:latin typeface="Cambria Math" panose="02040503050406030204" pitchFamily="18" charset="0"/>
                            <a:ea typeface="Cambria Math" panose="02040503050406030204" pitchFamily="18" charset="0"/>
                          </a:rPr>
                          <m:t>ℙ</m:t>
                        </m:r>
                      </m:e>
                      <m:sub>
                        <m:r>
                          <a:rPr lang="en-US" i="1">
                            <a:latin typeface="Cambria Math" panose="02040503050406030204" pitchFamily="18" charset="0"/>
                            <a:ea typeface="Cambria Math" panose="02040503050406030204" pitchFamily="18" charset="0"/>
                          </a:rPr>
                          <m:t>𝑛</m:t>
                        </m:r>
                      </m:sub>
                    </m:sSub>
                    <m:r>
                      <a:rPr lang="en-US" i="1" dirty="0">
                        <a:latin typeface="Cambria Math" panose="02040503050406030204" pitchFamily="18" charset="0"/>
                      </a:rPr>
                      <m:t>= </m:t>
                    </m:r>
                    <m:nary>
                      <m:naryPr>
                        <m:chr m:val="∑"/>
                        <m:subHide m:val="on"/>
                        <m:supHide m:val="on"/>
                        <m:ctrlPr>
                          <a:rPr lang="en-US" i="1" dirty="0">
                            <a:latin typeface="Cambria Math" panose="02040503050406030204" pitchFamily="18" charset="0"/>
                          </a:rPr>
                        </m:ctrlPr>
                      </m:naryPr>
                      <m:sub/>
                      <m:sup/>
                      <m:e>
                        <m:sSub>
                          <m:sSubPr>
                            <m:ctrlPr>
                              <a:rPr lang="en-US" i="1" dirty="0">
                                <a:latin typeface="Cambria Math" panose="02040503050406030204" pitchFamily="18" charset="0"/>
                              </a:rPr>
                            </m:ctrlPr>
                          </m:sSubPr>
                          <m:e>
                            <m:r>
                              <a:rPr lang="el-GR" i="1" dirty="0">
                                <a:latin typeface="Cambria Math" panose="02040503050406030204" pitchFamily="18" charset="0"/>
                              </a:rPr>
                              <m:t>𝜆</m:t>
                            </m:r>
                          </m:e>
                          <m:sub>
                            <m:r>
                              <a:rPr lang="en-US" i="1" dirty="0" err="1">
                                <a:latin typeface="Cambria Math" panose="02040503050406030204" pitchFamily="18" charset="0"/>
                              </a:rPr>
                              <m:t>𝑗</m:t>
                            </m:r>
                          </m:sub>
                        </m:sSub>
                        <m:sSub>
                          <m:sSubPr>
                            <m:ctrlPr>
                              <a:rPr lang="en-US" i="1" dirty="0">
                                <a:latin typeface="Cambria Math" panose="02040503050406030204" pitchFamily="18" charset="0"/>
                              </a:rPr>
                            </m:ctrlPr>
                          </m:sSubPr>
                          <m:e>
                            <m:r>
                              <a:rPr lang="en-US" i="1" dirty="0" err="1">
                                <a:latin typeface="Cambria Math" panose="02040503050406030204" pitchFamily="18" charset="0"/>
                              </a:rPr>
                              <m:t>𝑃</m:t>
                            </m:r>
                          </m:e>
                          <m:sub>
                            <m:r>
                              <a:rPr lang="en-US" i="1" dirty="0">
                                <a:latin typeface="Cambria Math" panose="02040503050406030204" pitchFamily="18" charset="0"/>
                              </a:rPr>
                              <m:t>𝑛</m:t>
                            </m:r>
                            <m:r>
                              <a:rPr lang="en-US" i="1" dirty="0">
                                <a:latin typeface="Cambria Math" panose="02040503050406030204" pitchFamily="18" charset="0"/>
                              </a:rPr>
                              <m:t>,</m:t>
                            </m:r>
                            <m:r>
                              <a:rPr lang="en-US" i="1" dirty="0">
                                <a:latin typeface="Cambria Math" panose="02040503050406030204" pitchFamily="18" charset="0"/>
                              </a:rPr>
                              <m:t>𝑗</m:t>
                            </m:r>
                          </m:sub>
                        </m:sSub>
                      </m:e>
                    </m:nary>
                    <m:r>
                      <a:rPr lang="en-US" i="1" dirty="0">
                        <a:latin typeface="Cambria Math" panose="02040503050406030204" pitchFamily="18" charset="0"/>
                      </a:rPr>
                      <m:t> </m:t>
                    </m:r>
                  </m:oMath>
                </a14:m>
                <a:r>
                  <a:rPr lang="en-US" dirty="0"/>
                  <a:t>with </a:t>
                </a:r>
                <a14:m>
                  <m:oMath xmlns:m="http://schemas.openxmlformats.org/officeDocument/2006/math">
                    <m:r>
                      <a:rPr lang="el-GR" i="1" dirty="0">
                        <a:latin typeface="Cambria Math" panose="02040503050406030204" pitchFamily="18" charset="0"/>
                      </a:rPr>
                      <m:t>𝜆</m:t>
                    </m:r>
                    <m:sSub>
                      <m:sSubPr>
                        <m:ctrlPr>
                          <a:rPr lang="en-US" i="1" dirty="0">
                            <a:latin typeface="Cambria Math" panose="02040503050406030204" pitchFamily="18" charset="0"/>
                          </a:rPr>
                        </m:ctrlPr>
                      </m:sSubPr>
                      <m:e>
                        <m:r>
                          <a:rPr lang="en-US" i="1" dirty="0" err="1">
                            <a:latin typeface="Cambria Math" panose="02040503050406030204" pitchFamily="18" charset="0"/>
                          </a:rPr>
                          <m:t>𝑃</m:t>
                        </m:r>
                      </m:e>
                      <m:sub>
                        <m:r>
                          <a:rPr lang="en-US" i="1" dirty="0" err="1">
                            <a:latin typeface="Cambria Math" panose="02040503050406030204" pitchFamily="18" charset="0"/>
                          </a:rPr>
                          <m:t>𝑛</m:t>
                        </m:r>
                      </m:sub>
                    </m:sSub>
                    <m:r>
                      <a:rPr lang="en-US" i="1" dirty="0">
                        <a:latin typeface="Cambria Math" panose="02040503050406030204" pitchFamily="18" charset="0"/>
                      </a:rPr>
                      <m:t> = </m:t>
                    </m:r>
                    <m:r>
                      <a:rPr lang="el-GR" i="1" dirty="0">
                        <a:latin typeface="Cambria Math" panose="02040503050406030204" pitchFamily="18" charset="0"/>
                      </a:rPr>
                      <m:t>𝜆</m:t>
                    </m:r>
                    <m:sSub>
                      <m:sSubPr>
                        <m:ctrlPr>
                          <a:rPr lang="en-US" i="1" dirty="0">
                            <a:latin typeface="Cambria Math" panose="02040503050406030204" pitchFamily="18" charset="0"/>
                          </a:rPr>
                        </m:ctrlPr>
                      </m:sSubPr>
                      <m:e>
                        <m:r>
                          <a:rPr lang="en-US" i="1" dirty="0">
                            <a:latin typeface="Cambria Math" panose="02040503050406030204" pitchFamily="18" charset="0"/>
                          </a:rPr>
                          <m:t>𝑝</m:t>
                        </m:r>
                      </m:e>
                      <m:sub>
                        <m:r>
                          <a:rPr lang="en-US" i="1" dirty="0">
                            <a:latin typeface="Cambria Math" panose="02040503050406030204" pitchFamily="18" charset="0"/>
                          </a:rPr>
                          <m:t>0</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𝑝</m:t>
                        </m:r>
                      </m:e>
                      <m:sub>
                        <m:r>
                          <a:rPr lang="en-US" i="1" dirty="0">
                            <a:latin typeface="Cambria Math" panose="02040503050406030204" pitchFamily="18" charset="0"/>
                          </a:rPr>
                          <m:t>𝑛</m:t>
                        </m:r>
                        <m:r>
                          <a:rPr lang="en-US" i="1" dirty="0">
                            <a:latin typeface="Cambria Math" panose="02040503050406030204" pitchFamily="18" charset="0"/>
                          </a:rPr>
                          <m:t>−1</m:t>
                        </m:r>
                      </m:sub>
                    </m:sSub>
                    <m:r>
                      <a:rPr lang="en-US" i="1" dirty="0">
                        <a:latin typeface="Cambria Math" panose="02040503050406030204" pitchFamily="18" charset="0"/>
                      </a:rPr>
                      <m:t>≡</m:t>
                    </m:r>
                    <m:r>
                      <a:rPr lang="el-GR" i="1" dirty="0">
                        <a:latin typeface="Cambria Math" panose="02040503050406030204" pitchFamily="18" charset="0"/>
                      </a:rPr>
                      <m:t>𝜆</m:t>
                    </m:r>
                    <m:sSub>
                      <m:sSubPr>
                        <m:ctrlPr>
                          <a:rPr lang="en-US" i="1" dirty="0">
                            <a:latin typeface="Cambria Math" panose="02040503050406030204" pitchFamily="18" charset="0"/>
                          </a:rPr>
                        </m:ctrlPr>
                      </m:sSubPr>
                      <m:e>
                        <m:r>
                          <a:rPr lang="en-US" i="1" dirty="0">
                            <a:latin typeface="Cambria Math" panose="02040503050406030204" pitchFamily="18" charset="0"/>
                          </a:rPr>
                          <m:t>𝑝</m:t>
                        </m:r>
                      </m:e>
                      <m:sub>
                        <m:r>
                          <a:rPr lang="en-US" i="1" dirty="0">
                            <a:latin typeface="Cambria Math" panose="02040503050406030204" pitchFamily="18" charset="0"/>
                          </a:rPr>
                          <m:t>0</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𝑝</m:t>
                        </m:r>
                      </m:e>
                      <m:sub>
                        <m:r>
                          <a:rPr lang="en-US" i="1" dirty="0">
                            <a:latin typeface="Cambria Math" panose="02040503050406030204" pitchFamily="18" charset="0"/>
                          </a:rPr>
                          <m:t>𝑛</m:t>
                        </m:r>
                        <m:r>
                          <a:rPr lang="en-US" i="1" dirty="0">
                            <a:latin typeface="Cambria Math" panose="02040503050406030204" pitchFamily="18" charset="0"/>
                          </a:rPr>
                          <m:t>−1</m:t>
                        </m:r>
                      </m:sub>
                    </m:sSub>
                  </m:oMath>
                </a14:m>
                <a:r>
                  <a:rPr lang="en-US" dirty="0"/>
                  <a:t>;</a:t>
                </a:r>
              </a:p>
            </p:txBody>
          </p:sp>
        </mc:Choice>
        <mc:Fallback>
          <p:sp>
            <p:nvSpPr>
              <p:cNvPr id="15" name="TextBox 14">
                <a:extLst>
                  <a:ext uri="{FF2B5EF4-FFF2-40B4-BE49-F238E27FC236}">
                    <a16:creationId xmlns:a16="http://schemas.microsoft.com/office/drawing/2014/main" id="{CFD36393-2CA6-B208-2538-5B8048E69F57}"/>
                  </a:ext>
                </a:extLst>
              </p:cNvPr>
              <p:cNvSpPr txBox="1">
                <a:spLocks noRot="1" noChangeAspect="1" noMove="1" noResize="1" noEditPoints="1" noAdjustHandles="1" noChangeArrowheads="1" noChangeShapeType="1" noTextEdit="1"/>
              </p:cNvSpPr>
              <p:nvPr/>
            </p:nvSpPr>
            <p:spPr>
              <a:xfrm>
                <a:off x="1297111" y="4167967"/>
                <a:ext cx="3434139" cy="668645"/>
              </a:xfrm>
              <a:prstGeom prst="rect">
                <a:avLst/>
              </a:prstGeom>
              <a:blipFill>
                <a:blip r:embed="rId5"/>
                <a:stretch>
                  <a:fillRect l="-738" t="-64151" b="-5094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7D5C8AB9-D2E1-E6C7-987E-9646B08DFAB0}"/>
                  </a:ext>
                </a:extLst>
              </p:cNvPr>
              <p:cNvSpPr txBox="1"/>
              <p:nvPr/>
            </p:nvSpPr>
            <p:spPr>
              <a:xfrm>
                <a:off x="817581" y="4920958"/>
                <a:ext cx="4694723" cy="945643"/>
              </a:xfrm>
              <a:prstGeom prst="rect">
                <a:avLst/>
              </a:prstGeom>
              <a:noFill/>
            </p:spPr>
            <p:txBody>
              <a:bodyPr wrap="square">
                <a:spAutoFit/>
              </a:bodyPr>
              <a:lstStyle/>
              <a:p>
                <a14:m>
                  <m:oMath xmlns:m="http://schemas.openxmlformats.org/officeDocument/2006/math">
                    <m:r>
                      <a:rPr lang="en-US" i="1" dirty="0">
                        <a:latin typeface="Cambria Math" panose="02040503050406030204" pitchFamily="18" charset="0"/>
                      </a:rPr>
                      <m:t>𝜆</m:t>
                    </m:r>
                    <m:r>
                      <a:rPr lang="en-US" i="1" dirty="0">
                        <a:latin typeface="Cambria Math" panose="02040503050406030204" pitchFamily="18" charset="0"/>
                      </a:rPr>
                      <m:t> ∈ </m:t>
                    </m:r>
                    <m:r>
                      <a:rPr lang="en-US" i="1" dirty="0">
                        <a:latin typeface="Cambria Math" panose="02040503050406030204" pitchFamily="18" charset="0"/>
                        <a:ea typeface="Cambria Math" panose="02040503050406030204" pitchFamily="18" charset="0"/>
                      </a:rPr>
                      <m:t>ℝ</m:t>
                    </m:r>
                  </m:oMath>
                </a14:m>
                <a:r>
                  <a:rPr lang="en-US" dirty="0"/>
                  <a:t> is the weight and </a:t>
                </a:r>
                <a14:m>
                  <m:oMath xmlns:m="http://schemas.openxmlformats.org/officeDocument/2006/math">
                    <m:sSub>
                      <m:sSubPr>
                        <m:ctrlPr>
                          <a:rPr lang="en-US" i="1" dirty="0" err="1">
                            <a:latin typeface="Cambria Math" panose="02040503050406030204" pitchFamily="18" charset="0"/>
                          </a:rPr>
                        </m:ctrlPr>
                      </m:sSubPr>
                      <m:e>
                        <m:r>
                          <a:rPr lang="en-US" i="1" dirty="0">
                            <a:latin typeface="Cambria Math" panose="02040503050406030204" pitchFamily="18" charset="0"/>
                          </a:rPr>
                          <m:t>𝑃</m:t>
                        </m:r>
                      </m:e>
                      <m:sub>
                        <m:r>
                          <a:rPr lang="en-US" i="1" dirty="0" err="1">
                            <a:latin typeface="Cambria Math" panose="02040503050406030204" pitchFamily="18" charset="0"/>
                          </a:rPr>
                          <m:t>𝑛</m:t>
                        </m:r>
                      </m:sub>
                    </m:sSub>
                  </m:oMath>
                </a14:m>
                <a:r>
                  <a:rPr lang="en-US" dirty="0"/>
                  <a:t> is the </a:t>
                </a:r>
                <a14:m>
                  <m:oMath xmlns:m="http://schemas.openxmlformats.org/officeDocument/2006/math">
                    <m:r>
                      <a:rPr lang="en-US" i="1" dirty="0">
                        <a:latin typeface="Cambria Math" panose="02040503050406030204" pitchFamily="18" charset="0"/>
                      </a:rPr>
                      <m:t>𝑛</m:t>
                    </m:r>
                  </m:oMath>
                </a14:m>
                <a:r>
                  <a:rPr lang="en-US" dirty="0"/>
                  <a:t>-qubit Pauli string which is composed from </a:t>
                </a:r>
                <a14:m>
                  <m:oMath xmlns:m="http://schemas.openxmlformats.org/officeDocument/2006/math">
                    <m:r>
                      <a:rPr lang="en-US" i="1" dirty="0">
                        <a:latin typeface="Cambria Math" panose="02040503050406030204" pitchFamily="18" charset="0"/>
                      </a:rPr>
                      <m:t>𝑛</m:t>
                    </m:r>
                  </m:oMath>
                </a14:m>
                <a:r>
                  <a:rPr lang="en-US" dirty="0"/>
                  <a:t> Pauli matrices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𝑝</m:t>
                        </m:r>
                      </m:e>
                      <m:sub>
                        <m:r>
                          <a:rPr lang="en-US" i="1" dirty="0">
                            <a:latin typeface="Cambria Math" panose="02040503050406030204" pitchFamily="18" charset="0"/>
                          </a:rPr>
                          <m:t>𝑗</m:t>
                        </m:r>
                      </m:sub>
                    </m:sSub>
                    <m:r>
                      <a:rPr lang="en-US" i="1" dirty="0">
                        <a:latin typeface="Cambria Math" panose="02040503050406030204" pitchFamily="18" charset="0"/>
                      </a:rPr>
                      <m:t> ∈ {</m:t>
                    </m:r>
                    <m:r>
                      <a:rPr lang="en-US" i="1" dirty="0">
                        <a:latin typeface="Cambria Math" panose="02040503050406030204" pitchFamily="18" charset="0"/>
                      </a:rPr>
                      <m:t>𝐼</m:t>
                    </m:r>
                    <m:r>
                      <a:rPr lang="en-US" i="1" dirty="0">
                        <a:latin typeface="Cambria Math" panose="02040503050406030204" pitchFamily="18" charset="0"/>
                      </a:rPr>
                      <m:t>, </m:t>
                    </m:r>
                    <m:r>
                      <a:rPr lang="en-US" i="1" dirty="0">
                        <a:latin typeface="Cambria Math" panose="02040503050406030204" pitchFamily="18" charset="0"/>
                      </a:rPr>
                      <m:t>𝑋</m:t>
                    </m:r>
                    <m:r>
                      <a:rPr lang="en-US" i="1" dirty="0">
                        <a:latin typeface="Cambria Math" panose="02040503050406030204" pitchFamily="18" charset="0"/>
                      </a:rPr>
                      <m:t>, </m:t>
                    </m:r>
                    <m:r>
                      <a:rPr lang="en-US" i="1" dirty="0">
                        <a:latin typeface="Cambria Math" panose="02040503050406030204" pitchFamily="18" charset="0"/>
                      </a:rPr>
                      <m:t>𝑌</m:t>
                    </m:r>
                    <m:r>
                      <a:rPr lang="en-US" i="1" dirty="0">
                        <a:latin typeface="Cambria Math" panose="02040503050406030204" pitchFamily="18" charset="0"/>
                      </a:rPr>
                      <m:t>, </m:t>
                    </m:r>
                    <m:r>
                      <a:rPr lang="en-US" i="1" dirty="0">
                        <a:latin typeface="Cambria Math" panose="02040503050406030204" pitchFamily="18" charset="0"/>
                      </a:rPr>
                      <m:t>𝑍</m:t>
                    </m:r>
                    <m:r>
                      <a:rPr lang="en-US" i="1" dirty="0">
                        <a:latin typeface="Cambria Math" panose="02040503050406030204" pitchFamily="18" charset="0"/>
                      </a:rPr>
                      <m:t>}</m:t>
                    </m:r>
                  </m:oMath>
                </a14:m>
                <a:r>
                  <a:rPr lang="en-US" dirty="0"/>
                  <a:t>.</a:t>
                </a:r>
              </a:p>
            </p:txBody>
          </p:sp>
        </mc:Choice>
        <mc:Fallback>
          <p:sp>
            <p:nvSpPr>
              <p:cNvPr id="17" name="TextBox 16">
                <a:extLst>
                  <a:ext uri="{FF2B5EF4-FFF2-40B4-BE49-F238E27FC236}">
                    <a16:creationId xmlns:a16="http://schemas.microsoft.com/office/drawing/2014/main" id="{7D5C8AB9-D2E1-E6C7-987E-9646B08DFAB0}"/>
                  </a:ext>
                </a:extLst>
              </p:cNvPr>
              <p:cNvSpPr txBox="1">
                <a:spLocks noRot="1" noChangeAspect="1" noMove="1" noResize="1" noEditPoints="1" noAdjustHandles="1" noChangeArrowheads="1" noChangeShapeType="1" noTextEdit="1"/>
              </p:cNvSpPr>
              <p:nvPr/>
            </p:nvSpPr>
            <p:spPr>
              <a:xfrm>
                <a:off x="817581" y="4920958"/>
                <a:ext cx="4694723" cy="945643"/>
              </a:xfrm>
              <a:prstGeom prst="rect">
                <a:avLst/>
              </a:prstGeom>
              <a:blipFill>
                <a:blip r:embed="rId6"/>
                <a:stretch>
                  <a:fillRect l="-1081" t="-2667" r="-2162" b="-8000"/>
                </a:stretch>
              </a:blipFill>
            </p:spPr>
            <p:txBody>
              <a:bodyPr/>
              <a:lstStyle/>
              <a:p>
                <a:r>
                  <a:rPr lang="en-VN">
                    <a:noFill/>
                  </a:rPr>
                  <a:t> </a:t>
                </a:r>
              </a:p>
            </p:txBody>
          </p:sp>
        </mc:Fallback>
      </mc:AlternateContent>
      <p:cxnSp>
        <p:nvCxnSpPr>
          <p:cNvPr id="19" name="Straight Connector 18">
            <a:extLst>
              <a:ext uri="{FF2B5EF4-FFF2-40B4-BE49-F238E27FC236}">
                <a16:creationId xmlns:a16="http://schemas.microsoft.com/office/drawing/2014/main" id="{C0ED7E87-4660-EAE8-15ED-12FD7721EA60}"/>
              </a:ext>
            </a:extLst>
          </p:cNvPr>
          <p:cNvCxnSpPr>
            <a:cxnSpLocks/>
          </p:cNvCxnSpPr>
          <p:nvPr/>
        </p:nvCxnSpPr>
        <p:spPr>
          <a:xfrm>
            <a:off x="5640731" y="1122832"/>
            <a:ext cx="0" cy="4571249"/>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88BDD11D-4880-9EBA-8604-0EEE241FB66D}"/>
                  </a:ext>
                </a:extLst>
              </p:cNvPr>
              <p:cNvSpPr txBox="1"/>
              <p:nvPr/>
            </p:nvSpPr>
            <p:spPr>
              <a:xfrm>
                <a:off x="5769157" y="1063748"/>
                <a:ext cx="6195099" cy="544701"/>
              </a:xfrm>
              <a:prstGeom prst="rect">
                <a:avLst/>
              </a:prstGeom>
              <a:noFill/>
            </p:spPr>
            <p:txBody>
              <a:bodyPr wrap="square">
                <a:spAutoFit/>
              </a:bodyPr>
              <a:lstStyle/>
              <a:p>
                <a:r>
                  <a:rPr lang="en-US" b="1" dirty="0">
                    <a:solidFill>
                      <a:srgbClr val="FF0000"/>
                    </a:solidFill>
                  </a:rPr>
                  <a:t>Example</a:t>
                </a:r>
                <a:r>
                  <a:rPr lang="en-US" dirty="0"/>
                  <a:t>. Consider a 3-qubit circuit </a:t>
                </a:r>
                <a14:m>
                  <m:oMath xmlns:m="http://schemas.openxmlformats.org/officeDocument/2006/math">
                    <m:r>
                      <a:rPr lang="en-US" i="1" dirty="0">
                        <a:latin typeface="Cambria Math" panose="02040503050406030204" pitchFamily="18" charset="0"/>
                      </a:rPr>
                      <m:t>𝐶</m:t>
                    </m:r>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0,1</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i="1" dirty="0">
                            <a:latin typeface="Cambria Math" panose="02040503050406030204" pitchFamily="18" charset="0"/>
                          </a:rPr>
                          <m:t>𝑧</m:t>
                        </m:r>
                      </m:sub>
                    </m:sSub>
                    <m:sSub>
                      <m:sSubPr>
                        <m:ctrlPr>
                          <a:rPr lang="en-US" i="1" dirty="0">
                            <a:latin typeface="Cambria Math" panose="02040503050406030204" pitchFamily="18" charset="0"/>
                          </a:rPr>
                        </m:ctrlPr>
                      </m:sSubPr>
                      <m:e>
                        <m:d>
                          <m:dPr>
                            <m:ctrlPr>
                              <a:rPr lang="en-US" i="1" dirty="0">
                                <a:latin typeface="Cambria Math" panose="02040503050406030204" pitchFamily="18" charset="0"/>
                              </a:rPr>
                            </m:ctrlPr>
                          </m:dPr>
                          <m:e>
                            <m:f>
                              <m:fPr>
                                <m:ctrlPr>
                                  <a:rPr lang="en-US" i="1" dirty="0">
                                    <a:latin typeface="Cambria Math" panose="02040503050406030204" pitchFamily="18" charset="0"/>
                                  </a:rPr>
                                </m:ctrlPr>
                              </m:fPr>
                              <m:num>
                                <m:r>
                                  <a:rPr lang="en-US" i="1" dirty="0">
                                    <a:latin typeface="Cambria Math" panose="02040503050406030204" pitchFamily="18" charset="0"/>
                                  </a:rPr>
                                  <m:t>𝜋</m:t>
                                </m:r>
                              </m:num>
                              <m:den>
                                <m:r>
                                  <a:rPr lang="en-US" i="1" dirty="0">
                                    <a:latin typeface="Cambria Math" panose="02040503050406030204" pitchFamily="18" charset="0"/>
                                  </a:rPr>
                                  <m:t>3</m:t>
                                </m:r>
                              </m:den>
                            </m:f>
                          </m:e>
                        </m:d>
                      </m:e>
                      <m:sub>
                        <m:r>
                          <a:rPr lang="en-US" i="1" dirty="0">
                            <a:latin typeface="Cambria Math" panose="02040503050406030204" pitchFamily="18" charset="0"/>
                          </a:rPr>
                          <m:t>0</m:t>
                        </m:r>
                      </m:sub>
                    </m:sSub>
                    <m:r>
                      <a:rPr lang="en-US" i="1" dirty="0">
                        <a:latin typeface="Cambria Math" panose="02040503050406030204" pitchFamily="18" charset="0"/>
                      </a:rPr>
                      <m:t>𝑆</m:t>
                    </m:r>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0</m:t>
                        </m:r>
                      </m:sub>
                    </m:sSub>
                    <m:r>
                      <a:rPr lang="en-US" i="1" dirty="0">
                        <a:latin typeface="Cambria Math" panose="02040503050406030204" pitchFamily="18" charset="0"/>
                      </a:rPr>
                      <m:t>|000⟩</m:t>
                    </m:r>
                  </m:oMath>
                </a14:m>
                <a:r>
                  <a:rPr lang="en-US" dirty="0"/>
                  <a:t>. </a:t>
                </a:r>
              </a:p>
            </p:txBody>
          </p:sp>
        </mc:Choice>
        <mc:Fallback>
          <p:sp>
            <p:nvSpPr>
              <p:cNvPr id="21" name="TextBox 20">
                <a:extLst>
                  <a:ext uri="{FF2B5EF4-FFF2-40B4-BE49-F238E27FC236}">
                    <a16:creationId xmlns:a16="http://schemas.microsoft.com/office/drawing/2014/main" id="{88BDD11D-4880-9EBA-8604-0EEE241FB66D}"/>
                  </a:ext>
                </a:extLst>
              </p:cNvPr>
              <p:cNvSpPr txBox="1">
                <a:spLocks noRot="1" noChangeAspect="1" noMove="1" noResize="1" noEditPoints="1" noAdjustHandles="1" noChangeArrowheads="1" noChangeShapeType="1" noTextEdit="1"/>
              </p:cNvSpPr>
              <p:nvPr/>
            </p:nvSpPr>
            <p:spPr>
              <a:xfrm>
                <a:off x="5769157" y="1063748"/>
                <a:ext cx="6195099" cy="544701"/>
              </a:xfrm>
              <a:prstGeom prst="rect">
                <a:avLst/>
              </a:prstGeom>
              <a:blipFill>
                <a:blip r:embed="rId7"/>
                <a:stretch>
                  <a:fillRect l="-818" b="-4545"/>
                </a:stretch>
              </a:blipFill>
            </p:spPr>
            <p:txBody>
              <a:bodyPr/>
              <a:lstStyle/>
              <a:p>
                <a:r>
                  <a:rPr lang="en-VN">
                    <a:noFill/>
                  </a:rPr>
                  <a:t> </a:t>
                </a:r>
              </a:p>
            </p:txBody>
          </p:sp>
        </mc:Fallback>
      </mc:AlternateContent>
      <p:pic>
        <p:nvPicPr>
          <p:cNvPr id="23" name="Picture 22">
            <a:extLst>
              <a:ext uri="{FF2B5EF4-FFF2-40B4-BE49-F238E27FC236}">
                <a16:creationId xmlns:a16="http://schemas.microsoft.com/office/drawing/2014/main" id="{C796E81E-4ED8-B11E-D799-463800397D75}"/>
              </a:ext>
            </a:extLst>
          </p:cNvPr>
          <p:cNvPicPr>
            <a:picLocks noChangeAspect="1"/>
          </p:cNvPicPr>
          <p:nvPr/>
        </p:nvPicPr>
        <p:blipFill>
          <a:blip r:embed="rId8"/>
          <a:stretch>
            <a:fillRect/>
          </a:stretch>
        </p:blipFill>
        <p:spPr>
          <a:xfrm>
            <a:off x="5806046" y="1558584"/>
            <a:ext cx="6341997" cy="2273547"/>
          </a:xfrm>
          <a:prstGeom prst="rect">
            <a:avLst/>
          </a:prstGeom>
        </p:spPr>
      </p:pic>
      <p:sp>
        <p:nvSpPr>
          <p:cNvPr id="24" name="TextBox 23">
            <a:extLst>
              <a:ext uri="{FF2B5EF4-FFF2-40B4-BE49-F238E27FC236}">
                <a16:creationId xmlns:a16="http://schemas.microsoft.com/office/drawing/2014/main" id="{3D09C792-7A30-D4CF-B880-5471CF82C7E5}"/>
              </a:ext>
            </a:extLst>
          </p:cNvPr>
          <p:cNvSpPr txBox="1"/>
          <p:nvPr/>
        </p:nvSpPr>
        <p:spPr>
          <a:xfrm>
            <a:off x="4869948" y="2250019"/>
            <a:ext cx="770781" cy="369332"/>
          </a:xfrm>
          <a:prstGeom prst="rect">
            <a:avLst/>
          </a:prstGeom>
          <a:noFill/>
        </p:spPr>
        <p:txBody>
          <a:bodyPr wrap="square" rtlCol="0">
            <a:spAutoFit/>
          </a:bodyPr>
          <a:lstStyle/>
          <a:p>
            <a:r>
              <a:rPr lang="en-US" dirty="0"/>
              <a:t>(3.1)</a:t>
            </a:r>
          </a:p>
        </p:txBody>
      </p:sp>
      <p:sp>
        <p:nvSpPr>
          <p:cNvPr id="25" name="TextBox 24">
            <a:extLst>
              <a:ext uri="{FF2B5EF4-FFF2-40B4-BE49-F238E27FC236}">
                <a16:creationId xmlns:a16="http://schemas.microsoft.com/office/drawing/2014/main" id="{CDF90AE7-EEC1-42BA-1F73-9E8B01C45A40}"/>
              </a:ext>
            </a:extLst>
          </p:cNvPr>
          <p:cNvSpPr txBox="1"/>
          <p:nvPr/>
        </p:nvSpPr>
        <p:spPr>
          <a:xfrm>
            <a:off x="4869948" y="4317622"/>
            <a:ext cx="729904" cy="369332"/>
          </a:xfrm>
          <a:prstGeom prst="rect">
            <a:avLst/>
          </a:prstGeom>
          <a:noFill/>
        </p:spPr>
        <p:txBody>
          <a:bodyPr wrap="square" rtlCol="0">
            <a:spAutoFit/>
          </a:bodyPr>
          <a:lstStyle/>
          <a:p>
            <a:r>
              <a:rPr lang="en-US" dirty="0"/>
              <a:t>(3.2)</a:t>
            </a:r>
          </a:p>
        </p:txBody>
      </p:sp>
      <p:pic>
        <p:nvPicPr>
          <p:cNvPr id="27" name="Picture 26">
            <a:extLst>
              <a:ext uri="{FF2B5EF4-FFF2-40B4-BE49-F238E27FC236}">
                <a16:creationId xmlns:a16="http://schemas.microsoft.com/office/drawing/2014/main" id="{CF4A0895-300D-3149-B14F-80068E4D180E}"/>
              </a:ext>
            </a:extLst>
          </p:cNvPr>
          <p:cNvPicPr>
            <a:picLocks noChangeAspect="1"/>
          </p:cNvPicPr>
          <p:nvPr/>
        </p:nvPicPr>
        <p:blipFill>
          <a:blip r:embed="rId9"/>
          <a:srcRect r="56918" b="92138"/>
          <a:stretch/>
        </p:blipFill>
        <p:spPr>
          <a:xfrm>
            <a:off x="5846213" y="3843107"/>
            <a:ext cx="4062115" cy="426028"/>
          </a:xfrm>
          <a:prstGeom prst="rect">
            <a:avLst/>
          </a:prstGeom>
        </p:spPr>
      </p:pic>
      <p:pic>
        <p:nvPicPr>
          <p:cNvPr id="28" name="Picture 27">
            <a:extLst>
              <a:ext uri="{FF2B5EF4-FFF2-40B4-BE49-F238E27FC236}">
                <a16:creationId xmlns:a16="http://schemas.microsoft.com/office/drawing/2014/main" id="{5DC96EFD-DFC3-20E0-B647-7FB220CDFB0C}"/>
              </a:ext>
            </a:extLst>
          </p:cNvPr>
          <p:cNvPicPr>
            <a:picLocks noChangeAspect="1"/>
          </p:cNvPicPr>
          <p:nvPr/>
        </p:nvPicPr>
        <p:blipFill>
          <a:blip r:embed="rId9"/>
          <a:srcRect t="86938" r="56918"/>
          <a:stretch/>
        </p:blipFill>
        <p:spPr>
          <a:xfrm>
            <a:off x="5848189" y="4989253"/>
            <a:ext cx="4060307" cy="704827"/>
          </a:xfrm>
          <a:prstGeom prst="rect">
            <a:avLst/>
          </a:prstGeom>
        </p:spPr>
      </p:pic>
      <p:pic>
        <p:nvPicPr>
          <p:cNvPr id="29" name="Picture 28">
            <a:extLst>
              <a:ext uri="{FF2B5EF4-FFF2-40B4-BE49-F238E27FC236}">
                <a16:creationId xmlns:a16="http://schemas.microsoft.com/office/drawing/2014/main" id="{B67813FD-A202-F8E9-CA59-92CF4DE97B41}"/>
              </a:ext>
            </a:extLst>
          </p:cNvPr>
          <p:cNvPicPr>
            <a:picLocks noChangeAspect="1"/>
          </p:cNvPicPr>
          <p:nvPr/>
        </p:nvPicPr>
        <p:blipFill>
          <a:blip r:embed="rId9"/>
          <a:srcRect t="46848" r="56918" b="40012"/>
          <a:stretch/>
        </p:blipFill>
        <p:spPr>
          <a:xfrm>
            <a:off x="5846212" y="4271815"/>
            <a:ext cx="4062115" cy="712061"/>
          </a:xfrm>
          <a:prstGeom prst="rect">
            <a:avLst/>
          </a:prstGeom>
        </p:spPr>
      </p:pic>
      <p:sp>
        <p:nvSpPr>
          <p:cNvPr id="31" name="TextBox 30">
            <a:extLst>
              <a:ext uri="{FF2B5EF4-FFF2-40B4-BE49-F238E27FC236}">
                <a16:creationId xmlns:a16="http://schemas.microsoft.com/office/drawing/2014/main" id="{99DD0CAF-A66E-B52E-AE71-3BF4CA6BA028}"/>
              </a:ext>
            </a:extLst>
          </p:cNvPr>
          <p:cNvSpPr txBox="1"/>
          <p:nvPr/>
        </p:nvSpPr>
        <p:spPr>
          <a:xfrm>
            <a:off x="5769157" y="3432701"/>
            <a:ext cx="6105419" cy="369332"/>
          </a:xfrm>
          <a:prstGeom prst="rect">
            <a:avLst/>
          </a:prstGeom>
          <a:noFill/>
        </p:spPr>
        <p:txBody>
          <a:bodyPr wrap="square">
            <a:spAutoFit/>
          </a:bodyPr>
          <a:lstStyle/>
          <a:p>
            <a:r>
              <a:rPr lang="en-US" b="1">
                <a:solidFill>
                  <a:srgbClr val="FF0000"/>
                </a:solidFill>
              </a:rPr>
              <a:t>Table</a:t>
            </a:r>
            <a:r>
              <a:rPr lang="en-US"/>
              <a:t>. </a:t>
            </a:r>
            <a:r>
              <a:rPr lang="en-US" dirty="0"/>
              <a:t>Quantum gate operations</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0F08FA2-D352-84B0-75BC-FDAF7E73BA05}"/>
                  </a:ext>
                </a:extLst>
              </p:cNvPr>
              <p:cNvSpPr txBox="1"/>
              <p:nvPr/>
            </p:nvSpPr>
            <p:spPr>
              <a:xfrm>
                <a:off x="1364044" y="5876326"/>
                <a:ext cx="3870857" cy="483466"/>
              </a:xfrm>
              <a:prstGeom prst="rect">
                <a:avLst/>
              </a:prstGeom>
              <a:noFill/>
            </p:spPr>
            <p:txBody>
              <a:bodyPr wrap="square" rtlCol="0">
                <a:spAutoFit/>
              </a:bodyPr>
              <a:lstStyle/>
              <a:p>
                <a14:m>
                  <m:oMath xmlns:m="http://schemas.openxmlformats.org/officeDocument/2006/math">
                    <m:r>
                      <a:rPr lang="en-US" i="1">
                        <a:latin typeface="Cambria Math" panose="02040503050406030204" pitchFamily="18" charset="0"/>
                      </a:rPr>
                      <m:t>𝜌</m:t>
                    </m:r>
                    <m:r>
                      <a:rPr lang="en-US" i="1">
                        <a:latin typeface="Cambria Math" panose="02040503050406030204" pitchFamily="18" charset="0"/>
                      </a:rPr>
                      <m:t>≡|</m:t>
                    </m:r>
                    <m:r>
                      <a:rPr lang="en-US" i="1">
                        <a:latin typeface="Cambria Math" panose="02040503050406030204" pitchFamily="18" charset="0"/>
                      </a:rPr>
                      <m:t>𝜓</m:t>
                    </m:r>
                    <m:r>
                      <a:rPr lang="en-US" i="1">
                        <a:latin typeface="Cambria Math" panose="02040503050406030204" pitchFamily="18" charset="0"/>
                      </a:rPr>
                      <m:t>⟩⟨</m:t>
                    </m:r>
                    <m:r>
                      <a:rPr lang="en-US" i="1">
                        <a:latin typeface="Cambria Math" panose="02040503050406030204" pitchFamily="18" charset="0"/>
                      </a:rPr>
                      <m:t>𝜓</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𝑛</m:t>
                            </m:r>
                          </m:sup>
                        </m:sSup>
                      </m:den>
                    </m:f>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𝑛</m:t>
                        </m:r>
                      </m:sup>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𝐼</m:t>
                                </m:r>
                              </m:e>
                              <m:sup>
                                <m:r>
                                  <a:rPr lang="en-US" i="1">
                                    <a:latin typeface="Cambria Math" panose="02040503050406030204" pitchFamily="18" charset="0"/>
                                  </a:rPr>
                                  <m:t>⊗</m:t>
                                </m:r>
                                <m:r>
                                  <a:rPr lang="en-US" i="1">
                                    <a:latin typeface="Cambria Math" panose="02040503050406030204" pitchFamily="18" charset="0"/>
                                  </a:rPr>
                                  <m:t>𝑛</m:t>
                                </m:r>
                              </m:sup>
                            </m:sSup>
                            <m:r>
                              <a:rPr lang="en-US" i="1">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ℙ</m:t>
                                </m:r>
                              </m:e>
                              <m:sub>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sub>
                            </m:sSub>
                          </m:e>
                        </m:d>
                      </m:e>
                    </m:nary>
                  </m:oMath>
                </a14:m>
                <a:r>
                  <a:rPr lang="en-US"/>
                  <a:t> </a:t>
                </a:r>
                <a:endParaRPr lang="vi-VN"/>
              </a:p>
            </p:txBody>
          </p:sp>
        </mc:Choice>
        <mc:Fallback>
          <p:sp>
            <p:nvSpPr>
              <p:cNvPr id="6" name="TextBox 5">
                <a:extLst>
                  <a:ext uri="{FF2B5EF4-FFF2-40B4-BE49-F238E27FC236}">
                    <a16:creationId xmlns:a16="http://schemas.microsoft.com/office/drawing/2014/main" id="{90F08FA2-D352-84B0-75BC-FDAF7E73BA05}"/>
                  </a:ext>
                </a:extLst>
              </p:cNvPr>
              <p:cNvSpPr txBox="1">
                <a:spLocks noRot="1" noChangeAspect="1" noMove="1" noResize="1" noEditPoints="1" noAdjustHandles="1" noChangeArrowheads="1" noChangeShapeType="1" noTextEdit="1"/>
              </p:cNvSpPr>
              <p:nvPr/>
            </p:nvSpPr>
            <p:spPr>
              <a:xfrm>
                <a:off x="1364044" y="5876326"/>
                <a:ext cx="3870857" cy="483466"/>
              </a:xfrm>
              <a:prstGeom prst="rect">
                <a:avLst/>
              </a:prstGeom>
              <a:blipFill>
                <a:blip r:embed="rId10"/>
                <a:stretch>
                  <a:fillRect t="-74359" b="-115385"/>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B0BDA11D-670E-FB74-8719-21FF0FD18555}"/>
                  </a:ext>
                </a:extLst>
              </p:cNvPr>
              <p:cNvSpPr txBox="1"/>
              <p:nvPr/>
            </p:nvSpPr>
            <p:spPr>
              <a:xfrm>
                <a:off x="4576773" y="5760333"/>
                <a:ext cx="3728280" cy="6202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𝑘</m:t>
                          </m:r>
                        </m:sub>
                      </m:sSub>
                      <m:r>
                        <a:rPr lang="en-US" i="1">
                          <a:latin typeface="Cambria Math" panose="02040503050406030204" pitchFamily="18" charset="0"/>
                        </a:rPr>
                        <m:t>=</m:t>
                      </m:r>
                      <m:r>
                        <m:rPr>
                          <m:sty m:val="p"/>
                        </m:rPr>
                        <a:rPr lang="en-US">
                          <a:latin typeface="Cambria Math" panose="02040503050406030204" pitchFamily="18" charset="0"/>
                        </a:rPr>
                        <m:t>tr</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𝐼</m:t>
                                      </m:r>
                                    </m:e>
                                    <m:sup>
                                      <m:r>
                                        <a:rPr lang="en-US" i="1">
                                          <a:latin typeface="Cambria Math" panose="02040503050406030204" pitchFamily="18" charset="0"/>
                                        </a:rPr>
                                        <m:t>⊗</m:t>
                                      </m:r>
                                      <m:r>
                                        <a:rPr lang="en-US" i="1">
                                          <a:latin typeface="Cambria Math" panose="02040503050406030204" pitchFamily="18" charset="0"/>
                                        </a:rPr>
                                        <m:t>𝑛</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i="1">
                                          <a:latin typeface="Cambria Math" panose="02040503050406030204" pitchFamily="18" charset="0"/>
                                        </a:rPr>
                                        <m:t>𝑘</m:t>
                                      </m:r>
                                    </m:sub>
                                  </m:sSub>
                                </m:e>
                              </m:d>
                            </m:e>
                          </m:d>
                          <m:r>
                            <a:rPr lang="en-US" i="1">
                              <a:latin typeface="Cambria Math" panose="02040503050406030204" pitchFamily="18" charset="0"/>
                            </a:rPr>
                            <m:t>𝜌</m:t>
                          </m:r>
                        </m:e>
                      </m:d>
                    </m:oMath>
                  </m:oMathPara>
                </a14:m>
                <a:endParaRPr lang="vi-VN"/>
              </a:p>
            </p:txBody>
          </p:sp>
        </mc:Choice>
        <mc:Fallback>
          <p:sp>
            <p:nvSpPr>
              <p:cNvPr id="12" name="TextBox 11">
                <a:extLst>
                  <a:ext uri="{FF2B5EF4-FFF2-40B4-BE49-F238E27FC236}">
                    <a16:creationId xmlns:a16="http://schemas.microsoft.com/office/drawing/2014/main" id="{B0BDA11D-670E-FB74-8719-21FF0FD18555}"/>
                  </a:ext>
                </a:extLst>
              </p:cNvPr>
              <p:cNvSpPr txBox="1">
                <a:spLocks noRot="1" noChangeAspect="1" noMove="1" noResize="1" noEditPoints="1" noAdjustHandles="1" noChangeArrowheads="1" noChangeShapeType="1" noTextEdit="1"/>
              </p:cNvSpPr>
              <p:nvPr/>
            </p:nvSpPr>
            <p:spPr>
              <a:xfrm>
                <a:off x="4576773" y="5760333"/>
                <a:ext cx="3728280" cy="620234"/>
              </a:xfrm>
              <a:prstGeom prst="rect">
                <a:avLst/>
              </a:prstGeom>
              <a:blipFill>
                <a:blip r:embed="rId11"/>
                <a:stretch>
                  <a:fillRect b="-2000"/>
                </a:stretch>
              </a:blipFill>
            </p:spPr>
            <p:txBody>
              <a:bodyPr/>
              <a:lstStyle/>
              <a:p>
                <a:r>
                  <a:rPr lang="en-VN">
                    <a:noFill/>
                  </a:rPr>
                  <a:t> </a:t>
                </a:r>
              </a:p>
            </p:txBody>
          </p:sp>
        </mc:Fallback>
      </mc:AlternateContent>
      <p:sp>
        <p:nvSpPr>
          <p:cNvPr id="14" name="TextBox 13">
            <a:extLst>
              <a:ext uri="{FF2B5EF4-FFF2-40B4-BE49-F238E27FC236}">
                <a16:creationId xmlns:a16="http://schemas.microsoft.com/office/drawing/2014/main" id="{E79FAA71-247A-FA9B-5AD4-F40B4241850D}"/>
              </a:ext>
            </a:extLst>
          </p:cNvPr>
          <p:cNvSpPr txBox="1"/>
          <p:nvPr/>
        </p:nvSpPr>
        <p:spPr>
          <a:xfrm>
            <a:off x="817582" y="6548776"/>
            <a:ext cx="7694241" cy="297454"/>
          </a:xfrm>
          <a:prstGeom prst="rect">
            <a:avLst/>
          </a:prstGeom>
          <a:noFill/>
        </p:spPr>
        <p:txBody>
          <a:bodyPr wrap="square">
            <a:spAutoFit/>
          </a:bodyPr>
          <a:lstStyle/>
          <a:p>
            <a:r>
              <a:rPr lang="pt-BR" sz="1333" b="1"/>
              <a:t>[3.1]</a:t>
            </a:r>
            <a:r>
              <a:rPr lang="pt-BR" sz="1333"/>
              <a:t> C. Gidney, “Stim: a fast stabilizer circuit simulator,” Quantum, vol. 5, p. 497, Jul. 2021</a:t>
            </a:r>
            <a:endParaRPr lang="vi-VN" sz="1333"/>
          </a:p>
        </p:txBody>
      </p:sp>
    </p:spTree>
    <p:extLst>
      <p:ext uri="{BB962C8B-B14F-4D97-AF65-F5344CB8AC3E}">
        <p14:creationId xmlns:p14="http://schemas.microsoft.com/office/powerpoint/2010/main" val="3438794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4E125-8C6C-2679-6712-F07563FE36B7}"/>
              </a:ext>
            </a:extLst>
          </p:cNvPr>
          <p:cNvSpPr>
            <a:spLocks noGrp="1"/>
          </p:cNvSpPr>
          <p:nvPr>
            <p:ph type="title"/>
          </p:nvPr>
        </p:nvSpPr>
        <p:spPr>
          <a:xfrm>
            <a:off x="838201" y="365126"/>
            <a:ext cx="7646529" cy="1175607"/>
          </a:xfrm>
        </p:spPr>
        <p:txBody>
          <a:bodyPr>
            <a:normAutofit/>
          </a:bodyPr>
          <a:lstStyle/>
          <a:p>
            <a:r>
              <a:rPr lang="en-US"/>
              <a:t>3.2. </a:t>
            </a:r>
            <a:r>
              <a:rPr lang="en-US" sz="4933"/>
              <a:t>Quantum simulation</a:t>
            </a:r>
            <a:br>
              <a:rPr lang="en-US" sz="6400"/>
            </a:br>
            <a:r>
              <a:rPr lang="en-US" sz="2933"/>
              <a:t>Challenges in stabilizer formalism</a:t>
            </a:r>
            <a:endParaRPr lang="en-US" sz="2933" dirty="0"/>
          </a:p>
        </p:txBody>
      </p:sp>
      <p:pic>
        <p:nvPicPr>
          <p:cNvPr id="6" name="Content Placeholder 5">
            <a:extLst>
              <a:ext uri="{FF2B5EF4-FFF2-40B4-BE49-F238E27FC236}">
                <a16:creationId xmlns:a16="http://schemas.microsoft.com/office/drawing/2014/main" id="{411C0B44-FE10-70BD-C6BE-DDCEC6ABF5F6}"/>
              </a:ext>
            </a:extLst>
          </p:cNvPr>
          <p:cNvPicPr>
            <a:picLocks noGrp="1" noChangeAspect="1"/>
          </p:cNvPicPr>
          <p:nvPr>
            <p:ph idx="1"/>
          </p:nvPr>
        </p:nvPicPr>
        <p:blipFill>
          <a:blip r:embed="rId3"/>
          <a:stretch>
            <a:fillRect/>
          </a:stretch>
        </p:blipFill>
        <p:spPr>
          <a:xfrm>
            <a:off x="838199" y="3088477"/>
            <a:ext cx="9074415" cy="2361963"/>
          </a:xfrm>
        </p:spPr>
      </p:pic>
      <p:sp>
        <p:nvSpPr>
          <p:cNvPr id="4" name="Slide Number Placeholder 3">
            <a:extLst>
              <a:ext uri="{FF2B5EF4-FFF2-40B4-BE49-F238E27FC236}">
                <a16:creationId xmlns:a16="http://schemas.microsoft.com/office/drawing/2014/main" id="{D848BF15-6189-BD7F-0C2E-5C165895D402}"/>
              </a:ext>
            </a:extLst>
          </p:cNvPr>
          <p:cNvSpPr>
            <a:spLocks noGrp="1"/>
          </p:cNvSpPr>
          <p:nvPr>
            <p:ph type="sldNum" sz="quarter" idx="12"/>
          </p:nvPr>
        </p:nvSpPr>
        <p:spPr/>
        <p:txBody>
          <a:bodyPr/>
          <a:lstStyle/>
          <a:p>
            <a:fld id="{3C0C221A-CB66-4297-9A52-937C35126D0C}" type="slidenum">
              <a:rPr lang="en-US" smtClean="0"/>
              <a:t>25</a:t>
            </a:fld>
            <a:endParaRPr lang="en-US"/>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444B9CF1-B512-F485-F487-C040228327E6}"/>
                  </a:ext>
                </a:extLst>
              </p:cNvPr>
              <p:cNvSpPr txBox="1"/>
              <p:nvPr/>
            </p:nvSpPr>
            <p:spPr>
              <a:xfrm>
                <a:off x="838199" y="5450442"/>
                <a:ext cx="10061223" cy="830997"/>
              </a:xfrm>
              <a:prstGeom prst="rect">
                <a:avLst/>
              </a:prstGeom>
              <a:noFill/>
            </p:spPr>
            <p:txBody>
              <a:bodyPr wrap="square">
                <a:spAutoFit/>
              </a:bodyPr>
              <a:lstStyle/>
              <a:p>
                <a:r>
                  <a:rPr lang="en-US" sz="2400"/>
                  <a:t>The </a:t>
                </a:r>
                <a:r>
                  <a:rPr lang="en-US" sz="2400" dirty="0"/>
                  <a:t>stabilizer rank on four generators is shown as four black lines. We are considering the worst cases by using 4-qubit </a:t>
                </a:r>
                <a14:m>
                  <m:oMath xmlns:m="http://schemas.openxmlformats.org/officeDocument/2006/math">
                    <m:r>
                      <a:rPr lang="en-US" sz="2400" i="1" dirty="0">
                        <a:latin typeface="Cambria Math" panose="02040503050406030204" pitchFamily="18" charset="0"/>
                      </a:rPr>
                      <m:t>|</m:t>
                    </m:r>
                    <m:r>
                      <a:rPr lang="en-US" sz="2400" i="1" dirty="0">
                        <a:latin typeface="Cambria Math" panose="02040503050406030204" pitchFamily="18" charset="0"/>
                      </a:rPr>
                      <m:t>𝑋𝑌𝑍</m:t>
                    </m:r>
                    <m:r>
                      <a:rPr lang="en-US" sz="2400" i="1" dirty="0">
                        <a:latin typeface="Cambria Math" panose="02040503050406030204" pitchFamily="18" charset="0"/>
                      </a:rPr>
                      <m:t> + </m:t>
                    </m:r>
                    <m:r>
                      <a:rPr lang="en-US" sz="2400" i="1" dirty="0">
                        <a:latin typeface="Cambria Math" panose="02040503050406030204" pitchFamily="18" charset="0"/>
                      </a:rPr>
                      <m:t>𝑐h𝑎𝑖𝑛</m:t>
                    </m:r>
                    <m:r>
                      <a:rPr lang="en-US" sz="2400" i="1" dirty="0">
                        <a:latin typeface="Cambria Math" panose="02040503050406030204" pitchFamily="18" charset="0"/>
                      </a:rPr>
                      <m:t>⟩ </m:t>
                    </m:r>
                  </m:oMath>
                </a14:m>
                <a:r>
                  <a:rPr lang="en-US" sz="2400" dirty="0"/>
                  <a:t>ansatz.</a:t>
                </a:r>
              </a:p>
            </p:txBody>
          </p:sp>
        </mc:Choice>
        <mc:Fallback>
          <p:sp>
            <p:nvSpPr>
              <p:cNvPr id="8" name="TextBox 7">
                <a:extLst>
                  <a:ext uri="{FF2B5EF4-FFF2-40B4-BE49-F238E27FC236}">
                    <a16:creationId xmlns:a16="http://schemas.microsoft.com/office/drawing/2014/main" id="{444B9CF1-B512-F485-F487-C040228327E6}"/>
                  </a:ext>
                </a:extLst>
              </p:cNvPr>
              <p:cNvSpPr txBox="1">
                <a:spLocks noRot="1" noChangeAspect="1" noMove="1" noResize="1" noEditPoints="1" noAdjustHandles="1" noChangeArrowheads="1" noChangeShapeType="1" noTextEdit="1"/>
              </p:cNvSpPr>
              <p:nvPr/>
            </p:nvSpPr>
            <p:spPr>
              <a:xfrm>
                <a:off x="838199" y="5450442"/>
                <a:ext cx="10061223" cy="830997"/>
              </a:xfrm>
              <a:prstGeom prst="rect">
                <a:avLst/>
              </a:prstGeom>
              <a:blipFill>
                <a:blip r:embed="rId4"/>
                <a:stretch>
                  <a:fillRect l="-882" t="-6061" b="-16667"/>
                </a:stretch>
              </a:blipFill>
            </p:spPr>
            <p:txBody>
              <a:bodyPr/>
              <a:lstStyle/>
              <a:p>
                <a:r>
                  <a:rPr lang="en-VN">
                    <a:noFill/>
                  </a:rPr>
                  <a:t> </a:t>
                </a:r>
              </a:p>
            </p:txBody>
          </p:sp>
        </mc:Fallback>
      </mc:AlternateContent>
      <p:sp>
        <p:nvSpPr>
          <p:cNvPr id="10" name="TextBox 9">
            <a:extLst>
              <a:ext uri="{FF2B5EF4-FFF2-40B4-BE49-F238E27FC236}">
                <a16:creationId xmlns:a16="http://schemas.microsoft.com/office/drawing/2014/main" id="{95D27153-D2F0-17F9-5B73-141FFA4067C1}"/>
              </a:ext>
            </a:extLst>
          </p:cNvPr>
          <p:cNvSpPr txBox="1"/>
          <p:nvPr/>
        </p:nvSpPr>
        <p:spPr>
          <a:xfrm>
            <a:off x="838200" y="1488039"/>
            <a:ext cx="10690185" cy="1569660"/>
          </a:xfrm>
          <a:prstGeom prst="rect">
            <a:avLst/>
          </a:prstGeom>
          <a:noFill/>
        </p:spPr>
        <p:txBody>
          <a:bodyPr wrap="square">
            <a:spAutoFit/>
          </a:bodyPr>
          <a:lstStyle/>
          <a:p>
            <a:pPr marL="342891" indent="-342891">
              <a:buAutoNum type="alphaLcParenBoth"/>
            </a:pPr>
            <a:r>
              <a:rPr lang="en-US" sz="2400" dirty="0"/>
              <a:t>Applying non-Clifford gates </a:t>
            </a:r>
            <a:r>
              <a:rPr lang="en-US" sz="2400" b="1" dirty="0"/>
              <a:t>increases the stabilizer rank </a:t>
            </a:r>
            <a:r>
              <a:rPr lang="en-US" sz="2400" dirty="0"/>
              <a:t>(non-</a:t>
            </a:r>
            <a:r>
              <a:rPr lang="en-US" sz="2400" dirty="0" err="1"/>
              <a:t>stabilizerness</a:t>
            </a:r>
            <a:r>
              <a:rPr lang="en-US" sz="2400" dirty="0"/>
              <a:t>) of a stabilizer state: higher stabilizer rank, harder for simulate.</a:t>
            </a:r>
          </a:p>
          <a:p>
            <a:pPr marL="342891" indent="-342891" algn="just">
              <a:buAutoNum type="alphaLcParenBoth"/>
            </a:pPr>
            <a:r>
              <a:rPr lang="en-US" sz="2400" dirty="0"/>
              <a:t>The current stabilizer formalism are sequentially updated gate by gate: limited the power of GPU.</a:t>
            </a:r>
          </a:p>
        </p:txBody>
      </p:sp>
    </p:spTree>
    <p:extLst>
      <p:ext uri="{BB962C8B-B14F-4D97-AF65-F5344CB8AC3E}">
        <p14:creationId xmlns:p14="http://schemas.microsoft.com/office/powerpoint/2010/main" val="31574495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488B-4686-C89E-E7FD-A67B08ED5A11}"/>
              </a:ext>
            </a:extLst>
          </p:cNvPr>
          <p:cNvSpPr>
            <a:spLocks noGrp="1"/>
          </p:cNvSpPr>
          <p:nvPr>
            <p:ph type="title"/>
          </p:nvPr>
        </p:nvSpPr>
        <p:spPr/>
        <p:txBody>
          <a:bodyPr>
            <a:normAutofit/>
          </a:bodyPr>
          <a:lstStyle/>
          <a:p>
            <a:r>
              <a:rPr lang="en-US"/>
              <a:t>3.3. Quantum simulation</a:t>
            </a:r>
            <a:br>
              <a:rPr lang="en-US"/>
            </a:br>
            <a:r>
              <a:rPr lang="en-US" sz="2667"/>
              <a:t>Tensor network</a:t>
            </a:r>
            <a:endParaRPr lang="vi-VN" sz="2667"/>
          </a:p>
        </p:txBody>
      </p:sp>
      <p:sp>
        <p:nvSpPr>
          <p:cNvPr id="4" name="Slide Number Placeholder 3">
            <a:extLst>
              <a:ext uri="{FF2B5EF4-FFF2-40B4-BE49-F238E27FC236}">
                <a16:creationId xmlns:a16="http://schemas.microsoft.com/office/drawing/2014/main" id="{217FC216-D3E4-5159-99B0-972050880FF8}"/>
              </a:ext>
            </a:extLst>
          </p:cNvPr>
          <p:cNvSpPr>
            <a:spLocks noGrp="1"/>
          </p:cNvSpPr>
          <p:nvPr>
            <p:ph type="sldNum" sz="quarter" idx="12"/>
          </p:nvPr>
        </p:nvSpPr>
        <p:spPr/>
        <p:txBody>
          <a:bodyPr/>
          <a:lstStyle/>
          <a:p>
            <a:fld id="{6A45828D-F580-42DE-B77E-860980F07F32}" type="slidenum">
              <a:rPr lang="vi-VN" smtClean="0"/>
              <a:t>26</a:t>
            </a:fld>
            <a:endParaRPr lang="vi-VN"/>
          </a:p>
        </p:txBody>
      </p:sp>
      <p:pic>
        <p:nvPicPr>
          <p:cNvPr id="3074" name="Picture 2">
            <a:extLst>
              <a:ext uri="{FF2B5EF4-FFF2-40B4-BE49-F238E27FC236}">
                <a16:creationId xmlns:a16="http://schemas.microsoft.com/office/drawing/2014/main" id="{81954910-26AF-78EE-DCB3-2531B104BCD4}"/>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66141" y="1690688"/>
            <a:ext cx="6755460" cy="172496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8EC6C2AF-C776-F18D-0502-B031175E4AB8}"/>
                  </a:ext>
                </a:extLst>
              </p:cNvPr>
              <p:cNvSpPr txBox="1"/>
              <p:nvPr/>
            </p:nvSpPr>
            <p:spPr>
              <a:xfrm>
                <a:off x="979156" y="4253557"/>
                <a:ext cx="7713431" cy="761427"/>
              </a:xfrm>
              <a:prstGeom prst="rect">
                <a:avLst/>
              </a:prstGeom>
              <a:noFill/>
            </p:spPr>
            <p:txBody>
              <a:bodyPr wrap="square" rtlCol="0">
                <a:spAutoFit/>
              </a:bodyPr>
              <a:lstStyle/>
              <a:p>
                <a:r>
                  <a:rPr lang="en-US" sz="2400"/>
                  <a:t>We present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2</m:t>
                        </m:r>
                      </m:e>
                      <m:sup>
                        <m:r>
                          <a:rPr lang="en-US" sz="2400" i="1">
                            <a:latin typeface="Cambria Math" panose="02040503050406030204" pitchFamily="18" charset="0"/>
                          </a:rPr>
                          <m:t>𝑛</m:t>
                        </m:r>
                      </m:sup>
                    </m:sSup>
                  </m:oMath>
                </a14:m>
                <a:r>
                  <a:rPr lang="en-US" sz="2400"/>
                  <a:t> statevector as </a:t>
                </a:r>
                <a14:m>
                  <m:oMath xmlns:m="http://schemas.openxmlformats.org/officeDocument/2006/math">
                    <m:limLow>
                      <m:limLowPr>
                        <m:ctrlPr>
                          <a:rPr lang="en-US" sz="2400" i="1">
                            <a:latin typeface="Cambria Math" panose="02040503050406030204" pitchFamily="18" charset="0"/>
                          </a:rPr>
                        </m:ctrlPr>
                      </m:limLowPr>
                      <m:e>
                        <m:groupChr>
                          <m:groupChrPr>
                            <m:chr m:val="⏟"/>
                            <m:ctrlPr>
                              <a:rPr lang="en-US" sz="2400" i="1">
                                <a:latin typeface="Cambria Math" panose="02040503050406030204" pitchFamily="18" charset="0"/>
                              </a:rPr>
                            </m:ctrlPr>
                          </m:groupChrPr>
                          <m:e>
                            <m:d>
                              <m:dPr>
                                <m:ctrlPr>
                                  <a:rPr lang="en-US" sz="2400" i="1">
                                    <a:latin typeface="Cambria Math" panose="02040503050406030204" pitchFamily="18" charset="0"/>
                                  </a:rPr>
                                </m:ctrlPr>
                              </m:dPr>
                              <m:e>
                                <m:r>
                                  <a:rPr lang="en-US" sz="2400" i="1">
                                    <a:latin typeface="Cambria Math" panose="02040503050406030204" pitchFamily="18" charset="0"/>
                                  </a:rPr>
                                  <m:t>2,2,…,2</m:t>
                                </m:r>
                              </m:e>
                            </m:d>
                          </m:e>
                        </m:groupChr>
                      </m:e>
                      <m:lim>
                        <m:r>
                          <a:rPr lang="en-US" sz="2400" i="1">
                            <a:latin typeface="Cambria Math" panose="02040503050406030204" pitchFamily="18" charset="0"/>
                          </a:rPr>
                          <m:t>𝑛</m:t>
                        </m:r>
                      </m:lim>
                    </m:limLow>
                  </m:oMath>
                </a14:m>
                <a:r>
                  <a:rPr lang="en-US" sz="2400"/>
                  <a:t> tensor</a:t>
                </a:r>
                <a:endParaRPr lang="vi-VN" sz="2400"/>
              </a:p>
            </p:txBody>
          </p:sp>
        </mc:Choice>
        <mc:Fallback>
          <p:sp>
            <p:nvSpPr>
              <p:cNvPr id="7" name="TextBox 6">
                <a:extLst>
                  <a:ext uri="{FF2B5EF4-FFF2-40B4-BE49-F238E27FC236}">
                    <a16:creationId xmlns:a16="http://schemas.microsoft.com/office/drawing/2014/main" id="{8EC6C2AF-C776-F18D-0502-B031175E4AB8}"/>
                  </a:ext>
                </a:extLst>
              </p:cNvPr>
              <p:cNvSpPr txBox="1">
                <a:spLocks noRot="1" noChangeAspect="1" noMove="1" noResize="1" noEditPoints="1" noAdjustHandles="1" noChangeArrowheads="1" noChangeShapeType="1" noTextEdit="1"/>
              </p:cNvSpPr>
              <p:nvPr/>
            </p:nvSpPr>
            <p:spPr>
              <a:xfrm>
                <a:off x="979156" y="4253557"/>
                <a:ext cx="7713431" cy="761427"/>
              </a:xfrm>
              <a:prstGeom prst="rect">
                <a:avLst/>
              </a:prstGeom>
              <a:blipFill>
                <a:blip r:embed="rId3"/>
                <a:stretch>
                  <a:fillRect l="-1316" t="-4918"/>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53AD5AAE-8DF5-66C5-3222-DC92FF93A2DE}"/>
                  </a:ext>
                </a:extLst>
              </p:cNvPr>
              <p:cNvSpPr txBox="1"/>
              <p:nvPr/>
            </p:nvSpPr>
            <p:spPr>
              <a:xfrm>
                <a:off x="966139" y="4763605"/>
                <a:ext cx="10847684" cy="632802"/>
              </a:xfrm>
              <a:prstGeom prst="rect">
                <a:avLst/>
              </a:prstGeom>
              <a:noFill/>
            </p:spPr>
            <p:txBody>
              <a:bodyPr wrap="square" rtlCol="0">
                <a:spAutoFit/>
              </a:bodyPr>
              <a:lstStyle/>
              <a:p>
                <a:r>
                  <a:rPr lang="en-US" sz="2400"/>
                  <a:t>For qubit 0, we reshape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𝜓</m:t>
                    </m:r>
                    <m:r>
                      <a:rPr lang="en-US" sz="2400" i="1">
                        <a:latin typeface="Cambria Math" panose="02040503050406030204" pitchFamily="18" charset="0"/>
                      </a:rPr>
                      <m:t>⟩</m:t>
                    </m:r>
                  </m:oMath>
                </a14:m>
                <a:r>
                  <a:rPr lang="en-US" sz="2400"/>
                  <a:t> as row = </a:t>
                </a:r>
                <a14:m>
                  <m:oMath xmlns:m="http://schemas.openxmlformats.org/officeDocument/2006/math">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1</m:t>
                            </m:r>
                          </m:sub>
                        </m:sSub>
                      </m:e>
                    </m:d>
                    <m:r>
                      <a:rPr lang="en-US" sz="2400" i="1">
                        <a:latin typeface="Cambria Math" panose="02040503050406030204" pitchFamily="18" charset="0"/>
                      </a:rPr>
                      <m:t>,</m:t>
                    </m:r>
                  </m:oMath>
                </a14:m>
                <a:r>
                  <a:rPr lang="en-US" sz="2400"/>
                  <a:t> col </a:t>
                </a:r>
                <a14:m>
                  <m:oMath xmlns:m="http://schemas.openxmlformats.org/officeDocument/2006/math">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𝑛</m:t>
                            </m:r>
                          </m:sub>
                        </m:sSub>
                      </m:e>
                    </m:d>
                  </m:oMath>
                </a14:m>
                <a:r>
                  <a:rPr lang="en-US" sz="240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1</m:t>
                            </m:r>
                          </m:sub>
                        </m:sSub>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𝑛</m:t>
                                </m:r>
                              </m:sub>
                            </m:sSub>
                          </m:e>
                        </m:d>
                      </m:sub>
                    </m:sSub>
                    <m:groupChr>
                      <m:groupChrPr>
                        <m:chr m:val="→"/>
                        <m:vertJc m:val="bot"/>
                        <m:ctrlPr>
                          <a:rPr lang="en-US" sz="2400" i="1">
                            <a:latin typeface="Cambria Math" panose="02040503050406030204" pitchFamily="18" charset="0"/>
                          </a:rPr>
                        </m:ctrlPr>
                      </m:groupChrPr>
                      <m:e>
                        <m:r>
                          <m:rPr>
                            <m:brk m:alnAt="2"/>
                          </m:rPr>
                          <a:rPr lang="en-US" sz="2400" i="1">
                            <a:latin typeface="Cambria Math" panose="02040503050406030204" pitchFamily="18" charset="0"/>
                          </a:rPr>
                          <m:t>𝑆</m:t>
                        </m:r>
                        <m:r>
                          <a:rPr lang="en-US" sz="2400" i="1">
                            <a:latin typeface="Cambria Math" panose="02040503050406030204" pitchFamily="18" charset="0"/>
                          </a:rPr>
                          <m:t>𝑉𝐷</m:t>
                        </m:r>
                      </m:e>
                    </m:groupChr>
                    <m:r>
                      <a:rPr lang="en-US" sz="2400" i="1">
                        <a:latin typeface="Cambria Math" panose="02040503050406030204" pitchFamily="18" charset="0"/>
                      </a:rPr>
                      <m:t> </m:t>
                    </m:r>
                    <m:r>
                      <a:rPr lang="en-US" sz="2400" i="1">
                        <a:latin typeface="Cambria Math" panose="02040503050406030204" pitchFamily="18" charset="0"/>
                      </a:rPr>
                      <m:t>𝑈</m:t>
                    </m:r>
                    <m:r>
                      <a:rPr lang="en-US" sz="2400" i="1">
                        <a:latin typeface="Cambria Math" panose="02040503050406030204" pitchFamily="18" charset="0"/>
                      </a:rPr>
                      <m:t>   </m:t>
                    </m:r>
                    <m:r>
                      <a:rPr lang="en-US" sz="2400" i="1">
                        <a:latin typeface="Cambria Math" panose="02040503050406030204" pitchFamily="18" charset="0"/>
                      </a:rPr>
                      <m:t>𝑆</m:t>
                    </m:r>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ea typeface="Cambria Math" panose="02040503050406030204" pitchFamily="18" charset="0"/>
                          </a:rPr>
                          <m:t>†</m:t>
                        </m:r>
                      </m:sup>
                    </m:sSup>
                  </m:oMath>
                </a14:m>
                <a:endParaRPr lang="vi-VN" sz="2400"/>
              </a:p>
            </p:txBody>
          </p:sp>
        </mc:Choice>
        <mc:Fallback>
          <p:sp>
            <p:nvSpPr>
              <p:cNvPr id="8" name="TextBox 7">
                <a:extLst>
                  <a:ext uri="{FF2B5EF4-FFF2-40B4-BE49-F238E27FC236}">
                    <a16:creationId xmlns:a16="http://schemas.microsoft.com/office/drawing/2014/main" id="{53AD5AAE-8DF5-66C5-3222-DC92FF93A2DE}"/>
                  </a:ext>
                </a:extLst>
              </p:cNvPr>
              <p:cNvSpPr txBox="1">
                <a:spLocks noRot="1" noChangeAspect="1" noMove="1" noResize="1" noEditPoints="1" noAdjustHandles="1" noChangeArrowheads="1" noChangeShapeType="1" noTextEdit="1"/>
              </p:cNvSpPr>
              <p:nvPr/>
            </p:nvSpPr>
            <p:spPr>
              <a:xfrm>
                <a:off x="966139" y="4763605"/>
                <a:ext cx="10847684" cy="632802"/>
              </a:xfrm>
              <a:prstGeom prst="rect">
                <a:avLst/>
              </a:prstGeom>
              <a:blipFill>
                <a:blip r:embed="rId4"/>
                <a:stretch>
                  <a:fillRect l="-818" b="-19608"/>
                </a:stretch>
              </a:blipFill>
            </p:spPr>
            <p:txBody>
              <a:bodyPr/>
              <a:lstStyle/>
              <a:p>
                <a:r>
                  <a:rPr lang="en-VN">
                    <a:noFill/>
                  </a:rPr>
                  <a:t> </a:t>
                </a:r>
              </a:p>
            </p:txBody>
          </p:sp>
        </mc:Fallback>
      </mc:AlternateContent>
      <p:sp>
        <p:nvSpPr>
          <p:cNvPr id="11" name="Rectangle 10">
            <a:extLst>
              <a:ext uri="{FF2B5EF4-FFF2-40B4-BE49-F238E27FC236}">
                <a16:creationId xmlns:a16="http://schemas.microsoft.com/office/drawing/2014/main" id="{58D97694-98F5-F568-F10B-9EB19652F176}"/>
              </a:ext>
            </a:extLst>
          </p:cNvPr>
          <p:cNvSpPr/>
          <p:nvPr/>
        </p:nvSpPr>
        <p:spPr>
          <a:xfrm>
            <a:off x="10441598" y="4848969"/>
            <a:ext cx="313080" cy="5439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2" name="Rectangle 11">
            <a:extLst>
              <a:ext uri="{FF2B5EF4-FFF2-40B4-BE49-F238E27FC236}">
                <a16:creationId xmlns:a16="http://schemas.microsoft.com/office/drawing/2014/main" id="{D7433777-55D8-FE5B-B7E3-F73C2093B818}"/>
              </a:ext>
            </a:extLst>
          </p:cNvPr>
          <p:cNvSpPr/>
          <p:nvPr/>
        </p:nvSpPr>
        <p:spPr>
          <a:xfrm>
            <a:off x="10826548" y="4848273"/>
            <a:ext cx="718540" cy="5439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1B18B496-44CA-8BC6-C0A3-58DB3AC80D34}"/>
                  </a:ext>
                </a:extLst>
              </p:cNvPr>
              <p:cNvSpPr txBox="1"/>
              <p:nvPr/>
            </p:nvSpPr>
            <p:spPr>
              <a:xfrm>
                <a:off x="10108304" y="4233796"/>
                <a:ext cx="768208" cy="544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sz="2400" i="1">
                              <a:latin typeface="Cambria Math" panose="02040503050406030204" pitchFamily="18" charset="0"/>
                            </a:rPr>
                          </m:ctrlPr>
                        </m:sSubSupPr>
                        <m:e>
                          <m:r>
                            <a:rPr lang="en-US" sz="2400" i="1">
                              <a:latin typeface="Cambria Math" panose="02040503050406030204" pitchFamily="18" charset="0"/>
                            </a:rPr>
                            <m:t>𝐴</m:t>
                          </m:r>
                        </m:e>
                        <m:sub>
                          <m:r>
                            <a:rPr lang="en-US" sz="2400" i="1">
                              <a:latin typeface="Cambria Math" panose="02040503050406030204" pitchFamily="18" charset="0"/>
                            </a:rPr>
                            <m:t>1</m:t>
                          </m:r>
                        </m:sub>
                        <m:sup>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1</m:t>
                              </m:r>
                            </m:sub>
                          </m:sSub>
                        </m:sup>
                      </m:sSubSup>
                    </m:oMath>
                  </m:oMathPara>
                </a14:m>
                <a:endParaRPr lang="vi-VN" sz="2400"/>
              </a:p>
            </p:txBody>
          </p:sp>
        </mc:Choice>
        <mc:Fallback>
          <p:sp>
            <p:nvSpPr>
              <p:cNvPr id="13" name="TextBox 12">
                <a:extLst>
                  <a:ext uri="{FF2B5EF4-FFF2-40B4-BE49-F238E27FC236}">
                    <a16:creationId xmlns:a16="http://schemas.microsoft.com/office/drawing/2014/main" id="{1B18B496-44CA-8BC6-C0A3-58DB3AC80D34}"/>
                  </a:ext>
                </a:extLst>
              </p:cNvPr>
              <p:cNvSpPr txBox="1">
                <a:spLocks noRot="1" noChangeAspect="1" noMove="1" noResize="1" noEditPoints="1" noAdjustHandles="1" noChangeArrowheads="1" noChangeShapeType="1" noTextEdit="1"/>
              </p:cNvSpPr>
              <p:nvPr/>
            </p:nvSpPr>
            <p:spPr>
              <a:xfrm>
                <a:off x="10108304" y="4233796"/>
                <a:ext cx="768208" cy="544444"/>
              </a:xfrm>
              <a:prstGeom prst="rect">
                <a:avLst/>
              </a:prstGeom>
              <a:blipFill>
                <a:blip r:embed="rId5"/>
                <a:stretch>
                  <a:fillRect b="-227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A6286C9D-470D-3689-E246-B9252963842B}"/>
                  </a:ext>
                </a:extLst>
              </p:cNvPr>
              <p:cNvSpPr txBox="1"/>
              <p:nvPr/>
            </p:nvSpPr>
            <p:spPr>
              <a:xfrm>
                <a:off x="966139" y="5263417"/>
                <a:ext cx="10768660" cy="1532599"/>
              </a:xfrm>
              <a:prstGeom prst="rect">
                <a:avLst/>
              </a:prstGeom>
              <a:noFill/>
            </p:spPr>
            <p:txBody>
              <a:bodyPr wrap="square" rtlCol="0">
                <a:spAutoFit/>
              </a:bodyPr>
              <a:lstStyle/>
              <a:p>
                <a:r>
                  <a:rPr lang="en-US" sz="2400"/>
                  <a:t>For qubit 1, we reshape </a:t>
                </a:r>
                <a14:m>
                  <m:oMath xmlns:m="http://schemas.openxmlformats.org/officeDocument/2006/math">
                    <m:r>
                      <a:rPr lang="en-US" sz="2400" i="1">
                        <a:latin typeface="Cambria Math" panose="02040503050406030204" pitchFamily="18" charset="0"/>
                      </a:rPr>
                      <m:t>𝑆</m:t>
                    </m:r>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ea typeface="Cambria Math" panose="02040503050406030204" pitchFamily="18" charset="0"/>
                          </a:rPr>
                          <m:t>†</m:t>
                        </m:r>
                      </m:sup>
                    </m:sSup>
                  </m:oMath>
                </a14:m>
                <a:r>
                  <a:rPr lang="en-US" sz="2400"/>
                  <a:t> as row </a:t>
                </a:r>
                <a14:m>
                  <m:oMath xmlns:m="http://schemas.openxmlformats.org/officeDocument/2006/math">
                    <m:r>
                      <a:rPr lang="en-US" sz="2400" i="1">
                        <a:latin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rPr>
                          <m:t>𝑏𝑜𝑛𝑑</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2</m:t>
                            </m:r>
                          </m:sub>
                        </m:sSub>
                      </m:e>
                    </m:d>
                  </m:oMath>
                </a14:m>
                <a:r>
                  <a:rPr lang="en-US" sz="2400"/>
                  <a:t>, col </a:t>
                </a:r>
                <a14:m>
                  <m:oMath xmlns:m="http://schemas.openxmlformats.org/officeDocument/2006/math">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3</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𝑛</m:t>
                            </m:r>
                          </m:sub>
                        </m:sSub>
                      </m:e>
                    </m:d>
                  </m:oMath>
                </a14:m>
                <a:r>
                  <a:rPr lang="en-US" sz="2400"/>
                  <a:t>   </a:t>
                </a:r>
                <a14:m>
                  <m:oMath xmlns:m="http://schemas.openxmlformats.org/officeDocument/2006/math">
                    <m:groupChr>
                      <m:groupChrPr>
                        <m:chr m:val="→"/>
                        <m:vertJc m:val="bot"/>
                        <m:ctrlPr>
                          <a:rPr lang="en-US" sz="2400" i="1">
                            <a:latin typeface="Cambria Math" panose="02040503050406030204" pitchFamily="18" charset="0"/>
                          </a:rPr>
                        </m:ctrlPr>
                      </m:groupChrPr>
                      <m:e>
                        <m:r>
                          <m:rPr>
                            <m:brk m:alnAt="2"/>
                          </m:rPr>
                          <a:rPr lang="en-US" sz="2400" i="1">
                            <a:latin typeface="Cambria Math" panose="02040503050406030204" pitchFamily="18" charset="0"/>
                          </a:rPr>
                          <m:t>𝑆</m:t>
                        </m:r>
                        <m:r>
                          <a:rPr lang="en-US" sz="2400" i="1">
                            <a:latin typeface="Cambria Math" panose="02040503050406030204" pitchFamily="18" charset="0"/>
                          </a:rPr>
                          <m:t>𝑉𝐷</m:t>
                        </m:r>
                      </m:e>
                    </m:groupChr>
                    <m:r>
                      <a:rPr lang="en-US" sz="2400" i="1">
                        <a:latin typeface="Cambria Math" panose="02040503050406030204" pitchFamily="18" charset="0"/>
                      </a:rPr>
                      <m:t> </m:t>
                    </m:r>
                    <m:sSubSup>
                      <m:sSubSupPr>
                        <m:ctrlPr>
                          <a:rPr lang="en-US" sz="2400" i="1">
                            <a:latin typeface="Cambria Math" panose="02040503050406030204" pitchFamily="18" charset="0"/>
                          </a:rPr>
                        </m:ctrlPr>
                      </m:sSubSupPr>
                      <m:e>
                        <m:r>
                          <a:rPr lang="en-US" sz="2400" i="1">
                            <a:latin typeface="Cambria Math" panose="02040503050406030204" pitchFamily="18" charset="0"/>
                          </a:rPr>
                          <m:t>𝐴</m:t>
                        </m:r>
                      </m:e>
                      <m:sub>
                        <m:r>
                          <a:rPr lang="en-US" sz="2400" i="1">
                            <a:latin typeface="Cambria Math" panose="02040503050406030204" pitchFamily="18" charset="0"/>
                          </a:rPr>
                          <m:t>2</m:t>
                        </m:r>
                      </m:sub>
                      <m:sup>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2</m:t>
                            </m:r>
                          </m:sub>
                        </m:sSub>
                      </m:sup>
                    </m:sSubSup>
                    <m:r>
                      <a:rPr lang="en-US" sz="2400" i="1">
                        <a:latin typeface="Cambria Math" panose="02040503050406030204" pitchFamily="18" charset="0"/>
                      </a:rPr>
                      <m:t>𝑆</m:t>
                    </m:r>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ea typeface="Cambria Math" panose="02040503050406030204" pitchFamily="18" charset="0"/>
                          </a:rPr>
                          <m:t>†</m:t>
                        </m:r>
                      </m:sup>
                    </m:sSup>
                  </m:oMath>
                </a14:m>
                <a:endParaRPr lang="en-US" sz="240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oMath>
                  </m:oMathPara>
                </a14:m>
                <a:endParaRPr lang="en-US" sz="2400"/>
              </a:p>
              <a:p>
                <a:r>
                  <a:rPr lang="en-US" sz="2400"/>
                  <a:t>Finally, we collect </a:t>
                </a:r>
                <a14:m>
                  <m:oMath xmlns:m="http://schemas.openxmlformats.org/officeDocument/2006/math">
                    <m:d>
                      <m:dPr>
                        <m:begChr m:val="{"/>
                        <m:endChr m:val="}"/>
                        <m:ctrlPr>
                          <a:rPr lang="en-US" sz="2400" i="1">
                            <a:latin typeface="Cambria Math" panose="02040503050406030204" pitchFamily="18" charset="0"/>
                          </a:rPr>
                        </m:ctrlPr>
                      </m:dPr>
                      <m:e>
                        <m:sSubSup>
                          <m:sSubSupPr>
                            <m:ctrlPr>
                              <a:rPr lang="en-US" sz="2400" i="1">
                                <a:latin typeface="Cambria Math" panose="02040503050406030204" pitchFamily="18" charset="0"/>
                              </a:rPr>
                            </m:ctrlPr>
                          </m:sSubSupPr>
                          <m:e>
                            <m:r>
                              <a:rPr lang="en-US" sz="2400" i="1">
                                <a:latin typeface="Cambria Math" panose="02040503050406030204" pitchFamily="18" charset="0"/>
                              </a:rPr>
                              <m:t>𝐴</m:t>
                            </m:r>
                          </m:e>
                          <m:sub>
                            <m:r>
                              <a:rPr lang="en-US" sz="2400" i="1">
                                <a:latin typeface="Cambria Math" panose="02040503050406030204" pitchFamily="18" charset="0"/>
                              </a:rPr>
                              <m:t>1</m:t>
                            </m:r>
                          </m:sub>
                          <m:sup>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1</m:t>
                                </m:r>
                              </m:sub>
                            </m:sSub>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𝐴</m:t>
                            </m:r>
                          </m:e>
                          <m:sub>
                            <m:r>
                              <a:rPr lang="en-US" sz="2400" i="1">
                                <a:latin typeface="Cambria Math" panose="02040503050406030204" pitchFamily="18" charset="0"/>
                              </a:rPr>
                              <m:t>2</m:t>
                            </m:r>
                          </m:sub>
                          <m:sup>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2</m:t>
                                </m:r>
                              </m:sub>
                            </m:sSub>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𝐴</m:t>
                            </m:r>
                          </m:e>
                          <m:sub>
                            <m:r>
                              <a:rPr lang="en-US" sz="2400" i="1">
                                <a:latin typeface="Cambria Math" panose="02040503050406030204" pitchFamily="18" charset="0"/>
                              </a:rPr>
                              <m:t>𝑛</m:t>
                            </m:r>
                          </m:sub>
                          <m:sup>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𝑛</m:t>
                                </m:r>
                              </m:sub>
                            </m:sSub>
                          </m:sup>
                        </m:sSubSup>
                      </m:e>
                    </m:d>
                  </m:oMath>
                </a14:m>
                <a:endParaRPr lang="vi-VN" sz="2400"/>
              </a:p>
            </p:txBody>
          </p:sp>
        </mc:Choice>
        <mc:Fallback>
          <p:sp>
            <p:nvSpPr>
              <p:cNvPr id="15" name="TextBox 14">
                <a:extLst>
                  <a:ext uri="{FF2B5EF4-FFF2-40B4-BE49-F238E27FC236}">
                    <a16:creationId xmlns:a16="http://schemas.microsoft.com/office/drawing/2014/main" id="{A6286C9D-470D-3689-E246-B9252963842B}"/>
                  </a:ext>
                </a:extLst>
              </p:cNvPr>
              <p:cNvSpPr txBox="1">
                <a:spLocks noRot="1" noChangeAspect="1" noMove="1" noResize="1" noEditPoints="1" noAdjustHandles="1" noChangeArrowheads="1" noChangeShapeType="1" noTextEdit="1"/>
              </p:cNvSpPr>
              <p:nvPr/>
            </p:nvSpPr>
            <p:spPr>
              <a:xfrm>
                <a:off x="966139" y="5263417"/>
                <a:ext cx="10768660" cy="1532599"/>
              </a:xfrm>
              <a:prstGeom prst="rect">
                <a:avLst/>
              </a:prstGeom>
              <a:blipFill>
                <a:blip r:embed="rId6"/>
                <a:stretch>
                  <a:fillRect l="-824" b="-3279"/>
                </a:stretch>
              </a:blipFill>
            </p:spPr>
            <p:txBody>
              <a:bodyPr/>
              <a:lstStyle/>
              <a:p>
                <a:r>
                  <a:rPr lang="en-VN">
                    <a:noFill/>
                  </a:rPr>
                  <a:t> </a:t>
                </a:r>
              </a:p>
            </p:txBody>
          </p:sp>
        </mc:Fallback>
      </mc:AlternateContent>
      <p:sp>
        <p:nvSpPr>
          <p:cNvPr id="16" name="TextBox 15">
            <a:extLst>
              <a:ext uri="{FF2B5EF4-FFF2-40B4-BE49-F238E27FC236}">
                <a16:creationId xmlns:a16="http://schemas.microsoft.com/office/drawing/2014/main" id="{299F27D4-DA6E-7BA0-12CA-C7951A7E9D5F}"/>
              </a:ext>
            </a:extLst>
          </p:cNvPr>
          <p:cNvSpPr txBox="1"/>
          <p:nvPr/>
        </p:nvSpPr>
        <p:spPr>
          <a:xfrm>
            <a:off x="4774391" y="1125451"/>
            <a:ext cx="2888356" cy="461665"/>
          </a:xfrm>
          <a:prstGeom prst="rect">
            <a:avLst/>
          </a:prstGeom>
          <a:noFill/>
        </p:spPr>
        <p:txBody>
          <a:bodyPr wrap="square" rtlCol="0">
            <a:spAutoFit/>
          </a:bodyPr>
          <a:lstStyle/>
          <a:p>
            <a:pPr algn="ctr"/>
            <a:r>
              <a:rPr lang="en-US" sz="2400">
                <a:solidFill>
                  <a:srgbClr val="FF0000"/>
                </a:solidFill>
              </a:rPr>
              <a:t>Virtual (Bond) index</a:t>
            </a:r>
            <a:endParaRPr lang="vi-VN" sz="2400">
              <a:solidFill>
                <a:srgbClr val="FF0000"/>
              </a:solidFill>
            </a:endParaRPr>
          </a:p>
        </p:txBody>
      </p:sp>
      <p:sp>
        <p:nvSpPr>
          <p:cNvPr id="17" name="Rectangle 16">
            <a:extLst>
              <a:ext uri="{FF2B5EF4-FFF2-40B4-BE49-F238E27FC236}">
                <a16:creationId xmlns:a16="http://schemas.microsoft.com/office/drawing/2014/main" id="{A874E99B-C33C-CEBE-B28A-5A754FBFED4C}"/>
              </a:ext>
            </a:extLst>
          </p:cNvPr>
          <p:cNvSpPr/>
          <p:nvPr/>
        </p:nvSpPr>
        <p:spPr>
          <a:xfrm>
            <a:off x="5407094" y="1763483"/>
            <a:ext cx="423617" cy="5439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8" name="Rectangle 17">
            <a:extLst>
              <a:ext uri="{FF2B5EF4-FFF2-40B4-BE49-F238E27FC236}">
                <a16:creationId xmlns:a16="http://schemas.microsoft.com/office/drawing/2014/main" id="{E01747C4-0F89-EE72-3F38-A6851838F780}"/>
              </a:ext>
            </a:extLst>
          </p:cNvPr>
          <p:cNvSpPr/>
          <p:nvPr/>
        </p:nvSpPr>
        <p:spPr>
          <a:xfrm>
            <a:off x="6564348" y="1773711"/>
            <a:ext cx="423617" cy="5439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20" name="Straight Arrow Connector 19">
            <a:extLst>
              <a:ext uri="{FF2B5EF4-FFF2-40B4-BE49-F238E27FC236}">
                <a16:creationId xmlns:a16="http://schemas.microsoft.com/office/drawing/2014/main" id="{E95439F0-2C39-25B2-4219-3E49931773EE}"/>
              </a:ext>
            </a:extLst>
          </p:cNvPr>
          <p:cNvCxnSpPr>
            <a:cxnSpLocks/>
            <a:stCxn id="17" idx="0"/>
            <a:endCxn id="16" idx="2"/>
          </p:cNvCxnSpPr>
          <p:nvPr/>
        </p:nvCxnSpPr>
        <p:spPr>
          <a:xfrm flipV="1">
            <a:off x="5618903" y="1587116"/>
            <a:ext cx="599666" cy="17636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05159FE-7F6F-A65D-0E4C-C3A67B31CDD3}"/>
              </a:ext>
            </a:extLst>
          </p:cNvPr>
          <p:cNvCxnSpPr>
            <a:cxnSpLocks/>
            <a:stCxn id="18" idx="0"/>
            <a:endCxn id="16" idx="2"/>
          </p:cNvCxnSpPr>
          <p:nvPr/>
        </p:nvCxnSpPr>
        <p:spPr>
          <a:xfrm flipH="1" flipV="1">
            <a:off x="6218569" y="1587116"/>
            <a:ext cx="557588" cy="1865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DEB309D-5A26-62F5-6805-E29B2386B6A6}"/>
              </a:ext>
            </a:extLst>
          </p:cNvPr>
          <p:cNvSpPr/>
          <p:nvPr/>
        </p:nvSpPr>
        <p:spPr>
          <a:xfrm>
            <a:off x="5966363" y="2895601"/>
            <a:ext cx="506731" cy="56739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25" name="Rectangle 24">
            <a:extLst>
              <a:ext uri="{FF2B5EF4-FFF2-40B4-BE49-F238E27FC236}">
                <a16:creationId xmlns:a16="http://schemas.microsoft.com/office/drawing/2014/main" id="{D2E7183F-CD3F-ACB3-1DA3-00B3A30DCDA2}"/>
              </a:ext>
            </a:extLst>
          </p:cNvPr>
          <p:cNvSpPr/>
          <p:nvPr/>
        </p:nvSpPr>
        <p:spPr>
          <a:xfrm>
            <a:off x="7156017" y="2895601"/>
            <a:ext cx="506731" cy="56739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26" name="Rectangle 25">
            <a:extLst>
              <a:ext uri="{FF2B5EF4-FFF2-40B4-BE49-F238E27FC236}">
                <a16:creationId xmlns:a16="http://schemas.microsoft.com/office/drawing/2014/main" id="{78EF9AB5-41DC-D1C8-9CEF-AD0504ACD796}"/>
              </a:ext>
            </a:extLst>
          </p:cNvPr>
          <p:cNvSpPr/>
          <p:nvPr/>
        </p:nvSpPr>
        <p:spPr>
          <a:xfrm>
            <a:off x="4774391" y="2901329"/>
            <a:ext cx="506731" cy="56739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1" name="TextBox 30">
            <a:extLst>
              <a:ext uri="{FF2B5EF4-FFF2-40B4-BE49-F238E27FC236}">
                <a16:creationId xmlns:a16="http://schemas.microsoft.com/office/drawing/2014/main" id="{ED373544-1161-BA8C-B2E4-739CFA49C14F}"/>
              </a:ext>
            </a:extLst>
          </p:cNvPr>
          <p:cNvSpPr txBox="1"/>
          <p:nvPr/>
        </p:nvSpPr>
        <p:spPr>
          <a:xfrm>
            <a:off x="5171595" y="3746582"/>
            <a:ext cx="2093947" cy="461665"/>
          </a:xfrm>
          <a:prstGeom prst="rect">
            <a:avLst/>
          </a:prstGeom>
          <a:noFill/>
        </p:spPr>
        <p:txBody>
          <a:bodyPr wrap="square" rtlCol="0">
            <a:spAutoFit/>
          </a:bodyPr>
          <a:lstStyle/>
          <a:p>
            <a:pPr algn="ctr"/>
            <a:r>
              <a:rPr lang="en-US" sz="2400">
                <a:solidFill>
                  <a:srgbClr val="FF0000"/>
                </a:solidFill>
              </a:rPr>
              <a:t>Physical index</a:t>
            </a:r>
            <a:endParaRPr lang="vi-VN" sz="2400">
              <a:solidFill>
                <a:srgbClr val="FF0000"/>
              </a:solidFill>
            </a:endParaRPr>
          </a:p>
        </p:txBody>
      </p:sp>
      <p:cxnSp>
        <p:nvCxnSpPr>
          <p:cNvPr id="32" name="Straight Arrow Connector 31">
            <a:extLst>
              <a:ext uri="{FF2B5EF4-FFF2-40B4-BE49-F238E27FC236}">
                <a16:creationId xmlns:a16="http://schemas.microsoft.com/office/drawing/2014/main" id="{0AD77B6A-2594-D16E-FA14-9D44539BD65E}"/>
              </a:ext>
            </a:extLst>
          </p:cNvPr>
          <p:cNvCxnSpPr>
            <a:cxnSpLocks/>
            <a:stCxn id="25" idx="2"/>
            <a:endCxn id="31" idx="0"/>
          </p:cNvCxnSpPr>
          <p:nvPr/>
        </p:nvCxnSpPr>
        <p:spPr>
          <a:xfrm flipH="1">
            <a:off x="6218569" y="3462993"/>
            <a:ext cx="1190814" cy="28358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72C0DD9-61D3-BB99-5EEE-8725E594A01F}"/>
              </a:ext>
            </a:extLst>
          </p:cNvPr>
          <p:cNvCxnSpPr>
            <a:cxnSpLocks/>
            <a:stCxn id="24" idx="2"/>
            <a:endCxn id="31" idx="0"/>
          </p:cNvCxnSpPr>
          <p:nvPr/>
        </p:nvCxnSpPr>
        <p:spPr>
          <a:xfrm flipH="1">
            <a:off x="6218569" y="3462993"/>
            <a:ext cx="1160" cy="28358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86B732D9-8D87-5BED-98FD-007EA64F0366}"/>
              </a:ext>
            </a:extLst>
          </p:cNvPr>
          <p:cNvCxnSpPr>
            <a:cxnSpLocks/>
            <a:stCxn id="26" idx="2"/>
            <a:endCxn id="31" idx="0"/>
          </p:cNvCxnSpPr>
          <p:nvPr/>
        </p:nvCxnSpPr>
        <p:spPr>
          <a:xfrm>
            <a:off x="5027757" y="3468721"/>
            <a:ext cx="1190812" cy="27786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3759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488B-4686-C89E-E7FD-A67B08ED5A11}"/>
              </a:ext>
            </a:extLst>
          </p:cNvPr>
          <p:cNvSpPr>
            <a:spLocks noGrp="1"/>
          </p:cNvSpPr>
          <p:nvPr>
            <p:ph type="title"/>
          </p:nvPr>
        </p:nvSpPr>
        <p:spPr/>
        <p:txBody>
          <a:bodyPr>
            <a:normAutofit/>
          </a:bodyPr>
          <a:lstStyle/>
          <a:p>
            <a:r>
              <a:rPr lang="en-US"/>
              <a:t>3.3. Quantum simulation</a:t>
            </a:r>
            <a:br>
              <a:rPr lang="en-US"/>
            </a:br>
            <a:r>
              <a:rPr lang="en-US" sz="2667"/>
              <a:t>Tensor network</a:t>
            </a:r>
            <a:endParaRPr lang="vi-VN" sz="2667"/>
          </a:p>
        </p:txBody>
      </p:sp>
      <p:sp>
        <p:nvSpPr>
          <p:cNvPr id="4" name="Slide Number Placeholder 3">
            <a:extLst>
              <a:ext uri="{FF2B5EF4-FFF2-40B4-BE49-F238E27FC236}">
                <a16:creationId xmlns:a16="http://schemas.microsoft.com/office/drawing/2014/main" id="{217FC216-D3E4-5159-99B0-972050880FF8}"/>
              </a:ext>
            </a:extLst>
          </p:cNvPr>
          <p:cNvSpPr>
            <a:spLocks noGrp="1"/>
          </p:cNvSpPr>
          <p:nvPr>
            <p:ph type="sldNum" sz="quarter" idx="12"/>
          </p:nvPr>
        </p:nvSpPr>
        <p:spPr/>
        <p:txBody>
          <a:bodyPr/>
          <a:lstStyle/>
          <a:p>
            <a:fld id="{6A45828D-F580-42DE-B77E-860980F07F32}" type="slidenum">
              <a:rPr lang="vi-VN" smtClean="0"/>
              <a:t>27</a:t>
            </a:fld>
            <a:endParaRPr lang="vi-VN"/>
          </a:p>
        </p:txBody>
      </p:sp>
      <p:pic>
        <p:nvPicPr>
          <p:cNvPr id="3074" name="Picture 2">
            <a:extLst>
              <a:ext uri="{FF2B5EF4-FFF2-40B4-BE49-F238E27FC236}">
                <a16:creationId xmlns:a16="http://schemas.microsoft.com/office/drawing/2014/main" id="{81954910-26AF-78EE-DCB3-2531B104BCD4}"/>
              </a:ext>
            </a:extLst>
          </p:cNvPr>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rcRect l="54797"/>
          <a:stretch/>
        </p:blipFill>
        <p:spPr bwMode="auto">
          <a:xfrm>
            <a:off x="920046" y="2255925"/>
            <a:ext cx="3053644" cy="172496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8EC6C2AF-C776-F18D-0502-B031175E4AB8}"/>
                  </a:ext>
                </a:extLst>
              </p:cNvPr>
              <p:cNvSpPr txBox="1"/>
              <p:nvPr/>
            </p:nvSpPr>
            <p:spPr>
              <a:xfrm>
                <a:off x="838201" y="4820843"/>
                <a:ext cx="3867479" cy="491417"/>
              </a:xfrm>
              <a:prstGeom prst="rect">
                <a:avLst/>
              </a:prstGeom>
              <a:noFill/>
            </p:spPr>
            <p:txBody>
              <a:bodyPr wrap="square" rtlCol="0">
                <a:spAutoFit/>
              </a:bodyPr>
              <a:lstStyle/>
              <a:p>
                <a:r>
                  <a:rPr lang="en-US" sz="2400"/>
                  <a:t>In qubits system:</a:t>
                </a:r>
                <a14:m>
                  <m:oMath xmlns:m="http://schemas.openxmlformats.org/officeDocument/2006/math">
                    <m:r>
                      <a:rPr lang="en-US" sz="2400">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𝜎</m:t>
                        </m:r>
                      </m:e>
                      <m:sub>
                        <m:r>
                          <a:rPr lang="en-US" sz="2400" i="1">
                            <a:latin typeface="Cambria Math" panose="02040503050406030204" pitchFamily="18" charset="0"/>
                          </a:rPr>
                          <m:t>𝑗</m:t>
                        </m:r>
                      </m:sub>
                    </m:sSub>
                    <m:r>
                      <a:rPr lang="en-US" sz="2400" i="1">
                        <a:latin typeface="Cambria Math" panose="02040503050406030204" pitchFamily="18" charset="0"/>
                      </a:rPr>
                      <m:t>={0,1}</m:t>
                    </m:r>
                  </m:oMath>
                </a14:m>
                <a:endParaRPr lang="vi-VN" sz="2400"/>
              </a:p>
            </p:txBody>
          </p:sp>
        </mc:Choice>
        <mc:Fallback>
          <p:sp>
            <p:nvSpPr>
              <p:cNvPr id="7" name="TextBox 6">
                <a:extLst>
                  <a:ext uri="{FF2B5EF4-FFF2-40B4-BE49-F238E27FC236}">
                    <a16:creationId xmlns:a16="http://schemas.microsoft.com/office/drawing/2014/main" id="{8EC6C2AF-C776-F18D-0502-B031175E4AB8}"/>
                  </a:ext>
                </a:extLst>
              </p:cNvPr>
              <p:cNvSpPr txBox="1">
                <a:spLocks noRot="1" noChangeAspect="1" noMove="1" noResize="1" noEditPoints="1" noAdjustHandles="1" noChangeArrowheads="1" noChangeShapeType="1" noTextEdit="1"/>
              </p:cNvSpPr>
              <p:nvPr/>
            </p:nvSpPr>
            <p:spPr>
              <a:xfrm>
                <a:off x="838201" y="4820843"/>
                <a:ext cx="3867479" cy="491417"/>
              </a:xfrm>
              <a:prstGeom prst="rect">
                <a:avLst/>
              </a:prstGeom>
              <a:blipFill>
                <a:blip r:embed="rId3"/>
                <a:stretch>
                  <a:fillRect l="-2623" t="-7500" b="-25000"/>
                </a:stretch>
              </a:blipFill>
            </p:spPr>
            <p:txBody>
              <a:bodyPr/>
              <a:lstStyle/>
              <a:p>
                <a:r>
                  <a:rPr lang="en-VN">
                    <a:noFill/>
                  </a:rPr>
                  <a:t> </a:t>
                </a:r>
              </a:p>
            </p:txBody>
          </p:sp>
        </mc:Fallback>
      </mc:AlternateContent>
      <p:sp>
        <p:nvSpPr>
          <p:cNvPr id="16" name="TextBox 15">
            <a:extLst>
              <a:ext uri="{FF2B5EF4-FFF2-40B4-BE49-F238E27FC236}">
                <a16:creationId xmlns:a16="http://schemas.microsoft.com/office/drawing/2014/main" id="{299F27D4-DA6E-7BA0-12CA-C7951A7E9D5F}"/>
              </a:ext>
            </a:extLst>
          </p:cNvPr>
          <p:cNvSpPr txBox="1"/>
          <p:nvPr/>
        </p:nvSpPr>
        <p:spPr>
          <a:xfrm>
            <a:off x="1026481" y="1690689"/>
            <a:ext cx="2888356" cy="461665"/>
          </a:xfrm>
          <a:prstGeom prst="rect">
            <a:avLst/>
          </a:prstGeom>
          <a:noFill/>
        </p:spPr>
        <p:txBody>
          <a:bodyPr wrap="square" rtlCol="0">
            <a:spAutoFit/>
          </a:bodyPr>
          <a:lstStyle/>
          <a:p>
            <a:pPr algn="ctr"/>
            <a:r>
              <a:rPr lang="en-US" sz="2400">
                <a:solidFill>
                  <a:srgbClr val="FF0000"/>
                </a:solidFill>
              </a:rPr>
              <a:t>Virtual (Bond) index</a:t>
            </a:r>
            <a:endParaRPr lang="vi-VN" sz="2400">
              <a:solidFill>
                <a:srgbClr val="FF0000"/>
              </a:solidFill>
            </a:endParaRPr>
          </a:p>
        </p:txBody>
      </p:sp>
      <p:sp>
        <p:nvSpPr>
          <p:cNvPr id="17" name="Rectangle 16">
            <a:extLst>
              <a:ext uri="{FF2B5EF4-FFF2-40B4-BE49-F238E27FC236}">
                <a16:creationId xmlns:a16="http://schemas.microsoft.com/office/drawing/2014/main" id="{A874E99B-C33C-CEBE-B28A-5A754FBFED4C}"/>
              </a:ext>
            </a:extLst>
          </p:cNvPr>
          <p:cNvSpPr/>
          <p:nvPr/>
        </p:nvSpPr>
        <p:spPr>
          <a:xfrm>
            <a:off x="1659184" y="2328721"/>
            <a:ext cx="423617" cy="5439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8" name="Rectangle 17">
            <a:extLst>
              <a:ext uri="{FF2B5EF4-FFF2-40B4-BE49-F238E27FC236}">
                <a16:creationId xmlns:a16="http://schemas.microsoft.com/office/drawing/2014/main" id="{E01747C4-0F89-EE72-3F38-A6851838F780}"/>
              </a:ext>
            </a:extLst>
          </p:cNvPr>
          <p:cNvSpPr/>
          <p:nvPr/>
        </p:nvSpPr>
        <p:spPr>
          <a:xfrm>
            <a:off x="2816437" y="2338949"/>
            <a:ext cx="423617" cy="5439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20" name="Straight Arrow Connector 19">
            <a:extLst>
              <a:ext uri="{FF2B5EF4-FFF2-40B4-BE49-F238E27FC236}">
                <a16:creationId xmlns:a16="http://schemas.microsoft.com/office/drawing/2014/main" id="{E95439F0-2C39-25B2-4219-3E49931773EE}"/>
              </a:ext>
            </a:extLst>
          </p:cNvPr>
          <p:cNvCxnSpPr>
            <a:cxnSpLocks/>
            <a:stCxn id="17" idx="0"/>
            <a:endCxn id="16" idx="2"/>
          </p:cNvCxnSpPr>
          <p:nvPr/>
        </p:nvCxnSpPr>
        <p:spPr>
          <a:xfrm flipV="1">
            <a:off x="1870993" y="2152354"/>
            <a:ext cx="599666" cy="17636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05159FE-7F6F-A65D-0E4C-C3A67B31CDD3}"/>
              </a:ext>
            </a:extLst>
          </p:cNvPr>
          <p:cNvCxnSpPr>
            <a:cxnSpLocks/>
            <a:stCxn id="18" idx="0"/>
            <a:endCxn id="16" idx="2"/>
          </p:cNvCxnSpPr>
          <p:nvPr/>
        </p:nvCxnSpPr>
        <p:spPr>
          <a:xfrm flipH="1" flipV="1">
            <a:off x="2470659" y="2152354"/>
            <a:ext cx="557587" cy="1865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DEB309D-5A26-62F5-6805-E29B2386B6A6}"/>
              </a:ext>
            </a:extLst>
          </p:cNvPr>
          <p:cNvSpPr/>
          <p:nvPr/>
        </p:nvSpPr>
        <p:spPr>
          <a:xfrm>
            <a:off x="2218452" y="3460839"/>
            <a:ext cx="506731" cy="56739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25" name="Rectangle 24">
            <a:extLst>
              <a:ext uri="{FF2B5EF4-FFF2-40B4-BE49-F238E27FC236}">
                <a16:creationId xmlns:a16="http://schemas.microsoft.com/office/drawing/2014/main" id="{D2E7183F-CD3F-ACB3-1DA3-00B3A30DCDA2}"/>
              </a:ext>
            </a:extLst>
          </p:cNvPr>
          <p:cNvSpPr/>
          <p:nvPr/>
        </p:nvSpPr>
        <p:spPr>
          <a:xfrm>
            <a:off x="3408107" y="3460839"/>
            <a:ext cx="506731" cy="56739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26" name="Rectangle 25">
            <a:extLst>
              <a:ext uri="{FF2B5EF4-FFF2-40B4-BE49-F238E27FC236}">
                <a16:creationId xmlns:a16="http://schemas.microsoft.com/office/drawing/2014/main" id="{78EF9AB5-41DC-D1C8-9CEF-AD0504ACD796}"/>
              </a:ext>
            </a:extLst>
          </p:cNvPr>
          <p:cNvSpPr/>
          <p:nvPr/>
        </p:nvSpPr>
        <p:spPr>
          <a:xfrm>
            <a:off x="1026480" y="3466567"/>
            <a:ext cx="506731" cy="56739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1" name="TextBox 30">
            <a:extLst>
              <a:ext uri="{FF2B5EF4-FFF2-40B4-BE49-F238E27FC236}">
                <a16:creationId xmlns:a16="http://schemas.microsoft.com/office/drawing/2014/main" id="{ED373544-1161-BA8C-B2E4-739CFA49C14F}"/>
              </a:ext>
            </a:extLst>
          </p:cNvPr>
          <p:cNvSpPr txBox="1"/>
          <p:nvPr/>
        </p:nvSpPr>
        <p:spPr>
          <a:xfrm>
            <a:off x="1423684" y="4335314"/>
            <a:ext cx="2093947" cy="461665"/>
          </a:xfrm>
          <a:prstGeom prst="rect">
            <a:avLst/>
          </a:prstGeom>
          <a:noFill/>
        </p:spPr>
        <p:txBody>
          <a:bodyPr wrap="square" rtlCol="0">
            <a:spAutoFit/>
          </a:bodyPr>
          <a:lstStyle/>
          <a:p>
            <a:pPr algn="ctr"/>
            <a:r>
              <a:rPr lang="en-US" sz="2400">
                <a:solidFill>
                  <a:srgbClr val="FF0000"/>
                </a:solidFill>
              </a:rPr>
              <a:t>Physical index</a:t>
            </a:r>
            <a:endParaRPr lang="vi-VN" sz="2400">
              <a:solidFill>
                <a:srgbClr val="FF0000"/>
              </a:solidFill>
            </a:endParaRPr>
          </a:p>
        </p:txBody>
      </p:sp>
      <p:cxnSp>
        <p:nvCxnSpPr>
          <p:cNvPr id="32" name="Straight Arrow Connector 31">
            <a:extLst>
              <a:ext uri="{FF2B5EF4-FFF2-40B4-BE49-F238E27FC236}">
                <a16:creationId xmlns:a16="http://schemas.microsoft.com/office/drawing/2014/main" id="{0AD77B6A-2594-D16E-FA14-9D44539BD65E}"/>
              </a:ext>
            </a:extLst>
          </p:cNvPr>
          <p:cNvCxnSpPr>
            <a:cxnSpLocks/>
            <a:stCxn id="25" idx="2"/>
            <a:endCxn id="31" idx="0"/>
          </p:cNvCxnSpPr>
          <p:nvPr/>
        </p:nvCxnSpPr>
        <p:spPr>
          <a:xfrm flipH="1">
            <a:off x="2470658" y="4028231"/>
            <a:ext cx="1190815" cy="30708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72C0DD9-61D3-BB99-5EEE-8725E594A01F}"/>
              </a:ext>
            </a:extLst>
          </p:cNvPr>
          <p:cNvCxnSpPr>
            <a:cxnSpLocks/>
            <a:stCxn id="24" idx="2"/>
            <a:endCxn id="31" idx="0"/>
          </p:cNvCxnSpPr>
          <p:nvPr/>
        </p:nvCxnSpPr>
        <p:spPr>
          <a:xfrm flipH="1">
            <a:off x="2470658" y="4028231"/>
            <a:ext cx="1160" cy="30708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86B732D9-8D87-5BED-98FD-007EA64F0366}"/>
              </a:ext>
            </a:extLst>
          </p:cNvPr>
          <p:cNvCxnSpPr>
            <a:cxnSpLocks/>
            <a:stCxn id="26" idx="2"/>
            <a:endCxn id="31" idx="0"/>
          </p:cNvCxnSpPr>
          <p:nvPr/>
        </p:nvCxnSpPr>
        <p:spPr>
          <a:xfrm>
            <a:off x="1279846" y="4033959"/>
            <a:ext cx="1190812" cy="3013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76CF769-9E94-2838-0505-8A88555E0005}"/>
                  </a:ext>
                </a:extLst>
              </p:cNvPr>
              <p:cNvSpPr txBox="1"/>
              <p:nvPr/>
            </p:nvSpPr>
            <p:spPr>
              <a:xfrm>
                <a:off x="4583290" y="1027907"/>
                <a:ext cx="7168444" cy="5038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𝑊</m:t>
                              </m:r>
                            </m:e>
                            <m:sub>
                              <m:r>
                                <a:rPr lang="en-US" sz="2400" i="1">
                                  <a:latin typeface="Cambria Math" panose="02040503050406030204" pitchFamily="18" charset="0"/>
                                </a:rPr>
                                <m:t>4</m:t>
                              </m:r>
                            </m:sub>
                          </m:sSub>
                        </m:e>
                      </m:d>
                      <m:r>
                        <a:rPr lang="en-US" sz="2400" i="1">
                          <a:latin typeface="Cambria Math" panose="02040503050406030204" pitchFamily="18" charset="0"/>
                        </a:rPr>
                        <m:t>=1/</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4</m:t>
                          </m:r>
                        </m:e>
                      </m:rad>
                      <m:d>
                        <m:dPr>
                          <m:ctrlPr>
                            <a:rPr lang="en-US" sz="2400" i="1">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0001</m:t>
                              </m:r>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0010</m:t>
                              </m:r>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0100</m:t>
                              </m:r>
                            </m:e>
                          </m:d>
                          <m:r>
                            <a:rPr lang="en-US" sz="2400" i="1">
                              <a:latin typeface="Cambria Math" panose="02040503050406030204" pitchFamily="18" charset="0"/>
                            </a:rPr>
                            <m:t>+|1000⟩</m:t>
                          </m:r>
                        </m:e>
                      </m:d>
                    </m:oMath>
                  </m:oMathPara>
                </a14:m>
                <a:endParaRPr lang="vi-VN" sz="2400"/>
              </a:p>
            </p:txBody>
          </p:sp>
        </mc:Choice>
        <mc:Fallback>
          <p:sp>
            <p:nvSpPr>
              <p:cNvPr id="9" name="TextBox 8">
                <a:extLst>
                  <a:ext uri="{FF2B5EF4-FFF2-40B4-BE49-F238E27FC236}">
                    <a16:creationId xmlns:a16="http://schemas.microsoft.com/office/drawing/2014/main" id="{276CF769-9E94-2838-0505-8A88555E0005}"/>
                  </a:ext>
                </a:extLst>
              </p:cNvPr>
              <p:cNvSpPr txBox="1">
                <a:spLocks noRot="1" noChangeAspect="1" noMove="1" noResize="1" noEditPoints="1" noAdjustHandles="1" noChangeArrowheads="1" noChangeShapeType="1" noTextEdit="1"/>
              </p:cNvSpPr>
              <p:nvPr/>
            </p:nvSpPr>
            <p:spPr>
              <a:xfrm>
                <a:off x="4583290" y="1027907"/>
                <a:ext cx="7168444" cy="503856"/>
              </a:xfrm>
              <a:prstGeom prst="rect">
                <a:avLst/>
              </a:prstGeom>
              <a:blipFill>
                <a:blip r:embed="rId4"/>
                <a:stretch>
                  <a:fillRect b="-175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A5A791C9-E754-E678-FFB5-DED393288A7C}"/>
                  </a:ext>
                </a:extLst>
              </p:cNvPr>
              <p:cNvSpPr txBox="1"/>
              <p:nvPr/>
            </p:nvSpPr>
            <p:spPr>
              <a:xfrm>
                <a:off x="4514503" y="1525437"/>
                <a:ext cx="5773469" cy="9605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𝑊</m:t>
                              </m:r>
                            </m:e>
                            <m:sub>
                              <m:r>
                                <a:rPr lang="en-US" sz="2400" i="1">
                                  <a:latin typeface="Cambria Math" panose="02040503050406030204" pitchFamily="18" charset="0"/>
                                </a:rPr>
                                <m:t>4</m:t>
                              </m:r>
                            </m:sub>
                          </m:sSub>
                        </m:e>
                      </m:d>
                      <m:sSub>
                        <m:sSubPr>
                          <m:ctrlPr>
                            <a:rPr lang="en-US" sz="2400" i="1">
                              <a:latin typeface="Cambria Math" panose="02040503050406030204" pitchFamily="18" charset="0"/>
                            </a:rPr>
                          </m:ctrlPr>
                        </m:sSubPr>
                        <m:e>
                          <m:groupChr>
                            <m:groupChrPr>
                              <m:chr m:val="→"/>
                              <m:vertJc m:val="bot"/>
                              <m:ctrlPr>
                                <a:rPr lang="en-US" sz="2400" i="1">
                                  <a:latin typeface="Cambria Math" panose="02040503050406030204" pitchFamily="18" charset="0"/>
                                </a:rPr>
                              </m:ctrlPr>
                            </m:groupChrPr>
                            <m:e>
                              <m:r>
                                <a:rPr lang="en-US" sz="2400" i="1">
                                  <a:latin typeface="Cambria Math" panose="02040503050406030204" pitchFamily="18" charset="0"/>
                                </a:rPr>
                                <m:t> (</m:t>
                              </m:r>
                              <m:r>
                                <a:rPr lang="en-US" sz="2400" i="1">
                                  <a:latin typeface="Cambria Math" panose="02040503050406030204" pitchFamily="18" charset="0"/>
                                </a:rPr>
                                <m:t>𝑙𝑣𝑏𝑜𝑛𝑑</m:t>
                              </m:r>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m:rPr>
                                          <m:brk m:alnAt="2"/>
                                        </m:rPr>
                                        <a:rPr lang="en-US" sz="2400" i="1">
                                          <a:latin typeface="Cambria Math" panose="02040503050406030204" pitchFamily="18" charset="0"/>
                                        </a:rPr>
                                        <m:t>𝜎</m:t>
                                      </m:r>
                                    </m:e>
                                    <m:sub>
                                      <m:r>
                                        <m:rPr>
                                          <m:brk m:alnAt="2"/>
                                        </m:rPr>
                                        <a:rPr lang="en-US" sz="2400" i="1">
                                          <a:latin typeface="Cambria Math" panose="02040503050406030204" pitchFamily="18" charset="0"/>
                                        </a:rPr>
                                        <m:t>1</m:t>
                                      </m:r>
                                    </m:sub>
                                  </m:sSub>
                                </m:e>
                              </m:d>
                              <m:r>
                                <m:rPr>
                                  <m:brk m:alnAt="2"/>
                                </m:rPr>
                                <a:rPr lang="en-US" sz="2400" i="1">
                                  <a:latin typeface="Cambria Math" panose="02040503050406030204" pitchFamily="18" charset="0"/>
                                </a:rPr>
                                <m:t>)</m:t>
                              </m:r>
                              <m:r>
                                <a:rPr lang="en-US" sz="2400" i="1">
                                  <a:latin typeface="Cambria Math" panose="02040503050406030204" pitchFamily="18" charset="0"/>
                                </a:rPr>
                                <m:t>×</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2</m:t>
                                      </m:r>
                                    </m:e>
                                    <m:sup>
                                      <m:r>
                                        <a:rPr lang="en-US" sz="2400" i="1">
                                          <a:latin typeface="Cambria Math" panose="02040503050406030204" pitchFamily="18" charset="0"/>
                                        </a:rPr>
                                        <m:t>𝑛</m:t>
                                      </m:r>
                                    </m:sup>
                                  </m:sSup>
                                </m:num>
                                <m:den>
                                  <m:r>
                                    <a:rPr lang="en-US" sz="2400" i="1">
                                      <a:latin typeface="Cambria Math" panose="02040503050406030204" pitchFamily="18" charset="0"/>
                                    </a:rPr>
                                    <m:t>𝑙𝑣𝑏𝑜𝑛𝑑</m:t>
                                  </m:r>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m:rPr>
                                              <m:brk m:alnAt="2"/>
                                            </m:rPr>
                                            <a:rPr lang="en-US" sz="2400" i="1">
                                              <a:latin typeface="Cambria Math" panose="02040503050406030204" pitchFamily="18" charset="0"/>
                                            </a:rPr>
                                            <m:t>𝜎</m:t>
                                          </m:r>
                                        </m:e>
                                        <m:sub>
                                          <m:r>
                                            <m:rPr>
                                              <m:brk m:alnAt="2"/>
                                            </m:rPr>
                                            <a:rPr lang="en-US" sz="2400" i="1">
                                              <a:latin typeface="Cambria Math" panose="02040503050406030204" pitchFamily="18" charset="0"/>
                                            </a:rPr>
                                            <m:t>1</m:t>
                                          </m:r>
                                        </m:sub>
                                      </m:sSub>
                                    </m:e>
                                  </m:d>
                                </m:den>
                              </m:f>
                            </m:e>
                          </m:groupChr>
                          <m:r>
                            <a:rPr lang="en-US" sz="2400" i="1">
                              <a:latin typeface="Cambria Math" panose="02040503050406030204" pitchFamily="18" charset="0"/>
                            </a:rPr>
                            <m:t>𝜓</m:t>
                          </m:r>
                        </m:e>
                        <m:sub>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1</m:t>
                              </m:r>
                            </m:sub>
                          </m:sSub>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3</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𝑖</m:t>
                                  </m:r>
                                </m:e>
                                <m:sub>
                                  <m:r>
                                    <a:rPr lang="en-US" sz="2400" i="1">
                                      <a:latin typeface="Cambria Math" panose="02040503050406030204" pitchFamily="18" charset="0"/>
                                    </a:rPr>
                                    <m:t>4</m:t>
                                  </m:r>
                                </m:sub>
                              </m:sSub>
                            </m:e>
                          </m:d>
                        </m:sub>
                      </m:sSub>
                      <m:groupChr>
                        <m:groupChrPr>
                          <m:chr m:val="→"/>
                          <m:vertJc m:val="bot"/>
                          <m:ctrlPr>
                            <a:rPr lang="en-US" sz="2400" i="1">
                              <a:latin typeface="Cambria Math" panose="02040503050406030204" pitchFamily="18" charset="0"/>
                            </a:rPr>
                          </m:ctrlPr>
                        </m:groupChrPr>
                        <m:e>
                          <m:r>
                            <m:rPr>
                              <m:brk m:alnAt="2"/>
                            </m:rPr>
                            <a:rPr lang="en-US" sz="2400" i="1">
                              <a:latin typeface="Cambria Math" panose="02040503050406030204" pitchFamily="18" charset="0"/>
                            </a:rPr>
                            <m:t>𝑆</m:t>
                          </m:r>
                          <m:r>
                            <a:rPr lang="en-US" sz="2400" i="1">
                              <a:latin typeface="Cambria Math" panose="02040503050406030204" pitchFamily="18" charset="0"/>
                            </a:rPr>
                            <m:t>𝑉𝐷</m:t>
                          </m:r>
                        </m:e>
                      </m:groupChr>
                      <m:r>
                        <a:rPr lang="en-US" sz="2400" i="1">
                          <a:latin typeface="Cambria Math" panose="02040503050406030204" pitchFamily="18" charset="0"/>
                        </a:rPr>
                        <m:t>𝑈</m:t>
                      </m:r>
                      <m:r>
                        <a:rPr lang="en-US" sz="2400" i="1">
                          <a:latin typeface="Cambria Math" panose="02040503050406030204" pitchFamily="18" charset="0"/>
                        </a:rPr>
                        <m:t>𝛴</m:t>
                      </m:r>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ea typeface="Cambria Math" panose="02040503050406030204" pitchFamily="18" charset="0"/>
                            </a:rPr>
                            <m:t>†</m:t>
                          </m:r>
                        </m:sup>
                      </m:sSup>
                    </m:oMath>
                  </m:oMathPara>
                </a14:m>
                <a:endParaRPr lang="vi-VN" sz="2400" i="1"/>
              </a:p>
            </p:txBody>
          </p:sp>
        </mc:Choice>
        <mc:Fallback>
          <p:sp>
            <p:nvSpPr>
              <p:cNvPr id="19" name="TextBox 18">
                <a:extLst>
                  <a:ext uri="{FF2B5EF4-FFF2-40B4-BE49-F238E27FC236}">
                    <a16:creationId xmlns:a16="http://schemas.microsoft.com/office/drawing/2014/main" id="{A5A791C9-E754-E678-FFB5-DED393288A7C}"/>
                  </a:ext>
                </a:extLst>
              </p:cNvPr>
              <p:cNvSpPr txBox="1">
                <a:spLocks noRot="1" noChangeAspect="1" noMove="1" noResize="1" noEditPoints="1" noAdjustHandles="1" noChangeArrowheads="1" noChangeShapeType="1" noTextEdit="1"/>
              </p:cNvSpPr>
              <p:nvPr/>
            </p:nvSpPr>
            <p:spPr>
              <a:xfrm>
                <a:off x="4514503" y="1525437"/>
                <a:ext cx="5773469" cy="960519"/>
              </a:xfrm>
              <a:prstGeom prst="rect">
                <a:avLst/>
              </a:prstGeom>
              <a:blipFill>
                <a:blip r:embed="rId5"/>
                <a:stretch>
                  <a:fillRect r="-8991" b="-3947"/>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8D7ECDD5-AAC9-61B5-C144-603DF0B4D4B9}"/>
                  </a:ext>
                </a:extLst>
              </p:cNvPr>
              <p:cNvSpPr txBox="1"/>
              <p:nvPr/>
            </p:nvSpPr>
            <p:spPr>
              <a:xfrm>
                <a:off x="9734534" y="2515880"/>
                <a:ext cx="2666005" cy="870559"/>
              </a:xfrm>
              <a:prstGeom prst="rect">
                <a:avLst/>
              </a:prstGeom>
              <a:noFill/>
            </p:spPr>
            <p:txBody>
              <a:bodyPr wrap="square" rtlCol="0">
                <a:spAutoFit/>
              </a:bodyPr>
              <a:lstStyle/>
              <a:p>
                <a14:m>
                  <m:oMath xmlns:m="http://schemas.openxmlformats.org/officeDocument/2006/math">
                    <m:r>
                      <m:rPr>
                        <m:sty m:val="p"/>
                      </m:rPr>
                      <a:rPr lang="en-US" sz="2400">
                        <a:latin typeface="Cambria Math" panose="02040503050406030204" pitchFamily="18" charset="0"/>
                      </a:rPr>
                      <m:t>Σ</m:t>
                    </m:r>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r>
                                <a:rPr lang="en-US" sz="2400" i="1">
                                  <a:latin typeface="Cambria Math" panose="02040503050406030204" pitchFamily="18" charset="0"/>
                                </a:rPr>
                                <m:t>/2</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1/2</m:t>
                              </m:r>
                            </m:e>
                          </m:mr>
                        </m:m>
                      </m:e>
                    </m:d>
                  </m:oMath>
                </a14:m>
                <a:r>
                  <a:rPr lang="en-US" sz="2400"/>
                  <a:t> </a:t>
                </a:r>
                <a:endParaRPr lang="vi-VN" sz="2400"/>
              </a:p>
            </p:txBody>
          </p:sp>
        </mc:Choice>
        <mc:Fallback>
          <p:sp>
            <p:nvSpPr>
              <p:cNvPr id="22" name="TextBox 21">
                <a:extLst>
                  <a:ext uri="{FF2B5EF4-FFF2-40B4-BE49-F238E27FC236}">
                    <a16:creationId xmlns:a16="http://schemas.microsoft.com/office/drawing/2014/main" id="{8D7ECDD5-AAC9-61B5-C144-603DF0B4D4B9}"/>
                  </a:ext>
                </a:extLst>
              </p:cNvPr>
              <p:cNvSpPr txBox="1">
                <a:spLocks noRot="1" noChangeAspect="1" noMove="1" noResize="1" noEditPoints="1" noAdjustHandles="1" noChangeArrowheads="1" noChangeShapeType="1" noTextEdit="1"/>
              </p:cNvSpPr>
              <p:nvPr/>
            </p:nvSpPr>
            <p:spPr>
              <a:xfrm>
                <a:off x="9734534" y="2515880"/>
                <a:ext cx="2666005" cy="870559"/>
              </a:xfrm>
              <a:prstGeom prst="rect">
                <a:avLst/>
              </a:prstGeom>
              <a:blipFill>
                <a:blip r:embed="rId6"/>
                <a:stretch>
                  <a:fillRect l="-474" b="-10145"/>
                </a:stretch>
              </a:blipFill>
            </p:spPr>
            <p:txBody>
              <a:bodyPr/>
              <a:lstStyle/>
              <a:p>
                <a:r>
                  <a:rPr lang="en-VN">
                    <a:noFill/>
                  </a:rPr>
                  <a:t> </a:t>
                </a:r>
              </a:p>
            </p:txBody>
          </p:sp>
        </mc:Fallback>
      </mc:AlternateContent>
      <p:cxnSp>
        <p:nvCxnSpPr>
          <p:cNvPr id="27" name="Connector: Elbow 26">
            <a:extLst>
              <a:ext uri="{FF2B5EF4-FFF2-40B4-BE49-F238E27FC236}">
                <a16:creationId xmlns:a16="http://schemas.microsoft.com/office/drawing/2014/main" id="{EC75DA3E-4746-EB8D-9D61-73D7E3E32A3F}"/>
              </a:ext>
            </a:extLst>
          </p:cNvPr>
          <p:cNvCxnSpPr>
            <a:cxnSpLocks/>
            <a:stCxn id="3085" idx="2"/>
            <a:endCxn id="22" idx="1"/>
          </p:cNvCxnSpPr>
          <p:nvPr/>
        </p:nvCxnSpPr>
        <p:spPr>
          <a:xfrm rot="5400000">
            <a:off x="9779253" y="2442439"/>
            <a:ext cx="464003" cy="553439"/>
          </a:xfrm>
          <a:prstGeom prst="bentConnector4">
            <a:avLst>
              <a:gd name="adj1" fmla="val 3095"/>
              <a:gd name="adj2" fmla="val 141305"/>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6ED1B0F5-AA3D-10D8-6884-B53CE23B4F06}"/>
                  </a:ext>
                </a:extLst>
              </p:cNvPr>
              <p:cNvSpPr txBox="1"/>
              <p:nvPr/>
            </p:nvSpPr>
            <p:spPr>
              <a:xfrm>
                <a:off x="9734534" y="3971241"/>
                <a:ext cx="2666005" cy="830997"/>
              </a:xfrm>
              <a:prstGeom prst="rect">
                <a:avLst/>
              </a:prstGeom>
              <a:noFill/>
            </p:spPr>
            <p:txBody>
              <a:bodyPr wrap="square" rtlCol="0">
                <a:spAutoFit/>
              </a:bodyPr>
              <a:lstStyle/>
              <a:p>
                <a:r>
                  <a:rPr lang="en-US" sz="2400"/>
                  <a:t>(l)vbond = 1</a:t>
                </a:r>
              </a:p>
              <a:p>
                <a:r>
                  <a:rPr lang="en-US" sz="2400"/>
                  <a:t>(r)vbond = </a:t>
                </a:r>
                <a14:m>
                  <m:oMath xmlns:m="http://schemas.openxmlformats.org/officeDocument/2006/math">
                    <m:r>
                      <a:rPr lang="en-US" sz="2400" i="1">
                        <a:latin typeface="Cambria Math" panose="02040503050406030204" pitchFamily="18" charset="0"/>
                      </a:rPr>
                      <m:t>{1,2}</m:t>
                    </m:r>
                  </m:oMath>
                </a14:m>
                <a:endParaRPr lang="vi-VN" sz="2400"/>
              </a:p>
            </p:txBody>
          </p:sp>
        </mc:Choice>
        <mc:Fallback>
          <p:sp>
            <p:nvSpPr>
              <p:cNvPr id="37" name="TextBox 36">
                <a:extLst>
                  <a:ext uri="{FF2B5EF4-FFF2-40B4-BE49-F238E27FC236}">
                    <a16:creationId xmlns:a16="http://schemas.microsoft.com/office/drawing/2014/main" id="{6ED1B0F5-AA3D-10D8-6884-B53CE23B4F06}"/>
                  </a:ext>
                </a:extLst>
              </p:cNvPr>
              <p:cNvSpPr txBox="1">
                <a:spLocks noRot="1" noChangeAspect="1" noMove="1" noResize="1" noEditPoints="1" noAdjustHandles="1" noChangeArrowheads="1" noChangeShapeType="1" noTextEdit="1"/>
              </p:cNvSpPr>
              <p:nvPr/>
            </p:nvSpPr>
            <p:spPr>
              <a:xfrm>
                <a:off x="9734534" y="3971241"/>
                <a:ext cx="2666005" cy="830997"/>
              </a:xfrm>
              <a:prstGeom prst="rect">
                <a:avLst/>
              </a:prstGeom>
              <a:blipFill>
                <a:blip r:embed="rId7"/>
                <a:stretch>
                  <a:fillRect l="-3791" t="-5970" b="-14925"/>
                </a:stretch>
              </a:blipFill>
            </p:spPr>
            <p:txBody>
              <a:bodyPr/>
              <a:lstStyle/>
              <a:p>
                <a:r>
                  <a:rPr lang="en-VN">
                    <a:noFill/>
                  </a:rPr>
                  <a:t> </a:t>
                </a:r>
              </a:p>
            </p:txBody>
          </p:sp>
        </mc:Fallback>
      </mc:AlternateContent>
      <p:cxnSp>
        <p:nvCxnSpPr>
          <p:cNvPr id="38" name="Straight Arrow Connector 37">
            <a:extLst>
              <a:ext uri="{FF2B5EF4-FFF2-40B4-BE49-F238E27FC236}">
                <a16:creationId xmlns:a16="http://schemas.microsoft.com/office/drawing/2014/main" id="{74A0DB7A-EFE3-1DB3-125D-AF462C65511F}"/>
              </a:ext>
            </a:extLst>
          </p:cNvPr>
          <p:cNvCxnSpPr>
            <a:cxnSpLocks/>
            <a:stCxn id="22" idx="2"/>
            <a:endCxn id="37" idx="0"/>
          </p:cNvCxnSpPr>
          <p:nvPr/>
        </p:nvCxnSpPr>
        <p:spPr>
          <a:xfrm>
            <a:off x="11067537" y="3386439"/>
            <a:ext cx="0" cy="58480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2914BF5-1BB9-C45D-7598-2AF158CE4DA6}"/>
              </a:ext>
            </a:extLst>
          </p:cNvPr>
          <p:cNvCxnSpPr>
            <a:cxnSpLocks/>
          </p:cNvCxnSpPr>
          <p:nvPr/>
        </p:nvCxnSpPr>
        <p:spPr>
          <a:xfrm>
            <a:off x="5557136" y="3099076"/>
            <a:ext cx="0" cy="5104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AD20FCC2-7F00-EC7D-D712-7AF9451C3FBC}"/>
                  </a:ext>
                </a:extLst>
              </p:cNvPr>
              <p:cNvSpPr txBox="1"/>
              <p:nvPr/>
            </p:nvSpPr>
            <p:spPr>
              <a:xfrm>
                <a:off x="3940967" y="2588674"/>
                <a:ext cx="4306712" cy="4712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𝑈</m:t>
                      </m:r>
                      <m:r>
                        <a:rPr lang="en-US" sz="2400" i="1">
                          <a:latin typeface="Cambria Math" panose="02040503050406030204" pitchFamily="18" charset="0"/>
                        </a:rPr>
                        <m:t>    </m:t>
                      </m:r>
                      <m:r>
                        <a:rPr lang="en-US" sz="2400" i="1">
                          <a:latin typeface="Cambria Math" panose="02040503050406030204" pitchFamily="18" charset="0"/>
                        </a:rPr>
                        <m:t>𝛴</m:t>
                      </m:r>
                      <m:sSup>
                        <m:sSupPr>
                          <m:ctrlPr>
                            <a:rPr lang="en-US" sz="2400" i="1">
                              <a:latin typeface="Cambria Math" panose="02040503050406030204" pitchFamily="18" charset="0"/>
                            </a:rPr>
                          </m:ctrlPr>
                        </m:sSupPr>
                        <m:e>
                          <m:r>
                            <a:rPr lang="en-US" sz="2400" i="1">
                              <a:latin typeface="Cambria Math" panose="02040503050406030204" pitchFamily="18" charset="0"/>
                            </a:rPr>
                            <m:t>    </m:t>
                          </m:r>
                          <m:r>
                            <a:rPr lang="en-US" sz="2400" i="1">
                              <a:latin typeface="Cambria Math" panose="02040503050406030204" pitchFamily="18" charset="0"/>
                            </a:rPr>
                            <m:t>𝑉</m:t>
                          </m:r>
                        </m:e>
                        <m:sup>
                          <m:r>
                            <a:rPr lang="en-US" sz="2400" i="1">
                              <a:latin typeface="Cambria Math" panose="02040503050406030204" pitchFamily="18" charset="0"/>
                              <a:ea typeface="Cambria Math" panose="02040503050406030204" pitchFamily="18" charset="0"/>
                            </a:rPr>
                            <m:t>†</m:t>
                          </m:r>
                        </m:sup>
                      </m:sSup>
                    </m:oMath>
                  </m:oMathPara>
                </a14:m>
                <a:endParaRPr lang="vi-VN" sz="2400"/>
              </a:p>
            </p:txBody>
          </p:sp>
        </mc:Choice>
        <mc:Fallback>
          <p:sp>
            <p:nvSpPr>
              <p:cNvPr id="45" name="TextBox 44">
                <a:extLst>
                  <a:ext uri="{FF2B5EF4-FFF2-40B4-BE49-F238E27FC236}">
                    <a16:creationId xmlns:a16="http://schemas.microsoft.com/office/drawing/2014/main" id="{AD20FCC2-7F00-EC7D-D712-7AF9451C3FBC}"/>
                  </a:ext>
                </a:extLst>
              </p:cNvPr>
              <p:cNvSpPr txBox="1">
                <a:spLocks noRot="1" noChangeAspect="1" noMove="1" noResize="1" noEditPoints="1" noAdjustHandles="1" noChangeArrowheads="1" noChangeShapeType="1" noTextEdit="1"/>
              </p:cNvSpPr>
              <p:nvPr/>
            </p:nvSpPr>
            <p:spPr>
              <a:xfrm>
                <a:off x="3940967" y="2588674"/>
                <a:ext cx="4306712" cy="471219"/>
              </a:xfrm>
              <a:prstGeom prst="rect">
                <a:avLst/>
              </a:prstGeom>
              <a:blipFill>
                <a:blip r:embed="rId8"/>
                <a:stretch>
                  <a:fillRect b="-24324"/>
                </a:stretch>
              </a:blipFill>
            </p:spPr>
            <p:txBody>
              <a:bodyPr/>
              <a:lstStyle/>
              <a:p>
                <a:r>
                  <a:rPr lang="en-VN">
                    <a:noFill/>
                  </a:rPr>
                  <a:t> </a:t>
                </a:r>
              </a:p>
            </p:txBody>
          </p:sp>
        </mc:Fallback>
      </mc:AlternateContent>
      <p:sp>
        <p:nvSpPr>
          <p:cNvPr id="46" name="Rectangle 45">
            <a:extLst>
              <a:ext uri="{FF2B5EF4-FFF2-40B4-BE49-F238E27FC236}">
                <a16:creationId xmlns:a16="http://schemas.microsoft.com/office/drawing/2014/main" id="{BAD2D6A9-F675-E317-8285-0696715BC9C6}"/>
              </a:ext>
            </a:extLst>
          </p:cNvPr>
          <p:cNvSpPr/>
          <p:nvPr/>
        </p:nvSpPr>
        <p:spPr>
          <a:xfrm>
            <a:off x="5353059" y="2588674"/>
            <a:ext cx="374288" cy="51040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47" name="Straight Arrow Connector 46">
            <a:extLst>
              <a:ext uri="{FF2B5EF4-FFF2-40B4-BE49-F238E27FC236}">
                <a16:creationId xmlns:a16="http://schemas.microsoft.com/office/drawing/2014/main" id="{6CEBF9C7-8324-DD08-613B-4375A65FC664}"/>
              </a:ext>
            </a:extLst>
          </p:cNvPr>
          <p:cNvCxnSpPr>
            <a:cxnSpLocks/>
          </p:cNvCxnSpPr>
          <p:nvPr/>
        </p:nvCxnSpPr>
        <p:spPr>
          <a:xfrm>
            <a:off x="6035660" y="3099076"/>
            <a:ext cx="0" cy="5104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FEB8483C-AFE4-A2FC-668D-66B4F7DEBD46}"/>
              </a:ext>
            </a:extLst>
          </p:cNvPr>
          <p:cNvSpPr/>
          <p:nvPr/>
        </p:nvSpPr>
        <p:spPr>
          <a:xfrm>
            <a:off x="5831583" y="2588674"/>
            <a:ext cx="374288" cy="51040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49" name="Straight Arrow Connector 48">
            <a:extLst>
              <a:ext uri="{FF2B5EF4-FFF2-40B4-BE49-F238E27FC236}">
                <a16:creationId xmlns:a16="http://schemas.microsoft.com/office/drawing/2014/main" id="{494608D4-9E59-F003-D72D-618BC2D9E9DB}"/>
              </a:ext>
            </a:extLst>
          </p:cNvPr>
          <p:cNvCxnSpPr>
            <a:cxnSpLocks/>
          </p:cNvCxnSpPr>
          <p:nvPr/>
        </p:nvCxnSpPr>
        <p:spPr>
          <a:xfrm>
            <a:off x="6514184" y="3099900"/>
            <a:ext cx="0" cy="5104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D7F32E91-3DB0-FB54-298D-0731DA132D1A}"/>
              </a:ext>
            </a:extLst>
          </p:cNvPr>
          <p:cNvSpPr/>
          <p:nvPr/>
        </p:nvSpPr>
        <p:spPr>
          <a:xfrm>
            <a:off x="6310106" y="2589498"/>
            <a:ext cx="509524" cy="51040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mc:Choice xmlns:a14="http://schemas.microsoft.com/office/drawing/2010/main" Requires="a14">
          <p:sp>
            <p:nvSpPr>
              <p:cNvPr id="51" name="TextBox 50">
                <a:extLst>
                  <a:ext uri="{FF2B5EF4-FFF2-40B4-BE49-F238E27FC236}">
                    <a16:creationId xmlns:a16="http://schemas.microsoft.com/office/drawing/2014/main" id="{49173919-8785-F6DC-6261-90BAA4F8181C}"/>
                  </a:ext>
                </a:extLst>
              </p:cNvPr>
              <p:cNvSpPr txBox="1"/>
              <p:nvPr/>
            </p:nvSpPr>
            <p:spPr>
              <a:xfrm>
                <a:off x="4705679" y="3598982"/>
                <a:ext cx="114327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2×2</m:t>
                      </m:r>
                    </m:oMath>
                  </m:oMathPara>
                </a14:m>
                <a:endParaRPr lang="vi-VN" sz="2400"/>
              </a:p>
            </p:txBody>
          </p:sp>
        </mc:Choice>
        <mc:Fallback>
          <p:sp>
            <p:nvSpPr>
              <p:cNvPr id="51" name="TextBox 50">
                <a:extLst>
                  <a:ext uri="{FF2B5EF4-FFF2-40B4-BE49-F238E27FC236}">
                    <a16:creationId xmlns:a16="http://schemas.microsoft.com/office/drawing/2014/main" id="{49173919-8785-F6DC-6261-90BAA4F8181C}"/>
                  </a:ext>
                </a:extLst>
              </p:cNvPr>
              <p:cNvSpPr txBox="1">
                <a:spLocks noRot="1" noChangeAspect="1" noMove="1" noResize="1" noEditPoints="1" noAdjustHandles="1" noChangeArrowheads="1" noChangeShapeType="1" noTextEdit="1"/>
              </p:cNvSpPr>
              <p:nvPr/>
            </p:nvSpPr>
            <p:spPr>
              <a:xfrm>
                <a:off x="4705679" y="3598982"/>
                <a:ext cx="1143276" cy="461665"/>
              </a:xfrm>
              <a:prstGeom prst="rect">
                <a:avLst/>
              </a:prstGeom>
              <a:blipFill>
                <a:blip r:embed="rId9"/>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2" name="TextBox 51">
                <a:extLst>
                  <a:ext uri="{FF2B5EF4-FFF2-40B4-BE49-F238E27FC236}">
                    <a16:creationId xmlns:a16="http://schemas.microsoft.com/office/drawing/2014/main" id="{DC1F7F3E-7942-3639-FC27-B284E78C804D}"/>
                  </a:ext>
                </a:extLst>
              </p:cNvPr>
              <p:cNvSpPr txBox="1"/>
              <p:nvPr/>
            </p:nvSpPr>
            <p:spPr>
              <a:xfrm>
                <a:off x="5465559" y="3594744"/>
                <a:ext cx="114327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2×2</m:t>
                      </m:r>
                    </m:oMath>
                  </m:oMathPara>
                </a14:m>
                <a:endParaRPr lang="vi-VN" sz="2400"/>
              </a:p>
            </p:txBody>
          </p:sp>
        </mc:Choice>
        <mc:Fallback>
          <p:sp>
            <p:nvSpPr>
              <p:cNvPr id="52" name="TextBox 51">
                <a:extLst>
                  <a:ext uri="{FF2B5EF4-FFF2-40B4-BE49-F238E27FC236}">
                    <a16:creationId xmlns:a16="http://schemas.microsoft.com/office/drawing/2014/main" id="{DC1F7F3E-7942-3639-FC27-B284E78C804D}"/>
                  </a:ext>
                </a:extLst>
              </p:cNvPr>
              <p:cNvSpPr txBox="1">
                <a:spLocks noRot="1" noChangeAspect="1" noMove="1" noResize="1" noEditPoints="1" noAdjustHandles="1" noChangeArrowheads="1" noChangeShapeType="1" noTextEdit="1"/>
              </p:cNvSpPr>
              <p:nvPr/>
            </p:nvSpPr>
            <p:spPr>
              <a:xfrm>
                <a:off x="5465559" y="3594744"/>
                <a:ext cx="1143276" cy="461665"/>
              </a:xfrm>
              <a:prstGeom prst="rect">
                <a:avLst/>
              </a:prstGeom>
              <a:blipFill>
                <a:blip r:embed="rId10"/>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3" name="TextBox 52">
                <a:extLst>
                  <a:ext uri="{FF2B5EF4-FFF2-40B4-BE49-F238E27FC236}">
                    <a16:creationId xmlns:a16="http://schemas.microsoft.com/office/drawing/2014/main" id="{22803538-522D-6BE3-59C0-0867D32D5B56}"/>
                  </a:ext>
                </a:extLst>
              </p:cNvPr>
              <p:cNvSpPr txBox="1"/>
              <p:nvPr/>
            </p:nvSpPr>
            <p:spPr>
              <a:xfrm>
                <a:off x="6239739" y="3594744"/>
                <a:ext cx="114327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2×8</m:t>
                      </m:r>
                    </m:oMath>
                  </m:oMathPara>
                </a14:m>
                <a:endParaRPr lang="vi-VN" sz="2400"/>
              </a:p>
            </p:txBody>
          </p:sp>
        </mc:Choice>
        <mc:Fallback>
          <p:sp>
            <p:nvSpPr>
              <p:cNvPr id="53" name="TextBox 52">
                <a:extLst>
                  <a:ext uri="{FF2B5EF4-FFF2-40B4-BE49-F238E27FC236}">
                    <a16:creationId xmlns:a16="http://schemas.microsoft.com/office/drawing/2014/main" id="{22803538-522D-6BE3-59C0-0867D32D5B56}"/>
                  </a:ext>
                </a:extLst>
              </p:cNvPr>
              <p:cNvSpPr txBox="1">
                <a:spLocks noRot="1" noChangeAspect="1" noMove="1" noResize="1" noEditPoints="1" noAdjustHandles="1" noChangeArrowheads="1" noChangeShapeType="1" noTextEdit="1"/>
              </p:cNvSpPr>
              <p:nvPr/>
            </p:nvSpPr>
            <p:spPr>
              <a:xfrm>
                <a:off x="6239739" y="3594744"/>
                <a:ext cx="1143276" cy="461665"/>
              </a:xfrm>
              <a:prstGeom prst="rect">
                <a:avLst/>
              </a:prstGeom>
              <a:blipFill>
                <a:blip r:embed="rId11"/>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4" name="TextBox 53">
                <a:extLst>
                  <a:ext uri="{FF2B5EF4-FFF2-40B4-BE49-F238E27FC236}">
                    <a16:creationId xmlns:a16="http://schemas.microsoft.com/office/drawing/2014/main" id="{4012816D-C675-0A15-92E2-E85CC4D7D1C3}"/>
                  </a:ext>
                </a:extLst>
              </p:cNvPr>
              <p:cNvSpPr txBox="1"/>
              <p:nvPr/>
            </p:nvSpPr>
            <p:spPr>
              <a:xfrm>
                <a:off x="4815400" y="3980894"/>
                <a:ext cx="5152233" cy="17989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rPr>
                        <m:t>𝑈</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0</m:t>
                              </m:r>
                            </m:sub>
                          </m:sSub>
                          <m:r>
                            <a:rPr lang="en-US" sz="2400" i="1">
                              <a:latin typeface="Cambria Math" panose="02040503050406030204" pitchFamily="18" charset="0"/>
                            </a:rPr>
                            <m:t>,</m:t>
                          </m:r>
                          <m:r>
                            <a:rPr lang="en-US" sz="2400" i="1">
                              <a:latin typeface="Cambria Math" panose="02040503050406030204" pitchFamily="18" charset="0"/>
                            </a:rPr>
                            <m:t>𝜎</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1</m:t>
                              </m:r>
                            </m:sub>
                          </m:sSub>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eqArr>
                            <m:eqArrPr>
                              <m:ctrlPr>
                                <a:rPr lang="en-US" sz="2400" i="1">
                                  <a:latin typeface="Cambria Math" panose="02040503050406030204" pitchFamily="18" charset="0"/>
                                </a:rPr>
                              </m:ctrlPr>
                            </m:eqArrPr>
                            <m:e>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0,</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1</m:t>
                                      </m:r>
                                    </m:sub>
                                  </m:sSub>
                                </m:sub>
                              </m:sSub>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f>
                                          <m:fPr>
                                            <m:ctrlPr>
                                              <a:rPr lang="en-US" sz="2400" i="1">
                                                <a:latin typeface="Cambria Math" panose="02040503050406030204" pitchFamily="18" charset="0"/>
                                              </a:rPr>
                                            </m:ctrlPr>
                                          </m:fPr>
                                          <m:num>
                                            <m:r>
                                              <m:rPr>
                                                <m:brk m:alnAt="7"/>
                                              </m:rP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e>
                                      <m:e>
                                        <m:f>
                                          <m:fPr>
                                            <m:ctrlPr>
                                              <a:rPr lang="en-US" sz="2400" i="1">
                                                <a:latin typeface="Cambria Math" panose="02040503050406030204" pitchFamily="18" charset="0"/>
                                              </a:rPr>
                                            </m:ctrlPr>
                                          </m:fPr>
                                          <m:num>
                                            <m:r>
                                              <m:rPr>
                                                <m:brk m:alnAt="7"/>
                                              </m:rP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6</m:t>
                                                </m:r>
                                              </m:e>
                                            </m:rad>
                                          </m:den>
                                        </m:f>
                                      </m:e>
                                    </m:mr>
                                  </m:m>
                                </m:e>
                              </m:d>
                              <m:r>
                                <a:rPr lang="en-US" sz="2400" i="1">
                                  <a:latin typeface="Cambria Math" panose="02040503050406030204" pitchFamily="18" charset="0"/>
                                </a:rPr>
                                <m:t> </m:t>
                              </m:r>
                            </m:e>
                            <m:e>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1,</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1</m:t>
                                      </m:r>
                                    </m:sub>
                                  </m:sSub>
                                </m:sub>
                              </m:sSub>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f>
                                          <m:fPr>
                                            <m:ctrlPr>
                                              <a:rPr lang="en-US" sz="2400" i="1">
                                                <a:latin typeface="Cambria Math" panose="02040503050406030204" pitchFamily="18" charset="0"/>
                                              </a:rPr>
                                            </m:ctrlPr>
                                          </m:fPr>
                                          <m:num>
                                            <m:r>
                                              <m:rPr>
                                                <m:brk m:alnAt="7"/>
                                              </m:rP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e>
                                      <m:e>
                                        <m:f>
                                          <m:fPr>
                                            <m:ctrlPr>
                                              <a:rPr lang="en-US" sz="2400" i="1">
                                                <a:latin typeface="Cambria Math" panose="02040503050406030204" pitchFamily="18" charset="0"/>
                                              </a:rPr>
                                            </m:ctrlPr>
                                          </m:fPr>
                                          <m:num>
                                            <m:r>
                                              <a:rPr lang="en-US" sz="2400" i="1">
                                                <a:latin typeface="Cambria Math" panose="02040503050406030204" pitchFamily="18" charset="0"/>
                                              </a:rPr>
                                              <m:t>−2</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6</m:t>
                                                </m:r>
                                              </m:e>
                                            </m:rad>
                                          </m:den>
                                        </m:f>
                                      </m:e>
                                    </m:mr>
                                  </m:m>
                                </m:e>
                              </m:d>
                            </m:e>
                          </m:eqArr>
                        </m:e>
                      </m:d>
                    </m:oMath>
                  </m:oMathPara>
                </a14:m>
                <a:endParaRPr lang="vi-VN" sz="2400"/>
              </a:p>
            </p:txBody>
          </p:sp>
        </mc:Choice>
        <mc:Fallback>
          <p:sp>
            <p:nvSpPr>
              <p:cNvPr id="54" name="TextBox 53">
                <a:extLst>
                  <a:ext uri="{FF2B5EF4-FFF2-40B4-BE49-F238E27FC236}">
                    <a16:creationId xmlns:a16="http://schemas.microsoft.com/office/drawing/2014/main" id="{4012816D-C675-0A15-92E2-E85CC4D7D1C3}"/>
                  </a:ext>
                </a:extLst>
              </p:cNvPr>
              <p:cNvSpPr txBox="1">
                <a:spLocks noRot="1" noChangeAspect="1" noMove="1" noResize="1" noEditPoints="1" noAdjustHandles="1" noChangeArrowheads="1" noChangeShapeType="1" noTextEdit="1"/>
              </p:cNvSpPr>
              <p:nvPr/>
            </p:nvSpPr>
            <p:spPr>
              <a:xfrm>
                <a:off x="4815400" y="3980894"/>
                <a:ext cx="5152233" cy="1798954"/>
              </a:xfrm>
              <a:prstGeom prst="rect">
                <a:avLst/>
              </a:prstGeom>
              <a:blipFill>
                <a:blip r:embed="rId12"/>
                <a:stretch>
                  <a:fillRect l="-246"/>
                </a:stretch>
              </a:blipFill>
            </p:spPr>
            <p:txBody>
              <a:bodyPr/>
              <a:lstStyle/>
              <a:p>
                <a:r>
                  <a:rPr lang="en-VN">
                    <a:noFill/>
                  </a:rPr>
                  <a:t> </a:t>
                </a:r>
              </a:p>
            </p:txBody>
          </p:sp>
        </mc:Fallback>
      </mc:AlternateContent>
      <p:cxnSp>
        <p:nvCxnSpPr>
          <p:cNvPr id="55" name="Straight Arrow Connector 54">
            <a:extLst>
              <a:ext uri="{FF2B5EF4-FFF2-40B4-BE49-F238E27FC236}">
                <a16:creationId xmlns:a16="http://schemas.microsoft.com/office/drawing/2014/main" id="{76C46D29-D6F3-D8A3-B4A8-34AD84FCCDAA}"/>
              </a:ext>
            </a:extLst>
          </p:cNvPr>
          <p:cNvCxnSpPr>
            <a:cxnSpLocks/>
          </p:cNvCxnSpPr>
          <p:nvPr/>
        </p:nvCxnSpPr>
        <p:spPr>
          <a:xfrm>
            <a:off x="5277316" y="4028231"/>
            <a:ext cx="0" cy="70745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563A820D-C520-6632-FF63-6629D950D91A}"/>
              </a:ext>
            </a:extLst>
          </p:cNvPr>
          <p:cNvCxnSpPr>
            <a:cxnSpLocks/>
            <a:endCxn id="60" idx="0"/>
          </p:cNvCxnSpPr>
          <p:nvPr/>
        </p:nvCxnSpPr>
        <p:spPr>
          <a:xfrm>
            <a:off x="8347893" y="5784359"/>
            <a:ext cx="1454113" cy="49144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0" name="TextBox 59">
                <a:extLst>
                  <a:ext uri="{FF2B5EF4-FFF2-40B4-BE49-F238E27FC236}">
                    <a16:creationId xmlns:a16="http://schemas.microsoft.com/office/drawing/2014/main" id="{4359EF37-944A-38CB-C5BF-0A56FAA7C5D4}"/>
                  </a:ext>
                </a:extLst>
              </p:cNvPr>
              <p:cNvSpPr txBox="1"/>
              <p:nvPr/>
            </p:nvSpPr>
            <p:spPr>
              <a:xfrm>
                <a:off x="8619637" y="6275807"/>
                <a:ext cx="2364738" cy="495457"/>
              </a:xfrm>
              <a:prstGeom prst="rect">
                <a:avLst/>
              </a:prstGeom>
              <a:noFill/>
            </p:spPr>
            <p:txBody>
              <a:bodyPr wrap="square" rtlCol="0">
                <a:spAutoFit/>
              </a:bodyPr>
              <a:lstStyle/>
              <a:p>
                <a:r>
                  <a:rPr lang="en-US" sz="2400"/>
                  <a:t>Collect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sSub>
                          <m:sSubPr>
                            <m:ctrlPr>
                              <a:rPr lang="en-US" sz="2400" i="1">
                                <a:latin typeface="Cambria Math" panose="02040503050406030204" pitchFamily="18" charset="0"/>
                              </a:rPr>
                            </m:ctrlPr>
                          </m:sSubPr>
                          <m:e>
                            <m:r>
                              <a:rPr lang="en-US" sz="2400" i="1">
                                <a:latin typeface="Cambria Math" panose="02040503050406030204" pitchFamily="18" charset="0"/>
                              </a:rPr>
                              <m:t>𝜎</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1</m:t>
                            </m:r>
                          </m:sub>
                        </m:sSub>
                      </m:sub>
                    </m:sSub>
                  </m:oMath>
                </a14:m>
                <a:endParaRPr lang="vi-VN" sz="2400"/>
              </a:p>
            </p:txBody>
          </p:sp>
        </mc:Choice>
        <mc:Fallback>
          <p:sp>
            <p:nvSpPr>
              <p:cNvPr id="60" name="TextBox 59">
                <a:extLst>
                  <a:ext uri="{FF2B5EF4-FFF2-40B4-BE49-F238E27FC236}">
                    <a16:creationId xmlns:a16="http://schemas.microsoft.com/office/drawing/2014/main" id="{4359EF37-944A-38CB-C5BF-0A56FAA7C5D4}"/>
                  </a:ext>
                </a:extLst>
              </p:cNvPr>
              <p:cNvSpPr txBox="1">
                <a:spLocks noRot="1" noChangeAspect="1" noMove="1" noResize="1" noEditPoints="1" noAdjustHandles="1" noChangeArrowheads="1" noChangeShapeType="1" noTextEdit="1"/>
              </p:cNvSpPr>
              <p:nvPr/>
            </p:nvSpPr>
            <p:spPr>
              <a:xfrm>
                <a:off x="8619637" y="6275807"/>
                <a:ext cx="2364738" cy="495457"/>
              </a:xfrm>
              <a:prstGeom prst="rect">
                <a:avLst/>
              </a:prstGeom>
              <a:blipFill>
                <a:blip r:embed="rId13"/>
                <a:stretch>
                  <a:fillRect l="-3743" t="-4878" b="-21951"/>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62" name="TextBox 61">
                <a:extLst>
                  <a:ext uri="{FF2B5EF4-FFF2-40B4-BE49-F238E27FC236}">
                    <a16:creationId xmlns:a16="http://schemas.microsoft.com/office/drawing/2014/main" id="{1C4314EE-AB55-E45D-50DF-1F8AF9C10F53}"/>
                  </a:ext>
                </a:extLst>
              </p:cNvPr>
              <p:cNvSpPr txBox="1"/>
              <p:nvPr/>
            </p:nvSpPr>
            <p:spPr>
              <a:xfrm>
                <a:off x="6636907" y="6230954"/>
                <a:ext cx="1498952" cy="4712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𝐵</m:t>
                      </m:r>
                      <m:r>
                        <a:rPr lang="en-US" sz="2400" i="1">
                          <a:latin typeface="Cambria Math" panose="02040503050406030204" pitchFamily="18" charset="0"/>
                        </a:rPr>
                        <m:t>=</m:t>
                      </m:r>
                      <m:r>
                        <a:rPr lang="en-US" sz="2400" i="1">
                          <a:latin typeface="Cambria Math" panose="02040503050406030204" pitchFamily="18" charset="0"/>
                        </a:rPr>
                        <m:t>𝛴</m:t>
                      </m:r>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ea typeface="Cambria Math" panose="02040503050406030204" pitchFamily="18" charset="0"/>
                            </a:rPr>
                            <m:t>†</m:t>
                          </m:r>
                        </m:sup>
                      </m:sSup>
                    </m:oMath>
                  </m:oMathPara>
                </a14:m>
                <a:endParaRPr lang="vi-VN" sz="2400"/>
              </a:p>
            </p:txBody>
          </p:sp>
        </mc:Choice>
        <mc:Fallback>
          <p:sp>
            <p:nvSpPr>
              <p:cNvPr id="62" name="TextBox 61">
                <a:extLst>
                  <a:ext uri="{FF2B5EF4-FFF2-40B4-BE49-F238E27FC236}">
                    <a16:creationId xmlns:a16="http://schemas.microsoft.com/office/drawing/2014/main" id="{1C4314EE-AB55-E45D-50DF-1F8AF9C10F53}"/>
                  </a:ext>
                </a:extLst>
              </p:cNvPr>
              <p:cNvSpPr txBox="1">
                <a:spLocks noRot="1" noChangeAspect="1" noMove="1" noResize="1" noEditPoints="1" noAdjustHandles="1" noChangeArrowheads="1" noChangeShapeType="1" noTextEdit="1"/>
              </p:cNvSpPr>
              <p:nvPr/>
            </p:nvSpPr>
            <p:spPr>
              <a:xfrm>
                <a:off x="6636907" y="6230954"/>
                <a:ext cx="1498952" cy="471219"/>
              </a:xfrm>
              <a:prstGeom prst="rect">
                <a:avLst/>
              </a:prstGeom>
              <a:blipFill>
                <a:blip r:embed="rId14"/>
                <a:stretch>
                  <a:fillRect/>
                </a:stretch>
              </a:blipFill>
            </p:spPr>
            <p:txBody>
              <a:bodyPr/>
              <a:lstStyle/>
              <a:p>
                <a:r>
                  <a:rPr lang="en-VN">
                    <a:noFill/>
                  </a:rPr>
                  <a:t> </a:t>
                </a:r>
              </a:p>
            </p:txBody>
          </p:sp>
        </mc:Fallback>
      </mc:AlternateContent>
      <p:cxnSp>
        <p:nvCxnSpPr>
          <p:cNvPr id="63" name="Straight Arrow Connector 62">
            <a:extLst>
              <a:ext uri="{FF2B5EF4-FFF2-40B4-BE49-F238E27FC236}">
                <a16:creationId xmlns:a16="http://schemas.microsoft.com/office/drawing/2014/main" id="{95068092-ACDC-0635-B16B-049DBAA4F6C4}"/>
              </a:ext>
            </a:extLst>
          </p:cNvPr>
          <p:cNvCxnSpPr>
            <a:cxnSpLocks/>
            <a:endCxn id="3076" idx="0"/>
          </p:cNvCxnSpPr>
          <p:nvPr/>
        </p:nvCxnSpPr>
        <p:spPr>
          <a:xfrm flipH="1">
            <a:off x="7370795" y="5796073"/>
            <a:ext cx="977099" cy="46977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75" name="TextBox 3074">
            <a:extLst>
              <a:ext uri="{FF2B5EF4-FFF2-40B4-BE49-F238E27FC236}">
                <a16:creationId xmlns:a16="http://schemas.microsoft.com/office/drawing/2014/main" id="{26D55934-7F60-E060-6835-5CF3502C2FA2}"/>
              </a:ext>
            </a:extLst>
          </p:cNvPr>
          <p:cNvSpPr txBox="1"/>
          <p:nvPr/>
        </p:nvSpPr>
        <p:spPr>
          <a:xfrm>
            <a:off x="5802517" y="6174143"/>
            <a:ext cx="1063907" cy="584775"/>
          </a:xfrm>
          <a:prstGeom prst="rect">
            <a:avLst/>
          </a:prstGeom>
          <a:noFill/>
        </p:spPr>
        <p:txBody>
          <a:bodyPr wrap="square" rtlCol="0">
            <a:spAutoFit/>
          </a:bodyPr>
          <a:lstStyle/>
          <a:p>
            <a:r>
              <a:rPr lang="en-US" sz="1600">
                <a:solidFill>
                  <a:srgbClr val="FF0000"/>
                </a:solidFill>
              </a:rPr>
              <a:t>For next iteration</a:t>
            </a:r>
            <a:endParaRPr lang="vi-VN" sz="1600">
              <a:solidFill>
                <a:srgbClr val="FF0000"/>
              </a:solidFill>
            </a:endParaRPr>
          </a:p>
        </p:txBody>
      </p:sp>
      <p:sp>
        <p:nvSpPr>
          <p:cNvPr id="3076" name="Rectangle 3075">
            <a:extLst>
              <a:ext uri="{FF2B5EF4-FFF2-40B4-BE49-F238E27FC236}">
                <a16:creationId xmlns:a16="http://schemas.microsoft.com/office/drawing/2014/main" id="{106B0630-B7E1-2BD9-19B1-8FEAA4E29862}"/>
              </a:ext>
            </a:extLst>
          </p:cNvPr>
          <p:cNvSpPr/>
          <p:nvPr/>
        </p:nvSpPr>
        <p:spPr>
          <a:xfrm>
            <a:off x="6746497" y="6265847"/>
            <a:ext cx="1248596" cy="44317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085" name="Rectangle 3084">
            <a:extLst>
              <a:ext uri="{FF2B5EF4-FFF2-40B4-BE49-F238E27FC236}">
                <a16:creationId xmlns:a16="http://schemas.microsoft.com/office/drawing/2014/main" id="{6A81384A-4FFF-ED68-52E7-7D61013FC854}"/>
              </a:ext>
            </a:extLst>
          </p:cNvPr>
          <p:cNvSpPr/>
          <p:nvPr/>
        </p:nvSpPr>
        <p:spPr>
          <a:xfrm>
            <a:off x="10076164" y="2426198"/>
            <a:ext cx="423617" cy="60959"/>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094" name="TextBox 3093">
            <a:extLst>
              <a:ext uri="{FF2B5EF4-FFF2-40B4-BE49-F238E27FC236}">
                <a16:creationId xmlns:a16="http://schemas.microsoft.com/office/drawing/2014/main" id="{1CB6F29E-23F3-CCF4-F904-132462AF6E55}"/>
              </a:ext>
            </a:extLst>
          </p:cNvPr>
          <p:cNvSpPr txBox="1"/>
          <p:nvPr/>
        </p:nvSpPr>
        <p:spPr>
          <a:xfrm>
            <a:off x="838201" y="5359669"/>
            <a:ext cx="4886591" cy="1323054"/>
          </a:xfrm>
          <a:prstGeom prst="rect">
            <a:avLst/>
          </a:prstGeom>
          <a:noFill/>
        </p:spPr>
        <p:txBody>
          <a:bodyPr wrap="square">
            <a:spAutoFit/>
          </a:bodyPr>
          <a:lstStyle/>
          <a:p>
            <a:r>
              <a:rPr lang="vi-VN" sz="1333" b="1">
                <a:latin typeface="Calibri" panose="020F0502020204030204" pitchFamily="34" charset="0"/>
                <a:ea typeface="Calibri" panose="020F0502020204030204" pitchFamily="34" charset="0"/>
                <a:cs typeface="Calibri" panose="020F0502020204030204" pitchFamily="34" charset="0"/>
              </a:rPr>
              <a:t>[</a:t>
            </a:r>
            <a:r>
              <a:rPr lang="en-US" sz="1333" b="1">
                <a:latin typeface="Calibri" panose="020F0502020204030204" pitchFamily="34" charset="0"/>
                <a:ea typeface="Calibri" panose="020F0502020204030204" pitchFamily="34" charset="0"/>
                <a:cs typeface="Calibri" panose="020F0502020204030204" pitchFamily="34" charset="0"/>
              </a:rPr>
              <a:t>3.</a:t>
            </a:r>
            <a:r>
              <a:rPr lang="vi-VN" sz="1333" b="1">
                <a:latin typeface="Calibri" panose="020F0502020204030204" pitchFamily="34" charset="0"/>
                <a:ea typeface="Calibri" panose="020F0502020204030204" pitchFamily="34" charset="0"/>
                <a:cs typeface="Calibri" panose="020F0502020204030204" pitchFamily="34" charset="0"/>
              </a:rPr>
              <a:t>2]</a:t>
            </a:r>
            <a:r>
              <a:rPr lang="en-US" sz="1333" b="1">
                <a:latin typeface="Calibri" panose="020F0502020204030204" pitchFamily="34" charset="0"/>
                <a:ea typeface="Calibri" panose="020F0502020204030204" pitchFamily="34" charset="0"/>
                <a:cs typeface="Calibri" panose="020F0502020204030204" pitchFamily="34" charset="0"/>
              </a:rPr>
              <a:t> </a:t>
            </a:r>
            <a:r>
              <a:rPr lang="vi-VN" sz="1333">
                <a:latin typeface="Calibri" panose="020F0502020204030204" pitchFamily="34" charset="0"/>
                <a:ea typeface="Calibri" panose="020F0502020204030204" pitchFamily="34" charset="0"/>
                <a:cs typeface="Calibri" panose="020F0502020204030204" pitchFamily="34" charset="0"/>
              </a:rPr>
              <a:t>Siddhartha Patra, Saeed S. Jahromi, Sukhbinder Singh, Roman Orus “Efficient tensor network simulation of IBM’s largest quantum processors” </a:t>
            </a:r>
            <a:r>
              <a:rPr lang="vi-VN" sz="1333">
                <a:solidFill>
                  <a:srgbClr val="0074E0"/>
                </a:solidFill>
                <a:latin typeface="Calibri" panose="020F0502020204030204" pitchFamily="34" charset="0"/>
                <a:ea typeface="Calibri" panose="020F0502020204030204" pitchFamily="34" charset="0"/>
                <a:cs typeface="Calibri" panose="020F0502020204030204" pitchFamily="34" charset="0"/>
                <a:hlinkClick r:id="rId15"/>
              </a:rPr>
              <a:t>arXiv:2309.15642</a:t>
            </a:r>
            <a:r>
              <a:rPr lang="vi-VN" sz="1333">
                <a:latin typeface="Calibri" panose="020F0502020204030204" pitchFamily="34" charset="0"/>
                <a:ea typeface="Calibri" panose="020F0502020204030204" pitchFamily="34" charset="0"/>
                <a:cs typeface="Calibri" panose="020F0502020204030204" pitchFamily="34" charset="0"/>
              </a:rPr>
              <a:t>, 2023.</a:t>
            </a:r>
          </a:p>
          <a:p>
            <a:r>
              <a:rPr lang="en-US" sz="1333" b="1">
                <a:latin typeface="Calibri" panose="020F0502020204030204" pitchFamily="34" charset="0"/>
                <a:ea typeface="Calibri" panose="020F0502020204030204" pitchFamily="34" charset="0"/>
                <a:cs typeface="Calibri" panose="020F0502020204030204" pitchFamily="34" charset="0"/>
              </a:rPr>
              <a:t>[3.3] </a:t>
            </a:r>
            <a:r>
              <a:rPr lang="vi-VN" sz="1333">
                <a:latin typeface="Calibri" panose="020F0502020204030204" pitchFamily="34" charset="0"/>
                <a:ea typeface="Calibri" panose="020F0502020204030204" pitchFamily="34" charset="0"/>
                <a:cs typeface="Calibri" panose="020F0502020204030204" pitchFamily="34" charset="0"/>
              </a:rPr>
              <a:t>H. C. Jiang, Z. Y. Weng, T. Xiang “Accurate determination of tensor network state of quantum lattice models in two dimensions” </a:t>
            </a:r>
            <a:r>
              <a:rPr lang="vi-VN" sz="1333">
                <a:solidFill>
                  <a:srgbClr val="0074E0"/>
                </a:solidFill>
                <a:latin typeface="Calibri" panose="020F0502020204030204" pitchFamily="34" charset="0"/>
                <a:ea typeface="Calibri" panose="020F0502020204030204" pitchFamily="34" charset="0"/>
                <a:cs typeface="Calibri" panose="020F0502020204030204" pitchFamily="34" charset="0"/>
                <a:hlinkClick r:id="rId16"/>
              </a:rPr>
              <a:t>arXiv:0806.3719</a:t>
            </a:r>
            <a:r>
              <a:rPr lang="vi-VN" sz="1333">
                <a:latin typeface="Calibri" panose="020F0502020204030204" pitchFamily="34" charset="0"/>
                <a:ea typeface="Calibri" panose="020F0502020204030204" pitchFamily="34" charset="0"/>
                <a:cs typeface="Calibri" panose="020F0502020204030204" pitchFamily="34" charset="0"/>
              </a:rPr>
              <a:t>, 2008.</a:t>
            </a:r>
          </a:p>
        </p:txBody>
      </p:sp>
    </p:spTree>
    <p:extLst>
      <p:ext uri="{BB962C8B-B14F-4D97-AF65-F5344CB8AC3E}">
        <p14:creationId xmlns:p14="http://schemas.microsoft.com/office/powerpoint/2010/main" val="34045431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C2468-1866-52A0-A4C2-44C4870E4C07}"/>
              </a:ext>
            </a:extLst>
          </p:cNvPr>
          <p:cNvSpPr>
            <a:spLocks noGrp="1"/>
          </p:cNvSpPr>
          <p:nvPr>
            <p:ph type="title"/>
          </p:nvPr>
        </p:nvSpPr>
        <p:spPr/>
        <p:txBody>
          <a:bodyPr/>
          <a:lstStyle/>
          <a:p>
            <a:r>
              <a:rPr lang="en-US"/>
              <a:t>3.3. Quantum simulation</a:t>
            </a:r>
            <a:br>
              <a:rPr lang="en-US"/>
            </a:br>
            <a:r>
              <a:rPr lang="en-US" sz="2667"/>
              <a:t>Tensor network: gate application</a:t>
            </a:r>
            <a:endParaRPr lang="vi-VN" sz="2667"/>
          </a:p>
        </p:txBody>
      </p:sp>
      <p:sp>
        <p:nvSpPr>
          <p:cNvPr id="4" name="Slide Number Placeholder 3">
            <a:extLst>
              <a:ext uri="{FF2B5EF4-FFF2-40B4-BE49-F238E27FC236}">
                <a16:creationId xmlns:a16="http://schemas.microsoft.com/office/drawing/2014/main" id="{47942DEC-0995-90AB-3503-891C2DA8501A}"/>
              </a:ext>
            </a:extLst>
          </p:cNvPr>
          <p:cNvSpPr>
            <a:spLocks noGrp="1"/>
          </p:cNvSpPr>
          <p:nvPr>
            <p:ph type="sldNum" sz="quarter" idx="12"/>
          </p:nvPr>
        </p:nvSpPr>
        <p:spPr/>
        <p:txBody>
          <a:bodyPr/>
          <a:lstStyle/>
          <a:p>
            <a:fld id="{6A45828D-F580-42DE-B77E-860980F07F32}" type="slidenum">
              <a:rPr lang="vi-VN" smtClean="0"/>
              <a:t>28</a:t>
            </a:fld>
            <a:endParaRPr lang="vi-VN"/>
          </a:p>
        </p:txBody>
      </p:sp>
      <p:pic>
        <p:nvPicPr>
          <p:cNvPr id="3076" name="Picture 4">
            <a:extLst>
              <a:ext uri="{FF2B5EF4-FFF2-40B4-BE49-F238E27FC236}">
                <a16:creationId xmlns:a16="http://schemas.microsoft.com/office/drawing/2014/main" id="{2D82A1B1-9D72-2CF9-D71A-8E8EBB07A20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4202" y="2052362"/>
            <a:ext cx="6635044" cy="444439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0D8D42B-2196-0A18-473D-9F709BB3AA9B}"/>
              </a:ext>
            </a:extLst>
          </p:cNvPr>
          <p:cNvSpPr/>
          <p:nvPr/>
        </p:nvSpPr>
        <p:spPr>
          <a:xfrm>
            <a:off x="2325513" y="1998136"/>
            <a:ext cx="1952977" cy="176671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6" name="TextBox 5">
            <a:extLst>
              <a:ext uri="{FF2B5EF4-FFF2-40B4-BE49-F238E27FC236}">
                <a16:creationId xmlns:a16="http://schemas.microsoft.com/office/drawing/2014/main" id="{FEE5029F-38F7-1C6A-A435-6B43B70ED8B9}"/>
              </a:ext>
            </a:extLst>
          </p:cNvPr>
          <p:cNvSpPr txBox="1"/>
          <p:nvPr/>
        </p:nvSpPr>
        <p:spPr>
          <a:xfrm>
            <a:off x="2325513" y="1505694"/>
            <a:ext cx="1885243" cy="461665"/>
          </a:xfrm>
          <a:prstGeom prst="rect">
            <a:avLst/>
          </a:prstGeom>
          <a:noFill/>
        </p:spPr>
        <p:txBody>
          <a:bodyPr wrap="square" rtlCol="0">
            <a:spAutoFit/>
          </a:bodyPr>
          <a:lstStyle/>
          <a:p>
            <a:pPr algn="ctr"/>
            <a:r>
              <a:rPr lang="en-US" sz="2400">
                <a:solidFill>
                  <a:srgbClr val="FF0000"/>
                </a:solidFill>
              </a:rPr>
              <a:t>Compose</a:t>
            </a:r>
            <a:endParaRPr lang="vi-VN" sz="2400">
              <a:solidFill>
                <a:srgbClr val="FF0000"/>
              </a:solidFill>
            </a:endParaRPr>
          </a:p>
        </p:txBody>
      </p:sp>
      <p:sp>
        <p:nvSpPr>
          <p:cNvPr id="7" name="Rectangle 6">
            <a:extLst>
              <a:ext uri="{FF2B5EF4-FFF2-40B4-BE49-F238E27FC236}">
                <a16:creationId xmlns:a16="http://schemas.microsoft.com/office/drawing/2014/main" id="{5BBF01ED-499C-A3AC-580A-431918B6FE51}"/>
              </a:ext>
            </a:extLst>
          </p:cNvPr>
          <p:cNvSpPr/>
          <p:nvPr/>
        </p:nvSpPr>
        <p:spPr>
          <a:xfrm>
            <a:off x="1975557" y="4117449"/>
            <a:ext cx="2698043" cy="99077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8" name="TextBox 7">
            <a:extLst>
              <a:ext uri="{FF2B5EF4-FFF2-40B4-BE49-F238E27FC236}">
                <a16:creationId xmlns:a16="http://schemas.microsoft.com/office/drawing/2014/main" id="{34CCB992-A934-E94B-B071-290A74019CE1}"/>
              </a:ext>
            </a:extLst>
          </p:cNvPr>
          <p:cNvSpPr txBox="1"/>
          <p:nvPr/>
        </p:nvSpPr>
        <p:spPr>
          <a:xfrm>
            <a:off x="1999767" y="4171674"/>
            <a:ext cx="2604467" cy="461665"/>
          </a:xfrm>
          <a:prstGeom prst="rect">
            <a:avLst/>
          </a:prstGeom>
          <a:noFill/>
        </p:spPr>
        <p:txBody>
          <a:bodyPr wrap="square" rtlCol="0">
            <a:spAutoFit/>
          </a:bodyPr>
          <a:lstStyle/>
          <a:p>
            <a:pPr algn="ctr"/>
            <a:r>
              <a:rPr lang="en-US" sz="2400">
                <a:solidFill>
                  <a:srgbClr val="FF0000"/>
                </a:solidFill>
              </a:rPr>
              <a:t>Apply</a:t>
            </a:r>
            <a:endParaRPr lang="vi-VN" sz="2400">
              <a:solidFill>
                <a:srgbClr val="FF0000"/>
              </a:solidFill>
            </a:endParaRPr>
          </a:p>
        </p:txBody>
      </p:sp>
      <p:sp>
        <p:nvSpPr>
          <p:cNvPr id="13" name="Rectangle 12">
            <a:extLst>
              <a:ext uri="{FF2B5EF4-FFF2-40B4-BE49-F238E27FC236}">
                <a16:creationId xmlns:a16="http://schemas.microsoft.com/office/drawing/2014/main" id="{6A36C717-3F6B-645C-8EF1-9BE744AAD655}"/>
              </a:ext>
            </a:extLst>
          </p:cNvPr>
          <p:cNvSpPr/>
          <p:nvPr/>
        </p:nvSpPr>
        <p:spPr>
          <a:xfrm>
            <a:off x="2314020" y="5483401"/>
            <a:ext cx="2003981" cy="9643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4" name="TextBox 13">
            <a:extLst>
              <a:ext uri="{FF2B5EF4-FFF2-40B4-BE49-F238E27FC236}">
                <a16:creationId xmlns:a16="http://schemas.microsoft.com/office/drawing/2014/main" id="{9D434B05-805F-2447-A183-D8616B37830E}"/>
              </a:ext>
            </a:extLst>
          </p:cNvPr>
          <p:cNvSpPr txBox="1"/>
          <p:nvPr/>
        </p:nvSpPr>
        <p:spPr>
          <a:xfrm>
            <a:off x="2365023" y="6379491"/>
            <a:ext cx="1952979" cy="461665"/>
          </a:xfrm>
          <a:prstGeom prst="rect">
            <a:avLst/>
          </a:prstGeom>
          <a:noFill/>
        </p:spPr>
        <p:txBody>
          <a:bodyPr wrap="square" rtlCol="0">
            <a:spAutoFit/>
          </a:bodyPr>
          <a:lstStyle/>
          <a:p>
            <a:pPr algn="ctr"/>
            <a:r>
              <a:rPr lang="en-US" sz="2400">
                <a:solidFill>
                  <a:srgbClr val="FF0000"/>
                </a:solidFill>
              </a:rPr>
              <a:t>Decompose</a:t>
            </a:r>
            <a:endParaRPr lang="vi-VN" sz="2400">
              <a:solidFill>
                <a:srgbClr val="FF0000"/>
              </a:solidFill>
            </a:endParaRP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758E2974-5DB6-8055-1173-8045D447C587}"/>
                  </a:ext>
                </a:extLst>
              </p:cNvPr>
              <p:cNvSpPr txBox="1"/>
              <p:nvPr/>
            </p:nvSpPr>
            <p:spPr>
              <a:xfrm>
                <a:off x="7481712" y="1482708"/>
                <a:ext cx="4521200" cy="1114792"/>
              </a:xfrm>
              <a:prstGeom prst="rect">
                <a:avLst/>
              </a:prstGeom>
              <a:noFill/>
            </p:spPr>
            <p:txBody>
              <a:bodyPr wrap="square" rtlCol="0">
                <a:spAutoFit/>
              </a:bodyPr>
              <a:lstStyle/>
              <a:p>
                <a:r>
                  <a:rPr lang="en-US" sz="2400"/>
                  <a:t>A local gate </a:t>
                </a:r>
                <a14:m>
                  <m:oMath xmlns:m="http://schemas.openxmlformats.org/officeDocument/2006/math">
                    <m:r>
                      <a:rPr lang="en-US" sz="2400" i="1">
                        <a:latin typeface="Cambria Math" panose="02040503050406030204" pitchFamily="18" charset="0"/>
                      </a:rPr>
                      <m:t>𝑈</m:t>
                    </m:r>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𝑎</m:t>
                              </m:r>
                            </m:e>
                            <m:e>
                              <m:r>
                                <a:rPr lang="en-US" sz="2400" i="1">
                                  <a:latin typeface="Cambria Math" panose="02040503050406030204" pitchFamily="18" charset="0"/>
                                </a:rPr>
                                <m:t>𝑏</m:t>
                              </m:r>
                            </m:e>
                          </m:mr>
                          <m:mr>
                            <m:e>
                              <m:r>
                                <a:rPr lang="en-US" sz="2400" i="1">
                                  <a:latin typeface="Cambria Math" panose="02040503050406030204" pitchFamily="18" charset="0"/>
                                </a:rPr>
                                <m:t>𝑐</m:t>
                              </m:r>
                            </m:e>
                            <m:e>
                              <m:r>
                                <a:rPr lang="en-US" sz="2400" i="1">
                                  <a:latin typeface="Cambria Math" panose="02040503050406030204" pitchFamily="18" charset="0"/>
                                </a:rPr>
                                <m:t>𝑑</m:t>
                              </m:r>
                            </m:e>
                          </m:mr>
                        </m:m>
                      </m:e>
                    </m:d>
                  </m:oMath>
                </a14:m>
                <a:r>
                  <a:rPr lang="en-US" sz="2400"/>
                  <a:t> act on wire </a:t>
                </a:r>
                <a14:m>
                  <m:oMath xmlns:m="http://schemas.openxmlformats.org/officeDocument/2006/math">
                    <m:r>
                      <a:rPr lang="en-US" sz="2400" i="1">
                        <a:latin typeface="Cambria Math" panose="02040503050406030204" pitchFamily="18" charset="0"/>
                      </a:rPr>
                      <m:t>𝑗</m:t>
                    </m:r>
                  </m:oMath>
                </a14:m>
                <a:r>
                  <a:rPr lang="en-US" sz="2400"/>
                  <a:t> and transform only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𝑗</m:t>
                        </m:r>
                      </m:sub>
                    </m:sSub>
                  </m:oMath>
                </a14:m>
                <a:endParaRPr lang="vi-VN" sz="2400"/>
              </a:p>
            </p:txBody>
          </p:sp>
        </mc:Choice>
        <mc:Fallback>
          <p:sp>
            <p:nvSpPr>
              <p:cNvPr id="17" name="TextBox 16">
                <a:extLst>
                  <a:ext uri="{FF2B5EF4-FFF2-40B4-BE49-F238E27FC236}">
                    <a16:creationId xmlns:a16="http://schemas.microsoft.com/office/drawing/2014/main" id="{758E2974-5DB6-8055-1173-8045D447C587}"/>
                  </a:ext>
                </a:extLst>
              </p:cNvPr>
              <p:cNvSpPr txBox="1">
                <a:spLocks noRot="1" noChangeAspect="1" noMove="1" noResize="1" noEditPoints="1" noAdjustHandles="1" noChangeArrowheads="1" noChangeShapeType="1" noTextEdit="1"/>
              </p:cNvSpPr>
              <p:nvPr/>
            </p:nvSpPr>
            <p:spPr>
              <a:xfrm>
                <a:off x="7481712" y="1482708"/>
                <a:ext cx="4521200" cy="1114792"/>
              </a:xfrm>
              <a:prstGeom prst="rect">
                <a:avLst/>
              </a:prstGeom>
              <a:blipFill>
                <a:blip r:embed="rId3"/>
                <a:stretch>
                  <a:fillRect l="-1955" b="-11236"/>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6B46BD7C-F59F-A647-BE03-5A991B5CF558}"/>
                  </a:ext>
                </a:extLst>
              </p:cNvPr>
              <p:cNvSpPr txBox="1"/>
              <p:nvPr/>
            </p:nvSpPr>
            <p:spPr>
              <a:xfrm>
                <a:off x="7868356" y="2662177"/>
                <a:ext cx="2889955" cy="915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sz="2400" i="1">
                              <a:latin typeface="Cambria Math" panose="02040503050406030204" pitchFamily="18" charset="0"/>
                            </a:rPr>
                          </m:ctrlPr>
                        </m:sSubSupPr>
                        <m:e>
                          <m:r>
                            <a:rPr lang="en-US" sz="2400" i="1">
                              <a:latin typeface="Cambria Math" panose="02040503050406030204" pitchFamily="18" charset="0"/>
                            </a:rPr>
                            <m:t>𝐴</m:t>
                          </m:r>
                        </m:e>
                        <m:sub>
                          <m:r>
                            <a:rPr lang="en-US" sz="2400" i="1">
                              <a:latin typeface="Cambria Math" panose="02040503050406030204" pitchFamily="18" charset="0"/>
                            </a:rPr>
                            <m:t>0,</m:t>
                          </m:r>
                          <m:r>
                            <a:rPr lang="en-US" sz="2400" i="1">
                              <a:latin typeface="Cambria Math" panose="02040503050406030204" pitchFamily="18" charset="0"/>
                            </a:rPr>
                            <m:t>𝑗</m:t>
                          </m:r>
                        </m:sub>
                        <m:sup>
                          <m:r>
                            <a:rPr lang="en-US" sz="2400" i="1">
                              <a:latin typeface="Cambria Math" panose="02040503050406030204" pitchFamily="18" charset="0"/>
                            </a:rPr>
                            <m:t>′</m:t>
                          </m:r>
                        </m:sup>
                      </m:sSubSup>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𝑎𝐴</m:t>
                          </m:r>
                        </m:e>
                        <m:sub>
                          <m:r>
                            <a:rPr lang="en-US" sz="2400" i="1">
                              <a:latin typeface="Cambria Math" panose="02040503050406030204" pitchFamily="18" charset="0"/>
                            </a:rPr>
                            <m:t>0,</m:t>
                          </m:r>
                          <m:r>
                            <a:rPr lang="en-US" sz="2400" i="1">
                              <a:latin typeface="Cambria Math" panose="02040503050406030204" pitchFamily="18" charset="0"/>
                            </a:rPr>
                            <m:t>𝑗</m:t>
                          </m:r>
                        </m:sub>
                      </m:sSub>
                      <m:r>
                        <a:rPr lang="en-US" sz="2400" i="1">
                          <a:latin typeface="Cambria Math" panose="02040503050406030204" pitchFamily="18" charset="0"/>
                        </a:rPr>
                        <m:t>+</m:t>
                      </m:r>
                      <m:r>
                        <a:rPr lang="en-US" sz="2400" i="1">
                          <a:latin typeface="Cambria Math" panose="02040503050406030204" pitchFamily="18" charset="0"/>
                        </a:rPr>
                        <m:t>𝑏</m:t>
                      </m:r>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1,</m:t>
                          </m:r>
                          <m:r>
                            <a:rPr lang="en-US" sz="2400" i="1">
                              <a:latin typeface="Cambria Math" panose="02040503050406030204" pitchFamily="18" charset="0"/>
                            </a:rPr>
                            <m:t>𝑗</m:t>
                          </m:r>
                        </m:sub>
                      </m:sSub>
                    </m:oMath>
                  </m:oMathPara>
                </a14:m>
                <a:endParaRPr lang="en-US" sz="2400"/>
              </a:p>
              <a:p>
                <a:pPr/>
                <a14:m>
                  <m:oMathPara xmlns:m="http://schemas.openxmlformats.org/officeDocument/2006/math">
                    <m:oMathParaPr>
                      <m:jc m:val="centerGroup"/>
                    </m:oMathParaPr>
                    <m:oMath xmlns:m="http://schemas.openxmlformats.org/officeDocument/2006/math">
                      <m:sSubSup>
                        <m:sSubSupPr>
                          <m:ctrlPr>
                            <a:rPr lang="en-US" sz="2400" i="1">
                              <a:latin typeface="Cambria Math" panose="02040503050406030204" pitchFamily="18" charset="0"/>
                            </a:rPr>
                          </m:ctrlPr>
                        </m:sSubSupPr>
                        <m:e>
                          <m:r>
                            <a:rPr lang="en-US" sz="2400" i="1">
                              <a:latin typeface="Cambria Math" panose="02040503050406030204" pitchFamily="18" charset="0"/>
                            </a:rPr>
                            <m:t>𝐴</m:t>
                          </m:r>
                        </m:e>
                        <m:sub>
                          <m:r>
                            <a:rPr lang="en-US" sz="2400" i="1">
                              <a:latin typeface="Cambria Math" panose="02040503050406030204" pitchFamily="18" charset="0"/>
                            </a:rPr>
                            <m:t>1,</m:t>
                          </m:r>
                          <m:r>
                            <a:rPr lang="en-US" sz="2400" i="1">
                              <a:latin typeface="Cambria Math" panose="02040503050406030204" pitchFamily="18" charset="0"/>
                            </a:rPr>
                            <m:t>𝑗</m:t>
                          </m:r>
                        </m:sub>
                        <m:sup>
                          <m:r>
                            <a:rPr lang="en-US" sz="2400" i="1">
                              <a:latin typeface="Cambria Math" panose="02040503050406030204" pitchFamily="18" charset="0"/>
                            </a:rPr>
                            <m:t>′</m:t>
                          </m:r>
                        </m:sup>
                      </m:sSubSup>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𝑐𝐴</m:t>
                          </m:r>
                        </m:e>
                        <m:sub>
                          <m:r>
                            <a:rPr lang="en-US" sz="2400" i="1">
                              <a:latin typeface="Cambria Math" panose="02040503050406030204" pitchFamily="18" charset="0"/>
                            </a:rPr>
                            <m:t>0,</m:t>
                          </m:r>
                          <m:r>
                            <a:rPr lang="en-US" sz="2400" i="1">
                              <a:latin typeface="Cambria Math" panose="02040503050406030204" pitchFamily="18" charset="0"/>
                            </a:rPr>
                            <m:t>𝑗</m:t>
                          </m:r>
                        </m:sub>
                      </m:sSub>
                      <m:r>
                        <a:rPr lang="en-US" sz="2400" i="1">
                          <a:latin typeface="Cambria Math" panose="02040503050406030204" pitchFamily="18" charset="0"/>
                        </a:rPr>
                        <m:t>+</m:t>
                      </m:r>
                      <m:r>
                        <a:rPr lang="en-US" sz="2400" i="1">
                          <a:latin typeface="Cambria Math" panose="02040503050406030204" pitchFamily="18" charset="0"/>
                        </a:rPr>
                        <m:t>𝑑</m:t>
                      </m:r>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1,</m:t>
                          </m:r>
                          <m:r>
                            <a:rPr lang="en-US" sz="2400" i="1">
                              <a:latin typeface="Cambria Math" panose="02040503050406030204" pitchFamily="18" charset="0"/>
                            </a:rPr>
                            <m:t>𝑗</m:t>
                          </m:r>
                        </m:sub>
                      </m:sSub>
                    </m:oMath>
                  </m:oMathPara>
                </a14:m>
                <a:endParaRPr lang="vi-VN" sz="2400"/>
              </a:p>
            </p:txBody>
          </p:sp>
        </mc:Choice>
        <mc:Fallback>
          <p:sp>
            <p:nvSpPr>
              <p:cNvPr id="18" name="TextBox 17">
                <a:extLst>
                  <a:ext uri="{FF2B5EF4-FFF2-40B4-BE49-F238E27FC236}">
                    <a16:creationId xmlns:a16="http://schemas.microsoft.com/office/drawing/2014/main" id="{6B46BD7C-F59F-A647-BE03-5A991B5CF558}"/>
                  </a:ext>
                </a:extLst>
              </p:cNvPr>
              <p:cNvSpPr txBox="1">
                <a:spLocks noRot="1" noChangeAspect="1" noMove="1" noResize="1" noEditPoints="1" noAdjustHandles="1" noChangeArrowheads="1" noChangeShapeType="1" noTextEdit="1"/>
              </p:cNvSpPr>
              <p:nvPr/>
            </p:nvSpPr>
            <p:spPr>
              <a:xfrm>
                <a:off x="7868356" y="2662177"/>
                <a:ext cx="2889955" cy="915122"/>
              </a:xfrm>
              <a:prstGeom prst="rect">
                <a:avLst/>
              </a:prstGeom>
              <a:blipFill>
                <a:blip r:embed="rId4"/>
                <a:stretch>
                  <a:fillRect b="-6849"/>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A82E47AB-C936-0CFE-6A8E-B94AA5935F1C}"/>
                  </a:ext>
                </a:extLst>
              </p:cNvPr>
              <p:cNvSpPr txBox="1"/>
              <p:nvPr/>
            </p:nvSpPr>
            <p:spPr>
              <a:xfrm>
                <a:off x="7481712" y="3529801"/>
                <a:ext cx="4521200" cy="1200329"/>
              </a:xfrm>
              <a:prstGeom prst="rect">
                <a:avLst/>
              </a:prstGeom>
              <a:noFill/>
            </p:spPr>
            <p:txBody>
              <a:bodyPr wrap="square" rtlCol="0">
                <a:spAutoFit/>
              </a:bodyPr>
              <a:lstStyle/>
              <a:p>
                <a:r>
                  <a:rPr lang="en-US" sz="2400"/>
                  <a:t>A non-local gate </a:t>
                </a:r>
                <a14:m>
                  <m:oMath xmlns:m="http://schemas.openxmlformats.org/officeDocument/2006/math">
                    <m:r>
                      <a:rPr lang="en-US" sz="2400" i="1">
                        <a:latin typeface="Cambria Math" panose="02040503050406030204" pitchFamily="18" charset="0"/>
                      </a:rPr>
                      <m:t>𝐶𝑈</m:t>
                    </m:r>
                  </m:oMath>
                </a14:m>
                <a:r>
                  <a:rPr lang="en-US" sz="2400"/>
                  <a:t> act on wires </a:t>
                </a:r>
                <a14:m>
                  <m:oMath xmlns:m="http://schemas.openxmlformats.org/officeDocument/2006/math">
                    <m:r>
                      <a:rPr lang="en-US" sz="2400" i="1">
                        <a:latin typeface="Cambria Math" panose="02040503050406030204" pitchFamily="18" charset="0"/>
                      </a:rPr>
                      <m:t>𝑗</m:t>
                    </m:r>
                    <m:r>
                      <a:rPr lang="en-US" sz="2400" i="1">
                        <a:latin typeface="Cambria Math" panose="02040503050406030204" pitchFamily="18" charset="0"/>
                      </a:rPr>
                      <m:t>,</m:t>
                    </m:r>
                    <m:r>
                      <a:rPr lang="en-US" sz="2400" i="1">
                        <a:latin typeface="Cambria Math" panose="02040503050406030204" pitchFamily="18" charset="0"/>
                      </a:rPr>
                      <m:t>𝑘</m:t>
                    </m:r>
                    <m:r>
                      <a:rPr lang="en-US" sz="2400" i="1">
                        <a:latin typeface="Cambria Math" panose="02040503050406030204" pitchFamily="18" charset="0"/>
                      </a:rPr>
                      <m:t>,…</m:t>
                    </m:r>
                  </m:oMath>
                </a14:m>
                <a:r>
                  <a:rPr lang="en-US" sz="2400"/>
                  <a:t> which is a ‘bit’ complicated</a:t>
                </a:r>
                <a:endParaRPr lang="vi-VN" sz="2400"/>
              </a:p>
            </p:txBody>
          </p:sp>
        </mc:Choice>
        <mc:Fallback>
          <p:sp>
            <p:nvSpPr>
              <p:cNvPr id="19" name="TextBox 18">
                <a:extLst>
                  <a:ext uri="{FF2B5EF4-FFF2-40B4-BE49-F238E27FC236}">
                    <a16:creationId xmlns:a16="http://schemas.microsoft.com/office/drawing/2014/main" id="{A82E47AB-C936-0CFE-6A8E-B94AA5935F1C}"/>
                  </a:ext>
                </a:extLst>
              </p:cNvPr>
              <p:cNvSpPr txBox="1">
                <a:spLocks noRot="1" noChangeAspect="1" noMove="1" noResize="1" noEditPoints="1" noAdjustHandles="1" noChangeArrowheads="1" noChangeShapeType="1" noTextEdit="1"/>
              </p:cNvSpPr>
              <p:nvPr/>
            </p:nvSpPr>
            <p:spPr>
              <a:xfrm>
                <a:off x="7481712" y="3529801"/>
                <a:ext cx="4521200" cy="1200329"/>
              </a:xfrm>
              <a:prstGeom prst="rect">
                <a:avLst/>
              </a:prstGeom>
              <a:blipFill>
                <a:blip r:embed="rId5"/>
                <a:stretch>
                  <a:fillRect l="-1955" t="-3125" r="-838" b="-11458"/>
                </a:stretch>
              </a:blipFill>
            </p:spPr>
            <p:txBody>
              <a:bodyPr/>
              <a:lstStyle/>
              <a:p>
                <a:r>
                  <a:rPr lang="en-VN">
                    <a:noFill/>
                  </a:rPr>
                  <a:t> </a:t>
                </a:r>
              </a:p>
            </p:txBody>
          </p:sp>
        </mc:Fallback>
      </mc:AlternateContent>
    </p:spTree>
    <p:extLst>
      <p:ext uri="{BB962C8B-B14F-4D97-AF65-F5344CB8AC3E}">
        <p14:creationId xmlns:p14="http://schemas.microsoft.com/office/powerpoint/2010/main" val="26929858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5165</Words>
  <Application>Microsoft Macintosh PowerPoint</Application>
  <PresentationFormat>Widescreen</PresentationFormat>
  <Paragraphs>513</Paragraphs>
  <Slides>28</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Aptos</vt:lpstr>
      <vt:lpstr>Aptos Display</vt:lpstr>
      <vt:lpstr>Arial</vt:lpstr>
      <vt:lpstr>Calibri</vt:lpstr>
      <vt:lpstr>Cambria Math</vt:lpstr>
      <vt:lpstr>CMBX12</vt:lpstr>
      <vt:lpstr>CMMI12</vt:lpstr>
      <vt:lpstr>CMR12</vt:lpstr>
      <vt:lpstr>CMSY10</vt:lpstr>
      <vt:lpstr>Office Theme</vt:lpstr>
      <vt:lpstr>PowerPoint Presentation</vt:lpstr>
      <vt:lpstr>Accelerators for quantum computer</vt:lpstr>
      <vt:lpstr>PowerPoint Presentation</vt:lpstr>
      <vt:lpstr>1.1. Quantum simulation approach</vt:lpstr>
      <vt:lpstr>1.2. Quantum circuit model</vt:lpstr>
      <vt:lpstr>1.3. Representation of state &amp; gate</vt:lpstr>
      <vt:lpstr>2. A wave-function based emulator (FQsun)</vt:lpstr>
      <vt:lpstr>2.1. Related works</vt:lpstr>
      <vt:lpstr>2.2. Algorithm</vt:lpstr>
      <vt:lpstr>2.3. System overview/Ideals</vt:lpstr>
      <vt:lpstr>2.3.1-2. Idea #1: efficient memory organization</vt:lpstr>
      <vt:lpstr>2.3.3. Idea #3: configurable Quantum Gate Unit (QGU)</vt:lpstr>
      <vt:lpstr>2.3.4. #Idea 4: multiple precisions</vt:lpstr>
      <vt:lpstr>2.4. Benchmarking tasks</vt:lpstr>
      <vt:lpstr>2.4.1. Result #1: accuracy metrics </vt:lpstr>
      <vt:lpstr>PowerPoint Presentation</vt:lpstr>
      <vt:lpstr>2.4.3. Result #3: High-stabilizer rank benchmarking</vt:lpstr>
      <vt:lpstr>2.4.4. Result #4: comparison between related works</vt:lpstr>
      <vt:lpstr>2.5. Analyzing on the parallelization of FQsun (WFQE)</vt:lpstr>
      <vt:lpstr>2.5. Analyzing on the parallelization of FQsun (WFQE)</vt:lpstr>
      <vt:lpstr>3. Quantum simulation theory</vt:lpstr>
      <vt:lpstr>3.1. Quantum simulation State vector</vt:lpstr>
      <vt:lpstr>PowerPoint Presentation</vt:lpstr>
      <vt:lpstr>3.2. Quantum simulation Stabilizer formalism</vt:lpstr>
      <vt:lpstr>3.2. Quantum simulation Challenges in stabilizer formalism</vt:lpstr>
      <vt:lpstr>3.3. Quantum simulation Tensor network</vt:lpstr>
      <vt:lpstr>3.3. Quantum simulation Tensor network</vt:lpstr>
      <vt:lpstr>3.3. Quantum simulation Tensor network: gate application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Tuan Hai Vu</dc:creator>
  <cp:lastModifiedBy>Tuan Hai Vu</cp:lastModifiedBy>
  <cp:revision>1</cp:revision>
  <dcterms:created xsi:type="dcterms:W3CDTF">2025-12-15T02:08:14Z</dcterms:created>
  <dcterms:modified xsi:type="dcterms:W3CDTF">2025-12-15T02:23:00Z</dcterms:modified>
</cp:coreProperties>
</file>